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5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8" r:id="rId16"/>
    <p:sldId id="324" r:id="rId17"/>
    <p:sldId id="330" r:id="rId18"/>
    <p:sldId id="333" r:id="rId19"/>
    <p:sldId id="424" r:id="rId20"/>
    <p:sldId id="261" r:id="rId21"/>
    <p:sldId id="334" r:id="rId22"/>
    <p:sldId id="339" r:id="rId23"/>
    <p:sldId id="342" r:id="rId24"/>
    <p:sldId id="345" r:id="rId25"/>
    <p:sldId id="348" r:id="rId26"/>
    <p:sldId id="351" r:id="rId27"/>
    <p:sldId id="353" r:id="rId28"/>
    <p:sldId id="359" r:id="rId29"/>
    <p:sldId id="362" r:id="rId30"/>
    <p:sldId id="369" r:id="rId31"/>
    <p:sldId id="371" r:id="rId32"/>
    <p:sldId id="383" r:id="rId33"/>
    <p:sldId id="376" r:id="rId34"/>
    <p:sldId id="382" r:id="rId35"/>
    <p:sldId id="385" r:id="rId36"/>
    <p:sldId id="387" r:id="rId37"/>
    <p:sldId id="390" r:id="rId38"/>
    <p:sldId id="391" r:id="rId39"/>
    <p:sldId id="395" r:id="rId40"/>
    <p:sldId id="399" r:id="rId41"/>
    <p:sldId id="403" r:id="rId42"/>
    <p:sldId id="405" r:id="rId43"/>
    <p:sldId id="413" r:id="rId44"/>
    <p:sldId id="414" r:id="rId45"/>
    <p:sldId id="415" r:id="rId46"/>
    <p:sldId id="416" r:id="rId47"/>
    <p:sldId id="418" r:id="rId48"/>
    <p:sldId id="419" r:id="rId49"/>
    <p:sldId id="423" r:id="rId50"/>
    <p:sldId id="420" r:id="rId51"/>
    <p:sldId id="259" r:id="rId52"/>
    <p:sldId id="421" r:id="rId53"/>
    <p:sldId id="422" r:id="rId54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29"/>
    <p:restoredTop sz="86464"/>
  </p:normalViewPr>
  <p:slideViewPr>
    <p:cSldViewPr>
      <p:cViewPr varScale="1">
        <p:scale>
          <a:sx n="183" d="100"/>
          <a:sy n="183" d="100"/>
        </p:scale>
        <p:origin x="952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15/4/26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rancescsolsonatehas.github.io/HPDCB/hol1.html" TargetMode="External"/><Relationship Id="rId4" Type="http://schemas.openxmlformats.org/officeDocument/2006/relationships/hyperlink" Target="https://pages.github.com/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678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GB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GB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GB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GB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GB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GB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GB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3145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GB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GB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1000" noProof="1"/>
              <a:t>Cloud Systems and Big Data Management</a:t>
            </a:r>
            <a:endParaRPr lang="en-GB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GB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800" spc="-10" noProof="1"/>
              <a:t>Francesc Solsona Tehas </a:t>
            </a:r>
            <a:r>
              <a:rPr lang="en-GB" sz="800" spc="-20" noProof="1">
                <a:hlinkClick r:id="rId3"/>
              </a:rPr>
              <a:t>francesc.solsona@udl.cat</a:t>
            </a:r>
            <a:endParaRPr lang="en-GB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GB" sz="800" noProof="1"/>
          </a:p>
          <a:p>
            <a:pPr marL="12700">
              <a:lnSpc>
                <a:spcPct val="100000"/>
              </a:lnSpc>
            </a:pPr>
            <a:r>
              <a:rPr lang="en-GB" sz="600" noProof="1"/>
              <a:t>Universitat</a:t>
            </a:r>
            <a:r>
              <a:rPr lang="en-GB" sz="600" spc="20" noProof="1"/>
              <a:t> </a:t>
            </a:r>
            <a:r>
              <a:rPr lang="en-GB" sz="600" noProof="1"/>
              <a:t>Rovira</a:t>
            </a:r>
            <a:r>
              <a:rPr lang="en-GB" sz="600" spc="25" noProof="1"/>
              <a:t> </a:t>
            </a:r>
            <a:r>
              <a:rPr lang="en-GB" sz="600" noProof="1"/>
              <a:t>i</a:t>
            </a:r>
            <a:r>
              <a:rPr lang="en-GB" sz="600" spc="25" noProof="1"/>
              <a:t> </a:t>
            </a:r>
            <a:r>
              <a:rPr lang="en-GB" sz="600" noProof="1"/>
              <a:t>Virgili</a:t>
            </a:r>
            <a:r>
              <a:rPr lang="en-GB" sz="600" spc="25" noProof="1"/>
              <a:t> </a:t>
            </a:r>
            <a:r>
              <a:rPr lang="en-GB" sz="600" noProof="1"/>
              <a:t>and</a:t>
            </a:r>
            <a:r>
              <a:rPr lang="en-GB" sz="600" spc="25" noProof="1"/>
              <a:t> </a:t>
            </a:r>
            <a:r>
              <a:rPr lang="en-GB" sz="600" noProof="1"/>
              <a:t>Universitat</a:t>
            </a:r>
            <a:r>
              <a:rPr lang="en-GB" sz="600" spc="20" noProof="1"/>
              <a:t> </a:t>
            </a:r>
            <a:r>
              <a:rPr lang="en-GB" sz="600" noProof="1"/>
              <a:t>de</a:t>
            </a:r>
            <a:r>
              <a:rPr lang="en-GB" sz="600" spc="25" noProof="1"/>
              <a:t> </a:t>
            </a:r>
            <a:r>
              <a:rPr lang="en-GB" sz="600" spc="-10" noProof="1"/>
              <a:t>Lleida</a:t>
            </a:r>
            <a:endParaRPr lang="en-GB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noProof="1">
                <a:hlinkClick r:id="rId4"/>
              </a:rPr>
              <a:t>Session 1 &amp; 2 - Introduction to Cloud Computing </a:t>
            </a:r>
            <a:r>
              <a:rPr lang="en-GB" sz="1000" u="sng" noProof="1">
                <a:hlinkClick r:id="rId4"/>
              </a:rPr>
              <a:t>+ Github Pages</a:t>
            </a:r>
            <a:r>
              <a:rPr lang="en-GB" sz="1000" noProof="1">
                <a:hlinkClick r:id="rId4"/>
              </a:rPr>
              <a:t> </a:t>
            </a:r>
            <a:endParaRPr lang="en-GB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What</a:t>
            </a:r>
            <a:r>
              <a:rPr lang="en-GB" spc="20" noProof="1"/>
              <a:t> </a:t>
            </a:r>
            <a:r>
              <a:rPr lang="en-GB" spc="-25" noProof="1"/>
              <a:t>is</a:t>
            </a:r>
            <a:r>
              <a:rPr lang="en-GB" spc="20" noProof="1"/>
              <a:t> </a:t>
            </a:r>
            <a:r>
              <a:rPr lang="en-GB" spc="-10" noProof="1"/>
              <a:t>this</a:t>
            </a:r>
            <a:r>
              <a:rPr lang="en-GB" spc="25" noProof="1"/>
              <a:t> </a:t>
            </a:r>
            <a:r>
              <a:rPr lang="en-GB" spc="-50" noProof="1"/>
              <a:t>course</a:t>
            </a:r>
            <a:r>
              <a:rPr lang="en-GB" spc="20" noProof="1"/>
              <a:t> </a:t>
            </a:r>
            <a:r>
              <a:rPr lang="en-GB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GB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GB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GB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GB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GB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GB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GB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280846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process by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common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 resources.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35" noProof="1"/>
              <a:t>Pre-</a:t>
            </a:r>
            <a:r>
              <a:rPr lang="en-GB" spc="-20" noProof="1"/>
              <a:t>Course</a:t>
            </a:r>
            <a:r>
              <a:rPr lang="en-GB" noProof="1"/>
              <a:t> </a:t>
            </a:r>
            <a:r>
              <a:rPr lang="en-GB" spc="-30" noProof="1"/>
              <a:t>Survey:</a:t>
            </a:r>
            <a:r>
              <a:rPr lang="en-GB" spc="100" noProof="1"/>
              <a:t> </a:t>
            </a:r>
            <a:r>
              <a:rPr lang="en-GB" noProof="1"/>
              <a:t>Who</a:t>
            </a:r>
            <a:r>
              <a:rPr lang="en-GB" spc="5" noProof="1"/>
              <a:t> </a:t>
            </a:r>
            <a:r>
              <a:rPr lang="en-GB" noProof="1"/>
              <a:t>are</a:t>
            </a:r>
            <a:r>
              <a:rPr lang="en-GB" spc="5" noProof="1"/>
              <a:t> </a:t>
            </a:r>
            <a:r>
              <a:rPr lang="en-GB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GB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GB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GB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GB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GB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GB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What</a:t>
            </a:r>
            <a:r>
              <a:rPr lang="en-GB" spc="40" noProof="1"/>
              <a:t> </a:t>
            </a:r>
            <a:r>
              <a:rPr lang="en-GB" spc="-25" noProof="1"/>
              <a:t>is</a:t>
            </a:r>
            <a:r>
              <a:rPr lang="en-GB" spc="40" noProof="1"/>
              <a:t> </a:t>
            </a:r>
            <a:r>
              <a:rPr lang="en-GB" spc="-30" noProof="1"/>
              <a:t>Cloud</a:t>
            </a:r>
            <a:r>
              <a:rPr lang="en-GB" spc="40" noProof="1"/>
              <a:t> </a:t>
            </a:r>
            <a:r>
              <a:rPr lang="en-GB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GB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GB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GB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GB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GB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GB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GB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GB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GB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GB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GB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GB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GB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GB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GB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GB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GB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GB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GB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GB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GB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GB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,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What</a:t>
            </a:r>
            <a:r>
              <a:rPr lang="en-GB" spc="20" noProof="1"/>
              <a:t> </a:t>
            </a:r>
            <a:r>
              <a:rPr lang="en-GB" spc="-25" noProof="1"/>
              <a:t>is</a:t>
            </a:r>
            <a:r>
              <a:rPr lang="en-GB" spc="25" noProof="1"/>
              <a:t> </a:t>
            </a:r>
            <a:r>
              <a:rPr lang="en-GB" noProof="1"/>
              <a:t>the</a:t>
            </a:r>
            <a:r>
              <a:rPr lang="en-GB" spc="25" noProof="1"/>
              <a:t> </a:t>
            </a:r>
            <a:r>
              <a:rPr lang="en-GB" spc="-10" noProof="1"/>
              <a:t>idea</a:t>
            </a:r>
            <a:r>
              <a:rPr lang="en-GB" spc="20" noProof="1"/>
              <a:t> </a:t>
            </a:r>
            <a:r>
              <a:rPr lang="en-GB" spc="-30" noProof="1"/>
              <a:t>behind</a:t>
            </a:r>
            <a:r>
              <a:rPr lang="en-GB" spc="25" noProof="1"/>
              <a:t> </a:t>
            </a:r>
            <a:r>
              <a:rPr lang="en-GB" spc="-30" noProof="1"/>
              <a:t>Cloud</a:t>
            </a:r>
            <a:r>
              <a:rPr lang="en-GB" spc="25" noProof="1"/>
              <a:t> </a:t>
            </a:r>
            <a:r>
              <a:rPr lang="en-GB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GB" b="1" spc="-25" noProof="1">
                <a:latin typeface="Arial"/>
                <a:cs typeface="Arial"/>
              </a:rPr>
              <a:t>Cloud</a:t>
            </a:r>
            <a:r>
              <a:rPr lang="en-GB" b="1" spc="30" noProof="1">
                <a:latin typeface="Arial"/>
                <a:cs typeface="Arial"/>
              </a:rPr>
              <a:t> </a:t>
            </a:r>
            <a:r>
              <a:rPr lang="en-GB" b="1" spc="-30" noProof="1">
                <a:latin typeface="Arial"/>
                <a:cs typeface="Arial"/>
              </a:rPr>
              <a:t>computing</a:t>
            </a:r>
            <a:r>
              <a:rPr lang="en-GB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GB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GB" spc="-45" noProof="1"/>
              <a:t>Enables</a:t>
            </a:r>
            <a:r>
              <a:rPr lang="en-GB" spc="15" noProof="1"/>
              <a:t> </a:t>
            </a:r>
            <a:r>
              <a:rPr lang="en-GB" spc="-40" noProof="1"/>
              <a:t>companies</a:t>
            </a:r>
            <a:r>
              <a:rPr lang="en-GB" spc="20" noProof="1"/>
              <a:t>/users </a:t>
            </a:r>
            <a:r>
              <a:rPr lang="en-GB" noProof="1"/>
              <a:t>to</a:t>
            </a:r>
            <a:r>
              <a:rPr lang="en-GB" spc="15" noProof="1"/>
              <a:t> </a:t>
            </a:r>
            <a:r>
              <a:rPr lang="en-GB" spc="-45" noProof="1"/>
              <a:t>consume</a:t>
            </a:r>
            <a:r>
              <a:rPr lang="en-GB" spc="15" noProof="1"/>
              <a:t> </a:t>
            </a:r>
            <a:r>
              <a:rPr lang="en-GB" spc="-50" noProof="1"/>
              <a:t>a</a:t>
            </a:r>
            <a:r>
              <a:rPr lang="en-GB" spc="-10" noProof="1"/>
              <a:t> compute</a:t>
            </a:r>
            <a:r>
              <a:rPr lang="en-GB" spc="-5" noProof="1"/>
              <a:t> </a:t>
            </a:r>
            <a:r>
              <a:rPr lang="en-GB" spc="-35" noProof="1"/>
              <a:t>resource,</a:t>
            </a:r>
            <a:r>
              <a:rPr lang="en-GB" spc="-5" noProof="1"/>
              <a:t> </a:t>
            </a:r>
            <a:r>
              <a:rPr lang="en-GB" spc="-30" noProof="1"/>
              <a:t>such</a:t>
            </a:r>
            <a:r>
              <a:rPr lang="en-GB" noProof="1"/>
              <a:t> </a:t>
            </a:r>
            <a:r>
              <a:rPr lang="en-GB" spc="-45" noProof="1"/>
              <a:t>as</a:t>
            </a:r>
            <a:r>
              <a:rPr lang="en-GB" spc="-5" noProof="1"/>
              <a:t> </a:t>
            </a:r>
            <a:r>
              <a:rPr lang="en-GB" noProof="1"/>
              <a:t>a virtual</a:t>
            </a:r>
            <a:r>
              <a:rPr lang="en-GB" spc="-5" noProof="1"/>
              <a:t> </a:t>
            </a:r>
            <a:r>
              <a:rPr lang="en-GB" spc="-25" noProof="1"/>
              <a:t>machine</a:t>
            </a:r>
            <a:r>
              <a:rPr lang="en-GB" noProof="1"/>
              <a:t> </a:t>
            </a:r>
            <a:r>
              <a:rPr lang="en-GB" spc="-10" noProof="1"/>
              <a:t>(VM), </a:t>
            </a:r>
            <a:r>
              <a:rPr lang="en-GB" spc="-30" noProof="1"/>
              <a:t>storage,</a:t>
            </a:r>
            <a:r>
              <a:rPr lang="en-GB" spc="30" noProof="1"/>
              <a:t> </a:t>
            </a:r>
            <a:r>
              <a:rPr lang="en-GB" noProof="1"/>
              <a:t>or</a:t>
            </a:r>
            <a:r>
              <a:rPr lang="en-GB" spc="35" noProof="1"/>
              <a:t> </a:t>
            </a:r>
            <a:r>
              <a:rPr lang="en-GB" noProof="1"/>
              <a:t>an</a:t>
            </a:r>
            <a:r>
              <a:rPr lang="en-GB" spc="35" noProof="1"/>
              <a:t> </a:t>
            </a:r>
            <a:r>
              <a:rPr lang="en-GB" spc="-10" noProof="1"/>
              <a:t>application,</a:t>
            </a:r>
            <a:r>
              <a:rPr lang="en-GB" spc="30" noProof="1"/>
              <a:t> </a:t>
            </a:r>
            <a:r>
              <a:rPr lang="en-GB" spc="-45" noProof="1"/>
              <a:t>as</a:t>
            </a:r>
            <a:r>
              <a:rPr lang="en-GB" spc="35" noProof="1"/>
              <a:t> </a:t>
            </a:r>
            <a:r>
              <a:rPr lang="en-GB" noProof="1"/>
              <a:t>a</a:t>
            </a:r>
            <a:r>
              <a:rPr lang="en-GB" spc="35" noProof="1"/>
              <a:t> </a:t>
            </a:r>
            <a:r>
              <a:rPr lang="en-GB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GB" spc="35" noProof="1"/>
              <a:t>                        </a:t>
            </a:r>
            <a:r>
              <a:rPr lang="en-GB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GB" noProof="1"/>
              <a:t>rather</a:t>
            </a:r>
            <a:r>
              <a:rPr lang="en-GB" spc="5" noProof="1"/>
              <a:t> </a:t>
            </a:r>
            <a:r>
              <a:rPr lang="en-GB" noProof="1"/>
              <a:t>than</a:t>
            </a:r>
            <a:r>
              <a:rPr lang="en-GB" spc="5" noProof="1"/>
              <a:t> </a:t>
            </a:r>
            <a:r>
              <a:rPr lang="en-GB" spc="-20" noProof="1"/>
              <a:t>having</a:t>
            </a:r>
            <a:r>
              <a:rPr lang="en-GB" noProof="1"/>
              <a:t> to</a:t>
            </a:r>
            <a:r>
              <a:rPr lang="en-GB" spc="5" noProof="1"/>
              <a:t> </a:t>
            </a:r>
            <a:r>
              <a:rPr lang="en-GB" noProof="1"/>
              <a:t>build </a:t>
            </a:r>
            <a:r>
              <a:rPr lang="en-GB" spc="-10" noProof="1"/>
              <a:t>and</a:t>
            </a:r>
            <a:r>
              <a:rPr lang="en-GB" spc="5" noProof="1"/>
              <a:t> </a:t>
            </a:r>
            <a:r>
              <a:rPr lang="en-GB" spc="-10" noProof="1"/>
              <a:t>maintain computing</a:t>
            </a:r>
            <a:r>
              <a:rPr lang="en-GB" spc="10" noProof="1"/>
              <a:t> </a:t>
            </a:r>
            <a:r>
              <a:rPr lang="en-GB" spc="-10" noProof="1"/>
              <a:t>infrastructures</a:t>
            </a:r>
            <a:r>
              <a:rPr lang="en-GB" spc="10" noProof="1"/>
              <a:t> </a:t>
            </a:r>
            <a:r>
              <a:rPr lang="en-GB" spc="-35" noProof="1"/>
              <a:t>in-</a:t>
            </a:r>
            <a:r>
              <a:rPr lang="en-GB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A41AFA-813C-EBA5-80B5-A99E0DBC3E13}"/>
              </a:ext>
            </a:extLst>
          </p:cNvPr>
          <p:cNvSpPr txBox="1"/>
          <p:nvPr/>
        </p:nvSpPr>
        <p:spPr>
          <a:xfrm>
            <a:off x="55841" y="110984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noProof="1"/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GB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GB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GB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GB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GB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GB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GB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GB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GB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GB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GB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GB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GB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GB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GB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GB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GB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GB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GB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GB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GB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GB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GB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GB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GB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Which</a:t>
            </a:r>
            <a:r>
              <a:rPr lang="en-GB" spc="5" noProof="1"/>
              <a:t> </a:t>
            </a:r>
            <a:r>
              <a:rPr lang="en-GB" spc="-25" noProof="1"/>
              <a:t>is</a:t>
            </a:r>
            <a:r>
              <a:rPr lang="en-GB" spc="5" noProof="1"/>
              <a:t> </a:t>
            </a:r>
            <a:r>
              <a:rPr lang="en-GB" noProof="1"/>
              <a:t>the</a:t>
            </a:r>
            <a:r>
              <a:rPr lang="en-GB" spc="10" noProof="1"/>
              <a:t> </a:t>
            </a:r>
            <a:r>
              <a:rPr lang="en-GB" spc="-35" noProof="1"/>
              <a:t>cloud</a:t>
            </a:r>
            <a:r>
              <a:rPr lang="en-GB" spc="5" noProof="1"/>
              <a:t> </a:t>
            </a:r>
            <a:r>
              <a:rPr lang="en-GB" spc="-35" noProof="1"/>
              <a:t>computing</a:t>
            </a:r>
            <a:r>
              <a:rPr lang="en-GB" spc="5" noProof="1"/>
              <a:t> </a:t>
            </a:r>
            <a:r>
              <a:rPr lang="en-GB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GB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GB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GB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GB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GB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GB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GB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GB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GB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GB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Which</a:t>
            </a:r>
            <a:r>
              <a:rPr lang="en-GB" spc="5" noProof="1"/>
              <a:t> </a:t>
            </a:r>
            <a:r>
              <a:rPr lang="en-GB" spc="-25" noProof="1"/>
              <a:t>is</a:t>
            </a:r>
            <a:r>
              <a:rPr lang="en-GB" spc="10" noProof="1"/>
              <a:t> </a:t>
            </a:r>
            <a:r>
              <a:rPr lang="en-GB" noProof="1"/>
              <a:t>the</a:t>
            </a:r>
            <a:r>
              <a:rPr lang="en-GB" spc="10" noProof="1"/>
              <a:t> </a:t>
            </a:r>
            <a:r>
              <a:rPr lang="en-GB" spc="-10" noProof="1"/>
              <a:t>traditional</a:t>
            </a:r>
            <a:r>
              <a:rPr lang="en-GB" spc="5" noProof="1"/>
              <a:t> </a:t>
            </a:r>
            <a:r>
              <a:rPr lang="en-GB" spc="-35" noProof="1"/>
              <a:t>computing</a:t>
            </a:r>
            <a:r>
              <a:rPr lang="en-GB" spc="10" noProof="1"/>
              <a:t> </a:t>
            </a:r>
            <a:r>
              <a:rPr lang="en-GB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GB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GB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GB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GB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GB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GB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physical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GB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GB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GB" sz="900" noProof="1">
                <a:latin typeface="Arial"/>
                <a:cs typeface="Arial"/>
              </a:rPr>
              <a:t>If</a:t>
            </a:r>
            <a:r>
              <a:rPr lang="en-GB" sz="900" spc="15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the</a:t>
            </a:r>
            <a:r>
              <a:rPr lang="en-GB" sz="900" spc="15" noProof="1">
                <a:latin typeface="Arial"/>
                <a:cs typeface="Arial"/>
              </a:rPr>
              <a:t> </a:t>
            </a:r>
            <a:r>
              <a:rPr lang="en-GB" sz="900" spc="-30" noProof="1">
                <a:latin typeface="Arial"/>
                <a:cs typeface="Arial"/>
              </a:rPr>
              <a:t>company</a:t>
            </a:r>
            <a:r>
              <a:rPr lang="en-GB" sz="900" spc="15" noProof="1">
                <a:latin typeface="Arial"/>
                <a:cs typeface="Arial"/>
              </a:rPr>
              <a:t> </a:t>
            </a:r>
            <a:r>
              <a:rPr lang="en-GB" sz="900" spc="-30" noProof="1">
                <a:latin typeface="Arial"/>
                <a:cs typeface="Arial"/>
              </a:rPr>
              <a:t>underestimates</a:t>
            </a:r>
            <a:r>
              <a:rPr lang="en-GB" sz="900" spc="15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the</a:t>
            </a:r>
            <a:r>
              <a:rPr lang="en-GB" sz="900" spc="15" noProof="1">
                <a:latin typeface="Arial"/>
                <a:cs typeface="Arial"/>
              </a:rPr>
              <a:t> </a:t>
            </a:r>
            <a:r>
              <a:rPr lang="en-GB" sz="900" spc="-20" noProof="1">
                <a:latin typeface="Arial"/>
                <a:cs typeface="Arial"/>
              </a:rPr>
              <a:t>peak,</a:t>
            </a:r>
            <a:r>
              <a:rPr lang="en-GB" sz="900" spc="20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the</a:t>
            </a:r>
            <a:r>
              <a:rPr lang="en-GB" sz="900" spc="15" noProof="1">
                <a:latin typeface="Arial"/>
                <a:cs typeface="Arial"/>
              </a:rPr>
              <a:t> </a:t>
            </a:r>
            <a:r>
              <a:rPr lang="en-GB" sz="900" spc="-35" noProof="1">
                <a:latin typeface="Arial"/>
                <a:cs typeface="Arial"/>
              </a:rPr>
              <a:t>system</a:t>
            </a:r>
            <a:r>
              <a:rPr lang="en-GB" sz="900" spc="15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will</a:t>
            </a:r>
            <a:r>
              <a:rPr lang="en-GB" sz="900" spc="15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be</a:t>
            </a:r>
            <a:r>
              <a:rPr lang="en-GB" sz="900" spc="15" noProof="1">
                <a:latin typeface="Arial"/>
                <a:cs typeface="Arial"/>
              </a:rPr>
              <a:t> </a:t>
            </a:r>
            <a:r>
              <a:rPr lang="en-GB" sz="900" spc="-20" noProof="1">
                <a:latin typeface="Arial"/>
                <a:cs typeface="Arial"/>
              </a:rPr>
              <a:t>slow, </a:t>
            </a:r>
            <a:r>
              <a:rPr lang="en-GB" sz="900" spc="-10" noProof="1">
                <a:latin typeface="Arial"/>
                <a:cs typeface="Arial"/>
              </a:rPr>
              <a:t>and</a:t>
            </a:r>
            <a:r>
              <a:rPr lang="en-GB" sz="900" spc="10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the</a:t>
            </a:r>
            <a:r>
              <a:rPr lang="en-GB" sz="900" spc="15" noProof="1">
                <a:latin typeface="Arial"/>
                <a:cs typeface="Arial"/>
              </a:rPr>
              <a:t> </a:t>
            </a:r>
            <a:r>
              <a:rPr lang="en-GB" sz="900" spc="-60" noProof="1">
                <a:latin typeface="Arial"/>
                <a:cs typeface="Arial"/>
              </a:rPr>
              <a:t>users</a:t>
            </a:r>
            <a:r>
              <a:rPr lang="en-GB" sz="900" spc="15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will</a:t>
            </a:r>
            <a:r>
              <a:rPr lang="en-GB" sz="900" spc="10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be</a:t>
            </a:r>
            <a:r>
              <a:rPr lang="en-GB" sz="900" spc="15" noProof="1">
                <a:latin typeface="Arial"/>
                <a:cs typeface="Arial"/>
              </a:rPr>
              <a:t> </a:t>
            </a:r>
            <a:r>
              <a:rPr lang="en-GB" sz="900" spc="-25" noProof="1">
                <a:latin typeface="Arial"/>
                <a:cs typeface="Arial"/>
              </a:rPr>
              <a:t>unhappy.</a:t>
            </a:r>
            <a:r>
              <a:rPr lang="en-GB" sz="900" spc="150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If</a:t>
            </a:r>
            <a:r>
              <a:rPr lang="en-GB" sz="900" spc="10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the</a:t>
            </a:r>
            <a:r>
              <a:rPr lang="en-GB" sz="900" spc="15" noProof="1">
                <a:latin typeface="Arial"/>
                <a:cs typeface="Arial"/>
              </a:rPr>
              <a:t> </a:t>
            </a:r>
            <a:r>
              <a:rPr lang="en-GB" sz="900" spc="-30" noProof="1">
                <a:latin typeface="Arial"/>
                <a:cs typeface="Arial"/>
              </a:rPr>
              <a:t>company</a:t>
            </a:r>
            <a:r>
              <a:rPr lang="en-GB" sz="900" spc="15" noProof="1">
                <a:latin typeface="Arial"/>
                <a:cs typeface="Arial"/>
              </a:rPr>
              <a:t> </a:t>
            </a:r>
            <a:r>
              <a:rPr lang="en-GB" sz="900" spc="-35" noProof="1">
                <a:latin typeface="Arial"/>
                <a:cs typeface="Arial"/>
              </a:rPr>
              <a:t>overestimates</a:t>
            </a:r>
            <a:r>
              <a:rPr lang="en-GB" sz="900" spc="10" noProof="1">
                <a:latin typeface="Arial"/>
                <a:cs typeface="Arial"/>
              </a:rPr>
              <a:t> </a:t>
            </a:r>
            <a:r>
              <a:rPr lang="en-GB" sz="900" spc="-25" noProof="1">
                <a:latin typeface="Arial"/>
                <a:cs typeface="Arial"/>
              </a:rPr>
              <a:t>the </a:t>
            </a:r>
            <a:r>
              <a:rPr lang="en-GB" sz="900" spc="-20" noProof="1">
                <a:latin typeface="Arial"/>
                <a:cs typeface="Arial"/>
              </a:rPr>
              <a:t>peak,</a:t>
            </a:r>
            <a:r>
              <a:rPr lang="en-GB" sz="900" spc="25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it</a:t>
            </a:r>
            <a:r>
              <a:rPr lang="en-GB" sz="900" spc="25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will</a:t>
            </a:r>
            <a:r>
              <a:rPr lang="en-GB" sz="900" spc="30" noProof="1">
                <a:latin typeface="Arial"/>
                <a:cs typeface="Arial"/>
              </a:rPr>
              <a:t> </a:t>
            </a:r>
            <a:r>
              <a:rPr lang="en-GB" sz="900" spc="-45" noProof="1">
                <a:latin typeface="Arial"/>
                <a:cs typeface="Arial"/>
              </a:rPr>
              <a:t>have</a:t>
            </a:r>
            <a:r>
              <a:rPr lang="en-GB" sz="900" spc="25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a</a:t>
            </a:r>
            <a:r>
              <a:rPr lang="en-GB" sz="900" spc="25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lot</a:t>
            </a:r>
            <a:r>
              <a:rPr lang="en-GB" sz="900" spc="30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of</a:t>
            </a:r>
            <a:r>
              <a:rPr lang="en-GB" sz="900" spc="25" noProof="1">
                <a:latin typeface="Arial"/>
                <a:cs typeface="Arial"/>
              </a:rPr>
              <a:t> </a:t>
            </a:r>
            <a:r>
              <a:rPr lang="en-GB" sz="900" spc="-40" noProof="1">
                <a:latin typeface="Arial"/>
                <a:cs typeface="Arial"/>
              </a:rPr>
              <a:t>unused</a:t>
            </a:r>
            <a:r>
              <a:rPr lang="en-GB" sz="900" spc="30" noProof="1">
                <a:latin typeface="Arial"/>
                <a:cs typeface="Arial"/>
              </a:rPr>
              <a:t> </a:t>
            </a:r>
            <a:r>
              <a:rPr lang="en-GB" sz="900" spc="-50" noProof="1">
                <a:latin typeface="Arial"/>
                <a:cs typeface="Arial"/>
              </a:rPr>
              <a:t>resources</a:t>
            </a:r>
            <a:r>
              <a:rPr lang="en-GB" sz="900" spc="25" noProof="1">
                <a:latin typeface="Arial"/>
                <a:cs typeface="Arial"/>
              </a:rPr>
              <a:t> </a:t>
            </a:r>
            <a:r>
              <a:rPr lang="en-GB" sz="900" spc="-10" noProof="1">
                <a:latin typeface="Arial"/>
                <a:cs typeface="Arial"/>
              </a:rPr>
              <a:t>and</a:t>
            </a:r>
            <a:r>
              <a:rPr lang="en-GB" sz="900" spc="25" noProof="1">
                <a:latin typeface="Arial"/>
                <a:cs typeface="Arial"/>
              </a:rPr>
              <a:t> </a:t>
            </a:r>
            <a:r>
              <a:rPr lang="en-GB" sz="900" spc="-30" noProof="1">
                <a:latin typeface="Arial"/>
                <a:cs typeface="Arial"/>
              </a:rPr>
              <a:t>waste</a:t>
            </a:r>
            <a:r>
              <a:rPr lang="en-GB" sz="900" spc="30" noProof="1">
                <a:latin typeface="Arial"/>
                <a:cs typeface="Arial"/>
              </a:rPr>
              <a:t> </a:t>
            </a:r>
            <a:r>
              <a:rPr lang="en-GB" sz="900" spc="-10" noProof="1">
                <a:latin typeface="Arial"/>
                <a:cs typeface="Arial"/>
              </a:rPr>
              <a:t>money.</a:t>
            </a:r>
            <a:endParaRPr lang="en-GB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GB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GB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GB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GB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GB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GB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GB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10" noProof="1"/>
              <a:t>Live</a:t>
            </a:r>
            <a:r>
              <a:rPr lang="en-GB" noProof="1"/>
              <a:t> in</a:t>
            </a:r>
            <a:r>
              <a:rPr lang="en-GB" spc="5" noProof="1"/>
              <a:t> </a:t>
            </a:r>
            <a:r>
              <a:rPr lang="en-GB" noProof="1"/>
              <a:t>a</a:t>
            </a:r>
            <a:r>
              <a:rPr lang="en-GB" spc="5" noProof="1"/>
              <a:t> </a:t>
            </a:r>
            <a:r>
              <a:rPr lang="en-GB" noProof="1"/>
              <a:t>hotel</a:t>
            </a:r>
            <a:r>
              <a:rPr lang="en-GB" spc="5" noProof="1"/>
              <a:t> </a:t>
            </a:r>
            <a:r>
              <a:rPr lang="en-GB" spc="-20" noProof="1"/>
              <a:t>vs.</a:t>
            </a:r>
            <a:r>
              <a:rPr lang="en-GB" spc="5" noProof="1"/>
              <a:t> </a:t>
            </a:r>
            <a:r>
              <a:rPr lang="en-GB" noProof="1"/>
              <a:t>Own</a:t>
            </a:r>
            <a:r>
              <a:rPr lang="en-GB" spc="5" noProof="1"/>
              <a:t> </a:t>
            </a:r>
            <a:r>
              <a:rPr lang="en-GB" noProof="1"/>
              <a:t>a</a:t>
            </a:r>
            <a:r>
              <a:rPr lang="en-GB" spc="5" noProof="1"/>
              <a:t> </a:t>
            </a:r>
            <a:r>
              <a:rPr lang="en-GB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GB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GB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GB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GB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GB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GB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GB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GB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GB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GB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GB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GB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GB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GB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GB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GB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GB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GB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GB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GB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GB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GB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GB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GB" sz="900" b="1" noProof="1">
                <a:latin typeface="Arial"/>
                <a:cs typeface="Arial"/>
              </a:rPr>
              <a:t>In</a:t>
            </a:r>
            <a:r>
              <a:rPr lang="en-GB" sz="900" b="1" spc="-5" noProof="1">
                <a:latin typeface="Arial"/>
                <a:cs typeface="Arial"/>
              </a:rPr>
              <a:t> </a:t>
            </a:r>
            <a:r>
              <a:rPr lang="en-GB" sz="900" b="1" spc="-35" noProof="1">
                <a:latin typeface="Arial"/>
                <a:cs typeface="Arial"/>
              </a:rPr>
              <a:t>cloud</a:t>
            </a:r>
            <a:r>
              <a:rPr lang="en-GB" sz="900" b="1" spc="-5" noProof="1">
                <a:latin typeface="Arial"/>
                <a:cs typeface="Arial"/>
              </a:rPr>
              <a:t> </a:t>
            </a:r>
            <a:r>
              <a:rPr lang="en-GB" sz="900" b="1" spc="-25" noProof="1">
                <a:latin typeface="Arial"/>
                <a:cs typeface="Arial"/>
              </a:rPr>
              <a:t>computing,</a:t>
            </a:r>
            <a:r>
              <a:rPr lang="en-GB" sz="900" b="1" spc="-5" noProof="1">
                <a:latin typeface="Arial"/>
                <a:cs typeface="Arial"/>
              </a:rPr>
              <a:t> </a:t>
            </a:r>
            <a:r>
              <a:rPr lang="en-GB" sz="900" b="1" spc="-50" noProof="1">
                <a:latin typeface="Arial"/>
                <a:cs typeface="Arial"/>
              </a:rPr>
              <a:t>you</a:t>
            </a:r>
            <a:r>
              <a:rPr lang="en-GB" sz="900" b="1" spc="-5" noProof="1">
                <a:latin typeface="Arial"/>
                <a:cs typeface="Arial"/>
              </a:rPr>
              <a:t> </a:t>
            </a:r>
            <a:r>
              <a:rPr lang="en-GB" sz="900" b="1" spc="-40" noProof="1">
                <a:latin typeface="Arial"/>
                <a:cs typeface="Arial"/>
              </a:rPr>
              <a:t>pay</a:t>
            </a:r>
            <a:r>
              <a:rPr lang="en-GB" sz="900" b="1" spc="-5" noProof="1">
                <a:latin typeface="Arial"/>
                <a:cs typeface="Arial"/>
              </a:rPr>
              <a:t> </a:t>
            </a:r>
            <a:r>
              <a:rPr lang="en-GB" sz="900" b="1" spc="-10" noProof="1">
                <a:latin typeface="Arial"/>
                <a:cs typeface="Arial"/>
              </a:rPr>
              <a:t>for</a:t>
            </a:r>
            <a:r>
              <a:rPr lang="en-GB" sz="900" b="1" spc="-5" noProof="1">
                <a:latin typeface="Arial"/>
                <a:cs typeface="Arial"/>
              </a:rPr>
              <a:t> </a:t>
            </a:r>
            <a:r>
              <a:rPr lang="en-GB" sz="900" b="1" noProof="1">
                <a:latin typeface="Arial"/>
                <a:cs typeface="Arial"/>
              </a:rPr>
              <a:t>what</a:t>
            </a:r>
            <a:r>
              <a:rPr lang="en-GB" sz="900" b="1" spc="-5" noProof="1">
                <a:latin typeface="Arial"/>
                <a:cs typeface="Arial"/>
              </a:rPr>
              <a:t> </a:t>
            </a:r>
            <a:r>
              <a:rPr lang="en-GB" sz="900" b="1" spc="-50" noProof="1">
                <a:latin typeface="Arial"/>
                <a:cs typeface="Arial"/>
              </a:rPr>
              <a:t>you</a:t>
            </a:r>
            <a:r>
              <a:rPr lang="en-GB" sz="900" b="1" noProof="1">
                <a:latin typeface="Arial"/>
                <a:cs typeface="Arial"/>
              </a:rPr>
              <a:t> </a:t>
            </a:r>
            <a:r>
              <a:rPr lang="en-GB" sz="900" b="1" spc="-40" noProof="1">
                <a:latin typeface="Arial"/>
                <a:cs typeface="Arial"/>
              </a:rPr>
              <a:t>use,</a:t>
            </a:r>
            <a:r>
              <a:rPr lang="en-GB" sz="900" b="1" spc="-5" noProof="1">
                <a:latin typeface="Arial"/>
                <a:cs typeface="Arial"/>
              </a:rPr>
              <a:t> </a:t>
            </a:r>
            <a:r>
              <a:rPr lang="en-GB" sz="900" b="1" spc="-20" noProof="1">
                <a:latin typeface="Arial"/>
                <a:cs typeface="Arial"/>
              </a:rPr>
              <a:t>and</a:t>
            </a:r>
            <a:r>
              <a:rPr lang="en-GB" sz="900" b="1" spc="-5" noProof="1">
                <a:latin typeface="Arial"/>
                <a:cs typeface="Arial"/>
              </a:rPr>
              <a:t> </a:t>
            </a:r>
            <a:r>
              <a:rPr lang="en-GB" sz="900" b="1" spc="-50" noProof="1">
                <a:latin typeface="Arial"/>
                <a:cs typeface="Arial"/>
              </a:rPr>
              <a:t>you</a:t>
            </a:r>
            <a:r>
              <a:rPr lang="en-GB" sz="900" b="1" spc="-5" noProof="1">
                <a:latin typeface="Arial"/>
                <a:cs typeface="Arial"/>
              </a:rPr>
              <a:t> </a:t>
            </a:r>
            <a:r>
              <a:rPr lang="en-GB" sz="900" b="1" spc="-25" noProof="1">
                <a:latin typeface="Arial"/>
                <a:cs typeface="Arial"/>
              </a:rPr>
              <a:t>do </a:t>
            </a:r>
            <a:r>
              <a:rPr lang="en-GB" sz="900" b="1" noProof="1">
                <a:latin typeface="Arial"/>
                <a:cs typeface="Arial"/>
              </a:rPr>
              <a:t>not</a:t>
            </a:r>
            <a:r>
              <a:rPr lang="en-GB" sz="900" b="1" spc="5" noProof="1">
                <a:latin typeface="Arial"/>
                <a:cs typeface="Arial"/>
              </a:rPr>
              <a:t> </a:t>
            </a:r>
            <a:r>
              <a:rPr lang="en-GB" sz="900" b="1" spc="-30" noProof="1">
                <a:latin typeface="Arial"/>
                <a:cs typeface="Arial"/>
              </a:rPr>
              <a:t>need</a:t>
            </a:r>
            <a:r>
              <a:rPr lang="en-GB" sz="900" b="1" spc="5" noProof="1">
                <a:latin typeface="Arial"/>
                <a:cs typeface="Arial"/>
              </a:rPr>
              <a:t> </a:t>
            </a:r>
            <a:r>
              <a:rPr lang="en-GB" sz="900" b="1" noProof="1">
                <a:latin typeface="Arial"/>
                <a:cs typeface="Arial"/>
              </a:rPr>
              <a:t>to</a:t>
            </a:r>
            <a:r>
              <a:rPr lang="en-GB" sz="900" b="1" spc="5" noProof="1">
                <a:latin typeface="Arial"/>
                <a:cs typeface="Arial"/>
              </a:rPr>
              <a:t> </a:t>
            </a:r>
            <a:r>
              <a:rPr lang="en-GB" sz="900" b="1" spc="-45" noProof="1">
                <a:latin typeface="Arial"/>
                <a:cs typeface="Arial"/>
              </a:rPr>
              <a:t>worry</a:t>
            </a:r>
            <a:r>
              <a:rPr lang="en-GB" sz="900" b="1" spc="5" noProof="1">
                <a:latin typeface="Arial"/>
                <a:cs typeface="Arial"/>
              </a:rPr>
              <a:t> </a:t>
            </a:r>
            <a:r>
              <a:rPr lang="en-GB" sz="900" b="1" noProof="1">
                <a:latin typeface="Arial"/>
                <a:cs typeface="Arial"/>
              </a:rPr>
              <a:t>about</a:t>
            </a:r>
            <a:r>
              <a:rPr lang="en-GB" sz="900" b="1" spc="5" noProof="1">
                <a:latin typeface="Arial"/>
                <a:cs typeface="Arial"/>
              </a:rPr>
              <a:t> </a:t>
            </a:r>
            <a:r>
              <a:rPr lang="en-GB" sz="900" b="1" noProof="1">
                <a:latin typeface="Arial"/>
                <a:cs typeface="Arial"/>
              </a:rPr>
              <a:t>the</a:t>
            </a:r>
            <a:r>
              <a:rPr lang="en-GB" sz="900" b="1" spc="10" noProof="1">
                <a:latin typeface="Arial"/>
                <a:cs typeface="Arial"/>
              </a:rPr>
              <a:t> </a:t>
            </a:r>
            <a:r>
              <a:rPr lang="en-GB" sz="900" b="1" spc="-30" noProof="1">
                <a:latin typeface="Arial"/>
                <a:cs typeface="Arial"/>
              </a:rPr>
              <a:t>maintenance</a:t>
            </a:r>
            <a:r>
              <a:rPr lang="en-GB" sz="900" b="1" spc="5" noProof="1">
                <a:latin typeface="Arial"/>
                <a:cs typeface="Arial"/>
              </a:rPr>
              <a:t> </a:t>
            </a:r>
            <a:r>
              <a:rPr lang="en-GB" sz="900" b="1" noProof="1">
                <a:latin typeface="Arial"/>
                <a:cs typeface="Arial"/>
              </a:rPr>
              <a:t>of</a:t>
            </a:r>
            <a:r>
              <a:rPr lang="en-GB" sz="900" b="1" spc="5" noProof="1">
                <a:latin typeface="Arial"/>
                <a:cs typeface="Arial"/>
              </a:rPr>
              <a:t> </a:t>
            </a:r>
            <a:r>
              <a:rPr lang="en-GB" sz="900" b="1" noProof="1">
                <a:latin typeface="Arial"/>
                <a:cs typeface="Arial"/>
              </a:rPr>
              <a:t>the</a:t>
            </a:r>
            <a:r>
              <a:rPr lang="en-GB" sz="900" b="1" spc="5" noProof="1">
                <a:latin typeface="Arial"/>
                <a:cs typeface="Arial"/>
              </a:rPr>
              <a:t> </a:t>
            </a:r>
            <a:r>
              <a:rPr lang="en-GB" sz="900" b="1" spc="-35" noProof="1">
                <a:latin typeface="Arial"/>
                <a:cs typeface="Arial"/>
              </a:rPr>
              <a:t>hardware.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35" noProof="1"/>
              <a:t>Case</a:t>
            </a:r>
            <a:r>
              <a:rPr lang="en-GB" spc="5" noProof="1"/>
              <a:t> </a:t>
            </a:r>
            <a:r>
              <a:rPr lang="en-GB" spc="-10" noProof="1"/>
              <a:t>Study:</a:t>
            </a:r>
            <a:r>
              <a:rPr lang="en-GB" spc="105" noProof="1"/>
              <a:t> </a:t>
            </a:r>
            <a:r>
              <a:rPr lang="en-GB" spc="-35" noProof="1"/>
              <a:t>Serving</a:t>
            </a:r>
            <a:r>
              <a:rPr lang="en-GB" spc="10" noProof="1"/>
              <a:t> </a:t>
            </a:r>
            <a:r>
              <a:rPr lang="en-GB" noProof="1"/>
              <a:t>a</a:t>
            </a:r>
            <a:r>
              <a:rPr lang="en-GB" spc="10" noProof="1"/>
              <a:t> </a:t>
            </a:r>
            <a:r>
              <a:rPr lang="en-GB" spc="-35" noProof="1"/>
              <a:t>Personal</a:t>
            </a:r>
            <a:r>
              <a:rPr lang="en-GB" spc="5" noProof="1"/>
              <a:t> </a:t>
            </a:r>
            <a:r>
              <a:rPr lang="en-GB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GB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GB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GB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GB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GB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GB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GB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GB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GB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GB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GB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GB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GB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GB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GB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Which are the</a:t>
            </a:r>
            <a:r>
              <a:rPr lang="en-GB" spc="5" noProof="1"/>
              <a:t> </a:t>
            </a:r>
            <a:r>
              <a:rPr lang="en-GB" spc="-10" noProof="1"/>
              <a:t>main</a:t>
            </a:r>
            <a:r>
              <a:rPr lang="en-GB" noProof="1"/>
              <a:t> </a:t>
            </a:r>
            <a:r>
              <a:rPr lang="en-GB" spc="-35" noProof="1"/>
              <a:t>cloud</a:t>
            </a:r>
            <a:r>
              <a:rPr lang="en-GB" noProof="1"/>
              <a:t> </a:t>
            </a:r>
            <a:r>
              <a:rPr lang="en-GB" spc="-35" noProof="1"/>
              <a:t>computing</a:t>
            </a:r>
            <a:r>
              <a:rPr lang="en-GB" spc="5" noProof="1"/>
              <a:t> </a:t>
            </a:r>
            <a:r>
              <a:rPr lang="en-GB" spc="-55" noProof="1"/>
              <a:t>services</a:t>
            </a:r>
            <a:r>
              <a:rPr lang="en-GB" noProof="1"/>
              <a:t> </a:t>
            </a:r>
            <a:r>
              <a:rPr lang="en-GB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GB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GB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GB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GB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GB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GB" sz="900" noProof="1"/>
              <a:t>refers to software and hardware that is physically located within your own building or data center, rather than being hosted by a provider like AWS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GB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GB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GB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35" noProof="1"/>
              <a:t>Shared</a:t>
            </a:r>
            <a:r>
              <a:rPr lang="en-GB" spc="20" noProof="1"/>
              <a:t> </a:t>
            </a:r>
            <a:r>
              <a:rPr lang="en-GB" spc="-45" noProof="1"/>
              <a:t>Responsibility</a:t>
            </a:r>
            <a:r>
              <a:rPr lang="en-GB" spc="20" noProof="1"/>
              <a:t> </a:t>
            </a:r>
            <a:r>
              <a:rPr lang="en-GB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GB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GB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GB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10" noProof="1"/>
              <a:t>Public</a:t>
            </a:r>
            <a:r>
              <a:rPr lang="en-GB" spc="-35" noProof="1"/>
              <a:t> </a:t>
            </a:r>
            <a:r>
              <a:rPr lang="en-GB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GB" sz="900" noProof="1"/>
              <a:t>A </a:t>
            </a:r>
            <a:r>
              <a:rPr lang="en-GB" sz="900" b="1" noProof="1"/>
              <a:t>public cloud </a:t>
            </a:r>
            <a:r>
              <a:rPr lang="en-GB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GB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/>
              <a:t>pay‑per‑use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GB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GB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Private</a:t>
            </a:r>
            <a:r>
              <a:rPr lang="en-GB" spc="30" noProof="1"/>
              <a:t> </a:t>
            </a:r>
            <a:r>
              <a:rPr lang="en-GB" spc="-30" noProof="1"/>
              <a:t>Cloud</a:t>
            </a:r>
            <a:r>
              <a:rPr lang="en-GB" spc="30" noProof="1"/>
              <a:t> </a:t>
            </a:r>
            <a:r>
              <a:rPr lang="en-GB" spc="-25" noProof="1"/>
              <a:t>(On-</a:t>
            </a:r>
            <a:r>
              <a:rPr lang="en-GB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20" noProof="1"/>
              <a:t>Hybrid</a:t>
            </a:r>
            <a:r>
              <a:rPr lang="en-GB" spc="15" noProof="1"/>
              <a:t> </a:t>
            </a:r>
            <a:r>
              <a:rPr lang="en-GB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GB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GB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Which</a:t>
            </a:r>
            <a:r>
              <a:rPr lang="en-GB" spc="5" noProof="1"/>
              <a:t> </a:t>
            </a:r>
            <a:r>
              <a:rPr lang="en-GB" spc="-25" noProof="1"/>
              <a:t>is</a:t>
            </a:r>
            <a:r>
              <a:rPr lang="en-GB" spc="5" noProof="1"/>
              <a:t> </a:t>
            </a:r>
            <a:r>
              <a:rPr lang="en-GB" noProof="1"/>
              <a:t>the</a:t>
            </a:r>
            <a:r>
              <a:rPr lang="en-GB" spc="10" noProof="1"/>
              <a:t> </a:t>
            </a:r>
            <a:r>
              <a:rPr lang="en-GB" spc="-20" noProof="1"/>
              <a:t>current</a:t>
            </a:r>
            <a:r>
              <a:rPr lang="en-GB" spc="5" noProof="1"/>
              <a:t> </a:t>
            </a:r>
            <a:r>
              <a:rPr lang="en-GB" spc="-20" noProof="1"/>
              <a:t>situation</a:t>
            </a:r>
            <a:r>
              <a:rPr lang="en-GB" spc="10" noProof="1"/>
              <a:t> </a:t>
            </a:r>
            <a:r>
              <a:rPr lang="en-GB" noProof="1"/>
              <a:t>of</a:t>
            </a:r>
            <a:r>
              <a:rPr lang="en-GB" spc="5" noProof="1"/>
              <a:t> </a:t>
            </a:r>
            <a:r>
              <a:rPr lang="en-GB" spc="-30" noProof="1"/>
              <a:t>Cloud</a:t>
            </a:r>
            <a:r>
              <a:rPr lang="en-GB" spc="5" noProof="1"/>
              <a:t> </a:t>
            </a:r>
            <a:r>
              <a:rPr lang="en-GB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GB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GB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GB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GB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GB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GB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GB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GB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GB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GB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GB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GB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GB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GB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GB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GB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GB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GB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GB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GB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GB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GB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GB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GB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GB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GB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GB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30" noProof="1"/>
              <a:t>Cloud</a:t>
            </a:r>
            <a:r>
              <a:rPr lang="en-GB" spc="5" noProof="1"/>
              <a:t> </a:t>
            </a:r>
            <a:r>
              <a:rPr lang="en-GB" spc="-55" noProof="1"/>
              <a:t>services</a:t>
            </a:r>
            <a:r>
              <a:rPr lang="en-GB" spc="10" noProof="1"/>
              <a:t> </a:t>
            </a:r>
            <a:r>
              <a:rPr lang="en-GB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GB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GB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GB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GB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GB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GB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30" noProof="1"/>
              <a:t>Cloud</a:t>
            </a:r>
            <a:r>
              <a:rPr lang="en-GB" spc="5" noProof="1"/>
              <a:t> </a:t>
            </a:r>
            <a:r>
              <a:rPr lang="en-GB" spc="-55" noProof="1"/>
              <a:t>services</a:t>
            </a:r>
            <a:r>
              <a:rPr lang="en-GB" spc="10" noProof="1"/>
              <a:t> </a:t>
            </a:r>
            <a:r>
              <a:rPr lang="en-GB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GB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GB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GB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GB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GB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GB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GB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GB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GB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GB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GB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GB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GB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10" noProof="1"/>
              <a:t>Capital</a:t>
            </a:r>
            <a:r>
              <a:rPr lang="en-GB" spc="45" noProof="1"/>
              <a:t> </a:t>
            </a:r>
            <a:r>
              <a:rPr lang="en-GB" spc="-55" noProof="1"/>
              <a:t>expenses</a:t>
            </a:r>
            <a:r>
              <a:rPr lang="en-GB" spc="45" noProof="1"/>
              <a:t> </a:t>
            </a:r>
            <a:r>
              <a:rPr lang="en-GB" noProof="1"/>
              <a:t>to</a:t>
            </a:r>
            <a:r>
              <a:rPr lang="en-GB" spc="45" noProof="1"/>
              <a:t> </a:t>
            </a:r>
            <a:r>
              <a:rPr lang="en-GB" spc="-25" noProof="1"/>
              <a:t>operational</a:t>
            </a:r>
            <a:r>
              <a:rPr lang="en-GB" spc="50" noProof="1"/>
              <a:t> </a:t>
            </a:r>
            <a:r>
              <a:rPr lang="en-GB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GB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GB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GB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GB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GB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GB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GB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GB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GB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GB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GB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GB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GB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GB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55" noProof="1"/>
              <a:t>Economies</a:t>
            </a:r>
            <a:r>
              <a:rPr lang="en-GB" spc="25" noProof="1"/>
              <a:t> </a:t>
            </a:r>
            <a:r>
              <a:rPr lang="en-GB" noProof="1"/>
              <a:t>of</a:t>
            </a:r>
            <a:r>
              <a:rPr lang="en-GB" spc="30" noProof="1"/>
              <a:t> </a:t>
            </a:r>
            <a:r>
              <a:rPr lang="en-GB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GB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GB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GB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GB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GB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GB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20" noProof="1"/>
              <a:t>Adaptability</a:t>
            </a:r>
            <a:r>
              <a:rPr lang="en-GB" noProof="1"/>
              <a:t> </a:t>
            </a:r>
            <a:r>
              <a:rPr lang="en-GB" spc="-10" noProof="1"/>
              <a:t>and</a:t>
            </a:r>
            <a:r>
              <a:rPr lang="en-GB" noProof="1"/>
              <a:t> </a:t>
            </a:r>
            <a:r>
              <a:rPr lang="en-GB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GB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GB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GB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GB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GB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GB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GB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GB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GB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GB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GB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GB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25" noProof="1"/>
              <a:t>Deployment</a:t>
            </a:r>
            <a:r>
              <a:rPr lang="en-GB" spc="45" noProof="1"/>
              <a:t> </a:t>
            </a:r>
            <a:r>
              <a:rPr lang="en-GB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GB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GB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GB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GB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GB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GB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GB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35" noProof="1"/>
              <a:t>Case</a:t>
            </a:r>
            <a:r>
              <a:rPr lang="en-GB" spc="-5" noProof="1"/>
              <a:t> </a:t>
            </a:r>
            <a:r>
              <a:rPr lang="en-GB" spc="-10" noProof="1"/>
              <a:t>Study:</a:t>
            </a:r>
            <a:r>
              <a:rPr lang="en-GB" spc="95" noProof="1"/>
              <a:t> </a:t>
            </a:r>
            <a:r>
              <a:rPr lang="en-GB" spc="-30" noProof="1"/>
              <a:t>Dropbox</a:t>
            </a:r>
            <a:endParaRPr lang="en-GB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GB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GB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GB" sz="900" noProof="1"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GB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GB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GB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GB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GB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GB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GB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GB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GB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GB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GB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GB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GB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GB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GB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GB" sz="1100" spc="-50" noProof="1">
                <a:solidFill>
                  <a:srgbClr val="22373A"/>
                </a:solidFill>
              </a:rPr>
              <a:t> </a:t>
            </a:r>
            <a:r>
              <a:rPr lang="en-GB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GB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Data</a:t>
            </a:r>
            <a:r>
              <a:rPr lang="en-GB" spc="145" noProof="1"/>
              <a:t> </a:t>
            </a:r>
            <a:r>
              <a:rPr lang="en-GB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GB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GB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GB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GB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GB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GB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Real </a:t>
            </a:r>
            <a:r>
              <a:rPr lang="en-GB" spc="-60" noProof="1"/>
              <a:t>Cases</a:t>
            </a:r>
            <a:r>
              <a:rPr lang="en-GB" spc="5" noProof="1"/>
              <a:t> </a:t>
            </a:r>
            <a:r>
              <a:rPr lang="en-GB" noProof="1"/>
              <a:t>of </a:t>
            </a:r>
            <a:r>
              <a:rPr lang="en-GB" spc="-30" noProof="1"/>
              <a:t>Security</a:t>
            </a:r>
            <a:r>
              <a:rPr lang="en-GB" spc="5" noProof="1"/>
              <a:t> </a:t>
            </a:r>
            <a:r>
              <a:rPr lang="en-GB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GB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GB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GB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GB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How</a:t>
            </a:r>
            <a:r>
              <a:rPr lang="en-GB" spc="25" noProof="1"/>
              <a:t> </a:t>
            </a:r>
            <a:r>
              <a:rPr lang="en-GB" noProof="1"/>
              <a:t>to</a:t>
            </a:r>
            <a:r>
              <a:rPr lang="en-GB" spc="30" noProof="1"/>
              <a:t> </a:t>
            </a:r>
            <a:r>
              <a:rPr lang="en-GB" spc="-10" noProof="1"/>
              <a:t>protect</a:t>
            </a:r>
            <a:r>
              <a:rPr lang="en-GB" spc="25" noProof="1"/>
              <a:t> </a:t>
            </a:r>
            <a:r>
              <a:rPr lang="en-GB" spc="-35" noProof="1"/>
              <a:t>your</a:t>
            </a:r>
            <a:r>
              <a:rPr lang="en-GB" spc="30" noProof="1"/>
              <a:t> </a:t>
            </a:r>
            <a:r>
              <a:rPr lang="en-GB" noProof="1"/>
              <a:t>data</a:t>
            </a:r>
            <a:r>
              <a:rPr lang="en-GB" spc="25" noProof="1"/>
              <a:t> </a:t>
            </a:r>
            <a:r>
              <a:rPr lang="en-GB" noProof="1"/>
              <a:t>in</a:t>
            </a:r>
            <a:r>
              <a:rPr lang="en-GB" spc="30" noProof="1"/>
              <a:t> </a:t>
            </a:r>
            <a:r>
              <a:rPr lang="en-GB" noProof="1"/>
              <a:t>the</a:t>
            </a:r>
            <a:r>
              <a:rPr lang="en-GB" spc="25" noProof="1"/>
              <a:t> </a:t>
            </a:r>
            <a:r>
              <a:rPr lang="en-GB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GB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GB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GB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GB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Data</a:t>
            </a:r>
            <a:r>
              <a:rPr lang="en-GB" spc="145" noProof="1"/>
              <a:t> </a:t>
            </a:r>
            <a:r>
              <a:rPr lang="en-GB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GB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GB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GB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GB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You must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GB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GB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GB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GB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GB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GB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40" noProof="1"/>
              <a:t>Dependence</a:t>
            </a:r>
            <a:endParaRPr lang="en-GB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GB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GB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GB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GB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GB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GB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GB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Other</a:t>
            </a:r>
            <a:r>
              <a:rPr lang="en-GB" spc="30" noProof="1"/>
              <a:t> </a:t>
            </a:r>
            <a:r>
              <a:rPr lang="en-GB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GB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GB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 Quality of Service requirement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GB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GB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GB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GB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GB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GB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GB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35" noProof="1"/>
              <a:t>Case</a:t>
            </a:r>
            <a:r>
              <a:rPr lang="en-GB" spc="-5" noProof="1"/>
              <a:t> </a:t>
            </a:r>
            <a:r>
              <a:rPr lang="en-GB" spc="-10" noProof="1"/>
              <a:t>Study:</a:t>
            </a:r>
            <a:r>
              <a:rPr lang="en-GB" spc="90" noProof="1"/>
              <a:t> </a:t>
            </a:r>
            <a:r>
              <a:rPr lang="en-GB" noProof="1"/>
              <a:t>Is</a:t>
            </a:r>
            <a:r>
              <a:rPr lang="en-GB" spc="-5" noProof="1"/>
              <a:t> </a:t>
            </a:r>
            <a:r>
              <a:rPr lang="en-GB" spc="-30" noProof="1"/>
              <a:t>Cloud</a:t>
            </a:r>
            <a:r>
              <a:rPr lang="en-GB" noProof="1"/>
              <a:t> </a:t>
            </a:r>
            <a:r>
              <a:rPr lang="en-GB" spc="-30" noProof="1"/>
              <a:t>Computing</a:t>
            </a:r>
            <a:r>
              <a:rPr lang="en-GB" spc="-5" noProof="1"/>
              <a:t> </a:t>
            </a:r>
            <a:r>
              <a:rPr lang="en-GB" noProof="1"/>
              <a:t>Right for</a:t>
            </a:r>
            <a:r>
              <a:rPr lang="en-GB" spc="-5" noProof="1"/>
              <a:t> </a:t>
            </a:r>
            <a:r>
              <a:rPr lang="en-GB" spc="-20" noProof="1"/>
              <a:t>Your</a:t>
            </a:r>
            <a:r>
              <a:rPr lang="en-GB" noProof="1"/>
              <a:t> </a:t>
            </a:r>
            <a:r>
              <a:rPr lang="en-GB" spc="-40" noProof="1"/>
              <a:t>Company?</a:t>
            </a:r>
            <a:r>
              <a:rPr lang="en-GB" spc="85" noProof="1"/>
              <a:t> </a:t>
            </a:r>
            <a:r>
              <a:rPr lang="en-GB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GB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GB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GB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GB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GB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GB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GB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GB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35" noProof="1"/>
              <a:t>Case</a:t>
            </a:r>
            <a:r>
              <a:rPr lang="en-GB" spc="-5" noProof="1"/>
              <a:t> </a:t>
            </a:r>
            <a:r>
              <a:rPr lang="en-GB" spc="-10" noProof="1"/>
              <a:t>Study:</a:t>
            </a:r>
            <a:r>
              <a:rPr lang="en-GB" spc="90" noProof="1"/>
              <a:t> </a:t>
            </a:r>
            <a:r>
              <a:rPr lang="en-GB" noProof="1"/>
              <a:t>Is</a:t>
            </a:r>
            <a:r>
              <a:rPr lang="en-GB" spc="-5" noProof="1"/>
              <a:t> </a:t>
            </a:r>
            <a:r>
              <a:rPr lang="en-GB" spc="-30" noProof="1"/>
              <a:t>Cloud</a:t>
            </a:r>
            <a:r>
              <a:rPr lang="en-GB" noProof="1"/>
              <a:t> </a:t>
            </a:r>
            <a:r>
              <a:rPr lang="en-GB" spc="-30" noProof="1"/>
              <a:t>Computing</a:t>
            </a:r>
            <a:r>
              <a:rPr lang="en-GB" spc="-5" noProof="1"/>
              <a:t> </a:t>
            </a:r>
            <a:r>
              <a:rPr lang="en-GB" noProof="1"/>
              <a:t>Right for</a:t>
            </a:r>
            <a:r>
              <a:rPr lang="en-GB" spc="-5" noProof="1"/>
              <a:t> </a:t>
            </a:r>
            <a:r>
              <a:rPr lang="en-GB" spc="-20" noProof="1"/>
              <a:t>Your</a:t>
            </a:r>
            <a:r>
              <a:rPr lang="en-GB" noProof="1"/>
              <a:t> </a:t>
            </a:r>
            <a:r>
              <a:rPr lang="en-GB" spc="-40" noProof="1"/>
              <a:t>Company?</a:t>
            </a:r>
            <a:r>
              <a:rPr lang="en-GB" spc="85" noProof="1"/>
              <a:t> </a:t>
            </a:r>
            <a:r>
              <a:rPr lang="en-GB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GB" noProof="1"/>
              <a:t>Now,</a:t>
            </a:r>
            <a:r>
              <a:rPr lang="en-GB" spc="10" noProof="1"/>
              <a:t> </a:t>
            </a:r>
            <a:r>
              <a:rPr lang="en-GB" spc="-30" noProof="1"/>
              <a:t>consider</a:t>
            </a:r>
            <a:r>
              <a:rPr lang="en-GB" spc="15" noProof="1"/>
              <a:t> </a:t>
            </a:r>
            <a:r>
              <a:rPr lang="en-GB" noProof="1"/>
              <a:t>a</a:t>
            </a:r>
            <a:r>
              <a:rPr lang="en-GB" spc="15" noProof="1"/>
              <a:t> </a:t>
            </a:r>
            <a:r>
              <a:rPr lang="en-GB" spc="-10" noProof="1"/>
              <a:t>small</a:t>
            </a:r>
            <a:r>
              <a:rPr lang="en-GB" spc="10" noProof="1"/>
              <a:t> </a:t>
            </a:r>
            <a:r>
              <a:rPr lang="en-GB" spc="-30" noProof="1"/>
              <a:t>company</a:t>
            </a:r>
            <a:r>
              <a:rPr lang="en-GB" spc="15" noProof="1"/>
              <a:t> </a:t>
            </a:r>
            <a:r>
              <a:rPr lang="en-GB" b="1" spc="50" noProof="1">
                <a:latin typeface="Arial"/>
                <a:cs typeface="Arial"/>
              </a:rPr>
              <a:t>Y</a:t>
            </a:r>
            <a:r>
              <a:rPr lang="en-GB" b="1" spc="15" noProof="1">
                <a:latin typeface="Arial"/>
                <a:cs typeface="Arial"/>
              </a:rPr>
              <a:t> </a:t>
            </a:r>
            <a:r>
              <a:rPr lang="en-GB" noProof="1"/>
              <a:t>that</a:t>
            </a:r>
            <a:r>
              <a:rPr lang="en-GB" spc="10" noProof="1"/>
              <a:t> </a:t>
            </a:r>
            <a:r>
              <a:rPr lang="en-GB" spc="-55" noProof="1"/>
              <a:t>needs</a:t>
            </a:r>
            <a:r>
              <a:rPr lang="en-GB" spc="15" noProof="1"/>
              <a:t> </a:t>
            </a:r>
            <a:r>
              <a:rPr lang="en-GB" noProof="1"/>
              <a:t>to</a:t>
            </a:r>
            <a:r>
              <a:rPr lang="en-GB" spc="15" noProof="1"/>
              <a:t> </a:t>
            </a:r>
            <a:r>
              <a:rPr lang="en-GB" noProof="1"/>
              <a:t>digitalize</a:t>
            </a:r>
            <a:r>
              <a:rPr lang="en-GB" spc="15" noProof="1"/>
              <a:t> </a:t>
            </a:r>
            <a:r>
              <a:rPr lang="en-GB" noProof="1"/>
              <a:t>its</a:t>
            </a:r>
            <a:r>
              <a:rPr lang="en-GB" spc="10" noProof="1"/>
              <a:t> </a:t>
            </a:r>
            <a:r>
              <a:rPr lang="en-GB" spc="-50" noProof="1"/>
              <a:t>business</a:t>
            </a:r>
            <a:r>
              <a:rPr lang="en-GB" spc="15" noProof="1"/>
              <a:t> </a:t>
            </a:r>
            <a:r>
              <a:rPr lang="en-GB" noProof="1"/>
              <a:t>and</a:t>
            </a:r>
            <a:r>
              <a:rPr lang="en-GB" spc="15" noProof="1"/>
              <a:t> </a:t>
            </a:r>
            <a:r>
              <a:rPr lang="en-GB" spc="-35" noProof="1"/>
              <a:t>reduce</a:t>
            </a:r>
            <a:r>
              <a:rPr lang="en-GB" spc="10" noProof="1"/>
              <a:t> </a:t>
            </a:r>
            <a:r>
              <a:rPr lang="en-GB" spc="-30" noProof="1"/>
              <a:t>costs</a:t>
            </a:r>
            <a:r>
              <a:rPr lang="en-GB" spc="15" noProof="1"/>
              <a:t> </a:t>
            </a:r>
            <a:r>
              <a:rPr lang="en-GB" noProof="1"/>
              <a:t>to</a:t>
            </a:r>
            <a:r>
              <a:rPr lang="en-GB" spc="15" noProof="1"/>
              <a:t> </a:t>
            </a:r>
            <a:r>
              <a:rPr lang="en-GB" spc="-10" noProof="1"/>
              <a:t>compete </a:t>
            </a:r>
            <a:r>
              <a:rPr lang="en-GB" spc="-20" noProof="1"/>
              <a:t>effectively</a:t>
            </a:r>
            <a:r>
              <a:rPr lang="en-GB" spc="5" noProof="1"/>
              <a:t> </a:t>
            </a:r>
            <a:r>
              <a:rPr lang="en-GB" noProof="1"/>
              <a:t>in</a:t>
            </a:r>
            <a:r>
              <a:rPr lang="en-GB" spc="10" noProof="1"/>
              <a:t> </a:t>
            </a:r>
            <a:r>
              <a:rPr lang="en-GB" noProof="1"/>
              <a:t>the</a:t>
            </a:r>
            <a:r>
              <a:rPr lang="en-GB" spc="10" noProof="1"/>
              <a:t> </a:t>
            </a:r>
            <a:r>
              <a:rPr lang="en-GB" spc="-10" noProof="1"/>
              <a:t>market.</a:t>
            </a:r>
            <a:r>
              <a:rPr lang="en-GB" spc="95" noProof="1"/>
              <a:t> </a:t>
            </a:r>
            <a:r>
              <a:rPr lang="en-GB" noProof="1"/>
              <a:t>The</a:t>
            </a:r>
            <a:r>
              <a:rPr lang="en-GB" spc="10" noProof="1"/>
              <a:t> </a:t>
            </a:r>
            <a:r>
              <a:rPr lang="en-GB" spc="-30" noProof="1"/>
              <a:t>company</a:t>
            </a:r>
            <a:r>
              <a:rPr lang="en-GB" spc="10" noProof="1"/>
              <a:t> </a:t>
            </a:r>
            <a:r>
              <a:rPr lang="en-GB" noProof="1"/>
              <a:t>is</a:t>
            </a:r>
            <a:r>
              <a:rPr lang="en-GB" spc="10" noProof="1"/>
              <a:t> </a:t>
            </a:r>
            <a:r>
              <a:rPr lang="en-GB" spc="-25" noProof="1"/>
              <a:t>also</a:t>
            </a:r>
            <a:r>
              <a:rPr lang="en-GB" spc="10" noProof="1"/>
              <a:t> </a:t>
            </a:r>
            <a:r>
              <a:rPr lang="en-GB" spc="-30" noProof="1"/>
              <a:t>considering</a:t>
            </a:r>
            <a:r>
              <a:rPr lang="en-GB" spc="10" noProof="1"/>
              <a:t> </a:t>
            </a:r>
            <a:r>
              <a:rPr lang="en-GB" spc="-10" noProof="1"/>
              <a:t>whether</a:t>
            </a:r>
            <a:r>
              <a:rPr lang="en-GB" spc="10" noProof="1"/>
              <a:t> </a:t>
            </a:r>
            <a:r>
              <a:rPr lang="en-GB" noProof="1"/>
              <a:t>to</a:t>
            </a:r>
            <a:r>
              <a:rPr lang="en-GB" spc="10" noProof="1"/>
              <a:t> </a:t>
            </a:r>
            <a:r>
              <a:rPr lang="en-GB" noProof="1"/>
              <a:t>adopt</a:t>
            </a:r>
            <a:r>
              <a:rPr lang="en-GB" spc="10" noProof="1"/>
              <a:t> </a:t>
            </a:r>
            <a:r>
              <a:rPr lang="en-GB" spc="-10" noProof="1"/>
              <a:t>cloud</a:t>
            </a:r>
            <a:r>
              <a:rPr lang="en-GB" spc="10" noProof="1"/>
              <a:t> </a:t>
            </a:r>
            <a:r>
              <a:rPr lang="en-GB" spc="-10" noProof="1"/>
              <a:t>computing</a:t>
            </a:r>
            <a:r>
              <a:rPr lang="en-GB" spc="10" noProof="1"/>
              <a:t> </a:t>
            </a:r>
            <a:r>
              <a:rPr lang="en-GB" spc="-25" noProof="1"/>
              <a:t>or </a:t>
            </a:r>
            <a:r>
              <a:rPr lang="en-GB" noProof="1"/>
              <a:t>traditional</a:t>
            </a:r>
            <a:r>
              <a:rPr lang="en-GB" spc="55" noProof="1"/>
              <a:t> </a:t>
            </a:r>
            <a:r>
              <a:rPr lang="en-GB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GB" i="1" noProof="1">
                <a:latin typeface="Arial"/>
                <a:cs typeface="Arial"/>
              </a:rPr>
              <a:t>The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spc="-30" noProof="1">
                <a:latin typeface="Arial"/>
                <a:cs typeface="Arial"/>
              </a:rPr>
              <a:t>decision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spc="-45" noProof="1">
                <a:latin typeface="Arial"/>
                <a:cs typeface="Arial"/>
              </a:rPr>
              <a:t>depends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on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the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spc="-20" noProof="1">
                <a:latin typeface="Arial"/>
                <a:cs typeface="Arial"/>
              </a:rPr>
              <a:t>specific</a:t>
            </a:r>
            <a:r>
              <a:rPr lang="en-GB" i="1" spc="15" noProof="1">
                <a:latin typeface="Arial"/>
                <a:cs typeface="Arial"/>
              </a:rPr>
              <a:t> </a:t>
            </a:r>
            <a:r>
              <a:rPr lang="en-GB" i="1" spc="-65" noProof="1">
                <a:latin typeface="Arial"/>
                <a:cs typeface="Arial"/>
              </a:rPr>
              <a:t>needs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and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spc="-50" noProof="1">
                <a:latin typeface="Arial"/>
                <a:cs typeface="Arial"/>
              </a:rPr>
              <a:t>resources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of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the</a:t>
            </a:r>
            <a:r>
              <a:rPr lang="en-GB" i="1" spc="15" noProof="1">
                <a:latin typeface="Arial"/>
                <a:cs typeface="Arial"/>
              </a:rPr>
              <a:t> </a:t>
            </a:r>
            <a:r>
              <a:rPr lang="en-GB" i="1" spc="-30" noProof="1">
                <a:latin typeface="Arial"/>
                <a:cs typeface="Arial"/>
              </a:rPr>
              <a:t>company.</a:t>
            </a:r>
            <a:r>
              <a:rPr lang="en-GB" i="1" spc="95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If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the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spc="-30" noProof="1">
                <a:latin typeface="Arial"/>
                <a:cs typeface="Arial"/>
              </a:rPr>
              <a:t>company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spc="-45" noProof="1">
                <a:latin typeface="Arial"/>
                <a:cs typeface="Arial"/>
              </a:rPr>
              <a:t>has</a:t>
            </a:r>
            <a:r>
              <a:rPr lang="en-GB" i="1" spc="15" noProof="1">
                <a:latin typeface="Arial"/>
                <a:cs typeface="Arial"/>
              </a:rPr>
              <a:t> </a:t>
            </a:r>
            <a:r>
              <a:rPr lang="en-GB" i="1" spc="-50" noProof="1">
                <a:latin typeface="Arial"/>
                <a:cs typeface="Arial"/>
              </a:rPr>
              <a:t>a</a:t>
            </a:r>
            <a:r>
              <a:rPr lang="en-GB" i="1" spc="-10" noProof="1">
                <a:latin typeface="Arial"/>
                <a:cs typeface="Arial"/>
              </a:rPr>
              <a:t> significant</a:t>
            </a:r>
            <a:r>
              <a:rPr lang="en-GB" i="1" noProof="1">
                <a:latin typeface="Arial"/>
                <a:cs typeface="Arial"/>
              </a:rPr>
              <a:t> amount</a:t>
            </a:r>
            <a:r>
              <a:rPr lang="en-GB" i="1" spc="5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of</a:t>
            </a:r>
            <a:r>
              <a:rPr lang="en-GB" i="1" spc="5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data,</a:t>
            </a:r>
            <a:r>
              <a:rPr lang="en-GB" i="1" spc="5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a</a:t>
            </a:r>
            <a:r>
              <a:rPr lang="en-GB" i="1" spc="5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traditional infrastructure</a:t>
            </a:r>
            <a:r>
              <a:rPr lang="en-GB" i="1" spc="5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might</a:t>
            </a:r>
            <a:r>
              <a:rPr lang="en-GB" i="1" spc="5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be</a:t>
            </a:r>
            <a:r>
              <a:rPr lang="en-GB" i="1" spc="5" noProof="1">
                <a:latin typeface="Arial"/>
                <a:cs typeface="Arial"/>
              </a:rPr>
              <a:t> </a:t>
            </a:r>
            <a:r>
              <a:rPr lang="en-GB" i="1" spc="-25" noProof="1">
                <a:latin typeface="Arial"/>
                <a:cs typeface="Arial"/>
              </a:rPr>
              <a:t>more</a:t>
            </a:r>
            <a:r>
              <a:rPr lang="en-GB" i="1" spc="5" noProof="1">
                <a:latin typeface="Arial"/>
                <a:cs typeface="Arial"/>
              </a:rPr>
              <a:t> </a:t>
            </a:r>
            <a:r>
              <a:rPr lang="en-GB" i="1" spc="-10" noProof="1">
                <a:latin typeface="Arial"/>
                <a:cs typeface="Arial"/>
              </a:rPr>
              <a:t>suitable</a:t>
            </a:r>
            <a:r>
              <a:rPr lang="en-GB" i="1" spc="5" noProof="1">
                <a:latin typeface="Arial"/>
                <a:cs typeface="Arial"/>
              </a:rPr>
              <a:t> </a:t>
            </a:r>
            <a:r>
              <a:rPr lang="en-GB" i="1" spc="-20" noProof="1">
                <a:latin typeface="Arial"/>
                <a:cs typeface="Arial"/>
              </a:rPr>
              <a:t>due</a:t>
            </a:r>
            <a:r>
              <a:rPr lang="en-GB" i="1" noProof="1">
                <a:latin typeface="Arial"/>
                <a:cs typeface="Arial"/>
              </a:rPr>
              <a:t> to</a:t>
            </a:r>
            <a:r>
              <a:rPr lang="en-GB" i="1" spc="5" noProof="1">
                <a:latin typeface="Arial"/>
                <a:cs typeface="Arial"/>
              </a:rPr>
              <a:t> </a:t>
            </a:r>
            <a:r>
              <a:rPr lang="en-GB" i="1" spc="-25" noProof="1">
                <a:latin typeface="Arial"/>
                <a:cs typeface="Arial"/>
              </a:rPr>
              <a:t>the </a:t>
            </a:r>
            <a:r>
              <a:rPr lang="en-GB" i="1" spc="-40" noProof="1">
                <a:latin typeface="Arial"/>
                <a:cs typeface="Arial"/>
              </a:rPr>
              <a:t>increased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control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spc="-10" noProof="1">
                <a:latin typeface="Arial"/>
                <a:cs typeface="Arial"/>
              </a:rPr>
              <a:t>over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data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spc="-25" noProof="1">
                <a:latin typeface="Arial"/>
                <a:cs typeface="Arial"/>
              </a:rPr>
              <a:t>security.</a:t>
            </a:r>
            <a:r>
              <a:rPr lang="en-GB" i="1" spc="100" noProof="1">
                <a:latin typeface="Arial"/>
                <a:cs typeface="Arial"/>
              </a:rPr>
              <a:t> </a:t>
            </a:r>
            <a:r>
              <a:rPr lang="en-GB" i="1" spc="-35" noProof="1">
                <a:latin typeface="Arial"/>
                <a:cs typeface="Arial"/>
              </a:rPr>
              <a:t>However,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if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the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spc="-30" noProof="1">
                <a:latin typeface="Arial"/>
                <a:cs typeface="Arial"/>
              </a:rPr>
              <a:t>company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spc="-35" noProof="1">
                <a:latin typeface="Arial"/>
                <a:cs typeface="Arial"/>
              </a:rPr>
              <a:t>values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flexibility</a:t>
            </a:r>
            <a:r>
              <a:rPr lang="en-GB" i="1" spc="15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and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spc="-20" noProof="1">
                <a:latin typeface="Arial"/>
                <a:cs typeface="Arial"/>
              </a:rPr>
              <a:t>scalability,</a:t>
            </a:r>
            <a:r>
              <a:rPr lang="en-GB" i="1" spc="10" noProof="1">
                <a:latin typeface="Arial"/>
                <a:cs typeface="Arial"/>
              </a:rPr>
              <a:t> </a:t>
            </a:r>
            <a:r>
              <a:rPr lang="en-GB" i="1" spc="-10" noProof="1">
                <a:latin typeface="Arial"/>
                <a:cs typeface="Arial"/>
              </a:rPr>
              <a:t>cloud computing</a:t>
            </a:r>
            <a:r>
              <a:rPr lang="en-GB" i="1" noProof="1">
                <a:latin typeface="Arial"/>
                <a:cs typeface="Arial"/>
              </a:rPr>
              <a:t> </a:t>
            </a:r>
            <a:r>
              <a:rPr lang="en-GB" i="1" spc="-10" noProof="1">
                <a:latin typeface="Arial"/>
                <a:cs typeface="Arial"/>
              </a:rPr>
              <a:t>could</a:t>
            </a:r>
            <a:r>
              <a:rPr lang="en-GB" i="1" noProof="1">
                <a:latin typeface="Arial"/>
                <a:cs typeface="Arial"/>
              </a:rPr>
              <a:t> be</a:t>
            </a:r>
            <a:r>
              <a:rPr lang="en-GB" i="1" spc="5" noProof="1">
                <a:latin typeface="Arial"/>
                <a:cs typeface="Arial"/>
              </a:rPr>
              <a:t> </a:t>
            </a:r>
            <a:r>
              <a:rPr lang="en-GB" i="1" noProof="1">
                <a:latin typeface="Arial"/>
                <a:cs typeface="Arial"/>
              </a:rPr>
              <a:t>a better</a:t>
            </a:r>
            <a:r>
              <a:rPr lang="en-GB" i="1" spc="5" noProof="1">
                <a:latin typeface="Arial"/>
                <a:cs typeface="Arial"/>
              </a:rPr>
              <a:t> </a:t>
            </a:r>
            <a:r>
              <a:rPr lang="en-GB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35" noProof="1"/>
              <a:t>Case</a:t>
            </a:r>
            <a:r>
              <a:rPr lang="en-GB" spc="-5" noProof="1"/>
              <a:t> </a:t>
            </a:r>
            <a:r>
              <a:rPr lang="en-GB" spc="-10" noProof="1"/>
              <a:t>Study:</a:t>
            </a:r>
            <a:r>
              <a:rPr lang="en-GB" spc="90" noProof="1"/>
              <a:t> </a:t>
            </a:r>
            <a:r>
              <a:rPr lang="en-GB" noProof="1"/>
              <a:t>Is</a:t>
            </a:r>
            <a:r>
              <a:rPr lang="en-GB" spc="-5" noProof="1"/>
              <a:t> </a:t>
            </a:r>
            <a:r>
              <a:rPr lang="en-GB" spc="-30" noProof="1"/>
              <a:t>Cloud</a:t>
            </a:r>
            <a:r>
              <a:rPr lang="en-GB" noProof="1"/>
              <a:t> </a:t>
            </a:r>
            <a:r>
              <a:rPr lang="en-GB" spc="-30" noProof="1"/>
              <a:t>Computing</a:t>
            </a:r>
            <a:r>
              <a:rPr lang="en-GB" spc="-5" noProof="1"/>
              <a:t> </a:t>
            </a:r>
            <a:r>
              <a:rPr lang="en-GB" noProof="1"/>
              <a:t>Right for</a:t>
            </a:r>
            <a:r>
              <a:rPr lang="en-GB" spc="-5" noProof="1"/>
              <a:t> </a:t>
            </a:r>
            <a:r>
              <a:rPr lang="en-GB" spc="-20" noProof="1"/>
              <a:t>Your</a:t>
            </a:r>
            <a:r>
              <a:rPr lang="en-GB" noProof="1"/>
              <a:t> </a:t>
            </a:r>
            <a:r>
              <a:rPr lang="en-GB" spc="-40" noProof="1"/>
              <a:t>Company?</a:t>
            </a:r>
            <a:r>
              <a:rPr lang="en-GB" spc="85" noProof="1"/>
              <a:t> </a:t>
            </a:r>
            <a:r>
              <a:rPr lang="en-GB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GB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GB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GB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GB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GB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GB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GB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GB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GB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GB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GB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GB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GB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GB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GB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GB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GB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GB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GB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GB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GB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GB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GB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GB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Why</a:t>
            </a:r>
            <a:r>
              <a:rPr lang="en-GB" spc="25" noProof="1"/>
              <a:t> </a:t>
            </a:r>
            <a:r>
              <a:rPr lang="en-GB" spc="-30" noProof="1"/>
              <a:t>Cloud</a:t>
            </a:r>
            <a:r>
              <a:rPr lang="en-GB" spc="30" noProof="1"/>
              <a:t> </a:t>
            </a:r>
            <a:r>
              <a:rPr lang="en-GB" spc="-30" noProof="1"/>
              <a:t>Computing</a:t>
            </a:r>
            <a:r>
              <a:rPr lang="en-GB" spc="30" noProof="1"/>
              <a:t> </a:t>
            </a:r>
            <a:r>
              <a:rPr lang="en-GB" noProof="1"/>
              <a:t>in</a:t>
            </a:r>
            <a:r>
              <a:rPr lang="en-GB" spc="25" noProof="1"/>
              <a:t> </a:t>
            </a:r>
            <a:r>
              <a:rPr lang="en-GB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GB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GB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GB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GB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Which</a:t>
            </a:r>
            <a:r>
              <a:rPr lang="en-GB" spc="10" noProof="1"/>
              <a:t> </a:t>
            </a:r>
            <a:r>
              <a:rPr lang="en-GB" noProof="1"/>
              <a:t>are</a:t>
            </a:r>
            <a:r>
              <a:rPr lang="en-GB" spc="10" noProof="1"/>
              <a:t> </a:t>
            </a:r>
            <a:r>
              <a:rPr lang="en-GB" noProof="1"/>
              <a:t>the</a:t>
            </a:r>
            <a:r>
              <a:rPr lang="en-GB" spc="15" noProof="1"/>
              <a:t> </a:t>
            </a:r>
            <a:r>
              <a:rPr lang="en-GB" spc="-35" noProof="1"/>
              <a:t>opportunities</a:t>
            </a:r>
            <a:r>
              <a:rPr lang="en-GB" spc="10" noProof="1"/>
              <a:t> </a:t>
            </a:r>
            <a:r>
              <a:rPr lang="en-GB" noProof="1"/>
              <a:t>of</a:t>
            </a:r>
            <a:r>
              <a:rPr lang="en-GB" spc="10" noProof="1"/>
              <a:t> </a:t>
            </a:r>
            <a:r>
              <a:rPr lang="en-GB" spc="-30" noProof="1"/>
              <a:t>Cloud</a:t>
            </a:r>
            <a:r>
              <a:rPr lang="en-GB" spc="15" noProof="1"/>
              <a:t> </a:t>
            </a:r>
            <a:r>
              <a:rPr lang="en-GB" spc="-30" noProof="1"/>
              <a:t>Computing</a:t>
            </a:r>
            <a:r>
              <a:rPr lang="en-GB" spc="10" noProof="1"/>
              <a:t> </a:t>
            </a:r>
            <a:r>
              <a:rPr lang="en-GB" noProof="1"/>
              <a:t>in</a:t>
            </a:r>
            <a:r>
              <a:rPr lang="en-GB" spc="10" noProof="1"/>
              <a:t> </a:t>
            </a:r>
            <a:r>
              <a:rPr lang="en-GB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GB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GB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GB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GB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GB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GB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GB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GB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GB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GB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GB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GB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GB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GB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GB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GB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GB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GB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10" noProof="1"/>
              <a:t>Use</a:t>
            </a:r>
            <a:r>
              <a:rPr lang="en-GB" spc="-35" noProof="1"/>
              <a:t> </a:t>
            </a:r>
            <a:r>
              <a:rPr lang="en-GB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GB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GB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GB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GB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GB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GB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GB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GB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45" noProof="1"/>
              <a:t>Challenges</a:t>
            </a:r>
            <a:r>
              <a:rPr lang="en-GB" spc="30" noProof="1"/>
              <a:t> </a:t>
            </a:r>
            <a:r>
              <a:rPr lang="en-GB" noProof="1"/>
              <a:t>in</a:t>
            </a:r>
            <a:r>
              <a:rPr lang="en-GB" spc="30" noProof="1"/>
              <a:t> </a:t>
            </a:r>
            <a:r>
              <a:rPr lang="en-GB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GB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GB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GB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GB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GB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GB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Is</a:t>
            </a:r>
            <a:r>
              <a:rPr lang="en-GB" spc="10" noProof="1"/>
              <a:t> </a:t>
            </a:r>
            <a:r>
              <a:rPr lang="en-GB" spc="-35" noProof="1"/>
              <a:t>cloud</a:t>
            </a:r>
            <a:r>
              <a:rPr lang="en-GB" spc="10" noProof="1"/>
              <a:t> </a:t>
            </a:r>
            <a:r>
              <a:rPr lang="en-GB" spc="-35" noProof="1"/>
              <a:t>computing</a:t>
            </a:r>
            <a:r>
              <a:rPr lang="en-GB" spc="15" noProof="1"/>
              <a:t> </a:t>
            </a:r>
            <a:r>
              <a:rPr lang="en-GB" noProof="1"/>
              <a:t>the</a:t>
            </a:r>
            <a:r>
              <a:rPr lang="en-GB" spc="10" noProof="1"/>
              <a:t> </a:t>
            </a:r>
            <a:r>
              <a:rPr lang="en-GB" noProof="1"/>
              <a:t>future</a:t>
            </a:r>
            <a:r>
              <a:rPr lang="en-GB" spc="15" noProof="1"/>
              <a:t> </a:t>
            </a:r>
            <a:r>
              <a:rPr lang="en-GB" noProof="1"/>
              <a:t>of</a:t>
            </a:r>
            <a:r>
              <a:rPr lang="en-GB" spc="10" noProof="1"/>
              <a:t> </a:t>
            </a:r>
            <a:r>
              <a:rPr lang="en-GB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GB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GB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GB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GB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GB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GB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GB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GB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GB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GB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GB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GB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GB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GB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GB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GB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GB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GB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25" noProof="1"/>
              <a:t>Recap:</a:t>
            </a:r>
            <a:r>
              <a:rPr lang="en-GB" spc="110" noProof="1"/>
              <a:t> </a:t>
            </a:r>
            <a:r>
              <a:rPr lang="en-GB" spc="-30" noProof="1"/>
              <a:t>Cloud</a:t>
            </a:r>
            <a:r>
              <a:rPr lang="en-GB" spc="15" noProof="1"/>
              <a:t> </a:t>
            </a:r>
            <a:r>
              <a:rPr lang="en-GB" spc="-30" noProof="1"/>
              <a:t>Computing</a:t>
            </a:r>
            <a:r>
              <a:rPr lang="en-GB" spc="15" noProof="1"/>
              <a:t> </a:t>
            </a:r>
            <a:r>
              <a:rPr lang="en-GB" spc="-40" noProof="1"/>
              <a:t>vs</a:t>
            </a:r>
            <a:r>
              <a:rPr lang="en-GB" spc="15" noProof="1"/>
              <a:t> </a:t>
            </a:r>
            <a:r>
              <a:rPr lang="en-GB" spc="-20" noProof="1"/>
              <a:t>Traditional</a:t>
            </a:r>
            <a:r>
              <a:rPr lang="en-GB" spc="10" noProof="1"/>
              <a:t> </a:t>
            </a:r>
            <a:r>
              <a:rPr lang="en-GB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GB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GB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GB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GB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GB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GB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GB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GB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20" noProof="1"/>
              <a:t>Homework</a:t>
            </a:r>
            <a:r>
              <a:rPr lang="en-GB" spc="-5" noProof="1"/>
              <a:t> </a:t>
            </a:r>
            <a:r>
              <a:rPr lang="en-GB" noProof="1"/>
              <a:t>-</a:t>
            </a:r>
            <a:r>
              <a:rPr lang="en-GB" spc="-5" noProof="1"/>
              <a:t> </a:t>
            </a:r>
            <a:r>
              <a:rPr lang="en-GB" spc="-10" noProof="1"/>
              <a:t>Creating</a:t>
            </a:r>
            <a:r>
              <a:rPr lang="en-GB" noProof="1"/>
              <a:t> </a:t>
            </a:r>
            <a:r>
              <a:rPr lang="en-GB" spc="-10" noProof="1"/>
              <a:t>our</a:t>
            </a:r>
            <a:r>
              <a:rPr lang="en-GB" spc="-5" noProof="1"/>
              <a:t> </a:t>
            </a:r>
            <a:r>
              <a:rPr lang="en-GB" spc="-30" noProof="1"/>
              <a:t>own</a:t>
            </a:r>
            <a:r>
              <a:rPr lang="en-GB" spc="-5" noProof="1"/>
              <a:t> </a:t>
            </a:r>
            <a:r>
              <a:rPr lang="en-GB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9644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GB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GB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GB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GB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GB" sz="900" noProof="1">
                <a:latin typeface="Arial"/>
                <a:cs typeface="Arial"/>
              </a:rPr>
              <a:t>The </a:t>
            </a:r>
            <a:r>
              <a:rPr lang="en-GB" sz="900" spc="-10" noProof="1">
                <a:latin typeface="Arial"/>
                <a:cs typeface="Arial"/>
              </a:rPr>
              <a:t>goal</a:t>
            </a:r>
            <a:r>
              <a:rPr lang="en-GB" sz="900" noProof="1">
                <a:latin typeface="Arial"/>
                <a:cs typeface="Arial"/>
              </a:rPr>
              <a:t> of this </a:t>
            </a:r>
            <a:r>
              <a:rPr lang="en-GB" sz="900" spc="-45" noProof="1">
                <a:latin typeface="Arial"/>
                <a:cs typeface="Arial"/>
              </a:rPr>
              <a:t>hands-</a:t>
            </a:r>
            <a:r>
              <a:rPr lang="en-GB" sz="900" noProof="1">
                <a:latin typeface="Arial"/>
                <a:cs typeface="Arial"/>
              </a:rPr>
              <a:t>on</a:t>
            </a:r>
            <a:r>
              <a:rPr lang="en-GB" sz="900" spc="5" noProof="1">
                <a:latin typeface="Arial"/>
                <a:cs typeface="Arial"/>
              </a:rPr>
              <a:t> </a:t>
            </a:r>
            <a:r>
              <a:rPr lang="en-GB" sz="900" noProof="1">
                <a:latin typeface="Arial"/>
                <a:cs typeface="Arial"/>
              </a:rPr>
              <a:t>lab is to </a:t>
            </a:r>
            <a:r>
              <a:rPr lang="en-GB" sz="900" spc="-50" noProof="1">
                <a:latin typeface="Arial"/>
                <a:cs typeface="Arial"/>
              </a:rPr>
              <a:t>show</a:t>
            </a:r>
            <a:r>
              <a:rPr lang="en-GB" sz="900" spc="5" noProof="1">
                <a:latin typeface="Arial"/>
                <a:cs typeface="Arial"/>
              </a:rPr>
              <a:t> </a:t>
            </a:r>
            <a:r>
              <a:rPr lang="en-GB" sz="900" spc="-10" noProof="1">
                <a:latin typeface="Arial"/>
                <a:cs typeface="Arial"/>
              </a:rPr>
              <a:t>you</a:t>
            </a:r>
            <a:r>
              <a:rPr lang="en-GB" sz="900" noProof="1">
                <a:latin typeface="Arial"/>
                <a:cs typeface="Arial"/>
              </a:rPr>
              <a:t> </a:t>
            </a:r>
            <a:r>
              <a:rPr lang="en-GB" sz="900" spc="-25" noProof="1">
                <a:latin typeface="Arial"/>
                <a:cs typeface="Arial"/>
              </a:rPr>
              <a:t>how</a:t>
            </a:r>
            <a:r>
              <a:rPr lang="en-GB" sz="900" noProof="1">
                <a:latin typeface="Arial"/>
                <a:cs typeface="Arial"/>
              </a:rPr>
              <a:t> to</a:t>
            </a:r>
            <a:r>
              <a:rPr lang="en-GB" sz="900" spc="-5" noProof="1">
                <a:latin typeface="Arial"/>
                <a:cs typeface="Arial"/>
              </a:rPr>
              <a:t> </a:t>
            </a:r>
            <a:r>
              <a:rPr lang="en-GB" sz="900" spc="-30" noProof="1">
                <a:latin typeface="Arial"/>
                <a:cs typeface="Arial"/>
              </a:rPr>
              <a:t>deploy</a:t>
            </a:r>
            <a:r>
              <a:rPr lang="en-GB" sz="900" noProof="1">
                <a:latin typeface="Arial"/>
                <a:cs typeface="Arial"/>
              </a:rPr>
              <a:t> a </a:t>
            </a:r>
            <a:r>
              <a:rPr lang="en-GB" sz="900" spc="-30" noProof="1">
                <a:latin typeface="Arial"/>
                <a:cs typeface="Arial"/>
              </a:rPr>
              <a:t>personal</a:t>
            </a:r>
            <a:r>
              <a:rPr lang="en-GB" sz="900" noProof="1">
                <a:latin typeface="Arial"/>
                <a:cs typeface="Arial"/>
              </a:rPr>
              <a:t> </a:t>
            </a:r>
            <a:r>
              <a:rPr lang="en-GB" sz="900" spc="-30" noProof="1">
                <a:latin typeface="Arial"/>
                <a:cs typeface="Arial"/>
              </a:rPr>
              <a:t>website</a:t>
            </a:r>
            <a:r>
              <a:rPr lang="en-GB" sz="900" noProof="1">
                <a:latin typeface="Arial"/>
                <a:cs typeface="Arial"/>
              </a:rPr>
              <a:t> </a:t>
            </a:r>
            <a:r>
              <a:rPr lang="en-GB" sz="900" spc="-20" noProof="1">
                <a:latin typeface="Arial"/>
                <a:cs typeface="Arial"/>
              </a:rPr>
              <a:t>using</a:t>
            </a:r>
            <a:r>
              <a:rPr lang="en-GB" sz="900" spc="-5" noProof="1">
                <a:latin typeface="Arial"/>
                <a:cs typeface="Arial"/>
              </a:rPr>
              <a:t> </a:t>
            </a:r>
            <a:r>
              <a:rPr lang="en-GB" sz="900" spc="-10" noProof="1">
                <a:latin typeface="Arial"/>
                <a:cs typeface="Arial"/>
              </a:rPr>
              <a:t>cloud</a:t>
            </a:r>
            <a:r>
              <a:rPr lang="en-GB" sz="900" noProof="1">
                <a:latin typeface="Arial"/>
                <a:cs typeface="Arial"/>
              </a:rPr>
              <a:t> </a:t>
            </a:r>
            <a:r>
              <a:rPr lang="en-GB" sz="900" spc="-10" noProof="1">
                <a:latin typeface="Arial"/>
                <a:cs typeface="Arial"/>
              </a:rPr>
              <a:t>computing.</a:t>
            </a:r>
            <a:endParaRPr lang="en-GB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GB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GB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GB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GB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GB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GB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GB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GB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GB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GB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GB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GB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GB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GB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GB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GB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GB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GB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GB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GB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GB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GB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GB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GB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GB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GB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GB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GB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GB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GB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GB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GB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GB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GB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GB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GB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GB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GB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GB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GB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GB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GB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GB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GB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GB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GB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GB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GB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GB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GB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GB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GB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GB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10" noProof="1"/>
              <a:t>Example. Website</a:t>
            </a:r>
            <a:r>
              <a:rPr lang="en-GB" spc="-30" noProof="1"/>
              <a:t> </a:t>
            </a:r>
            <a:r>
              <a:rPr lang="en-GB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GB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GB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GB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GB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GB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GB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GB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GB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GB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GB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GB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noProof="1"/>
              <a:t>Let’s</a:t>
            </a:r>
            <a:r>
              <a:rPr lang="en-GB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GB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GB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GB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GB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GB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GB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GB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GB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GB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GB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GB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GB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GB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GB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GB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GB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GB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GB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GB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GB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GB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GB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GB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GB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GB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GB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GB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GB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GB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GB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GB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GB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GB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GB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GB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GB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GB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5861</TotalTime>
  <Words>4037</Words>
  <Application>Microsoft Macintosh PowerPoint</Application>
  <PresentationFormat>Custom</PresentationFormat>
  <Paragraphs>338</Paragraphs>
  <Slides>53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7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Public Cloud</vt:lpstr>
      <vt:lpstr>Private Cloud (On-Premises)</vt:lpstr>
      <vt:lpstr>Hybrid Cloud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Homework</vt:lpstr>
      <vt:lpstr>Dependence</vt:lpstr>
      <vt:lpstr>Other challenges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80</cp:revision>
  <dcterms:created xsi:type="dcterms:W3CDTF">2025-05-19T16:07:57Z</dcterms:created>
  <dcterms:modified xsi:type="dcterms:W3CDTF">2026-04-15T09:31:45Z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