
<file path=[Content_Types].xml><?xml version="1.0" encoding="utf-8"?>
<Types xmlns="http://schemas.openxmlformats.org/package/2006/content-types"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58"/>
  </p:notesMasterIdLst>
  <p:sldIdLst>
    <p:sldId id="256" r:id="rId2"/>
    <p:sldId id="260" r:id="rId3"/>
    <p:sldId id="267" r:id="rId4"/>
    <p:sldId id="268" r:id="rId5"/>
    <p:sldId id="270" r:id="rId6"/>
    <p:sldId id="272" r:id="rId7"/>
    <p:sldId id="274" r:id="rId8"/>
    <p:sldId id="275" r:id="rId9"/>
    <p:sldId id="281" r:id="rId10"/>
    <p:sldId id="289" r:id="rId11"/>
    <p:sldId id="294" r:id="rId12"/>
    <p:sldId id="298" r:id="rId13"/>
    <p:sldId id="303" r:id="rId14"/>
    <p:sldId id="306" r:id="rId15"/>
    <p:sldId id="311" r:id="rId16"/>
    <p:sldId id="318" r:id="rId17"/>
    <p:sldId id="324" r:id="rId18"/>
    <p:sldId id="330" r:id="rId19"/>
    <p:sldId id="258" r:id="rId20"/>
    <p:sldId id="333" r:id="rId21"/>
    <p:sldId id="424" r:id="rId22"/>
    <p:sldId id="261" r:id="rId23"/>
    <p:sldId id="334" r:id="rId24"/>
    <p:sldId id="339" r:id="rId25"/>
    <p:sldId id="342" r:id="rId26"/>
    <p:sldId id="345" r:id="rId27"/>
    <p:sldId id="348" r:id="rId28"/>
    <p:sldId id="351" r:id="rId29"/>
    <p:sldId id="353" r:id="rId30"/>
    <p:sldId id="359" r:id="rId31"/>
    <p:sldId id="362" r:id="rId32"/>
    <p:sldId id="369" r:id="rId33"/>
    <p:sldId id="371" r:id="rId34"/>
    <p:sldId id="376" r:id="rId35"/>
    <p:sldId id="382" r:id="rId36"/>
    <p:sldId id="383" r:id="rId37"/>
    <p:sldId id="385" r:id="rId38"/>
    <p:sldId id="387" r:id="rId39"/>
    <p:sldId id="390" r:id="rId40"/>
    <p:sldId id="391" r:id="rId41"/>
    <p:sldId id="395" r:id="rId42"/>
    <p:sldId id="399" r:id="rId43"/>
    <p:sldId id="403" r:id="rId44"/>
    <p:sldId id="405" r:id="rId45"/>
    <p:sldId id="413" r:id="rId46"/>
    <p:sldId id="414" r:id="rId47"/>
    <p:sldId id="415" r:id="rId48"/>
    <p:sldId id="416" r:id="rId49"/>
    <p:sldId id="417" r:id="rId50"/>
    <p:sldId id="418" r:id="rId51"/>
    <p:sldId id="419" r:id="rId52"/>
    <p:sldId id="423" r:id="rId53"/>
    <p:sldId id="420" r:id="rId54"/>
    <p:sldId id="259" r:id="rId55"/>
    <p:sldId id="421" r:id="rId56"/>
    <p:sldId id="422" r:id="rId57"/>
  </p:sldIdLst>
  <p:sldSz cx="5765800" cy="3244850"/>
  <p:notesSz cx="5765800" cy="324485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FCA0C83-5135-9444-B36B-52282EA983D6}" v="10" dt="2026-02-16T11:35:39.478"/>
  </p1510:revLst>
</p1510:revInfo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843"/>
    <p:restoredTop sz="86415"/>
  </p:normalViewPr>
  <p:slideViewPr>
    <p:cSldViewPr>
      <p:cViewPr varScale="1">
        <p:scale>
          <a:sx n="225" d="100"/>
          <a:sy n="225" d="100"/>
        </p:scale>
        <p:origin x="2760" y="168"/>
      </p:cViewPr>
      <p:guideLst>
        <p:guide orient="horz" pos="2880"/>
        <p:guide pos="2160"/>
      </p:guideLst>
    </p:cSldViewPr>
  </p:slideViewPr>
  <p:outlineViewPr>
    <p:cViewPr>
      <p:scale>
        <a:sx n="33" d="100"/>
        <a:sy n="33" d="100"/>
      </p:scale>
      <p:origin x="0" y="-3904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microsoft.com/office/2016/11/relationships/changesInfo" Target="changesInfos/changesInfo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61" Type="http://schemas.openxmlformats.org/officeDocument/2006/relationships/theme" Target="theme/theme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microsoft.com/office/2015/10/relationships/revisionInfo" Target="revisionInfo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presProps" Target="pres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Francesc Xavier Solsona Tehas" userId="1f95e2c3-a25c-4efc-a37b-de93ab79e53c" providerId="ADAL" clId="{C51773D9-DD29-5A84-A509-762D3F3EA38B}"/>
    <pc:docChg chg="undo custSel addSld delSld modSld">
      <pc:chgData name="Francesc Xavier Solsona Tehas" userId="1f95e2c3-a25c-4efc-a37b-de93ab79e53c" providerId="ADAL" clId="{C51773D9-DD29-5A84-A509-762D3F3EA38B}" dt="2026-02-16T11:34:06.366" v="1237" actId="2696"/>
      <pc:docMkLst>
        <pc:docMk/>
      </pc:docMkLst>
      <pc:sldChg chg="modSp mod">
        <pc:chgData name="Francesc Xavier Solsona Tehas" userId="1f95e2c3-a25c-4efc-a37b-de93ab79e53c" providerId="ADAL" clId="{C51773D9-DD29-5A84-A509-762D3F3EA38B}" dt="2026-02-14T10:46:14.809" v="1140" actId="14100"/>
        <pc:sldMkLst>
          <pc:docMk/>
          <pc:sldMk cId="0" sldId="256"/>
        </pc:sldMkLst>
        <pc:spChg chg="mod">
          <ac:chgData name="Francesc Xavier Solsona Tehas" userId="1f95e2c3-a25c-4efc-a37b-de93ab79e53c" providerId="ADAL" clId="{C51773D9-DD29-5A84-A509-762D3F3EA38B}" dt="2026-02-14T10:46:14.809" v="1140" actId="14100"/>
          <ac:spMkLst>
            <pc:docMk/>
            <pc:sldMk cId="0" sldId="256"/>
            <ac:spMk id="6" creationId="{00000000-0000-0000-0000-000000000000}"/>
          </ac:spMkLst>
        </pc:spChg>
      </pc:sldChg>
      <pc:sldChg chg="modSp mod">
        <pc:chgData name="Francesc Xavier Solsona Tehas" userId="1f95e2c3-a25c-4efc-a37b-de93ab79e53c" providerId="ADAL" clId="{C51773D9-DD29-5A84-A509-762D3F3EA38B}" dt="2026-02-13T17:53:41.656" v="38" actId="20577"/>
        <pc:sldMkLst>
          <pc:docMk/>
          <pc:sldMk cId="0" sldId="260"/>
        </pc:sldMkLst>
        <pc:spChg chg="mod">
          <ac:chgData name="Francesc Xavier Solsona Tehas" userId="1f95e2c3-a25c-4efc-a37b-de93ab79e53c" providerId="ADAL" clId="{C51773D9-DD29-5A84-A509-762D3F3EA38B}" dt="2026-02-13T17:53:41.656" v="38" actId="20577"/>
          <ac:spMkLst>
            <pc:docMk/>
            <pc:sldMk cId="0" sldId="260"/>
            <ac:spMk id="9" creationId="{00000000-0000-0000-0000-000000000000}"/>
          </ac:spMkLst>
        </pc:spChg>
      </pc:sldChg>
      <pc:sldChg chg="modSp mod">
        <pc:chgData name="Francesc Xavier Solsona Tehas" userId="1f95e2c3-a25c-4efc-a37b-de93ab79e53c" providerId="ADAL" clId="{C51773D9-DD29-5A84-A509-762D3F3EA38B}" dt="2026-02-13T17:56:15.957" v="93" actId="20577"/>
        <pc:sldMkLst>
          <pc:docMk/>
          <pc:sldMk cId="0" sldId="265"/>
        </pc:sldMkLst>
        <pc:spChg chg="mod">
          <ac:chgData name="Francesc Xavier Solsona Tehas" userId="1f95e2c3-a25c-4efc-a37b-de93ab79e53c" providerId="ADAL" clId="{C51773D9-DD29-5A84-A509-762D3F3EA38B}" dt="2026-02-13T17:56:15.957" v="93" actId="20577"/>
          <ac:spMkLst>
            <pc:docMk/>
            <pc:sldMk cId="0" sldId="265"/>
            <ac:spMk id="2" creationId="{00000000-0000-0000-0000-000000000000}"/>
          </ac:spMkLst>
        </pc:spChg>
      </pc:sldChg>
      <pc:sldChg chg="modSp mod">
        <pc:chgData name="Francesc Xavier Solsona Tehas" userId="1f95e2c3-a25c-4efc-a37b-de93ab79e53c" providerId="ADAL" clId="{C51773D9-DD29-5A84-A509-762D3F3EA38B}" dt="2026-02-13T18:26:14.011" v="169" actId="255"/>
        <pc:sldMkLst>
          <pc:docMk/>
          <pc:sldMk cId="0" sldId="272"/>
        </pc:sldMkLst>
        <pc:spChg chg="mod">
          <ac:chgData name="Francesc Xavier Solsona Tehas" userId="1f95e2c3-a25c-4efc-a37b-de93ab79e53c" providerId="ADAL" clId="{C51773D9-DD29-5A84-A509-762D3F3EA38B}" dt="2026-02-13T18:26:14.011" v="169" actId="255"/>
          <ac:spMkLst>
            <pc:docMk/>
            <pc:sldMk cId="0" sldId="272"/>
            <ac:spMk id="4" creationId="{00000000-0000-0000-0000-000000000000}"/>
          </ac:spMkLst>
        </pc:spChg>
      </pc:sldChg>
      <pc:sldChg chg="modSp mod">
        <pc:chgData name="Francesc Xavier Solsona Tehas" userId="1f95e2c3-a25c-4efc-a37b-de93ab79e53c" providerId="ADAL" clId="{C51773D9-DD29-5A84-A509-762D3F3EA38B}" dt="2026-02-13T18:28:19.707" v="187" actId="20577"/>
        <pc:sldMkLst>
          <pc:docMk/>
          <pc:sldMk cId="0" sldId="281"/>
        </pc:sldMkLst>
        <pc:spChg chg="mod">
          <ac:chgData name="Francesc Xavier Solsona Tehas" userId="1f95e2c3-a25c-4efc-a37b-de93ab79e53c" providerId="ADAL" clId="{C51773D9-DD29-5A84-A509-762D3F3EA38B}" dt="2026-02-13T18:28:19.707" v="187" actId="20577"/>
          <ac:spMkLst>
            <pc:docMk/>
            <pc:sldMk cId="0" sldId="281"/>
            <ac:spMk id="3" creationId="{00000000-0000-0000-0000-000000000000}"/>
          </ac:spMkLst>
        </pc:spChg>
      </pc:sldChg>
      <pc:sldChg chg="modSp mod">
        <pc:chgData name="Francesc Xavier Solsona Tehas" userId="1f95e2c3-a25c-4efc-a37b-de93ab79e53c" providerId="ADAL" clId="{C51773D9-DD29-5A84-A509-762D3F3EA38B}" dt="2026-02-16T11:20:16.953" v="1163" actId="20577"/>
        <pc:sldMkLst>
          <pc:docMk/>
          <pc:sldMk cId="0" sldId="289"/>
        </pc:sldMkLst>
        <pc:spChg chg="mod">
          <ac:chgData name="Francesc Xavier Solsona Tehas" userId="1f95e2c3-a25c-4efc-a37b-de93ab79e53c" providerId="ADAL" clId="{C51773D9-DD29-5A84-A509-762D3F3EA38B}" dt="2026-02-16T11:20:16.953" v="1163" actId="20577"/>
          <ac:spMkLst>
            <pc:docMk/>
            <pc:sldMk cId="0" sldId="289"/>
            <ac:spMk id="6" creationId="{00000000-0000-0000-0000-000000000000}"/>
          </ac:spMkLst>
        </pc:spChg>
      </pc:sldChg>
      <pc:sldChg chg="addSp delSp mod modNotesTx">
        <pc:chgData name="Francesc Xavier Solsona Tehas" userId="1f95e2c3-a25c-4efc-a37b-de93ab79e53c" providerId="ADAL" clId="{C51773D9-DD29-5A84-A509-762D3F3EA38B}" dt="2026-02-16T11:24:17.418" v="1199" actId="478"/>
        <pc:sldMkLst>
          <pc:docMk/>
          <pc:sldMk cId="0" sldId="306"/>
        </pc:sldMkLst>
        <pc:spChg chg="add del">
          <ac:chgData name="Francesc Xavier Solsona Tehas" userId="1f95e2c3-a25c-4efc-a37b-de93ab79e53c" providerId="ADAL" clId="{C51773D9-DD29-5A84-A509-762D3F3EA38B}" dt="2026-02-16T11:24:17.418" v="1199" actId="478"/>
          <ac:spMkLst>
            <pc:docMk/>
            <pc:sldMk cId="0" sldId="306"/>
            <ac:spMk id="4" creationId="{00000000-0000-0000-0000-000000000000}"/>
          </ac:spMkLst>
        </pc:spChg>
      </pc:sldChg>
      <pc:sldChg chg="modSp mod modNotesTx">
        <pc:chgData name="Francesc Xavier Solsona Tehas" userId="1f95e2c3-a25c-4efc-a37b-de93ab79e53c" providerId="ADAL" clId="{C51773D9-DD29-5A84-A509-762D3F3EA38B}" dt="2026-02-16T11:31:37.708" v="1226" actId="20577"/>
        <pc:sldMkLst>
          <pc:docMk/>
          <pc:sldMk cId="0" sldId="333"/>
        </pc:sldMkLst>
        <pc:spChg chg="mod">
          <ac:chgData name="Francesc Xavier Solsona Tehas" userId="1f95e2c3-a25c-4efc-a37b-de93ab79e53c" providerId="ADAL" clId="{C51773D9-DD29-5A84-A509-762D3F3EA38B}" dt="2026-02-16T11:30:41.892" v="1223" actId="20577"/>
          <ac:spMkLst>
            <pc:docMk/>
            <pc:sldMk cId="0" sldId="333"/>
            <ac:spMk id="3" creationId="{00000000-0000-0000-0000-000000000000}"/>
          </ac:spMkLst>
        </pc:spChg>
      </pc:sldChg>
      <pc:sldChg chg="delSp modSp mod">
        <pc:chgData name="Francesc Xavier Solsona Tehas" userId="1f95e2c3-a25c-4efc-a37b-de93ab79e53c" providerId="ADAL" clId="{C51773D9-DD29-5A84-A509-762D3F3EA38B}" dt="2026-02-16T11:33:33.723" v="1236" actId="14100"/>
        <pc:sldMkLst>
          <pc:docMk/>
          <pc:sldMk cId="0" sldId="351"/>
        </pc:sldMkLst>
        <pc:spChg chg="mod">
          <ac:chgData name="Francesc Xavier Solsona Tehas" userId="1f95e2c3-a25c-4efc-a37b-de93ab79e53c" providerId="ADAL" clId="{C51773D9-DD29-5A84-A509-762D3F3EA38B}" dt="2026-02-16T11:33:01.986" v="1228" actId="1076"/>
          <ac:spMkLst>
            <pc:docMk/>
            <pc:sldMk cId="0" sldId="351"/>
            <ac:spMk id="3" creationId="{00000000-0000-0000-0000-000000000000}"/>
          </ac:spMkLst>
        </pc:spChg>
        <pc:spChg chg="mod">
          <ac:chgData name="Francesc Xavier Solsona Tehas" userId="1f95e2c3-a25c-4efc-a37b-de93ab79e53c" providerId="ADAL" clId="{C51773D9-DD29-5A84-A509-762D3F3EA38B}" dt="2026-02-16T11:33:33.723" v="1236" actId="14100"/>
          <ac:spMkLst>
            <pc:docMk/>
            <pc:sldMk cId="0" sldId="351"/>
            <ac:spMk id="4" creationId="{00000000-0000-0000-0000-000000000000}"/>
          </ac:spMkLst>
        </pc:spChg>
        <pc:spChg chg="mod">
          <ac:chgData name="Francesc Xavier Solsona Tehas" userId="1f95e2c3-a25c-4efc-a37b-de93ab79e53c" providerId="ADAL" clId="{C51773D9-DD29-5A84-A509-762D3F3EA38B}" dt="2026-02-16T11:33:27.218" v="1235" actId="20577"/>
          <ac:spMkLst>
            <pc:docMk/>
            <pc:sldMk cId="0" sldId="351"/>
            <ac:spMk id="5" creationId="{00000000-0000-0000-0000-000000000000}"/>
          </ac:spMkLst>
        </pc:spChg>
        <pc:spChg chg="del">
          <ac:chgData name="Francesc Xavier Solsona Tehas" userId="1f95e2c3-a25c-4efc-a37b-de93ab79e53c" providerId="ADAL" clId="{C51773D9-DD29-5A84-A509-762D3F3EA38B}" dt="2026-02-16T11:33:07.612" v="1230" actId="478"/>
          <ac:spMkLst>
            <pc:docMk/>
            <pc:sldMk cId="0" sldId="351"/>
            <ac:spMk id="6" creationId="{00000000-0000-0000-0000-000000000000}"/>
          </ac:spMkLst>
        </pc:spChg>
        <pc:spChg chg="del mod">
          <ac:chgData name="Francesc Xavier Solsona Tehas" userId="1f95e2c3-a25c-4efc-a37b-de93ab79e53c" providerId="ADAL" clId="{C51773D9-DD29-5A84-A509-762D3F3EA38B}" dt="2026-02-16T11:33:09.773" v="1231" actId="478"/>
          <ac:spMkLst>
            <pc:docMk/>
            <pc:sldMk cId="0" sldId="351"/>
            <ac:spMk id="7" creationId="{00000000-0000-0000-0000-000000000000}"/>
          </ac:spMkLst>
        </pc:spChg>
      </pc:sldChg>
      <pc:sldChg chg="add del">
        <pc:chgData name="Francesc Xavier Solsona Tehas" userId="1f95e2c3-a25c-4efc-a37b-de93ab79e53c" providerId="ADAL" clId="{C51773D9-DD29-5A84-A509-762D3F3EA38B}" dt="2026-02-16T11:34:06.366" v="1237" actId="2696"/>
        <pc:sldMkLst>
          <pc:docMk/>
          <pc:sldMk cId="0" sldId="352"/>
        </pc:sldMkLst>
      </pc:sldChg>
      <pc:sldChg chg="modSp mod">
        <pc:chgData name="Francesc Xavier Solsona Tehas" userId="1f95e2c3-a25c-4efc-a37b-de93ab79e53c" providerId="ADAL" clId="{C51773D9-DD29-5A84-A509-762D3F3EA38B}" dt="2026-02-13T19:00:33.578" v="381" actId="20577"/>
        <pc:sldMkLst>
          <pc:docMk/>
          <pc:sldMk cId="0" sldId="376"/>
        </pc:sldMkLst>
        <pc:spChg chg="mod">
          <ac:chgData name="Francesc Xavier Solsona Tehas" userId="1f95e2c3-a25c-4efc-a37b-de93ab79e53c" providerId="ADAL" clId="{C51773D9-DD29-5A84-A509-762D3F3EA38B}" dt="2026-02-13T19:00:33.578" v="381" actId="20577"/>
          <ac:spMkLst>
            <pc:docMk/>
            <pc:sldMk cId="0" sldId="376"/>
            <ac:spMk id="3" creationId="{00000000-0000-0000-0000-000000000000}"/>
          </ac:spMkLst>
        </pc:spChg>
      </pc:sldChg>
      <pc:sldChg chg="modSp mod">
        <pc:chgData name="Francesc Xavier Solsona Tehas" userId="1f95e2c3-a25c-4efc-a37b-de93ab79e53c" providerId="ADAL" clId="{C51773D9-DD29-5A84-A509-762D3F3EA38B}" dt="2026-02-13T18:40:44.509" v="276" actId="20577"/>
        <pc:sldMkLst>
          <pc:docMk/>
          <pc:sldMk cId="0" sldId="387"/>
        </pc:sldMkLst>
        <pc:spChg chg="mod">
          <ac:chgData name="Francesc Xavier Solsona Tehas" userId="1f95e2c3-a25c-4efc-a37b-de93ab79e53c" providerId="ADAL" clId="{C51773D9-DD29-5A84-A509-762D3F3EA38B}" dt="2026-02-13T18:40:44.509" v="276" actId="20577"/>
          <ac:spMkLst>
            <pc:docMk/>
            <pc:sldMk cId="0" sldId="387"/>
            <ac:spMk id="3" creationId="{00000000-0000-0000-0000-000000000000}"/>
          </ac:spMkLst>
        </pc:spChg>
      </pc:sldChg>
      <pc:sldChg chg="modSp mod">
        <pc:chgData name="Francesc Xavier Solsona Tehas" userId="1f95e2c3-a25c-4efc-a37b-de93ab79e53c" providerId="ADAL" clId="{C51773D9-DD29-5A84-A509-762D3F3EA38B}" dt="2026-02-13T18:56:39.417" v="374" actId="5793"/>
        <pc:sldMkLst>
          <pc:docMk/>
          <pc:sldMk cId="0" sldId="405"/>
        </pc:sldMkLst>
        <pc:spChg chg="mod">
          <ac:chgData name="Francesc Xavier Solsona Tehas" userId="1f95e2c3-a25c-4efc-a37b-de93ab79e53c" providerId="ADAL" clId="{C51773D9-DD29-5A84-A509-762D3F3EA38B}" dt="2026-02-13T18:56:39.417" v="374" actId="5793"/>
          <ac:spMkLst>
            <pc:docMk/>
            <pc:sldMk cId="0" sldId="405"/>
            <ac:spMk id="3" creationId="{00000000-0000-0000-0000-000000000000}"/>
          </ac:spMkLst>
        </pc:spChg>
      </pc:sldChg>
      <pc:sldChg chg="modSp mod">
        <pc:chgData name="Francesc Xavier Solsona Tehas" userId="1f95e2c3-a25c-4efc-a37b-de93ab79e53c" providerId="ADAL" clId="{C51773D9-DD29-5A84-A509-762D3F3EA38B}" dt="2026-02-13T18:54:45.034" v="346" actId="1076"/>
        <pc:sldMkLst>
          <pc:docMk/>
          <pc:sldMk cId="0" sldId="413"/>
        </pc:sldMkLst>
        <pc:spChg chg="mod">
          <ac:chgData name="Francesc Xavier Solsona Tehas" userId="1f95e2c3-a25c-4efc-a37b-de93ab79e53c" providerId="ADAL" clId="{C51773D9-DD29-5A84-A509-762D3F3EA38B}" dt="2026-02-13T18:54:45.034" v="346" actId="1076"/>
          <ac:spMkLst>
            <pc:docMk/>
            <pc:sldMk cId="0" sldId="413"/>
            <ac:spMk id="4" creationId="{00000000-0000-0000-0000-000000000000}"/>
          </ac:spMkLst>
        </pc:spChg>
        <pc:spChg chg="mod">
          <ac:chgData name="Francesc Xavier Solsona Tehas" userId="1f95e2c3-a25c-4efc-a37b-de93ab79e53c" providerId="ADAL" clId="{C51773D9-DD29-5A84-A509-762D3F3EA38B}" dt="2026-02-13T18:54:21.868" v="332" actId="20577"/>
          <ac:spMkLst>
            <pc:docMk/>
            <pc:sldMk cId="0" sldId="413"/>
            <ac:spMk id="5" creationId="{00000000-0000-0000-0000-000000000000}"/>
          </ac:spMkLst>
        </pc:spChg>
      </pc:sldChg>
      <pc:sldChg chg="addSp delSp modSp add mod">
        <pc:chgData name="Francesc Xavier Solsona Tehas" userId="1f95e2c3-a25c-4efc-a37b-de93ab79e53c" providerId="ADAL" clId="{C51773D9-DD29-5A84-A509-762D3F3EA38B}" dt="2026-02-13T19:24:34.837" v="1116" actId="1035"/>
        <pc:sldMkLst>
          <pc:docMk/>
          <pc:sldMk cId="2027014884" sldId="423"/>
        </pc:sldMkLst>
        <pc:spChg chg="add mod">
          <ac:chgData name="Francesc Xavier Solsona Tehas" userId="1f95e2c3-a25c-4efc-a37b-de93ab79e53c" providerId="ADAL" clId="{C51773D9-DD29-5A84-A509-762D3F3EA38B}" dt="2026-02-13T19:24:34.837" v="1116" actId="1035"/>
          <ac:spMkLst>
            <pc:docMk/>
            <pc:sldMk cId="2027014884" sldId="423"/>
            <ac:spMk id="10" creationId="{D9996C46-94A3-3ED9-5DC9-7721B600A142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498725" cy="1619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265488" y="0"/>
            <a:ext cx="2498725" cy="1619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525BBCA-A755-494C-A608-EE676ACA215F}" type="datetimeFigureOut">
              <a:rPr lang="es-ES" smtClean="0"/>
              <a:t>1/4/26</a:t>
            </a:fld>
            <a:endParaRPr lang="es-ES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1911350" y="406400"/>
            <a:ext cx="1943100" cy="109378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ES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576263" y="1562100"/>
            <a:ext cx="4613275" cy="12779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3082925"/>
            <a:ext cx="2498725" cy="1619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265488" y="3082925"/>
            <a:ext cx="2498725" cy="1619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1CD6B7A-CA3A-4846-96EB-222948338FB9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18472541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1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71766696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2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97256982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3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5237932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5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73333491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6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58336816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9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32701351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10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99406500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11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8978124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12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1129399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13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51816867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err="1">
                <a:solidFill>
                  <a:srgbClr val="0070C0"/>
                </a:solidFill>
              </a:rPr>
              <a:t>Runtime</a:t>
            </a:r>
            <a:r>
              <a:rPr lang="es-ES"/>
              <a:t>: </a:t>
            </a:r>
            <a:r>
              <a:rPr lang="es-ES" err="1"/>
              <a:t>environtment</a:t>
            </a:r>
            <a:r>
              <a:rPr lang="es-ES"/>
              <a:t> </a:t>
            </a:r>
            <a:r>
              <a:rPr lang="es-ES" err="1"/>
              <a:t>of</a:t>
            </a:r>
            <a:r>
              <a:rPr lang="es-ES"/>
              <a:t> </a:t>
            </a:r>
            <a:r>
              <a:rPr lang="es-ES" err="1"/>
              <a:t>the</a:t>
            </a:r>
            <a:r>
              <a:rPr lang="es-ES"/>
              <a:t> apps: </a:t>
            </a:r>
            <a:r>
              <a:rPr lang="en-GB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Java Runtime Environment (JRE) .NET runtime Python interpreters Application frameworks (Node.js, Ruby, etc.)</a:t>
            </a:r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14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65171081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15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79990598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16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27269886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17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445388125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18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38010754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200" b="1">
                <a:solidFill>
                  <a:srgbClr val="EB811B"/>
                </a:solidFill>
                <a:latin typeface="Arial"/>
                <a:cs typeface="Arial"/>
              </a:rPr>
              <a:t>CAGR: </a:t>
            </a:r>
            <a:r>
              <a:rPr lang="es-ES" sz="1200" b="0" i="0" kern="120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Compound</a:t>
            </a:r>
            <a:r>
              <a:rPr lang="es-ES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s-ES" sz="1200" b="0" i="0" kern="120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Annual</a:t>
            </a:r>
            <a:r>
              <a:rPr lang="es-ES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s-ES" sz="1200" b="0" i="0" kern="120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Growth</a:t>
            </a:r>
            <a:r>
              <a:rPr lang="es-ES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s-ES" sz="1200" b="0" i="0" kern="120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Rate</a:t>
            </a:r>
            <a:endParaRPr lang="es-ES" sz="1200" b="0" i="0" kern="120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20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458597615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24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644227033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25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07668154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26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661449676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27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517394370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28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022160949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29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136097213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30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4485242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31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248516170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32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222200134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33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420331794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34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672250004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35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780686356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36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773141697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37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568363120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38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722297163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39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072746283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40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845248207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41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460666985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42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793181297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43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745364174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44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49100765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45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782334323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47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972439990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49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888419689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50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314715722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ES"/>
              <a:t>PaaS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51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811082908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52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841851922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53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818617370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55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87192543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56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40022703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98526" y="59834"/>
            <a:ext cx="3515360" cy="1778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000" b="1" i="0">
                <a:solidFill>
                  <a:srgbClr val="F9F9F9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347294" y="1824239"/>
            <a:ext cx="1904364" cy="37718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900" b="0" i="0">
                <a:solidFill>
                  <a:srgbClr val="22373A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4/1/26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1000" b="1" i="0">
                <a:solidFill>
                  <a:srgbClr val="F9F9F9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sz="900" b="0" i="0">
                <a:solidFill>
                  <a:srgbClr val="22373A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4/1/26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1000" b="1" i="0">
                <a:solidFill>
                  <a:srgbClr val="F9F9F9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288290" y="746315"/>
            <a:ext cx="2508123" cy="214160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2969387" y="746315"/>
            <a:ext cx="2508123" cy="214160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4/1/26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1000" b="1" i="0">
                <a:solidFill>
                  <a:srgbClr val="F9F9F9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4/1/26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Blank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0" y="25"/>
            <a:ext cx="5760085" cy="3240405"/>
          </a:xfrm>
          <a:custGeom>
            <a:avLst/>
            <a:gdLst/>
            <a:ahLst/>
            <a:cxnLst/>
            <a:rect l="l" t="t" r="r" b="b"/>
            <a:pathLst>
              <a:path w="5760085" h="3240405">
                <a:moveTo>
                  <a:pt x="5759996" y="0"/>
                </a:moveTo>
                <a:lnTo>
                  <a:pt x="0" y="0"/>
                </a:lnTo>
                <a:lnTo>
                  <a:pt x="0" y="3239998"/>
                </a:lnTo>
                <a:lnTo>
                  <a:pt x="5759996" y="3239998"/>
                </a:lnTo>
                <a:lnTo>
                  <a:pt x="5759996" y="0"/>
                </a:lnTo>
                <a:close/>
              </a:path>
            </a:pathLst>
          </a:custGeom>
          <a:solidFill>
            <a:srgbClr val="F9F9F9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4/1/26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0" y="25"/>
            <a:ext cx="5760085" cy="3240405"/>
          </a:xfrm>
          <a:custGeom>
            <a:avLst/>
            <a:gdLst/>
            <a:ahLst/>
            <a:cxnLst/>
            <a:rect l="l" t="t" r="r" b="b"/>
            <a:pathLst>
              <a:path w="5760085" h="3240405">
                <a:moveTo>
                  <a:pt x="5759996" y="0"/>
                </a:moveTo>
                <a:lnTo>
                  <a:pt x="0" y="0"/>
                </a:lnTo>
                <a:lnTo>
                  <a:pt x="0" y="3239998"/>
                </a:lnTo>
                <a:lnTo>
                  <a:pt x="5759996" y="3239998"/>
                </a:lnTo>
                <a:lnTo>
                  <a:pt x="5759996" y="0"/>
                </a:lnTo>
                <a:close/>
              </a:path>
            </a:pathLst>
          </a:custGeom>
          <a:solidFill>
            <a:srgbClr val="F9F9F9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bg object 17"/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98526" y="59834"/>
            <a:ext cx="3766820" cy="1778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000" b="1" i="0">
                <a:solidFill>
                  <a:srgbClr val="F9F9F9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227304" y="630854"/>
            <a:ext cx="5208270" cy="211137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900" b="0" i="0">
                <a:solidFill>
                  <a:srgbClr val="22373A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1960372" y="3017710"/>
            <a:ext cx="1845056" cy="16224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288290" y="3017710"/>
            <a:ext cx="1326134" cy="16224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4/1/26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4151376" y="3017710"/>
            <a:ext cx="1326134" cy="16224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mailto:francesc.solsona@udl.cat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francescsolsonatehas.github.io/HPDCB/session1-2.html" TargetMode="Externa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forms.office.com/e/ZTY3MEiPJb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slide" Target="slide4.xml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slide" Target="slide56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g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g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slide" Target="slide23.xml"/><Relationship Id="rId1" Type="http://schemas.openxmlformats.org/officeDocument/2006/relationships/slideLayout" Target="../slideLayouts/slideLayout5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slide" Target="slide29.xml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4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ignup" TargetMode="External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Relationship Id="rId5" Type="http://schemas.openxmlformats.org/officeDocument/2006/relationships/hyperlink" Target="https://hdbc-17705110-mdbs.github.io/HandsOnLabs/hol1.html" TargetMode="External"/><Relationship Id="rId4" Type="http://schemas.openxmlformats.org/officeDocument/2006/relationships/hyperlink" Target="https://pages.github.com/" TargetMode="Externa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slide" Target="slide40.xml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5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slide" Target="slide56.xml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slide" Target="slide56.xml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slide" Target="slide46.xml"/><Relationship Id="rId1" Type="http://schemas.openxmlformats.org/officeDocument/2006/relationships/slideLayout" Target="../slideLayouts/slideLayout5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slide" Target="slide48.xml"/><Relationship Id="rId1" Type="http://schemas.openxmlformats.org/officeDocument/2006/relationships/slideLayout" Target="../slideLayouts/slideLayout5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hyperlink" Target="https://hdbc-17705110-mdbs.github.io/HandsOnLabs/hol1.html" TargetMode="External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hyperlink" Target="https://francescsolsonatehas.github.io/HPDCB/hol1.html" TargetMode="External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francescsolsonatehas.github.io/HPDCB/quiz1.html" TargetMode="Externa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5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5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5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g"/><Relationship Id="rId1" Type="http://schemas.openxmlformats.org/officeDocument/2006/relationships/slideLayout" Target="../slideLayouts/slideLayout1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7353"/>
            <a:ext cx="5760085" cy="3240405"/>
          </a:xfrm>
          <a:custGeom>
            <a:avLst/>
            <a:gdLst/>
            <a:ahLst/>
            <a:cxnLst/>
            <a:rect l="l" t="t" r="r" b="b"/>
            <a:pathLst>
              <a:path w="5760085" h="3240405">
                <a:moveTo>
                  <a:pt x="5759996" y="0"/>
                </a:moveTo>
                <a:lnTo>
                  <a:pt x="0" y="0"/>
                </a:lnTo>
                <a:lnTo>
                  <a:pt x="0" y="3239998"/>
                </a:lnTo>
                <a:lnTo>
                  <a:pt x="5759996" y="3239998"/>
                </a:lnTo>
                <a:lnTo>
                  <a:pt x="5759996" y="0"/>
                </a:lnTo>
                <a:close/>
              </a:path>
            </a:pathLst>
          </a:custGeom>
          <a:solidFill>
            <a:srgbClr val="F9F9F9"/>
          </a:solidFill>
        </p:spPr>
        <p:txBody>
          <a:bodyPr wrap="square" lIns="0" tIns="0" rIns="0" bIns="0" rtlCol="0"/>
          <a:lstStyle/>
          <a:p>
            <a:endParaRPr lang="en-US" noProof="1"/>
          </a:p>
        </p:txBody>
      </p:sp>
      <p:sp>
        <p:nvSpPr>
          <p:cNvPr id="3" name="object 3"/>
          <p:cNvSpPr txBox="1"/>
          <p:nvPr/>
        </p:nvSpPr>
        <p:spPr>
          <a:xfrm>
            <a:off x="347294" y="708025"/>
            <a:ext cx="3799840" cy="19177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lang="en-US" sz="1100" b="1" noProof="1">
                <a:solidFill>
                  <a:srgbClr val="22373A"/>
                </a:solidFill>
                <a:latin typeface="Arial"/>
                <a:cs typeface="Arial"/>
              </a:rPr>
              <a:t>High</a:t>
            </a:r>
            <a:r>
              <a:rPr lang="en-US" sz="11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1100" b="1" spc="-40" noProof="1">
                <a:solidFill>
                  <a:srgbClr val="22373A"/>
                </a:solidFill>
                <a:latin typeface="Arial"/>
                <a:cs typeface="Arial"/>
              </a:rPr>
              <a:t>Performance</a:t>
            </a:r>
            <a:r>
              <a:rPr lang="en-US" sz="11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1100" b="1" spc="-2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11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1100" b="1" spc="-20" noProof="1">
                <a:solidFill>
                  <a:srgbClr val="22373A"/>
                </a:solidFill>
                <a:latin typeface="Arial"/>
                <a:cs typeface="Arial"/>
              </a:rPr>
              <a:t>Distributed</a:t>
            </a:r>
            <a:r>
              <a:rPr lang="en-US" sz="11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1100" b="1" spc="-3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11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1100" b="1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11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1100" b="1" noProof="1">
                <a:solidFill>
                  <a:srgbClr val="22373A"/>
                </a:solidFill>
                <a:latin typeface="Arial"/>
                <a:cs typeface="Arial"/>
              </a:rPr>
              <a:t>Big</a:t>
            </a:r>
            <a:r>
              <a:rPr lang="en-US" sz="11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1100" b="1" spc="-2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endParaRPr lang="en-US" sz="1100" noProof="1">
              <a:latin typeface="Arial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347294" y="987425"/>
            <a:ext cx="137795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noProof="1">
                <a:solidFill>
                  <a:srgbClr val="22373A"/>
                </a:solidFill>
                <a:latin typeface="Arial"/>
                <a:cs typeface="Arial"/>
              </a:rPr>
              <a:t>Unit</a:t>
            </a:r>
            <a:r>
              <a:rPr lang="en-US" sz="10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1000" noProof="1">
                <a:solidFill>
                  <a:srgbClr val="22373A"/>
                </a:solidFill>
                <a:latin typeface="Arial"/>
                <a:cs typeface="Arial"/>
              </a:rPr>
              <a:t>3:</a:t>
            </a:r>
            <a:r>
              <a:rPr lang="en-US" sz="1000" spc="1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1000" spc="-25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10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1000" spc="-25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endParaRPr lang="en-US" sz="1000" noProof="1">
              <a:latin typeface="Arial"/>
              <a:cs typeface="Arial"/>
            </a:endParaRPr>
          </a:p>
        </p:txBody>
      </p:sp>
      <p:sp>
        <p:nvSpPr>
          <p:cNvPr id="5" name="object 5"/>
          <p:cNvSpPr/>
          <p:nvPr/>
        </p:nvSpPr>
        <p:spPr>
          <a:xfrm>
            <a:off x="359994" y="1599698"/>
            <a:ext cx="5040630" cy="5080"/>
          </a:xfrm>
          <a:custGeom>
            <a:avLst/>
            <a:gdLst/>
            <a:ahLst/>
            <a:cxnLst/>
            <a:rect l="l" t="t" r="r" b="b"/>
            <a:pathLst>
              <a:path w="5040630" h="5080">
                <a:moveTo>
                  <a:pt x="0" y="5060"/>
                </a:moveTo>
                <a:lnTo>
                  <a:pt x="0" y="0"/>
                </a:lnTo>
                <a:lnTo>
                  <a:pt x="5040064" y="0"/>
                </a:lnTo>
                <a:lnTo>
                  <a:pt x="5040064" y="5060"/>
                </a:lnTo>
                <a:lnTo>
                  <a:pt x="0" y="5060"/>
                </a:lnTo>
                <a:close/>
              </a:path>
            </a:pathLst>
          </a:custGeom>
          <a:solidFill>
            <a:srgbClr val="EB811B"/>
          </a:solidFill>
        </p:spPr>
        <p:txBody>
          <a:bodyPr wrap="square" lIns="0" tIns="0" rIns="0" bIns="0" rtlCol="0"/>
          <a:lstStyle/>
          <a:p>
            <a:endParaRPr lang="en-US" noProof="1"/>
          </a:p>
        </p:txBody>
      </p:sp>
      <p:sp>
        <p:nvSpPr>
          <p:cNvPr id="6" name="object 6"/>
          <p:cNvSpPr txBox="1">
            <a:spLocks noGrp="1"/>
          </p:cNvSpPr>
          <p:nvPr>
            <p:ph type="subTitle" idx="4"/>
          </p:nvPr>
        </p:nvSpPr>
        <p:spPr>
          <a:xfrm>
            <a:off x="347294" y="1828356"/>
            <a:ext cx="2459406" cy="37638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800" spc="-10" noProof="1"/>
              <a:t>Francesc Solsona Tehas </a:t>
            </a:r>
            <a:r>
              <a:rPr lang="en-US" sz="800" spc="-20" noProof="1">
                <a:hlinkClick r:id="rId3"/>
              </a:rPr>
              <a:t>francesc.solsona@udl.cat</a:t>
            </a:r>
            <a:endParaRPr lang="en-US" sz="800" noProof="1"/>
          </a:p>
          <a:p>
            <a:pPr>
              <a:lnSpc>
                <a:spcPct val="100000"/>
              </a:lnSpc>
              <a:spcBef>
                <a:spcPts val="170"/>
              </a:spcBef>
            </a:pPr>
            <a:endParaRPr lang="en-US" sz="800" noProof="1"/>
          </a:p>
          <a:p>
            <a:pPr marL="12700">
              <a:lnSpc>
                <a:spcPct val="100000"/>
              </a:lnSpc>
            </a:pPr>
            <a:r>
              <a:rPr lang="en-US" sz="600" noProof="1"/>
              <a:t>Universitat</a:t>
            </a:r>
            <a:r>
              <a:rPr lang="en-US" sz="600" spc="20" noProof="1"/>
              <a:t> </a:t>
            </a:r>
            <a:r>
              <a:rPr lang="en-US" sz="600" noProof="1"/>
              <a:t>Rovira</a:t>
            </a:r>
            <a:r>
              <a:rPr lang="en-US" sz="600" spc="25" noProof="1"/>
              <a:t> </a:t>
            </a:r>
            <a:r>
              <a:rPr lang="en-US" sz="600" noProof="1"/>
              <a:t>i</a:t>
            </a:r>
            <a:r>
              <a:rPr lang="en-US" sz="600" spc="25" noProof="1"/>
              <a:t> </a:t>
            </a:r>
            <a:r>
              <a:rPr lang="en-US" sz="600" noProof="1"/>
              <a:t>Virgili</a:t>
            </a:r>
            <a:r>
              <a:rPr lang="en-US" sz="600" spc="25" noProof="1"/>
              <a:t> </a:t>
            </a:r>
            <a:r>
              <a:rPr lang="en-US" sz="600" noProof="1"/>
              <a:t>and</a:t>
            </a:r>
            <a:r>
              <a:rPr lang="en-US" sz="600" spc="25" noProof="1"/>
              <a:t> </a:t>
            </a:r>
            <a:r>
              <a:rPr lang="en-US" sz="600" noProof="1"/>
              <a:t>Universitat</a:t>
            </a:r>
            <a:r>
              <a:rPr lang="en-US" sz="600" spc="20" noProof="1"/>
              <a:t> </a:t>
            </a:r>
            <a:r>
              <a:rPr lang="en-US" sz="600" noProof="1"/>
              <a:t>de</a:t>
            </a:r>
            <a:r>
              <a:rPr lang="en-US" sz="600" spc="25" noProof="1"/>
              <a:t> </a:t>
            </a:r>
            <a:r>
              <a:rPr lang="en-US" sz="600" spc="-10" noProof="1"/>
              <a:t>Lleida</a:t>
            </a:r>
            <a:endParaRPr lang="en-US" sz="600" noProof="1"/>
          </a:p>
        </p:txBody>
      </p:sp>
      <p:grpSp>
        <p:nvGrpSpPr>
          <p:cNvPr id="7" name="object 7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8" name="object 8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3234963"/>
              <a:ext cx="118110" cy="5080"/>
            </a:xfrm>
            <a:custGeom>
              <a:avLst/>
              <a:gdLst/>
              <a:ahLst/>
              <a:cxnLst/>
              <a:rect l="l" t="t" r="r" b="b"/>
              <a:pathLst>
                <a:path w="118110" h="5080">
                  <a:moveTo>
                    <a:pt x="0" y="5060"/>
                  </a:moveTo>
                  <a:lnTo>
                    <a:pt x="0" y="0"/>
                  </a:lnTo>
                  <a:lnTo>
                    <a:pt x="117511" y="0"/>
                  </a:lnTo>
                  <a:lnTo>
                    <a:pt x="117511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11" name="object 4">
            <a:extLst>
              <a:ext uri="{FF2B5EF4-FFF2-40B4-BE49-F238E27FC236}">
                <a16:creationId xmlns:a16="http://schemas.microsoft.com/office/drawing/2014/main" id="{6B6125F0-FF73-7599-69F5-F686AB982E26}"/>
              </a:ext>
            </a:extLst>
          </p:cNvPr>
          <p:cNvSpPr txBox="1"/>
          <p:nvPr/>
        </p:nvSpPr>
        <p:spPr>
          <a:xfrm>
            <a:off x="368300" y="1303954"/>
            <a:ext cx="3657600" cy="166071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GB" sz="1000" dirty="0">
                <a:hlinkClick r:id="rId4"/>
              </a:rPr>
              <a:t>Session 1 &amp; 2 - Introduction to Cloud Computing </a:t>
            </a:r>
            <a:r>
              <a:rPr lang="en-GB" sz="1000" u="sng" dirty="0">
                <a:hlinkClick r:id="rId4"/>
              </a:rPr>
              <a:t>+ Github Pages</a:t>
            </a:r>
            <a:r>
              <a:rPr lang="en-GB" sz="1000" dirty="0">
                <a:hlinkClick r:id="rId4"/>
              </a:rPr>
              <a:t> </a:t>
            </a:r>
            <a:endParaRPr lang="en-US" sz="1000" noProof="1">
              <a:latin typeface="Arial"/>
              <a:cs typeface="Arial"/>
            </a:endParaRPr>
          </a:p>
        </p:txBody>
      </p:sp>
    </p:spTree>
  </p:cSld>
  <p:clrMapOvr>
    <a:masterClrMapping/>
  </p:clrMapOvr>
  <p:transition>
    <p:cut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What</a:t>
            </a:r>
            <a:r>
              <a:rPr lang="en-US" spc="20" noProof="1"/>
              <a:t> </a:t>
            </a:r>
            <a:r>
              <a:rPr lang="en-US" spc="-25" noProof="1"/>
              <a:t>is</a:t>
            </a:r>
            <a:r>
              <a:rPr lang="en-US" spc="20" noProof="1"/>
              <a:t> </a:t>
            </a:r>
            <a:r>
              <a:rPr lang="en-US" spc="-10" noProof="1"/>
              <a:t>this</a:t>
            </a:r>
            <a:r>
              <a:rPr lang="en-US" spc="25" noProof="1"/>
              <a:t> </a:t>
            </a:r>
            <a:r>
              <a:rPr lang="en-US" spc="-50" noProof="1"/>
              <a:t>course</a:t>
            </a:r>
            <a:r>
              <a:rPr lang="en-US" spc="20" noProof="1"/>
              <a:t> </a:t>
            </a:r>
            <a:r>
              <a:rPr lang="en-US" spc="-20" noProof="1"/>
              <a:t>about?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1316291" y="708515"/>
            <a:ext cx="3128010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High</a:t>
            </a:r>
            <a:r>
              <a:rPr lang="en-US" sz="9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Performance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Distributed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for Big</a:t>
            </a:r>
            <a:r>
              <a:rPr lang="en-US" sz="9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359994" y="947115"/>
            <a:ext cx="5039995" cy="164465"/>
          </a:xfrm>
          <a:prstGeom prst="rect">
            <a:avLst/>
          </a:prstGeom>
          <a:solidFill>
            <a:srgbClr val="CED2D3"/>
          </a:solidFill>
        </p:spPr>
        <p:txBody>
          <a:bodyPr vert="horz" wrap="square" lIns="0" tIns="0" rIns="0" bIns="0" rtlCol="0">
            <a:spAutoFit/>
          </a:bodyPr>
          <a:lstStyle/>
          <a:p>
            <a:pPr marL="37465">
              <a:lnSpc>
                <a:spcPts val="1050"/>
              </a:lnSpc>
            </a:pP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High</a:t>
            </a:r>
            <a:r>
              <a:rPr lang="en-US" sz="900" b="1" spc="-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Performance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359994" y="1111542"/>
            <a:ext cx="5039995" cy="337820"/>
          </a:xfrm>
          <a:prstGeom prst="rect">
            <a:avLst/>
          </a:prstGeom>
          <a:solidFill>
            <a:srgbClr val="E4E6E6"/>
          </a:solidFill>
        </p:spPr>
        <p:txBody>
          <a:bodyPr vert="horz" wrap="square" lIns="0" tIns="3810" rIns="0" bIns="0" rtlCol="0">
            <a:spAutoFit/>
          </a:bodyPr>
          <a:lstStyle/>
          <a:p>
            <a:pPr marL="37465">
              <a:lnSpc>
                <a:spcPct val="100000"/>
              </a:lnSpc>
              <a:spcBef>
                <a:spcPts val="30"/>
              </a:spcBef>
            </a:pP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Refers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using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supercomputers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parallel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processing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techniques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solve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complex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computational</a:t>
            </a:r>
            <a:endParaRPr lang="en-US" sz="900" noProof="1">
              <a:latin typeface="Arial"/>
              <a:cs typeface="Arial"/>
            </a:endParaRPr>
          </a:p>
          <a:p>
            <a:pPr marL="37465">
              <a:lnSpc>
                <a:spcPct val="100000"/>
              </a:lnSpc>
              <a:spcBef>
                <a:spcPts val="175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problems.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359994" y="1547761"/>
            <a:ext cx="5039995" cy="164465"/>
          </a:xfrm>
          <a:prstGeom prst="rect">
            <a:avLst/>
          </a:prstGeom>
          <a:solidFill>
            <a:srgbClr val="CED2D3"/>
          </a:solidFill>
        </p:spPr>
        <p:txBody>
          <a:bodyPr vert="horz" wrap="square" lIns="0" tIns="0" rIns="0" bIns="0" rtlCol="0">
            <a:spAutoFit/>
          </a:bodyPr>
          <a:lstStyle/>
          <a:p>
            <a:pPr marL="37465">
              <a:lnSpc>
                <a:spcPts val="1050"/>
              </a:lnSpc>
            </a:pPr>
            <a:r>
              <a:rPr lang="en-US" sz="900" b="1" spc="-10" noProof="1">
                <a:solidFill>
                  <a:srgbClr val="13AF3C"/>
                </a:solidFill>
                <a:latin typeface="Arial"/>
                <a:cs typeface="Arial"/>
              </a:rPr>
              <a:t>Distributed</a:t>
            </a:r>
            <a:r>
              <a:rPr lang="en-US" sz="900" b="1" spc="-5" noProof="1">
                <a:solidFill>
                  <a:srgbClr val="13AF3C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13AF3C"/>
                </a:solidFill>
                <a:latin typeface="Arial"/>
                <a:cs typeface="Arial"/>
              </a:rPr>
              <a:t>Computing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359994" y="1712188"/>
            <a:ext cx="5039995" cy="337820"/>
          </a:xfrm>
          <a:prstGeom prst="rect">
            <a:avLst/>
          </a:prstGeom>
          <a:solidFill>
            <a:srgbClr val="E4E6E6"/>
          </a:solidFill>
        </p:spPr>
        <p:txBody>
          <a:bodyPr vert="horz" wrap="square" lIns="0" tIns="2540" rIns="0" bIns="0" rtlCol="0">
            <a:spAutoFit/>
          </a:bodyPr>
          <a:lstStyle/>
          <a:p>
            <a:pPr marL="33655">
              <a:lnSpc>
                <a:spcPct val="100000"/>
              </a:lnSpc>
              <a:spcBef>
                <a:spcPts val="2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concept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means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using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multiple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computers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interconnected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communicate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each</a:t>
            </a:r>
            <a:endParaRPr lang="en-US" sz="900" noProof="1">
              <a:latin typeface="Arial"/>
              <a:cs typeface="Arial"/>
            </a:endParaRPr>
          </a:p>
          <a:p>
            <a:pPr marL="37465">
              <a:lnSpc>
                <a:spcPct val="100000"/>
              </a:lnSpc>
              <a:spcBef>
                <a:spcPts val="17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other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achieve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common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goal.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359994" y="2148535"/>
            <a:ext cx="5039995" cy="164465"/>
          </a:xfrm>
          <a:prstGeom prst="rect">
            <a:avLst/>
          </a:prstGeom>
          <a:solidFill>
            <a:srgbClr val="CED2D3"/>
          </a:solidFill>
        </p:spPr>
        <p:txBody>
          <a:bodyPr vert="horz" wrap="square" lIns="0" tIns="0" rIns="0" bIns="0" rtlCol="0">
            <a:spAutoFit/>
          </a:bodyPr>
          <a:lstStyle/>
          <a:p>
            <a:pPr marL="37465">
              <a:lnSpc>
                <a:spcPts val="1050"/>
              </a:lnSpc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Big </a:t>
            </a: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359994" y="2312962"/>
            <a:ext cx="5039995" cy="306494"/>
          </a:xfrm>
          <a:prstGeom prst="rect">
            <a:avLst/>
          </a:prstGeom>
          <a:solidFill>
            <a:srgbClr val="E4E6E6"/>
          </a:solidFill>
        </p:spPr>
        <p:txBody>
          <a:bodyPr vert="horz" wrap="square" lIns="0" tIns="3810" rIns="0" bIns="0" rtlCol="0">
            <a:spAutoFit/>
          </a:bodyPr>
          <a:lstStyle/>
          <a:p>
            <a:pPr marL="33655">
              <a:lnSpc>
                <a:spcPct val="100000"/>
              </a:lnSpc>
              <a:spcBef>
                <a:spcPts val="3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term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leads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using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large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complex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sets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diﬀicult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process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using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traditional</a:t>
            </a:r>
            <a:endParaRPr lang="en-US" sz="900" noProof="1">
              <a:latin typeface="Arial"/>
              <a:cs typeface="Arial"/>
            </a:endParaRPr>
          </a:p>
          <a:p>
            <a:pPr marL="37465">
              <a:lnSpc>
                <a:spcPct val="100000"/>
              </a:lnSpc>
              <a:spcBef>
                <a:spcPts val="17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computers and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applications.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10" name="object 10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11" name="object 11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2" name="object 12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3" name="object 13"/>
            <p:cNvSpPr/>
            <p:nvPr/>
          </p:nvSpPr>
          <p:spPr>
            <a:xfrm>
              <a:off x="0" y="3234963"/>
              <a:ext cx="235585" cy="5080"/>
            </a:xfrm>
            <a:custGeom>
              <a:avLst/>
              <a:gdLst/>
              <a:ahLst/>
              <a:cxnLst/>
              <a:rect l="l" t="t" r="r" b="b"/>
              <a:pathLst>
                <a:path w="235585" h="5080">
                  <a:moveTo>
                    <a:pt x="0" y="5060"/>
                  </a:moveTo>
                  <a:lnTo>
                    <a:pt x="0" y="0"/>
                  </a:lnTo>
                  <a:lnTo>
                    <a:pt x="235110" y="0"/>
                  </a:lnTo>
                  <a:lnTo>
                    <a:pt x="235110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2005964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5" noProof="1"/>
              <a:t>Pre-</a:t>
            </a:r>
            <a:r>
              <a:rPr lang="en-US" spc="-20" noProof="1"/>
              <a:t>Course</a:t>
            </a:r>
            <a:r>
              <a:rPr lang="en-US" noProof="1"/>
              <a:t> </a:t>
            </a:r>
            <a:r>
              <a:rPr lang="en-US" spc="-30" noProof="1"/>
              <a:t>Survey:</a:t>
            </a:r>
            <a:r>
              <a:rPr lang="en-US" spc="100" noProof="1"/>
              <a:t> </a:t>
            </a:r>
            <a:r>
              <a:rPr lang="en-US" noProof="1"/>
              <a:t>Who</a:t>
            </a:r>
            <a:r>
              <a:rPr lang="en-US" spc="5" noProof="1"/>
              <a:t> </a:t>
            </a:r>
            <a:r>
              <a:rPr lang="en-US" noProof="1"/>
              <a:t>are</a:t>
            </a:r>
            <a:r>
              <a:rPr lang="en-US" spc="5" noProof="1"/>
              <a:t> </a:t>
            </a:r>
            <a:r>
              <a:rPr lang="en-US" spc="-50" noProof="1"/>
              <a:t>you?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427126" y="1308789"/>
            <a:ext cx="3763645" cy="742950"/>
          </a:xfrm>
          <a:prstGeom prst="rect">
            <a:avLst/>
          </a:prstGeom>
        </p:spPr>
        <p:txBody>
          <a:bodyPr vert="horz" wrap="square" lIns="0" tIns="34925" rIns="0" bIns="0" rtlCol="0">
            <a:spAutoFit/>
          </a:bodyPr>
          <a:lstStyle/>
          <a:p>
            <a:pPr marL="160020" indent="-147320">
              <a:lnSpc>
                <a:spcPct val="100000"/>
              </a:lnSpc>
              <a:spcBef>
                <a:spcPts val="275"/>
              </a:spcBef>
              <a:buChar char="•"/>
              <a:tabLst>
                <a:tab pos="160020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How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familiar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with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technology?</a:t>
            </a:r>
            <a:endParaRPr lang="en-US" sz="900" noProof="1">
              <a:latin typeface="Arial"/>
              <a:cs typeface="Arial"/>
            </a:endParaRPr>
          </a:p>
          <a:p>
            <a:pPr marL="154305" indent="-141605">
              <a:lnSpc>
                <a:spcPct val="100000"/>
              </a:lnSpc>
              <a:spcBef>
                <a:spcPts val="175"/>
              </a:spcBef>
              <a:buChar char="•"/>
              <a:tabLst>
                <a:tab pos="15430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What is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your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background,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why did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enrol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in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Master’s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degree?</a:t>
            </a:r>
            <a:endParaRPr lang="en-US" sz="900" noProof="1">
              <a:latin typeface="Arial"/>
              <a:cs typeface="Arial"/>
            </a:endParaRPr>
          </a:p>
          <a:p>
            <a:pPr marL="154305" indent="-141605">
              <a:lnSpc>
                <a:spcPct val="100000"/>
              </a:lnSpc>
              <a:spcBef>
                <a:spcPts val="175"/>
              </a:spcBef>
              <a:buChar char="•"/>
              <a:tabLst>
                <a:tab pos="15430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What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does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mean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you?</a:t>
            </a:r>
            <a:endParaRPr lang="en-US" sz="900" noProof="1">
              <a:latin typeface="Arial"/>
              <a:cs typeface="Arial"/>
            </a:endParaRPr>
          </a:p>
          <a:p>
            <a:pPr marL="1621155">
              <a:lnSpc>
                <a:spcPct val="100000"/>
              </a:lnSpc>
              <a:spcBef>
                <a:spcPts val="800"/>
              </a:spcBef>
            </a:pP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Pre-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Course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Survey:</a:t>
            </a:r>
            <a:r>
              <a:rPr lang="en-US" sz="900" spc="75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Who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are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you?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470534" cy="5080"/>
            </a:xfrm>
            <a:custGeom>
              <a:avLst/>
              <a:gdLst/>
              <a:ahLst/>
              <a:cxnLst/>
              <a:rect l="l" t="t" r="r" b="b"/>
              <a:pathLst>
                <a:path w="470534" h="5080">
                  <a:moveTo>
                    <a:pt x="0" y="5060"/>
                  </a:moveTo>
                  <a:lnTo>
                    <a:pt x="0" y="0"/>
                  </a:lnTo>
                  <a:lnTo>
                    <a:pt x="470220" y="0"/>
                  </a:lnTo>
                  <a:lnTo>
                    <a:pt x="470220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614703" y="1374341"/>
            <a:ext cx="805815" cy="19177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lang="en-US" sz="1100" b="1" spc="-25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Introduction</a:t>
            </a:r>
            <a:endParaRPr lang="en-US" sz="1100" noProof="1">
              <a:latin typeface="Arial"/>
              <a:cs typeface="Arial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1627403" y="1646231"/>
            <a:ext cx="2505710" cy="5080"/>
            <a:chOff x="1627403" y="1646231"/>
            <a:chExt cx="2505710" cy="5080"/>
          </a:xfrm>
        </p:grpSpPr>
        <p:sp>
          <p:nvSpPr>
            <p:cNvPr id="4" name="object 4"/>
            <p:cNvSpPr/>
            <p:nvPr/>
          </p:nvSpPr>
          <p:spPr>
            <a:xfrm>
              <a:off x="1627403" y="1646231"/>
              <a:ext cx="2505710" cy="5080"/>
            </a:xfrm>
            <a:custGeom>
              <a:avLst/>
              <a:gdLst/>
              <a:ahLst/>
              <a:cxnLst/>
              <a:rect l="l" t="t" r="r" b="b"/>
              <a:pathLst>
                <a:path w="2505710" h="5080">
                  <a:moveTo>
                    <a:pt x="0" y="5060"/>
                  </a:moveTo>
                  <a:lnTo>
                    <a:pt x="0" y="0"/>
                  </a:lnTo>
                  <a:lnTo>
                    <a:pt x="2505237" y="0"/>
                  </a:lnTo>
                  <a:lnTo>
                    <a:pt x="250523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1627403" y="1646231"/>
              <a:ext cx="205104" cy="5080"/>
            </a:xfrm>
            <a:custGeom>
              <a:avLst/>
              <a:gdLst/>
              <a:ahLst/>
              <a:cxnLst/>
              <a:rect l="l" t="t" r="r" b="b"/>
              <a:pathLst>
                <a:path w="205105" h="5080">
                  <a:moveTo>
                    <a:pt x="0" y="5060"/>
                  </a:moveTo>
                  <a:lnTo>
                    <a:pt x="0" y="0"/>
                  </a:lnTo>
                  <a:lnTo>
                    <a:pt x="204513" y="0"/>
                  </a:lnTo>
                  <a:lnTo>
                    <a:pt x="20451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What</a:t>
            </a:r>
            <a:r>
              <a:rPr lang="en-US" spc="40" noProof="1"/>
              <a:t> </a:t>
            </a:r>
            <a:r>
              <a:rPr lang="en-US" spc="-25" noProof="1"/>
              <a:t>is</a:t>
            </a:r>
            <a:r>
              <a:rPr lang="en-US" spc="40" noProof="1"/>
              <a:t> </a:t>
            </a:r>
            <a:r>
              <a:rPr lang="en-US" spc="-30" noProof="1"/>
              <a:t>Cloud</a:t>
            </a:r>
            <a:r>
              <a:rPr lang="en-US" spc="40" noProof="1"/>
              <a:t> </a:t>
            </a:r>
            <a:r>
              <a:rPr lang="en-US" spc="-35" noProof="1"/>
              <a:t>Computing?</a:t>
            </a:r>
          </a:p>
        </p:txBody>
      </p:sp>
      <p:pic>
        <p:nvPicPr>
          <p:cNvPr id="3" name="object 3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240004" y="485821"/>
            <a:ext cx="2520032" cy="1846710"/>
          </a:xfrm>
          <a:prstGeom prst="rect">
            <a:avLst/>
          </a:prstGeom>
        </p:spPr>
      </p:pic>
      <p:sp>
        <p:nvSpPr>
          <p:cNvPr id="4" name="object 4"/>
          <p:cNvSpPr txBox="1"/>
          <p:nvPr/>
        </p:nvSpPr>
        <p:spPr>
          <a:xfrm>
            <a:off x="577710" y="2466516"/>
            <a:ext cx="1844675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800" b="1" spc="-20" noProof="1">
                <a:solidFill>
                  <a:srgbClr val="22373A"/>
                </a:solidFill>
                <a:latin typeface="Arial"/>
                <a:cs typeface="Arial"/>
              </a:rPr>
              <a:t>Figure</a:t>
            </a:r>
            <a:r>
              <a:rPr lang="en-US" sz="8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1:</a:t>
            </a:r>
            <a:r>
              <a:rPr lang="en-US" sz="800" b="1" spc="1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Overview</a:t>
            </a:r>
            <a:r>
              <a:rPr lang="en-US" sz="8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8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8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endParaRPr lang="en-US" sz="800" noProof="1">
              <a:latin typeface="Arial"/>
              <a:cs typeface="Arial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2982747" y="457359"/>
            <a:ext cx="2550160" cy="249047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7145">
              <a:lnSpc>
                <a:spcPct val="100000"/>
              </a:lnSpc>
              <a:spcBef>
                <a:spcPts val="95"/>
              </a:spcBef>
            </a:pP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Definition</a:t>
            </a:r>
            <a:endParaRPr lang="en-US" sz="900" noProof="1">
              <a:latin typeface="Arial"/>
              <a:cs typeface="Arial"/>
            </a:endParaRPr>
          </a:p>
          <a:p>
            <a:pPr marL="12700" marR="5080" indent="4445">
              <a:lnSpc>
                <a:spcPct val="116199"/>
              </a:lnSpc>
              <a:spcBef>
                <a:spcPts val="670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refers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22373A"/>
                </a:solidFill>
                <a:latin typeface="Arial"/>
                <a:cs typeface="Arial"/>
              </a:rPr>
              <a:t>on-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demand</a:t>
            </a:r>
            <a:r>
              <a:rPr lang="en-US" sz="900" b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delivery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50" noProof="1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,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including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servers,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storage, </a:t>
            </a:r>
            <a:r>
              <a:rPr lang="en-US" sz="900" i="1" spc="-40" noProof="1">
                <a:solidFill>
                  <a:srgbClr val="22373A"/>
                </a:solidFill>
                <a:latin typeface="Arial"/>
                <a:cs typeface="Arial"/>
              </a:rPr>
              <a:t>databases,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 software,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analytics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,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more,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over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internet</a:t>
            </a:r>
            <a:r>
              <a:rPr lang="en-US" sz="900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(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i="1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)</a:t>
            </a:r>
            <a:r>
              <a:rPr lang="en-US" sz="900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50" noProof="1">
                <a:solidFill>
                  <a:srgbClr val="22373A"/>
                </a:solidFill>
                <a:latin typeface="Arial"/>
                <a:cs typeface="Arial"/>
              </a:rPr>
              <a:t>pay-per-use</a:t>
            </a:r>
            <a:r>
              <a:rPr lang="en-US" sz="900" b="1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pricing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(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  <a:hlinkClick r:id="rId4" action="ppaction://hlinksldjump"/>
              </a:rPr>
              <a:t>Mell,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  <a:hlinkClick r:id="rId4" action="ppaction://hlinksldjump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  <a:hlinkClick r:id="rId4" action="ppaction://hlinksldjump"/>
              </a:rPr>
              <a:t>Grance,</a:t>
            </a:r>
            <a:r>
              <a:rPr lang="en-US" sz="900" spc="45" noProof="1">
                <a:solidFill>
                  <a:srgbClr val="22373A"/>
                </a:solidFill>
                <a:latin typeface="Arial"/>
                <a:cs typeface="Arial"/>
                <a:hlinkClick r:id="rId4" action="ppaction://hlinksldjump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  <a:hlinkClick r:id="rId4" action="ppaction://hlinksldjump"/>
              </a:rPr>
              <a:t>et</a:t>
            </a:r>
            <a:r>
              <a:rPr lang="en-US" sz="900" spc="45" noProof="1">
                <a:solidFill>
                  <a:srgbClr val="22373A"/>
                </a:solidFill>
                <a:latin typeface="Arial"/>
                <a:cs typeface="Arial"/>
                <a:hlinkClick r:id="rId4" action="ppaction://hlinksldjump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  <a:hlinkClick r:id="rId4" action="ppaction://hlinksldjump"/>
              </a:rPr>
              <a:t>al.</a:t>
            </a:r>
            <a:r>
              <a:rPr lang="en-US" sz="900" spc="145" noProof="1">
                <a:solidFill>
                  <a:srgbClr val="22373A"/>
                </a:solidFill>
                <a:latin typeface="Arial"/>
                <a:cs typeface="Arial"/>
                <a:hlinkClick r:id="rId4" action="ppaction://hlinksldjump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  <a:hlinkClick r:id="rId4" action="ppaction://hlinksldjump"/>
              </a:rPr>
              <a:t>2011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).</a:t>
            </a:r>
            <a:endParaRPr lang="en-US" sz="900" noProof="1">
              <a:latin typeface="Arial"/>
              <a:cs typeface="Arial"/>
            </a:endParaRPr>
          </a:p>
          <a:p>
            <a:pPr marL="17145">
              <a:lnSpc>
                <a:spcPct val="100000"/>
              </a:lnSpc>
              <a:spcBef>
                <a:spcPts val="855"/>
              </a:spcBef>
            </a:pP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Vision</a:t>
            </a:r>
            <a:endParaRPr lang="en-US" sz="900" noProof="1">
              <a:latin typeface="Arial"/>
              <a:cs typeface="Arial"/>
            </a:endParaRPr>
          </a:p>
          <a:p>
            <a:pPr marL="17145" marR="17145">
              <a:lnSpc>
                <a:spcPct val="116199"/>
              </a:lnSpc>
              <a:spcBef>
                <a:spcPts val="67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computing,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users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EB811B"/>
                </a:solidFill>
                <a:latin typeface="Arial"/>
                <a:cs typeface="Arial"/>
              </a:rPr>
              <a:t>can</a:t>
            </a:r>
            <a:r>
              <a:rPr lang="en-US" sz="900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solidFill>
                  <a:srgbClr val="EB811B"/>
                </a:solidFill>
                <a:latin typeface="Arial"/>
                <a:cs typeface="Arial"/>
              </a:rPr>
              <a:t>access</a:t>
            </a:r>
            <a:r>
              <a:rPr lang="en-US" sz="900" spc="1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EB811B"/>
                </a:solidFill>
                <a:latin typeface="Arial"/>
                <a:cs typeface="Arial"/>
              </a:rPr>
              <a:t>these</a:t>
            </a:r>
            <a:r>
              <a:rPr lang="en-US" sz="900" spc="1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EB811B"/>
                </a:solidFill>
                <a:latin typeface="Arial"/>
                <a:cs typeface="Arial"/>
              </a:rPr>
              <a:t>services </a:t>
            </a:r>
            <a:r>
              <a:rPr lang="en-US" sz="900" spc="-10" noProof="1">
                <a:solidFill>
                  <a:srgbClr val="EB811B"/>
                </a:solidFill>
                <a:latin typeface="Arial"/>
                <a:cs typeface="Arial"/>
              </a:rPr>
              <a:t>remotely</a:t>
            </a:r>
            <a:r>
              <a:rPr lang="en-US" sz="900" noProof="1">
                <a:solidFill>
                  <a:srgbClr val="EB811B"/>
                </a:solidFill>
                <a:latin typeface="Arial"/>
                <a:cs typeface="Arial"/>
              </a:rPr>
              <a:t> from</a:t>
            </a:r>
            <a:r>
              <a:rPr lang="en-US" sz="900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EB811B"/>
                </a:solidFill>
                <a:latin typeface="Arial"/>
                <a:cs typeface="Arial"/>
              </a:rPr>
              <a:t>any</a:t>
            </a:r>
            <a:r>
              <a:rPr lang="en-US" sz="900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EB811B"/>
                </a:solidFill>
                <a:latin typeface="Arial"/>
                <a:cs typeface="Arial"/>
              </a:rPr>
              <a:t>location</a:t>
            </a:r>
            <a:r>
              <a:rPr lang="en-US" sz="900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EB811B"/>
                </a:solidFill>
                <a:latin typeface="Arial"/>
                <a:cs typeface="Arial"/>
              </a:rPr>
              <a:t>with an</a:t>
            </a:r>
            <a:r>
              <a:rPr lang="en-US" sz="900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EB811B"/>
                </a:solidFill>
                <a:latin typeface="Arial"/>
                <a:cs typeface="Arial"/>
              </a:rPr>
              <a:t>internet </a:t>
            </a:r>
            <a:r>
              <a:rPr lang="en-US" sz="900" spc="-20" noProof="1">
                <a:solidFill>
                  <a:srgbClr val="EB811B"/>
                </a:solidFill>
                <a:latin typeface="Arial"/>
                <a:cs typeface="Arial"/>
              </a:rPr>
              <a:t>connection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r>
              <a:rPr lang="en-US" sz="900" spc="6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Rather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owning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maintaining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their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own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infrastructure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or data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centers,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users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companies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rent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solidFill>
                  <a:srgbClr val="22373A"/>
                </a:solidFill>
                <a:latin typeface="Arial"/>
                <a:cs typeface="Arial"/>
              </a:rPr>
              <a:t>access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anything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applications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storage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service provider.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88010" cy="5080"/>
            </a:xfrm>
            <a:custGeom>
              <a:avLst/>
              <a:gdLst/>
              <a:ahLst/>
              <a:cxnLst/>
              <a:rect l="l" t="t" r="r" b="b"/>
              <a:pathLst>
                <a:path w="588010" h="5080">
                  <a:moveTo>
                    <a:pt x="0" y="5060"/>
                  </a:moveTo>
                  <a:lnTo>
                    <a:pt x="0" y="0"/>
                  </a:lnTo>
                  <a:lnTo>
                    <a:pt x="587731" y="0"/>
                  </a:lnTo>
                  <a:lnTo>
                    <a:pt x="587731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What</a:t>
            </a:r>
            <a:r>
              <a:rPr lang="en-US" spc="20" noProof="1"/>
              <a:t> </a:t>
            </a:r>
            <a:r>
              <a:rPr lang="en-US" spc="-25" noProof="1"/>
              <a:t>is</a:t>
            </a:r>
            <a:r>
              <a:rPr lang="en-US" spc="25" noProof="1"/>
              <a:t> </a:t>
            </a:r>
            <a:r>
              <a:rPr lang="en-US" noProof="1"/>
              <a:t>the</a:t>
            </a:r>
            <a:r>
              <a:rPr lang="en-US" spc="25" noProof="1"/>
              <a:t> </a:t>
            </a:r>
            <a:r>
              <a:rPr lang="en-US" spc="-10" noProof="1"/>
              <a:t>idea</a:t>
            </a:r>
            <a:r>
              <a:rPr lang="en-US" spc="20" noProof="1"/>
              <a:t> </a:t>
            </a:r>
            <a:r>
              <a:rPr lang="en-US" spc="-30" noProof="1"/>
              <a:t>behind</a:t>
            </a:r>
            <a:r>
              <a:rPr lang="en-US" spc="25" noProof="1"/>
              <a:t> </a:t>
            </a:r>
            <a:r>
              <a:rPr lang="en-US" spc="-30" noProof="1"/>
              <a:t>Cloud</a:t>
            </a:r>
            <a:r>
              <a:rPr lang="en-US" spc="25" noProof="1"/>
              <a:t> </a:t>
            </a:r>
            <a:r>
              <a:rPr lang="en-US" spc="-30" noProof="1"/>
              <a:t>Computing?</a:t>
            </a:r>
          </a:p>
        </p:txBody>
      </p:sp>
      <p:pic>
        <p:nvPicPr>
          <p:cNvPr id="3" name="object 3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408063" y="700754"/>
            <a:ext cx="2015876" cy="2015876"/>
          </a:xfrm>
          <a:prstGeom prst="rect">
            <a:avLst/>
          </a:prstGeom>
        </p:spPr>
      </p:pic>
      <p:sp>
        <p:nvSpPr>
          <p:cNvPr id="4" name="object 4"/>
          <p:cNvSpPr txBox="1">
            <a:spLocks noGrp="1"/>
          </p:cNvSpPr>
          <p:nvPr>
            <p:ph type="body" idx="1"/>
          </p:nvPr>
        </p:nvSpPr>
        <p:spPr>
          <a:xfrm>
            <a:off x="227304" y="708025"/>
            <a:ext cx="5208270" cy="2250796"/>
          </a:xfrm>
          <a:prstGeom prst="rect">
            <a:avLst/>
          </a:prstGeom>
        </p:spPr>
        <p:txBody>
          <a:bodyPr vert="horz" wrap="square" lIns="0" tIns="66154" rIns="0" bIns="0" rtlCol="0">
            <a:spAutoFit/>
          </a:bodyPr>
          <a:lstStyle/>
          <a:p>
            <a:pPr marL="2604135" marR="5080">
              <a:lnSpc>
                <a:spcPct val="116199"/>
              </a:lnSpc>
              <a:spcBef>
                <a:spcPts val="670"/>
              </a:spcBef>
            </a:pPr>
            <a:r>
              <a:rPr lang="en-US" b="1" spc="-25" noProof="1">
                <a:latin typeface="Arial"/>
                <a:cs typeface="Arial"/>
              </a:rPr>
              <a:t>Cloud</a:t>
            </a:r>
            <a:r>
              <a:rPr lang="en-US" b="1" spc="30" noProof="1">
                <a:latin typeface="Arial"/>
                <a:cs typeface="Arial"/>
              </a:rPr>
              <a:t> </a:t>
            </a:r>
            <a:r>
              <a:rPr lang="en-US" b="1" spc="-30" noProof="1">
                <a:latin typeface="Arial"/>
                <a:cs typeface="Arial"/>
              </a:rPr>
              <a:t>computing</a:t>
            </a:r>
            <a:r>
              <a:rPr lang="en-US" b="1" spc="15" noProof="1">
                <a:latin typeface="Arial"/>
                <a:cs typeface="Arial"/>
              </a:rPr>
              <a:t> </a:t>
            </a:r>
          </a:p>
          <a:p>
            <a:pPr marL="2604135" marR="5080">
              <a:lnSpc>
                <a:spcPct val="116199"/>
              </a:lnSpc>
              <a:spcBef>
                <a:spcPts val="670"/>
              </a:spcBef>
            </a:pPr>
            <a:endParaRPr lang="en-US" b="1" spc="15" noProof="1">
              <a:latin typeface="Arial"/>
              <a:cs typeface="Arial"/>
            </a:endParaRPr>
          </a:p>
          <a:p>
            <a:pPr marL="2604135" marR="5080">
              <a:lnSpc>
                <a:spcPct val="116199"/>
              </a:lnSpc>
              <a:spcBef>
                <a:spcPts val="670"/>
              </a:spcBef>
            </a:pPr>
            <a:r>
              <a:rPr lang="en-US" spc="-45" noProof="1"/>
              <a:t>Enables</a:t>
            </a:r>
            <a:r>
              <a:rPr lang="en-US" spc="15" noProof="1"/>
              <a:t> </a:t>
            </a:r>
            <a:r>
              <a:rPr lang="en-US" spc="-40" noProof="1"/>
              <a:t>companies</a:t>
            </a:r>
            <a:r>
              <a:rPr lang="en-US" spc="20" noProof="1"/>
              <a:t>/users </a:t>
            </a:r>
            <a:r>
              <a:rPr lang="en-US" noProof="1"/>
              <a:t>to</a:t>
            </a:r>
            <a:r>
              <a:rPr lang="en-US" spc="15" noProof="1"/>
              <a:t> </a:t>
            </a:r>
            <a:r>
              <a:rPr lang="en-US" spc="-45" noProof="1"/>
              <a:t>consume</a:t>
            </a:r>
            <a:r>
              <a:rPr lang="en-US" spc="15" noProof="1"/>
              <a:t> </a:t>
            </a:r>
            <a:r>
              <a:rPr lang="en-US" spc="-50" noProof="1"/>
              <a:t>a</a:t>
            </a:r>
            <a:r>
              <a:rPr lang="en-US" spc="-10" noProof="1"/>
              <a:t> compute</a:t>
            </a:r>
            <a:r>
              <a:rPr lang="en-US" spc="-5" noProof="1"/>
              <a:t> </a:t>
            </a:r>
            <a:r>
              <a:rPr lang="en-US" spc="-35" noProof="1"/>
              <a:t>resource,</a:t>
            </a:r>
            <a:r>
              <a:rPr lang="en-US" spc="-5" noProof="1"/>
              <a:t> </a:t>
            </a:r>
            <a:r>
              <a:rPr lang="en-US" spc="-30" noProof="1"/>
              <a:t>such</a:t>
            </a:r>
            <a:r>
              <a:rPr lang="en-US" noProof="1"/>
              <a:t> </a:t>
            </a:r>
            <a:r>
              <a:rPr lang="en-US" spc="-45" noProof="1"/>
              <a:t>as</a:t>
            </a:r>
            <a:r>
              <a:rPr lang="en-US" spc="-5" noProof="1"/>
              <a:t> </a:t>
            </a:r>
            <a:r>
              <a:rPr lang="en-US" noProof="1"/>
              <a:t>a virtual</a:t>
            </a:r>
            <a:r>
              <a:rPr lang="en-US" spc="-5" noProof="1"/>
              <a:t> </a:t>
            </a:r>
            <a:r>
              <a:rPr lang="en-US" spc="-25" noProof="1"/>
              <a:t>machine</a:t>
            </a:r>
            <a:r>
              <a:rPr lang="en-US" noProof="1"/>
              <a:t> </a:t>
            </a:r>
            <a:r>
              <a:rPr lang="en-US" spc="-10" noProof="1"/>
              <a:t>(VM), </a:t>
            </a:r>
            <a:r>
              <a:rPr lang="en-US" spc="-30" noProof="1"/>
              <a:t>storage,</a:t>
            </a:r>
            <a:r>
              <a:rPr lang="en-US" spc="30" noProof="1"/>
              <a:t> </a:t>
            </a:r>
            <a:r>
              <a:rPr lang="en-US" noProof="1"/>
              <a:t>or</a:t>
            </a:r>
            <a:r>
              <a:rPr lang="en-US" spc="35" noProof="1"/>
              <a:t> </a:t>
            </a:r>
            <a:r>
              <a:rPr lang="en-US" noProof="1"/>
              <a:t>an</a:t>
            </a:r>
            <a:r>
              <a:rPr lang="en-US" spc="35" noProof="1"/>
              <a:t> </a:t>
            </a:r>
            <a:r>
              <a:rPr lang="en-US" spc="-10" noProof="1"/>
              <a:t>application,</a:t>
            </a:r>
            <a:r>
              <a:rPr lang="en-US" spc="30" noProof="1"/>
              <a:t> </a:t>
            </a:r>
            <a:r>
              <a:rPr lang="en-US" spc="-45" noProof="1"/>
              <a:t>as</a:t>
            </a:r>
            <a:r>
              <a:rPr lang="en-US" spc="35" noProof="1"/>
              <a:t> </a:t>
            </a:r>
            <a:r>
              <a:rPr lang="en-US" noProof="1"/>
              <a:t>a</a:t>
            </a:r>
            <a:r>
              <a:rPr lang="en-US" spc="35" noProof="1"/>
              <a:t> </a:t>
            </a:r>
            <a:r>
              <a:rPr lang="en-US" noProof="1"/>
              <a:t>utility</a:t>
            </a:r>
          </a:p>
          <a:p>
            <a:pPr marL="2604135" marR="5080">
              <a:lnSpc>
                <a:spcPct val="116199"/>
              </a:lnSpc>
              <a:spcBef>
                <a:spcPts val="670"/>
              </a:spcBef>
            </a:pPr>
            <a:r>
              <a:rPr lang="en-US" spc="35" noProof="1"/>
              <a:t>                        </a:t>
            </a:r>
            <a:r>
              <a:rPr lang="en-US" sz="4000" spc="315" noProof="1">
                <a:solidFill>
                  <a:srgbClr val="880B57"/>
                </a:solidFill>
                <a:latin typeface="Apple Symbols"/>
                <a:cs typeface="Apple Symbols"/>
              </a:rPr>
              <a:t>⇒</a:t>
            </a:r>
          </a:p>
          <a:p>
            <a:pPr marL="2604135" marR="5080">
              <a:lnSpc>
                <a:spcPct val="116199"/>
              </a:lnSpc>
              <a:spcBef>
                <a:spcPts val="670"/>
              </a:spcBef>
            </a:pPr>
            <a:r>
              <a:rPr lang="en-US" spc="5" noProof="1"/>
              <a:t> </a:t>
            </a:r>
            <a:r>
              <a:rPr lang="en-US" noProof="1"/>
              <a:t>rather</a:t>
            </a:r>
            <a:r>
              <a:rPr lang="en-US" spc="5" noProof="1"/>
              <a:t> </a:t>
            </a:r>
            <a:r>
              <a:rPr lang="en-US" noProof="1"/>
              <a:t>than</a:t>
            </a:r>
            <a:r>
              <a:rPr lang="en-US" spc="5" noProof="1"/>
              <a:t> </a:t>
            </a:r>
            <a:r>
              <a:rPr lang="en-US" spc="-20" noProof="1"/>
              <a:t>having</a:t>
            </a:r>
            <a:r>
              <a:rPr lang="en-US" noProof="1"/>
              <a:t> to</a:t>
            </a:r>
            <a:r>
              <a:rPr lang="en-US" spc="5" noProof="1"/>
              <a:t> </a:t>
            </a:r>
            <a:r>
              <a:rPr lang="en-US" noProof="1"/>
              <a:t>build </a:t>
            </a:r>
            <a:r>
              <a:rPr lang="en-US" spc="-10" noProof="1"/>
              <a:t>and</a:t>
            </a:r>
            <a:r>
              <a:rPr lang="en-US" spc="5" noProof="1"/>
              <a:t> </a:t>
            </a:r>
            <a:r>
              <a:rPr lang="en-US" spc="-10" noProof="1"/>
              <a:t>maintain computing</a:t>
            </a:r>
            <a:r>
              <a:rPr lang="en-US" spc="10" noProof="1"/>
              <a:t> </a:t>
            </a:r>
            <a:r>
              <a:rPr lang="en-US" spc="-10" noProof="1"/>
              <a:t>infrastructures</a:t>
            </a:r>
            <a:r>
              <a:rPr lang="en-US" spc="10" noProof="1"/>
              <a:t> </a:t>
            </a:r>
            <a:r>
              <a:rPr lang="en-US" spc="-35" noProof="1"/>
              <a:t>in-</a:t>
            </a:r>
            <a:r>
              <a:rPr lang="en-US" spc="-10" noProof="1"/>
              <a:t>house.</a:t>
            </a:r>
          </a:p>
        </p:txBody>
      </p:sp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705485" cy="5080"/>
            </a:xfrm>
            <a:custGeom>
              <a:avLst/>
              <a:gdLst/>
              <a:ahLst/>
              <a:cxnLst/>
              <a:rect l="l" t="t" r="r" b="b"/>
              <a:pathLst>
                <a:path w="705485" h="5080">
                  <a:moveTo>
                    <a:pt x="0" y="5060"/>
                  </a:moveTo>
                  <a:lnTo>
                    <a:pt x="0" y="0"/>
                  </a:lnTo>
                  <a:lnTo>
                    <a:pt x="705331" y="0"/>
                  </a:lnTo>
                  <a:lnTo>
                    <a:pt x="705331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 lang="en-US" noProof="1"/>
          </a:p>
        </p:txBody>
      </p:sp>
      <p:sp>
        <p:nvSpPr>
          <p:cNvPr id="3" name="object 3"/>
          <p:cNvSpPr txBox="1"/>
          <p:nvPr/>
        </p:nvSpPr>
        <p:spPr>
          <a:xfrm>
            <a:off x="98526" y="59834"/>
            <a:ext cx="136461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b="1" spc="-30" noProof="1">
                <a:solidFill>
                  <a:srgbClr val="F9F9F9"/>
                </a:solidFill>
                <a:latin typeface="Arial"/>
                <a:cs typeface="Arial"/>
              </a:rPr>
              <a:t>Demystifying</a:t>
            </a:r>
            <a:r>
              <a:rPr lang="en-US" sz="1000" b="1" spc="6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the</a:t>
            </a:r>
            <a:r>
              <a:rPr lang="en-US" sz="1000" b="1" spc="6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35" noProof="1">
                <a:solidFill>
                  <a:srgbClr val="F9F9F9"/>
                </a:solidFill>
                <a:latin typeface="Arial"/>
                <a:cs typeface="Arial"/>
              </a:rPr>
              <a:t>cloud</a:t>
            </a:r>
            <a:endParaRPr lang="en-US" sz="10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59994" y="866188"/>
            <a:ext cx="5040019" cy="1420014"/>
          </a:xfrm>
          <a:prstGeom prst="rect">
            <a:avLst/>
          </a:prstGeom>
        </p:spPr>
      </p:pic>
      <p:sp>
        <p:nvSpPr>
          <p:cNvPr id="5" name="object 5"/>
          <p:cNvSpPr txBox="1"/>
          <p:nvPr/>
        </p:nvSpPr>
        <p:spPr>
          <a:xfrm>
            <a:off x="1803107" y="2420174"/>
            <a:ext cx="2153920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800" b="1" spc="-20" noProof="1">
                <a:solidFill>
                  <a:srgbClr val="22373A"/>
                </a:solidFill>
                <a:latin typeface="Arial"/>
                <a:cs typeface="Arial"/>
              </a:rPr>
              <a:t>Figure</a:t>
            </a:r>
            <a:r>
              <a:rPr lang="en-US" sz="800" b="1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2:</a:t>
            </a:r>
            <a:r>
              <a:rPr lang="en-US" sz="800" b="1" spc="1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What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30" noProof="1">
                <a:solidFill>
                  <a:srgbClr val="22373A"/>
                </a:solidFill>
                <a:latin typeface="Arial"/>
                <a:cs typeface="Arial"/>
              </a:rPr>
              <a:t>happens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when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I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watch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Netflix?</a:t>
            </a:r>
            <a:endParaRPr lang="en-US" sz="800" noProof="1">
              <a:latin typeface="Arial"/>
              <a:cs typeface="Arial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822960" cy="5080"/>
            </a:xfrm>
            <a:custGeom>
              <a:avLst/>
              <a:gdLst/>
              <a:ahLst/>
              <a:cxnLst/>
              <a:rect l="l" t="t" r="r" b="b"/>
              <a:pathLst>
                <a:path w="822960" h="5080">
                  <a:moveTo>
                    <a:pt x="0" y="5060"/>
                  </a:moveTo>
                  <a:lnTo>
                    <a:pt x="0" y="0"/>
                  </a:lnTo>
                  <a:lnTo>
                    <a:pt x="822842" y="0"/>
                  </a:lnTo>
                  <a:lnTo>
                    <a:pt x="822842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 lang="en-US" noProof="1"/>
          </a:p>
        </p:txBody>
      </p:sp>
      <p:sp>
        <p:nvSpPr>
          <p:cNvPr id="3" name="object 3"/>
          <p:cNvSpPr txBox="1"/>
          <p:nvPr/>
        </p:nvSpPr>
        <p:spPr>
          <a:xfrm>
            <a:off x="98526" y="59834"/>
            <a:ext cx="136461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b="1" spc="-30" noProof="1">
                <a:solidFill>
                  <a:srgbClr val="F9F9F9"/>
                </a:solidFill>
                <a:latin typeface="Arial"/>
                <a:cs typeface="Arial"/>
              </a:rPr>
              <a:t>Demystifying</a:t>
            </a:r>
            <a:r>
              <a:rPr lang="en-US" sz="1000" b="1" spc="6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the</a:t>
            </a:r>
            <a:r>
              <a:rPr lang="en-US" sz="1000" b="1" spc="6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35" noProof="1">
                <a:solidFill>
                  <a:srgbClr val="F9F9F9"/>
                </a:solidFill>
                <a:latin typeface="Arial"/>
                <a:cs typeface="Arial"/>
              </a:rPr>
              <a:t>cloud</a:t>
            </a:r>
            <a:endParaRPr lang="en-US" sz="10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625309" y="351408"/>
            <a:ext cx="4509379" cy="2548941"/>
          </a:xfrm>
          <a:prstGeom prst="rect">
            <a:avLst/>
          </a:prstGeom>
        </p:spPr>
      </p:pic>
      <p:sp>
        <p:nvSpPr>
          <p:cNvPr id="5" name="object 5"/>
          <p:cNvSpPr txBox="1"/>
          <p:nvPr/>
        </p:nvSpPr>
        <p:spPr>
          <a:xfrm>
            <a:off x="1793328" y="3034320"/>
            <a:ext cx="2173605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800" b="1" spc="-20" noProof="1">
                <a:solidFill>
                  <a:srgbClr val="22373A"/>
                </a:solidFill>
                <a:latin typeface="Arial"/>
                <a:cs typeface="Arial"/>
              </a:rPr>
              <a:t>Figure</a:t>
            </a:r>
            <a:r>
              <a:rPr lang="en-US" sz="800" b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3:</a:t>
            </a:r>
            <a:r>
              <a:rPr lang="en-US" sz="800" b="1" spc="1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What</a:t>
            </a:r>
            <a:r>
              <a:rPr lang="en-US" sz="8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30" noProof="1">
                <a:solidFill>
                  <a:srgbClr val="22373A"/>
                </a:solidFill>
                <a:latin typeface="Arial"/>
                <a:cs typeface="Arial"/>
              </a:rPr>
              <a:t>happens</a:t>
            </a:r>
            <a:r>
              <a:rPr lang="en-US" sz="8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when</a:t>
            </a:r>
            <a:r>
              <a:rPr lang="en-US" sz="8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I</a:t>
            </a:r>
            <a:r>
              <a:rPr lang="en-US" sz="8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25" noProof="1">
                <a:solidFill>
                  <a:srgbClr val="22373A"/>
                </a:solidFill>
                <a:latin typeface="Arial"/>
                <a:cs typeface="Arial"/>
              </a:rPr>
              <a:t>send</a:t>
            </a:r>
            <a:r>
              <a:rPr lang="en-US" sz="8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an</a:t>
            </a:r>
            <a:r>
              <a:rPr lang="en-US" sz="8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email?</a:t>
            </a:r>
            <a:endParaRPr lang="en-US" sz="800" noProof="1">
              <a:latin typeface="Arial"/>
              <a:cs typeface="Arial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941069" cy="5080"/>
            </a:xfrm>
            <a:custGeom>
              <a:avLst/>
              <a:gdLst/>
              <a:ahLst/>
              <a:cxnLst/>
              <a:rect l="l" t="t" r="r" b="b"/>
              <a:pathLst>
                <a:path w="941069" h="5080">
                  <a:moveTo>
                    <a:pt x="0" y="5060"/>
                  </a:moveTo>
                  <a:lnTo>
                    <a:pt x="0" y="0"/>
                  </a:lnTo>
                  <a:lnTo>
                    <a:pt x="940441" y="0"/>
                  </a:lnTo>
                  <a:lnTo>
                    <a:pt x="940441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Which</a:t>
            </a:r>
            <a:r>
              <a:rPr lang="en-US" spc="5" noProof="1"/>
              <a:t> </a:t>
            </a:r>
            <a:r>
              <a:rPr lang="en-US" spc="-25" noProof="1"/>
              <a:t>is</a:t>
            </a:r>
            <a:r>
              <a:rPr lang="en-US" spc="5" noProof="1"/>
              <a:t> </a:t>
            </a:r>
            <a:r>
              <a:rPr lang="en-US" noProof="1"/>
              <a:t>the</a:t>
            </a:r>
            <a:r>
              <a:rPr lang="en-US" spc="10" noProof="1"/>
              <a:t> </a:t>
            </a:r>
            <a:r>
              <a:rPr lang="en-US" spc="-35" noProof="1"/>
              <a:t>cloud</a:t>
            </a:r>
            <a:r>
              <a:rPr lang="en-US" spc="5" noProof="1"/>
              <a:t> </a:t>
            </a:r>
            <a:r>
              <a:rPr lang="en-US" spc="-35" noProof="1"/>
              <a:t>computing</a:t>
            </a:r>
            <a:r>
              <a:rPr lang="en-US" spc="5" noProof="1"/>
              <a:t> </a:t>
            </a:r>
            <a:r>
              <a:rPr lang="en-US" spc="-30" noProof="1"/>
              <a:t>model?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950230"/>
            <a:ext cx="5066030" cy="1816523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45720">
              <a:lnSpc>
                <a:spcPct val="116199"/>
              </a:lnSpc>
              <a:spcBef>
                <a:spcPts val="100"/>
              </a:spcBef>
            </a:pP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model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enabling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convenient,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30" noProof="1">
                <a:solidFill>
                  <a:srgbClr val="22373A"/>
                </a:solidFill>
                <a:latin typeface="Arial"/>
                <a:cs typeface="Arial"/>
              </a:rPr>
              <a:t>on-</a:t>
            </a:r>
            <a:r>
              <a:rPr lang="en-US" sz="900" i="1" spc="-35" noProof="1">
                <a:solidFill>
                  <a:srgbClr val="22373A"/>
                </a:solidFill>
                <a:latin typeface="Arial"/>
                <a:cs typeface="Arial"/>
              </a:rPr>
              <a:t>demand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0" noProof="1">
                <a:solidFill>
                  <a:srgbClr val="22373A"/>
                </a:solidFill>
                <a:latin typeface="Arial"/>
                <a:cs typeface="Arial"/>
              </a:rPr>
              <a:t>network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75" noProof="1">
                <a:solidFill>
                  <a:srgbClr val="22373A"/>
                </a:solidFill>
                <a:latin typeface="Arial"/>
                <a:cs typeface="Arial"/>
              </a:rPr>
              <a:t>access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45" noProof="1">
                <a:solidFill>
                  <a:srgbClr val="22373A"/>
                </a:solidFill>
                <a:latin typeface="Arial"/>
                <a:cs typeface="Arial"/>
              </a:rPr>
              <a:t>shared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pool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of configurable</a:t>
            </a:r>
            <a:r>
              <a:rPr lang="en-US" sz="900" i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i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50" noProof="1">
                <a:solidFill>
                  <a:srgbClr val="22373A"/>
                </a:solidFill>
                <a:latin typeface="Arial"/>
                <a:cs typeface="Arial"/>
              </a:rPr>
              <a:t>resources</a:t>
            </a:r>
            <a:r>
              <a:rPr lang="en-US" sz="900" i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(e.g.,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networks,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servers,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storage,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applications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services)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can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EB811B"/>
                </a:solidFill>
                <a:latin typeface="Arial"/>
                <a:cs typeface="Arial"/>
              </a:rPr>
              <a:t>rapidly</a:t>
            </a:r>
            <a:r>
              <a:rPr lang="en-US" sz="900" spc="1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EB811B"/>
                </a:solidFill>
                <a:latin typeface="Arial"/>
                <a:cs typeface="Arial"/>
              </a:rPr>
              <a:t>provisioned</a:t>
            </a:r>
            <a:r>
              <a:rPr lang="en-US" sz="900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EB811B"/>
                </a:solidFill>
                <a:latin typeface="Arial"/>
                <a:cs typeface="Arial"/>
              </a:rPr>
              <a:t>and</a:t>
            </a:r>
            <a:r>
              <a:rPr lang="en-US" sz="900" spc="1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EB811B"/>
                </a:solidFill>
                <a:latin typeface="Arial"/>
                <a:cs typeface="Arial"/>
              </a:rPr>
              <a:t>released</a:t>
            </a:r>
            <a:r>
              <a:rPr lang="en-US" sz="900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minimal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management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effort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service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provider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interaction.</a:t>
            </a:r>
          </a:p>
          <a:p>
            <a:pPr marL="12700" marR="45720">
              <a:lnSpc>
                <a:spcPct val="116199"/>
              </a:lnSpc>
              <a:spcBef>
                <a:spcPts val="100"/>
              </a:spcBef>
            </a:pPr>
            <a:endParaRPr lang="en-US" sz="900" spc="-10" noProof="1">
              <a:solidFill>
                <a:srgbClr val="22373A"/>
              </a:solidFill>
              <a:latin typeface="Arial"/>
              <a:cs typeface="Arial"/>
            </a:endParaRPr>
          </a:p>
          <a:p>
            <a:pPr marL="12700" marR="45720">
              <a:lnSpc>
                <a:spcPct val="116199"/>
              </a:lnSpc>
              <a:spcBef>
                <a:spcPts val="100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Properties: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800"/>
              </a:spcBef>
              <a:buChar char="•"/>
              <a:tabLst>
                <a:tab pos="239395" algn="l"/>
              </a:tabLst>
            </a:pP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Flexible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scalable.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Pay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what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you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use.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change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and is </a:t>
            </a:r>
            <a:r>
              <a:rPr lang="en-US" sz="900" spc="-60" noProof="1">
                <a:solidFill>
                  <a:srgbClr val="22373A"/>
                </a:solidFill>
                <a:latin typeface="Arial"/>
                <a:cs typeface="Arial"/>
              </a:rPr>
              <a:t>easy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to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upgrade.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need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buy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hardware.</a:t>
            </a:r>
            <a:endParaRPr lang="en-US" sz="900" noProof="1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  <a:spcBef>
                <a:spcPts val="800"/>
              </a:spcBef>
            </a:pPr>
            <a:r>
              <a:rPr lang="en-US" sz="900" b="1" spc="-25" noProof="1">
                <a:solidFill>
                  <a:srgbClr val="EB811B"/>
                </a:solidFill>
                <a:latin typeface="Arial"/>
                <a:cs typeface="Arial"/>
              </a:rPr>
              <a:t>Cloud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EB811B"/>
                </a:solidFill>
                <a:latin typeface="Arial"/>
                <a:cs typeface="Arial"/>
              </a:rPr>
              <a:t>computing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EB811B"/>
                </a:solidFill>
                <a:latin typeface="Arial"/>
                <a:cs typeface="Arial"/>
              </a:rPr>
              <a:t>is</a:t>
            </a:r>
            <a:r>
              <a:rPr lang="en-US" sz="900" b="1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EB811B"/>
                </a:solidFill>
                <a:latin typeface="Arial"/>
                <a:cs typeface="Arial"/>
              </a:rPr>
              <a:t>elastic,</a:t>
            </a:r>
            <a:r>
              <a:rPr lang="en-US" sz="900" b="1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EB811B"/>
                </a:solidFill>
                <a:latin typeface="Arial"/>
                <a:cs typeface="Arial"/>
              </a:rPr>
              <a:t>allowing</a:t>
            </a:r>
            <a:r>
              <a:rPr lang="en-US" sz="900" b="1" spc="-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EB811B"/>
                </a:solidFill>
                <a:latin typeface="Arial"/>
                <a:cs typeface="Arial"/>
              </a:rPr>
              <a:t>organizations</a:t>
            </a:r>
            <a:r>
              <a:rPr lang="en-US" sz="900" b="1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to </a:t>
            </a:r>
            <a:r>
              <a:rPr lang="en-US" sz="900" b="1" spc="-45" noProof="1">
                <a:solidFill>
                  <a:srgbClr val="EB811B"/>
                </a:solidFill>
                <a:latin typeface="Arial"/>
                <a:cs typeface="Arial"/>
              </a:rPr>
              <a:t>scale</a:t>
            </a:r>
            <a:r>
              <a:rPr lang="en-US" sz="900" b="1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60" noProof="1">
                <a:solidFill>
                  <a:srgbClr val="EB811B"/>
                </a:solidFill>
                <a:latin typeface="Arial"/>
                <a:cs typeface="Arial"/>
              </a:rPr>
              <a:t>resources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50" noProof="1">
                <a:solidFill>
                  <a:srgbClr val="EB811B"/>
                </a:solidFill>
                <a:latin typeface="Arial"/>
                <a:cs typeface="Arial"/>
              </a:rPr>
              <a:t>based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on</a:t>
            </a:r>
            <a:r>
              <a:rPr lang="en-US" sz="900" b="1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EB811B"/>
                </a:solidFill>
                <a:latin typeface="Arial"/>
                <a:cs typeface="Arial"/>
              </a:rPr>
              <a:t>demand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EB811B"/>
                </a:solidFill>
                <a:latin typeface="Arial"/>
                <a:cs typeface="Arial"/>
              </a:rPr>
              <a:t>eﬀiciently.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1058545" cy="5080"/>
            </a:xfrm>
            <a:custGeom>
              <a:avLst/>
              <a:gdLst/>
              <a:ahLst/>
              <a:cxnLst/>
              <a:rect l="l" t="t" r="r" b="b"/>
              <a:pathLst>
                <a:path w="1058545" h="5080">
                  <a:moveTo>
                    <a:pt x="0" y="5060"/>
                  </a:moveTo>
                  <a:lnTo>
                    <a:pt x="0" y="0"/>
                  </a:lnTo>
                  <a:lnTo>
                    <a:pt x="1057952" y="0"/>
                  </a:lnTo>
                  <a:lnTo>
                    <a:pt x="1057952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251333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Which</a:t>
            </a:r>
            <a:r>
              <a:rPr lang="en-US" spc="5" noProof="1"/>
              <a:t> </a:t>
            </a:r>
            <a:r>
              <a:rPr lang="en-US" spc="-25" noProof="1"/>
              <a:t>is</a:t>
            </a:r>
            <a:r>
              <a:rPr lang="en-US" spc="10" noProof="1"/>
              <a:t> </a:t>
            </a:r>
            <a:r>
              <a:rPr lang="en-US" noProof="1"/>
              <a:t>the</a:t>
            </a:r>
            <a:r>
              <a:rPr lang="en-US" spc="10" noProof="1"/>
              <a:t> </a:t>
            </a:r>
            <a:r>
              <a:rPr lang="en-US" spc="-10" noProof="1"/>
              <a:t>traditional</a:t>
            </a:r>
            <a:r>
              <a:rPr lang="en-US" spc="5" noProof="1"/>
              <a:t> </a:t>
            </a:r>
            <a:r>
              <a:rPr lang="en-US" spc="-35" noProof="1"/>
              <a:t>computing</a:t>
            </a:r>
            <a:r>
              <a:rPr lang="en-US" spc="10" noProof="1"/>
              <a:t> </a:t>
            </a:r>
            <a:r>
              <a:rPr lang="en-US" spc="-25" noProof="1"/>
              <a:t>model?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863993" y="1888994"/>
            <a:ext cx="4032250" cy="674370"/>
            <a:chOff x="863993" y="1888994"/>
            <a:chExt cx="4032250" cy="674370"/>
          </a:xfrm>
        </p:grpSpPr>
        <p:sp>
          <p:nvSpPr>
            <p:cNvPr id="4" name="object 4"/>
            <p:cNvSpPr/>
            <p:nvPr/>
          </p:nvSpPr>
          <p:spPr>
            <a:xfrm>
              <a:off x="863993" y="1888994"/>
              <a:ext cx="4032250" cy="674370"/>
            </a:xfrm>
            <a:custGeom>
              <a:avLst/>
              <a:gdLst/>
              <a:ahLst/>
              <a:cxnLst/>
              <a:rect l="l" t="t" r="r" b="b"/>
              <a:pathLst>
                <a:path w="4032250" h="674369">
                  <a:moveTo>
                    <a:pt x="3978067" y="0"/>
                  </a:moveTo>
                  <a:lnTo>
                    <a:pt x="54000" y="0"/>
                  </a:lnTo>
                  <a:lnTo>
                    <a:pt x="32980" y="4243"/>
                  </a:lnTo>
                  <a:lnTo>
                    <a:pt x="15816" y="15816"/>
                  </a:lnTo>
                  <a:lnTo>
                    <a:pt x="4243" y="32980"/>
                  </a:lnTo>
                  <a:lnTo>
                    <a:pt x="0" y="54000"/>
                  </a:lnTo>
                  <a:lnTo>
                    <a:pt x="0" y="620284"/>
                  </a:lnTo>
                  <a:lnTo>
                    <a:pt x="4243" y="641303"/>
                  </a:lnTo>
                  <a:lnTo>
                    <a:pt x="15816" y="658468"/>
                  </a:lnTo>
                  <a:lnTo>
                    <a:pt x="32980" y="670040"/>
                  </a:lnTo>
                  <a:lnTo>
                    <a:pt x="54000" y="674284"/>
                  </a:lnTo>
                  <a:lnTo>
                    <a:pt x="3978067" y="674284"/>
                  </a:lnTo>
                  <a:lnTo>
                    <a:pt x="3999086" y="670040"/>
                  </a:lnTo>
                  <a:lnTo>
                    <a:pt x="4016251" y="658468"/>
                  </a:lnTo>
                  <a:lnTo>
                    <a:pt x="4027823" y="641303"/>
                  </a:lnTo>
                  <a:lnTo>
                    <a:pt x="4032067" y="620284"/>
                  </a:lnTo>
                  <a:lnTo>
                    <a:pt x="4032067" y="54000"/>
                  </a:lnTo>
                  <a:lnTo>
                    <a:pt x="4027823" y="32980"/>
                  </a:lnTo>
                  <a:lnTo>
                    <a:pt x="4016251" y="15816"/>
                  </a:lnTo>
                  <a:lnTo>
                    <a:pt x="3999086" y="4243"/>
                  </a:lnTo>
                  <a:lnTo>
                    <a:pt x="3978067" y="0"/>
                  </a:lnTo>
                  <a:close/>
                </a:path>
              </a:pathLst>
            </a:custGeom>
            <a:solidFill>
              <a:srgbClr val="880C58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881993" y="1906994"/>
              <a:ext cx="3996690" cy="638810"/>
            </a:xfrm>
            <a:custGeom>
              <a:avLst/>
              <a:gdLst/>
              <a:ahLst/>
              <a:cxnLst/>
              <a:rect l="l" t="t" r="r" b="b"/>
              <a:pathLst>
                <a:path w="3996690" h="638810">
                  <a:moveTo>
                    <a:pt x="3960067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602284"/>
                  </a:lnTo>
                  <a:lnTo>
                    <a:pt x="2829" y="616297"/>
                  </a:lnTo>
                  <a:lnTo>
                    <a:pt x="10544" y="627740"/>
                  </a:lnTo>
                  <a:lnTo>
                    <a:pt x="21987" y="635455"/>
                  </a:lnTo>
                  <a:lnTo>
                    <a:pt x="36000" y="638284"/>
                  </a:lnTo>
                  <a:lnTo>
                    <a:pt x="3960067" y="638284"/>
                  </a:lnTo>
                  <a:lnTo>
                    <a:pt x="3974080" y="635455"/>
                  </a:lnTo>
                  <a:lnTo>
                    <a:pt x="3985523" y="627740"/>
                  </a:lnTo>
                  <a:lnTo>
                    <a:pt x="3993238" y="616297"/>
                  </a:lnTo>
                  <a:lnTo>
                    <a:pt x="3996067" y="602284"/>
                  </a:lnTo>
                  <a:lnTo>
                    <a:pt x="3996067" y="36000"/>
                  </a:lnTo>
                  <a:lnTo>
                    <a:pt x="3993238" y="21987"/>
                  </a:lnTo>
                  <a:lnTo>
                    <a:pt x="3985523" y="10544"/>
                  </a:lnTo>
                  <a:lnTo>
                    <a:pt x="3974080" y="2829"/>
                  </a:lnTo>
                  <a:lnTo>
                    <a:pt x="3960067" y="0"/>
                  </a:lnTo>
                  <a:close/>
                </a:path>
              </a:pathLst>
            </a:custGeom>
            <a:solidFill>
              <a:srgbClr val="EAEAEA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6" name="object 6"/>
          <p:cNvSpPr txBox="1"/>
          <p:nvPr/>
        </p:nvSpPr>
        <p:spPr>
          <a:xfrm>
            <a:off x="347294" y="588483"/>
            <a:ext cx="5026025" cy="2206373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6199"/>
              </a:lnSpc>
              <a:spcBef>
                <a:spcPts val="10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traditional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,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user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must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buy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40" noProof="1">
                <a:solidFill>
                  <a:srgbClr val="22373A"/>
                </a:solidFill>
                <a:latin typeface="Arial"/>
                <a:cs typeface="Arial"/>
              </a:rPr>
              <a:t>hardware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software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,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install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them on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computer.</a:t>
            </a:r>
            <a:r>
              <a:rPr lang="en-US" sz="900" spc="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EB811B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EB811B"/>
                </a:solidFill>
                <a:latin typeface="Arial"/>
                <a:cs typeface="Arial"/>
              </a:rPr>
              <a:t>user</a:t>
            </a:r>
            <a:r>
              <a:rPr lang="en-US" sz="900" noProof="1">
                <a:solidFill>
                  <a:srgbClr val="EB811B"/>
                </a:solidFill>
                <a:latin typeface="Arial"/>
                <a:cs typeface="Arial"/>
              </a:rPr>
              <a:t> is</a:t>
            </a:r>
            <a:r>
              <a:rPr lang="en-US" sz="900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EB811B"/>
                </a:solidFill>
                <a:latin typeface="Arial"/>
                <a:cs typeface="Arial"/>
              </a:rPr>
              <a:t>responsible</a:t>
            </a:r>
            <a:r>
              <a:rPr lang="en-US" sz="900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EB811B"/>
                </a:solidFill>
                <a:latin typeface="Arial"/>
                <a:cs typeface="Arial"/>
              </a:rPr>
              <a:t>for</a:t>
            </a:r>
            <a:r>
              <a:rPr lang="en-US" sz="900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EB811B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EB811B"/>
                </a:solidFill>
                <a:latin typeface="Arial"/>
                <a:cs typeface="Arial"/>
              </a:rPr>
              <a:t>maintenance</a:t>
            </a:r>
            <a:r>
              <a:rPr lang="en-US" sz="900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EB811B"/>
                </a:solidFill>
                <a:latin typeface="Arial"/>
                <a:cs typeface="Arial"/>
              </a:rPr>
              <a:t>and </a:t>
            </a:r>
            <a:r>
              <a:rPr lang="en-US" sz="900" spc="-20" noProof="1">
                <a:solidFill>
                  <a:srgbClr val="EB811B"/>
                </a:solidFill>
                <a:latin typeface="Arial"/>
                <a:cs typeface="Arial"/>
              </a:rPr>
              <a:t>security</a:t>
            </a:r>
            <a:r>
              <a:rPr lang="en-US" sz="900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EB811B"/>
                </a:solidFill>
                <a:latin typeface="Arial"/>
                <a:cs typeface="Arial"/>
              </a:rPr>
              <a:t>of</a:t>
            </a:r>
            <a:r>
              <a:rPr lang="en-US" sz="900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EB811B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EB811B"/>
                </a:solidFill>
                <a:latin typeface="Arial"/>
                <a:cs typeface="Arial"/>
              </a:rPr>
              <a:t>software</a:t>
            </a:r>
            <a:r>
              <a:rPr lang="en-US" sz="900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EB811B"/>
                </a:solidFill>
                <a:latin typeface="Arial"/>
                <a:cs typeface="Arial"/>
              </a:rPr>
              <a:t>and </a:t>
            </a:r>
            <a:r>
              <a:rPr lang="en-US" sz="900" spc="-10" noProof="1">
                <a:solidFill>
                  <a:srgbClr val="EB811B"/>
                </a:solidFill>
                <a:latin typeface="Arial"/>
                <a:cs typeface="Arial"/>
              </a:rPr>
              <a:t>hardware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800"/>
              </a:spcBef>
              <a:buChar char="•"/>
              <a:tabLst>
                <a:tab pos="239395" algn="l"/>
              </a:tabLst>
            </a:pP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Requires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space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servers.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Needs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team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experts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install,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configure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maintain.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Requires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phisical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security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policies.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Long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hardware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procurement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process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(purchase,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install,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configure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and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maintain).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Requires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prediction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theoretical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maximum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load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peak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system.</a:t>
            </a:r>
            <a:endParaRPr lang="en-US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245"/>
              </a:spcBef>
            </a:pPr>
            <a:endParaRPr lang="en-US" sz="900" noProof="1">
              <a:latin typeface="Arial"/>
              <a:cs typeface="Arial"/>
            </a:endParaRPr>
          </a:p>
          <a:p>
            <a:pPr marL="946150" marR="882650" algn="ctr">
              <a:lnSpc>
                <a:spcPct val="116199"/>
              </a:lnSpc>
            </a:pPr>
            <a:r>
              <a:rPr lang="en-US" sz="900" noProof="1">
                <a:latin typeface="Arial"/>
                <a:cs typeface="Arial"/>
              </a:rPr>
              <a:t>If</a:t>
            </a:r>
            <a:r>
              <a:rPr lang="en-US" sz="900" spc="15" noProof="1">
                <a:latin typeface="Arial"/>
                <a:cs typeface="Arial"/>
              </a:rPr>
              <a:t> </a:t>
            </a:r>
            <a:r>
              <a:rPr lang="en-US" sz="900" noProof="1">
                <a:latin typeface="Arial"/>
                <a:cs typeface="Arial"/>
              </a:rPr>
              <a:t>the</a:t>
            </a:r>
            <a:r>
              <a:rPr lang="en-US" sz="900" spc="15" noProof="1">
                <a:latin typeface="Arial"/>
                <a:cs typeface="Arial"/>
              </a:rPr>
              <a:t> </a:t>
            </a:r>
            <a:r>
              <a:rPr lang="en-US" sz="900" spc="-30" noProof="1">
                <a:latin typeface="Arial"/>
                <a:cs typeface="Arial"/>
              </a:rPr>
              <a:t>company</a:t>
            </a:r>
            <a:r>
              <a:rPr lang="en-US" sz="900" spc="15" noProof="1">
                <a:latin typeface="Arial"/>
                <a:cs typeface="Arial"/>
              </a:rPr>
              <a:t> </a:t>
            </a:r>
            <a:r>
              <a:rPr lang="en-US" sz="900" spc="-30" noProof="1">
                <a:latin typeface="Arial"/>
                <a:cs typeface="Arial"/>
              </a:rPr>
              <a:t>underestimates</a:t>
            </a:r>
            <a:r>
              <a:rPr lang="en-US" sz="900" spc="15" noProof="1">
                <a:latin typeface="Arial"/>
                <a:cs typeface="Arial"/>
              </a:rPr>
              <a:t> </a:t>
            </a:r>
            <a:r>
              <a:rPr lang="en-US" sz="900" noProof="1">
                <a:latin typeface="Arial"/>
                <a:cs typeface="Arial"/>
              </a:rPr>
              <a:t>the</a:t>
            </a:r>
            <a:r>
              <a:rPr lang="en-US" sz="900" spc="15" noProof="1">
                <a:latin typeface="Arial"/>
                <a:cs typeface="Arial"/>
              </a:rPr>
              <a:t> </a:t>
            </a:r>
            <a:r>
              <a:rPr lang="en-US" sz="900" spc="-20" noProof="1">
                <a:latin typeface="Arial"/>
                <a:cs typeface="Arial"/>
              </a:rPr>
              <a:t>peak,</a:t>
            </a:r>
            <a:r>
              <a:rPr lang="en-US" sz="900" spc="20" noProof="1">
                <a:latin typeface="Arial"/>
                <a:cs typeface="Arial"/>
              </a:rPr>
              <a:t> </a:t>
            </a:r>
            <a:r>
              <a:rPr lang="en-US" sz="900" noProof="1">
                <a:latin typeface="Arial"/>
                <a:cs typeface="Arial"/>
              </a:rPr>
              <a:t>the</a:t>
            </a:r>
            <a:r>
              <a:rPr lang="en-US" sz="900" spc="15" noProof="1">
                <a:latin typeface="Arial"/>
                <a:cs typeface="Arial"/>
              </a:rPr>
              <a:t> </a:t>
            </a:r>
            <a:r>
              <a:rPr lang="en-US" sz="900" spc="-35" noProof="1">
                <a:latin typeface="Arial"/>
                <a:cs typeface="Arial"/>
              </a:rPr>
              <a:t>system</a:t>
            </a:r>
            <a:r>
              <a:rPr lang="en-US" sz="900" spc="15" noProof="1">
                <a:latin typeface="Arial"/>
                <a:cs typeface="Arial"/>
              </a:rPr>
              <a:t> </a:t>
            </a:r>
            <a:r>
              <a:rPr lang="en-US" sz="900" noProof="1">
                <a:latin typeface="Arial"/>
                <a:cs typeface="Arial"/>
              </a:rPr>
              <a:t>will</a:t>
            </a:r>
            <a:r>
              <a:rPr lang="en-US" sz="900" spc="15" noProof="1">
                <a:latin typeface="Arial"/>
                <a:cs typeface="Arial"/>
              </a:rPr>
              <a:t> </a:t>
            </a:r>
            <a:r>
              <a:rPr lang="en-US" sz="900" noProof="1">
                <a:latin typeface="Arial"/>
                <a:cs typeface="Arial"/>
              </a:rPr>
              <a:t>be</a:t>
            </a:r>
            <a:r>
              <a:rPr lang="en-US" sz="900" spc="15" noProof="1">
                <a:latin typeface="Arial"/>
                <a:cs typeface="Arial"/>
              </a:rPr>
              <a:t> </a:t>
            </a:r>
            <a:r>
              <a:rPr lang="en-US" sz="900" spc="-20" noProof="1">
                <a:latin typeface="Arial"/>
                <a:cs typeface="Arial"/>
              </a:rPr>
              <a:t>slow, </a:t>
            </a:r>
            <a:r>
              <a:rPr lang="en-US" sz="900" spc="-10" noProof="1">
                <a:latin typeface="Arial"/>
                <a:cs typeface="Arial"/>
              </a:rPr>
              <a:t>and</a:t>
            </a:r>
            <a:r>
              <a:rPr lang="en-US" sz="900" spc="10" noProof="1">
                <a:latin typeface="Arial"/>
                <a:cs typeface="Arial"/>
              </a:rPr>
              <a:t> </a:t>
            </a:r>
            <a:r>
              <a:rPr lang="en-US" sz="900" noProof="1">
                <a:latin typeface="Arial"/>
                <a:cs typeface="Arial"/>
              </a:rPr>
              <a:t>the</a:t>
            </a:r>
            <a:r>
              <a:rPr lang="en-US" sz="900" spc="15" noProof="1">
                <a:latin typeface="Arial"/>
                <a:cs typeface="Arial"/>
              </a:rPr>
              <a:t> </a:t>
            </a:r>
            <a:r>
              <a:rPr lang="en-US" sz="900" spc="-60" noProof="1">
                <a:latin typeface="Arial"/>
                <a:cs typeface="Arial"/>
              </a:rPr>
              <a:t>users</a:t>
            </a:r>
            <a:r>
              <a:rPr lang="en-US" sz="900" spc="15" noProof="1">
                <a:latin typeface="Arial"/>
                <a:cs typeface="Arial"/>
              </a:rPr>
              <a:t> </a:t>
            </a:r>
            <a:r>
              <a:rPr lang="en-US" sz="900" noProof="1">
                <a:latin typeface="Arial"/>
                <a:cs typeface="Arial"/>
              </a:rPr>
              <a:t>will</a:t>
            </a:r>
            <a:r>
              <a:rPr lang="en-US" sz="900" spc="10" noProof="1">
                <a:latin typeface="Arial"/>
                <a:cs typeface="Arial"/>
              </a:rPr>
              <a:t> </a:t>
            </a:r>
            <a:r>
              <a:rPr lang="en-US" sz="900" noProof="1">
                <a:latin typeface="Arial"/>
                <a:cs typeface="Arial"/>
              </a:rPr>
              <a:t>be</a:t>
            </a:r>
            <a:r>
              <a:rPr lang="en-US" sz="900" spc="15" noProof="1">
                <a:latin typeface="Arial"/>
                <a:cs typeface="Arial"/>
              </a:rPr>
              <a:t> </a:t>
            </a:r>
            <a:r>
              <a:rPr lang="en-US" sz="900" spc="-25" noProof="1">
                <a:latin typeface="Arial"/>
                <a:cs typeface="Arial"/>
              </a:rPr>
              <a:t>unhappy.</a:t>
            </a:r>
            <a:r>
              <a:rPr lang="en-US" sz="900" spc="150" noProof="1">
                <a:latin typeface="Arial"/>
                <a:cs typeface="Arial"/>
              </a:rPr>
              <a:t> </a:t>
            </a:r>
            <a:r>
              <a:rPr lang="en-US" sz="900" noProof="1">
                <a:latin typeface="Arial"/>
                <a:cs typeface="Arial"/>
              </a:rPr>
              <a:t>If</a:t>
            </a:r>
            <a:r>
              <a:rPr lang="en-US" sz="900" spc="10" noProof="1">
                <a:latin typeface="Arial"/>
                <a:cs typeface="Arial"/>
              </a:rPr>
              <a:t> </a:t>
            </a:r>
            <a:r>
              <a:rPr lang="en-US" sz="900" noProof="1">
                <a:latin typeface="Arial"/>
                <a:cs typeface="Arial"/>
              </a:rPr>
              <a:t>the</a:t>
            </a:r>
            <a:r>
              <a:rPr lang="en-US" sz="900" spc="15" noProof="1">
                <a:latin typeface="Arial"/>
                <a:cs typeface="Arial"/>
              </a:rPr>
              <a:t> </a:t>
            </a:r>
            <a:r>
              <a:rPr lang="en-US" sz="900" spc="-30" noProof="1">
                <a:latin typeface="Arial"/>
                <a:cs typeface="Arial"/>
              </a:rPr>
              <a:t>company</a:t>
            </a:r>
            <a:r>
              <a:rPr lang="en-US" sz="900" spc="15" noProof="1">
                <a:latin typeface="Arial"/>
                <a:cs typeface="Arial"/>
              </a:rPr>
              <a:t> </a:t>
            </a:r>
            <a:r>
              <a:rPr lang="en-US" sz="900" spc="-35" noProof="1">
                <a:latin typeface="Arial"/>
                <a:cs typeface="Arial"/>
              </a:rPr>
              <a:t>overestimates</a:t>
            </a:r>
            <a:r>
              <a:rPr lang="en-US" sz="900" spc="10" noProof="1">
                <a:latin typeface="Arial"/>
                <a:cs typeface="Arial"/>
              </a:rPr>
              <a:t> </a:t>
            </a:r>
            <a:r>
              <a:rPr lang="en-US" sz="900" spc="-25" noProof="1">
                <a:latin typeface="Arial"/>
                <a:cs typeface="Arial"/>
              </a:rPr>
              <a:t>the </a:t>
            </a:r>
            <a:r>
              <a:rPr lang="en-US" sz="900" spc="-20" noProof="1">
                <a:latin typeface="Arial"/>
                <a:cs typeface="Arial"/>
              </a:rPr>
              <a:t>peak,</a:t>
            </a:r>
            <a:r>
              <a:rPr lang="en-US" sz="900" spc="25" noProof="1">
                <a:latin typeface="Arial"/>
                <a:cs typeface="Arial"/>
              </a:rPr>
              <a:t> </a:t>
            </a:r>
            <a:r>
              <a:rPr lang="en-US" sz="900" noProof="1">
                <a:latin typeface="Arial"/>
                <a:cs typeface="Arial"/>
              </a:rPr>
              <a:t>it</a:t>
            </a:r>
            <a:r>
              <a:rPr lang="en-US" sz="900" spc="25" noProof="1">
                <a:latin typeface="Arial"/>
                <a:cs typeface="Arial"/>
              </a:rPr>
              <a:t> </a:t>
            </a:r>
            <a:r>
              <a:rPr lang="en-US" sz="900" noProof="1">
                <a:latin typeface="Arial"/>
                <a:cs typeface="Arial"/>
              </a:rPr>
              <a:t>will</a:t>
            </a:r>
            <a:r>
              <a:rPr lang="en-US" sz="900" spc="30" noProof="1">
                <a:latin typeface="Arial"/>
                <a:cs typeface="Arial"/>
              </a:rPr>
              <a:t> </a:t>
            </a:r>
            <a:r>
              <a:rPr lang="en-US" sz="900" spc="-45" noProof="1">
                <a:latin typeface="Arial"/>
                <a:cs typeface="Arial"/>
              </a:rPr>
              <a:t>have</a:t>
            </a:r>
            <a:r>
              <a:rPr lang="en-US" sz="900" spc="25" noProof="1">
                <a:latin typeface="Arial"/>
                <a:cs typeface="Arial"/>
              </a:rPr>
              <a:t> </a:t>
            </a:r>
            <a:r>
              <a:rPr lang="en-US" sz="900" noProof="1">
                <a:latin typeface="Arial"/>
                <a:cs typeface="Arial"/>
              </a:rPr>
              <a:t>a</a:t>
            </a:r>
            <a:r>
              <a:rPr lang="en-US" sz="900" spc="25" noProof="1">
                <a:latin typeface="Arial"/>
                <a:cs typeface="Arial"/>
              </a:rPr>
              <a:t> </a:t>
            </a:r>
            <a:r>
              <a:rPr lang="en-US" sz="900" noProof="1">
                <a:latin typeface="Arial"/>
                <a:cs typeface="Arial"/>
              </a:rPr>
              <a:t>lot</a:t>
            </a:r>
            <a:r>
              <a:rPr lang="en-US" sz="900" spc="30" noProof="1">
                <a:latin typeface="Arial"/>
                <a:cs typeface="Arial"/>
              </a:rPr>
              <a:t> </a:t>
            </a:r>
            <a:r>
              <a:rPr lang="en-US" sz="900" noProof="1">
                <a:latin typeface="Arial"/>
                <a:cs typeface="Arial"/>
              </a:rPr>
              <a:t>of</a:t>
            </a:r>
            <a:r>
              <a:rPr lang="en-US" sz="900" spc="25" noProof="1">
                <a:latin typeface="Arial"/>
                <a:cs typeface="Arial"/>
              </a:rPr>
              <a:t> </a:t>
            </a:r>
            <a:r>
              <a:rPr lang="en-US" sz="900" spc="-40" noProof="1">
                <a:latin typeface="Arial"/>
                <a:cs typeface="Arial"/>
              </a:rPr>
              <a:t>unused</a:t>
            </a:r>
            <a:r>
              <a:rPr lang="en-US" sz="900" spc="30" noProof="1">
                <a:latin typeface="Arial"/>
                <a:cs typeface="Arial"/>
              </a:rPr>
              <a:t> </a:t>
            </a:r>
            <a:r>
              <a:rPr lang="en-US" sz="900" spc="-50" noProof="1">
                <a:latin typeface="Arial"/>
                <a:cs typeface="Arial"/>
              </a:rPr>
              <a:t>resources</a:t>
            </a:r>
            <a:r>
              <a:rPr lang="en-US" sz="900" spc="25" noProof="1">
                <a:latin typeface="Arial"/>
                <a:cs typeface="Arial"/>
              </a:rPr>
              <a:t> </a:t>
            </a:r>
            <a:r>
              <a:rPr lang="en-US" sz="900" spc="-10" noProof="1">
                <a:latin typeface="Arial"/>
                <a:cs typeface="Arial"/>
              </a:rPr>
              <a:t>and</a:t>
            </a:r>
            <a:r>
              <a:rPr lang="en-US" sz="900" spc="25" noProof="1">
                <a:latin typeface="Arial"/>
                <a:cs typeface="Arial"/>
              </a:rPr>
              <a:t> </a:t>
            </a:r>
            <a:r>
              <a:rPr lang="en-US" sz="900" spc="-30" noProof="1">
                <a:latin typeface="Arial"/>
                <a:cs typeface="Arial"/>
              </a:rPr>
              <a:t>waste</a:t>
            </a:r>
            <a:r>
              <a:rPr lang="en-US" sz="900" spc="30" noProof="1">
                <a:latin typeface="Arial"/>
                <a:cs typeface="Arial"/>
              </a:rPr>
              <a:t> </a:t>
            </a:r>
            <a:r>
              <a:rPr lang="en-US" sz="900" spc="-10" noProof="1">
                <a:latin typeface="Arial"/>
                <a:cs typeface="Arial"/>
              </a:rPr>
              <a:t>money.</a:t>
            </a:r>
            <a:endParaRPr lang="en-US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420"/>
              </a:spcBef>
            </a:pPr>
            <a:endParaRPr lang="en-US" sz="900" noProof="1">
              <a:latin typeface="Arial"/>
              <a:cs typeface="Arial"/>
            </a:endParaRPr>
          </a:p>
          <a:p>
            <a:pPr marL="40005" algn="ctr">
              <a:lnSpc>
                <a:spcPct val="100000"/>
              </a:lnSpc>
            </a:pP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What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5" noProof="1">
                <a:solidFill>
                  <a:srgbClr val="EB811B"/>
                </a:solidFill>
                <a:latin typeface="Arial"/>
                <a:cs typeface="Arial"/>
              </a:rPr>
              <a:t>happens</a:t>
            </a:r>
            <a:r>
              <a:rPr lang="en-US" sz="9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if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EB811B"/>
                </a:solidFill>
                <a:latin typeface="Arial"/>
                <a:cs typeface="Arial"/>
              </a:rPr>
              <a:t>you</a:t>
            </a:r>
            <a:r>
              <a:rPr lang="en-US" sz="9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EB811B"/>
                </a:solidFill>
                <a:latin typeface="Arial"/>
                <a:cs typeface="Arial"/>
              </a:rPr>
              <a:t>need</a:t>
            </a:r>
            <a:r>
              <a:rPr lang="en-US" sz="9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to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EB811B"/>
                </a:solidFill>
                <a:latin typeface="Arial"/>
                <a:cs typeface="Arial"/>
              </a:rPr>
              <a:t>change</a:t>
            </a:r>
            <a:r>
              <a:rPr lang="en-US" sz="9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or</a:t>
            </a:r>
            <a:r>
              <a:rPr lang="en-US" sz="9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EB811B"/>
                </a:solidFill>
                <a:latin typeface="Arial"/>
                <a:cs typeface="Arial"/>
              </a:rPr>
              <a:t>upgrade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the</a:t>
            </a:r>
            <a:r>
              <a:rPr lang="en-US" sz="9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hardware?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7" name="object 7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8" name="object 8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3234963"/>
              <a:ext cx="1176020" cy="5080"/>
            </a:xfrm>
            <a:custGeom>
              <a:avLst/>
              <a:gdLst/>
              <a:ahLst/>
              <a:cxnLst/>
              <a:rect l="l" t="t" r="r" b="b"/>
              <a:pathLst>
                <a:path w="1176020" h="5080">
                  <a:moveTo>
                    <a:pt x="0" y="5060"/>
                  </a:moveTo>
                  <a:lnTo>
                    <a:pt x="0" y="0"/>
                  </a:lnTo>
                  <a:lnTo>
                    <a:pt x="1175552" y="0"/>
                  </a:lnTo>
                  <a:lnTo>
                    <a:pt x="1175552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1859914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10" noProof="1"/>
              <a:t>Live</a:t>
            </a:r>
            <a:r>
              <a:rPr lang="en-US" noProof="1"/>
              <a:t> in</a:t>
            </a:r>
            <a:r>
              <a:rPr lang="en-US" spc="5" noProof="1"/>
              <a:t> </a:t>
            </a:r>
            <a:r>
              <a:rPr lang="en-US" noProof="1"/>
              <a:t>a</a:t>
            </a:r>
            <a:r>
              <a:rPr lang="en-US" spc="5" noProof="1"/>
              <a:t> </a:t>
            </a:r>
            <a:r>
              <a:rPr lang="en-US" noProof="1"/>
              <a:t>hotel</a:t>
            </a:r>
            <a:r>
              <a:rPr lang="en-US" spc="5" noProof="1"/>
              <a:t> </a:t>
            </a:r>
            <a:r>
              <a:rPr lang="en-US" spc="-20" noProof="1"/>
              <a:t>vs.</a:t>
            </a:r>
            <a:r>
              <a:rPr lang="en-US" spc="5" noProof="1"/>
              <a:t> </a:t>
            </a:r>
            <a:r>
              <a:rPr lang="en-US" noProof="1"/>
              <a:t>Own</a:t>
            </a:r>
            <a:r>
              <a:rPr lang="en-US" spc="5" noProof="1"/>
              <a:t> </a:t>
            </a:r>
            <a:r>
              <a:rPr lang="en-US" noProof="1"/>
              <a:t>a</a:t>
            </a:r>
            <a:r>
              <a:rPr lang="en-US" spc="5" noProof="1"/>
              <a:t> </a:t>
            </a:r>
            <a:r>
              <a:rPr lang="en-US" spc="-45" noProof="1"/>
              <a:t>house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863993" y="1947256"/>
            <a:ext cx="4032250" cy="514984"/>
            <a:chOff x="863993" y="1947256"/>
            <a:chExt cx="4032250" cy="514984"/>
          </a:xfrm>
        </p:grpSpPr>
        <p:sp>
          <p:nvSpPr>
            <p:cNvPr id="4" name="object 4"/>
            <p:cNvSpPr/>
            <p:nvPr/>
          </p:nvSpPr>
          <p:spPr>
            <a:xfrm>
              <a:off x="863993" y="1947256"/>
              <a:ext cx="4032250" cy="514984"/>
            </a:xfrm>
            <a:custGeom>
              <a:avLst/>
              <a:gdLst/>
              <a:ahLst/>
              <a:cxnLst/>
              <a:rect l="l" t="t" r="r" b="b"/>
              <a:pathLst>
                <a:path w="4032250" h="514985">
                  <a:moveTo>
                    <a:pt x="3978067" y="0"/>
                  </a:moveTo>
                  <a:lnTo>
                    <a:pt x="54000" y="0"/>
                  </a:lnTo>
                  <a:lnTo>
                    <a:pt x="32980" y="4243"/>
                  </a:lnTo>
                  <a:lnTo>
                    <a:pt x="15816" y="15816"/>
                  </a:lnTo>
                  <a:lnTo>
                    <a:pt x="4243" y="32980"/>
                  </a:lnTo>
                  <a:lnTo>
                    <a:pt x="0" y="54000"/>
                  </a:lnTo>
                  <a:lnTo>
                    <a:pt x="0" y="460955"/>
                  </a:lnTo>
                  <a:lnTo>
                    <a:pt x="4243" y="481975"/>
                  </a:lnTo>
                  <a:lnTo>
                    <a:pt x="15816" y="499139"/>
                  </a:lnTo>
                  <a:lnTo>
                    <a:pt x="32980" y="510712"/>
                  </a:lnTo>
                  <a:lnTo>
                    <a:pt x="54000" y="514955"/>
                  </a:lnTo>
                  <a:lnTo>
                    <a:pt x="3978067" y="514955"/>
                  </a:lnTo>
                  <a:lnTo>
                    <a:pt x="3999086" y="510712"/>
                  </a:lnTo>
                  <a:lnTo>
                    <a:pt x="4016251" y="499139"/>
                  </a:lnTo>
                  <a:lnTo>
                    <a:pt x="4027823" y="481975"/>
                  </a:lnTo>
                  <a:lnTo>
                    <a:pt x="4032067" y="460955"/>
                  </a:lnTo>
                  <a:lnTo>
                    <a:pt x="4032067" y="54000"/>
                  </a:lnTo>
                  <a:lnTo>
                    <a:pt x="4027823" y="32980"/>
                  </a:lnTo>
                  <a:lnTo>
                    <a:pt x="4016251" y="15816"/>
                  </a:lnTo>
                  <a:lnTo>
                    <a:pt x="3999086" y="4243"/>
                  </a:lnTo>
                  <a:lnTo>
                    <a:pt x="3978067" y="0"/>
                  </a:lnTo>
                  <a:close/>
                </a:path>
              </a:pathLst>
            </a:custGeom>
            <a:solidFill>
              <a:srgbClr val="880C58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881993" y="1965256"/>
              <a:ext cx="3996690" cy="479425"/>
            </a:xfrm>
            <a:custGeom>
              <a:avLst/>
              <a:gdLst/>
              <a:ahLst/>
              <a:cxnLst/>
              <a:rect l="l" t="t" r="r" b="b"/>
              <a:pathLst>
                <a:path w="3996690" h="479425">
                  <a:moveTo>
                    <a:pt x="3960067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442955"/>
                  </a:lnTo>
                  <a:lnTo>
                    <a:pt x="2829" y="456968"/>
                  </a:lnTo>
                  <a:lnTo>
                    <a:pt x="10544" y="468411"/>
                  </a:lnTo>
                  <a:lnTo>
                    <a:pt x="21987" y="476127"/>
                  </a:lnTo>
                  <a:lnTo>
                    <a:pt x="36000" y="478956"/>
                  </a:lnTo>
                  <a:lnTo>
                    <a:pt x="3960067" y="478956"/>
                  </a:lnTo>
                  <a:lnTo>
                    <a:pt x="3974080" y="476127"/>
                  </a:lnTo>
                  <a:lnTo>
                    <a:pt x="3985523" y="468411"/>
                  </a:lnTo>
                  <a:lnTo>
                    <a:pt x="3993238" y="456968"/>
                  </a:lnTo>
                  <a:lnTo>
                    <a:pt x="3996067" y="442955"/>
                  </a:lnTo>
                  <a:lnTo>
                    <a:pt x="3996067" y="36000"/>
                  </a:lnTo>
                  <a:lnTo>
                    <a:pt x="3993238" y="21987"/>
                  </a:lnTo>
                  <a:lnTo>
                    <a:pt x="3985523" y="10544"/>
                  </a:lnTo>
                  <a:lnTo>
                    <a:pt x="3974080" y="2829"/>
                  </a:lnTo>
                  <a:lnTo>
                    <a:pt x="3960067" y="0"/>
                  </a:lnTo>
                  <a:close/>
                </a:path>
              </a:pathLst>
            </a:custGeom>
            <a:solidFill>
              <a:srgbClr val="EAEAEA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6" name="object 6"/>
          <p:cNvSpPr txBox="1"/>
          <p:nvPr/>
        </p:nvSpPr>
        <p:spPr>
          <a:xfrm>
            <a:off x="427126" y="908273"/>
            <a:ext cx="4935855" cy="144018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R="21590" algn="ctr">
              <a:lnSpc>
                <a:spcPct val="100000"/>
              </a:lnSpc>
              <a:spcBef>
                <a:spcPts val="95"/>
              </a:spcBef>
            </a:pP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What</a:t>
            </a:r>
            <a:r>
              <a:rPr lang="en-US" sz="900" b="1" spc="2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EB811B"/>
                </a:solidFill>
                <a:latin typeface="Arial"/>
                <a:cs typeface="Arial"/>
              </a:rPr>
              <a:t>is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the</a:t>
            </a:r>
            <a:r>
              <a:rPr lang="en-US" sz="900" b="1" spc="2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EB811B"/>
                </a:solidFill>
                <a:latin typeface="Arial"/>
                <a:cs typeface="Arial"/>
              </a:rPr>
              <a:t>difference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EB811B"/>
                </a:solidFill>
                <a:latin typeface="Arial"/>
                <a:cs typeface="Arial"/>
              </a:rPr>
              <a:t>between</a:t>
            </a:r>
            <a:r>
              <a:rPr lang="en-US" sz="900" b="1" spc="2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EB811B"/>
                </a:solidFill>
                <a:latin typeface="Arial"/>
                <a:cs typeface="Arial"/>
              </a:rPr>
              <a:t>living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in</a:t>
            </a:r>
            <a:r>
              <a:rPr lang="en-US" sz="900" b="1" spc="2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a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hotel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and</a:t>
            </a:r>
            <a:r>
              <a:rPr lang="en-US" sz="900" b="1" spc="2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EB811B"/>
                </a:solidFill>
                <a:latin typeface="Arial"/>
                <a:cs typeface="Arial"/>
              </a:rPr>
              <a:t>owning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a</a:t>
            </a:r>
            <a:r>
              <a:rPr lang="en-US" sz="900" b="1" spc="2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house?</a:t>
            </a:r>
            <a:endParaRPr lang="en-US" sz="900" noProof="1">
              <a:latin typeface="Arial"/>
              <a:cs typeface="Arial"/>
            </a:endParaRPr>
          </a:p>
          <a:p>
            <a:pPr marL="160020" marR="5080" indent="-147955">
              <a:lnSpc>
                <a:spcPct val="116199"/>
              </a:lnSpc>
              <a:spcBef>
                <a:spcPts val="625"/>
              </a:spcBef>
              <a:buFont typeface="Arial"/>
              <a:buChar char="•"/>
              <a:tabLst>
                <a:tab pos="160020" algn="l"/>
              </a:tabLst>
            </a:pP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hotel,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spc="-25" noProof="1">
                <a:solidFill>
                  <a:srgbClr val="22373A"/>
                </a:solidFill>
                <a:latin typeface="Arial"/>
                <a:cs typeface="Arial"/>
              </a:rPr>
              <a:t>pay</a:t>
            </a:r>
            <a:r>
              <a:rPr lang="en-US" sz="900" b="1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b="1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noProof="1">
                <a:solidFill>
                  <a:srgbClr val="22373A"/>
                </a:solidFill>
                <a:latin typeface="Arial"/>
                <a:cs typeface="Arial"/>
              </a:rPr>
              <a:t>what</a:t>
            </a:r>
            <a:r>
              <a:rPr lang="en-US" sz="900" b="1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spc="-35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b="1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spc="-35" noProof="1">
                <a:solidFill>
                  <a:srgbClr val="22373A"/>
                </a:solidFill>
                <a:latin typeface="Arial"/>
                <a:cs typeface="Arial"/>
              </a:rPr>
              <a:t>use</a:t>
            </a:r>
            <a:r>
              <a:rPr lang="en-US" sz="900" i="1" spc="-35" noProof="1">
                <a:solidFill>
                  <a:srgbClr val="22373A"/>
                </a:solidFill>
                <a:latin typeface="Arial"/>
                <a:cs typeface="Arial"/>
              </a:rPr>
              <a:t>,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 and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do not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50" noProof="1">
                <a:solidFill>
                  <a:srgbClr val="22373A"/>
                </a:solidFill>
                <a:latin typeface="Arial"/>
                <a:cs typeface="Arial"/>
              </a:rPr>
              <a:t>need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 to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spc="-35" noProof="1">
                <a:solidFill>
                  <a:srgbClr val="22373A"/>
                </a:solidFill>
                <a:latin typeface="Arial"/>
                <a:cs typeface="Arial"/>
              </a:rPr>
              <a:t>worry</a:t>
            </a:r>
            <a:r>
              <a:rPr lang="en-US" sz="900" b="1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noProof="1">
                <a:solidFill>
                  <a:srgbClr val="22373A"/>
                </a:solidFill>
                <a:latin typeface="Arial"/>
                <a:cs typeface="Arial"/>
              </a:rPr>
              <a:t>about</a:t>
            </a:r>
            <a:r>
              <a:rPr lang="en-US" sz="900" b="1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b="1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spc="-30" noProof="1">
                <a:solidFill>
                  <a:srgbClr val="22373A"/>
                </a:solidFill>
                <a:latin typeface="Arial"/>
                <a:cs typeface="Arial"/>
              </a:rPr>
              <a:t>maintenance</a:t>
            </a:r>
            <a:r>
              <a:rPr lang="en-US" sz="900" b="1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of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building.</a:t>
            </a:r>
            <a:endParaRPr lang="en-US" sz="900" noProof="1">
              <a:latin typeface="Arial"/>
              <a:cs typeface="Arial"/>
            </a:endParaRPr>
          </a:p>
          <a:p>
            <a:pPr marL="160020" indent="-147320">
              <a:lnSpc>
                <a:spcPct val="100000"/>
              </a:lnSpc>
              <a:spcBef>
                <a:spcPts val="175"/>
              </a:spcBef>
              <a:buFont typeface="Arial"/>
              <a:buChar char="•"/>
              <a:tabLst>
                <a:tab pos="160020" algn="l"/>
              </a:tabLst>
            </a:pP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35" noProof="1">
                <a:solidFill>
                  <a:srgbClr val="22373A"/>
                </a:solidFill>
                <a:latin typeface="Arial"/>
                <a:cs typeface="Arial"/>
              </a:rPr>
              <a:t>house,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spc="-35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b="1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spc="-2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b="1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b="1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spc="-25" noProof="1">
                <a:solidFill>
                  <a:srgbClr val="22373A"/>
                </a:solidFill>
                <a:latin typeface="Arial"/>
                <a:cs typeface="Arial"/>
              </a:rPr>
              <a:t>buy</a:t>
            </a:r>
            <a:r>
              <a:rPr lang="en-US" sz="900" b="1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b="1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spc="-40" noProof="1">
                <a:solidFill>
                  <a:srgbClr val="22373A"/>
                </a:solidFill>
                <a:latin typeface="Arial"/>
                <a:cs typeface="Arial"/>
              </a:rPr>
              <a:t>house</a:t>
            </a:r>
            <a:r>
              <a:rPr lang="en-US" sz="900" i="1" spc="-40" noProof="1">
                <a:solidFill>
                  <a:srgbClr val="22373A"/>
                </a:solidFill>
                <a:latin typeface="Arial"/>
                <a:cs typeface="Arial"/>
              </a:rPr>
              <a:t>,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then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spc="-35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b="1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spc="-2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b="1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b="1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spc="-10" noProof="1">
                <a:solidFill>
                  <a:srgbClr val="22373A"/>
                </a:solidFill>
                <a:latin typeface="Arial"/>
                <a:cs typeface="Arial"/>
              </a:rPr>
              <a:t>maintain</a:t>
            </a:r>
            <a:r>
              <a:rPr lang="en-US" sz="900" b="1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spc="-25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  <a:p>
            <a:pPr marR="21590" algn="ctr">
              <a:lnSpc>
                <a:spcPct val="100000"/>
              </a:lnSpc>
              <a:spcBef>
                <a:spcPts val="805"/>
              </a:spcBef>
            </a:pP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What</a:t>
            </a:r>
            <a:r>
              <a:rPr lang="en-US" sz="900" b="1" spc="2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EB811B"/>
                </a:solidFill>
                <a:latin typeface="Arial"/>
                <a:cs typeface="Arial"/>
              </a:rPr>
              <a:t>is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the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EB811B"/>
                </a:solidFill>
                <a:latin typeface="Arial"/>
                <a:cs typeface="Arial"/>
              </a:rPr>
              <a:t>difference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EB811B"/>
                </a:solidFill>
                <a:latin typeface="Arial"/>
                <a:cs typeface="Arial"/>
              </a:rPr>
              <a:t>between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EB811B"/>
                </a:solidFill>
                <a:latin typeface="Arial"/>
                <a:cs typeface="Arial"/>
              </a:rPr>
              <a:t>cloud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and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traditional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computing?</a:t>
            </a:r>
            <a:endParaRPr lang="en-US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245"/>
              </a:spcBef>
            </a:pPr>
            <a:endParaRPr lang="en-US" sz="900" noProof="1">
              <a:latin typeface="Arial"/>
              <a:cs typeface="Arial"/>
            </a:endParaRPr>
          </a:p>
          <a:p>
            <a:pPr marL="931544" marR="953135" indent="-635" algn="ctr">
              <a:lnSpc>
                <a:spcPct val="116199"/>
              </a:lnSpc>
            </a:pPr>
            <a:r>
              <a:rPr lang="en-US" sz="900" b="1" noProof="1">
                <a:latin typeface="Arial"/>
                <a:cs typeface="Arial"/>
              </a:rPr>
              <a:t>In</a:t>
            </a:r>
            <a:r>
              <a:rPr lang="en-US" sz="900" b="1" spc="-5" noProof="1">
                <a:latin typeface="Arial"/>
                <a:cs typeface="Arial"/>
              </a:rPr>
              <a:t> </a:t>
            </a:r>
            <a:r>
              <a:rPr lang="en-US" sz="900" b="1" spc="-35" noProof="1">
                <a:latin typeface="Arial"/>
                <a:cs typeface="Arial"/>
              </a:rPr>
              <a:t>cloud</a:t>
            </a:r>
            <a:r>
              <a:rPr lang="en-US" sz="900" b="1" spc="-5" noProof="1">
                <a:latin typeface="Arial"/>
                <a:cs typeface="Arial"/>
              </a:rPr>
              <a:t> </a:t>
            </a:r>
            <a:r>
              <a:rPr lang="en-US" sz="900" b="1" spc="-25" noProof="1">
                <a:latin typeface="Arial"/>
                <a:cs typeface="Arial"/>
              </a:rPr>
              <a:t>computing,</a:t>
            </a:r>
            <a:r>
              <a:rPr lang="en-US" sz="900" b="1" spc="-5" noProof="1">
                <a:latin typeface="Arial"/>
                <a:cs typeface="Arial"/>
              </a:rPr>
              <a:t> </a:t>
            </a:r>
            <a:r>
              <a:rPr lang="en-US" sz="900" b="1" spc="-50" noProof="1">
                <a:latin typeface="Arial"/>
                <a:cs typeface="Arial"/>
              </a:rPr>
              <a:t>you</a:t>
            </a:r>
            <a:r>
              <a:rPr lang="en-US" sz="900" b="1" spc="-5" noProof="1">
                <a:latin typeface="Arial"/>
                <a:cs typeface="Arial"/>
              </a:rPr>
              <a:t> </a:t>
            </a:r>
            <a:r>
              <a:rPr lang="en-US" sz="900" b="1" spc="-40" noProof="1">
                <a:latin typeface="Arial"/>
                <a:cs typeface="Arial"/>
              </a:rPr>
              <a:t>pay</a:t>
            </a:r>
            <a:r>
              <a:rPr lang="en-US" sz="900" b="1" spc="-5" noProof="1">
                <a:latin typeface="Arial"/>
                <a:cs typeface="Arial"/>
              </a:rPr>
              <a:t> </a:t>
            </a:r>
            <a:r>
              <a:rPr lang="en-US" sz="900" b="1" spc="-10" noProof="1">
                <a:latin typeface="Arial"/>
                <a:cs typeface="Arial"/>
              </a:rPr>
              <a:t>for</a:t>
            </a:r>
            <a:r>
              <a:rPr lang="en-US" sz="900" b="1" spc="-5" noProof="1">
                <a:latin typeface="Arial"/>
                <a:cs typeface="Arial"/>
              </a:rPr>
              <a:t> </a:t>
            </a:r>
            <a:r>
              <a:rPr lang="en-US" sz="900" b="1" noProof="1">
                <a:latin typeface="Arial"/>
                <a:cs typeface="Arial"/>
              </a:rPr>
              <a:t>what</a:t>
            </a:r>
            <a:r>
              <a:rPr lang="en-US" sz="900" b="1" spc="-5" noProof="1">
                <a:latin typeface="Arial"/>
                <a:cs typeface="Arial"/>
              </a:rPr>
              <a:t> </a:t>
            </a:r>
            <a:r>
              <a:rPr lang="en-US" sz="900" b="1" spc="-50" noProof="1">
                <a:latin typeface="Arial"/>
                <a:cs typeface="Arial"/>
              </a:rPr>
              <a:t>you</a:t>
            </a:r>
            <a:r>
              <a:rPr lang="en-US" sz="900" b="1" noProof="1">
                <a:latin typeface="Arial"/>
                <a:cs typeface="Arial"/>
              </a:rPr>
              <a:t> </a:t>
            </a:r>
            <a:r>
              <a:rPr lang="en-US" sz="900" b="1" spc="-40" noProof="1">
                <a:latin typeface="Arial"/>
                <a:cs typeface="Arial"/>
              </a:rPr>
              <a:t>use,</a:t>
            </a:r>
            <a:r>
              <a:rPr lang="en-US" sz="900" b="1" spc="-5" noProof="1">
                <a:latin typeface="Arial"/>
                <a:cs typeface="Arial"/>
              </a:rPr>
              <a:t> </a:t>
            </a:r>
            <a:r>
              <a:rPr lang="en-US" sz="900" b="1" spc="-20" noProof="1">
                <a:latin typeface="Arial"/>
                <a:cs typeface="Arial"/>
              </a:rPr>
              <a:t>and</a:t>
            </a:r>
            <a:r>
              <a:rPr lang="en-US" sz="900" b="1" spc="-5" noProof="1">
                <a:latin typeface="Arial"/>
                <a:cs typeface="Arial"/>
              </a:rPr>
              <a:t> </a:t>
            </a:r>
            <a:r>
              <a:rPr lang="en-US" sz="900" b="1" spc="-50" noProof="1">
                <a:latin typeface="Arial"/>
                <a:cs typeface="Arial"/>
              </a:rPr>
              <a:t>you</a:t>
            </a:r>
            <a:r>
              <a:rPr lang="en-US" sz="900" b="1" spc="-5" noProof="1">
                <a:latin typeface="Arial"/>
                <a:cs typeface="Arial"/>
              </a:rPr>
              <a:t> </a:t>
            </a:r>
            <a:r>
              <a:rPr lang="en-US" sz="900" b="1" spc="-25" noProof="1">
                <a:latin typeface="Arial"/>
                <a:cs typeface="Arial"/>
              </a:rPr>
              <a:t>do </a:t>
            </a:r>
            <a:r>
              <a:rPr lang="en-US" sz="900" b="1" noProof="1">
                <a:latin typeface="Arial"/>
                <a:cs typeface="Arial"/>
              </a:rPr>
              <a:t>not</a:t>
            </a:r>
            <a:r>
              <a:rPr lang="en-US" sz="900" b="1" spc="5" noProof="1">
                <a:latin typeface="Arial"/>
                <a:cs typeface="Arial"/>
              </a:rPr>
              <a:t> </a:t>
            </a:r>
            <a:r>
              <a:rPr lang="en-US" sz="900" b="1" spc="-30" noProof="1">
                <a:latin typeface="Arial"/>
                <a:cs typeface="Arial"/>
              </a:rPr>
              <a:t>need</a:t>
            </a:r>
            <a:r>
              <a:rPr lang="en-US" sz="900" b="1" spc="5" noProof="1">
                <a:latin typeface="Arial"/>
                <a:cs typeface="Arial"/>
              </a:rPr>
              <a:t> </a:t>
            </a:r>
            <a:r>
              <a:rPr lang="en-US" sz="900" b="1" noProof="1">
                <a:latin typeface="Arial"/>
                <a:cs typeface="Arial"/>
              </a:rPr>
              <a:t>to</a:t>
            </a:r>
            <a:r>
              <a:rPr lang="en-US" sz="900" b="1" spc="5" noProof="1">
                <a:latin typeface="Arial"/>
                <a:cs typeface="Arial"/>
              </a:rPr>
              <a:t> </a:t>
            </a:r>
            <a:r>
              <a:rPr lang="en-US" sz="900" b="1" spc="-45" noProof="1">
                <a:latin typeface="Arial"/>
                <a:cs typeface="Arial"/>
              </a:rPr>
              <a:t>worry</a:t>
            </a:r>
            <a:r>
              <a:rPr lang="en-US" sz="900" b="1" spc="5" noProof="1">
                <a:latin typeface="Arial"/>
                <a:cs typeface="Arial"/>
              </a:rPr>
              <a:t> </a:t>
            </a:r>
            <a:r>
              <a:rPr lang="en-US" sz="900" b="1" noProof="1">
                <a:latin typeface="Arial"/>
                <a:cs typeface="Arial"/>
              </a:rPr>
              <a:t>about</a:t>
            </a:r>
            <a:r>
              <a:rPr lang="en-US" sz="900" b="1" spc="5" noProof="1">
                <a:latin typeface="Arial"/>
                <a:cs typeface="Arial"/>
              </a:rPr>
              <a:t> </a:t>
            </a:r>
            <a:r>
              <a:rPr lang="en-US" sz="900" b="1" noProof="1">
                <a:latin typeface="Arial"/>
                <a:cs typeface="Arial"/>
              </a:rPr>
              <a:t>the</a:t>
            </a:r>
            <a:r>
              <a:rPr lang="en-US" sz="900" b="1" spc="10" noProof="1">
                <a:latin typeface="Arial"/>
                <a:cs typeface="Arial"/>
              </a:rPr>
              <a:t> </a:t>
            </a:r>
            <a:r>
              <a:rPr lang="en-US" sz="900" b="1" spc="-30" noProof="1">
                <a:latin typeface="Arial"/>
                <a:cs typeface="Arial"/>
              </a:rPr>
              <a:t>maintenance</a:t>
            </a:r>
            <a:r>
              <a:rPr lang="en-US" sz="900" b="1" spc="5" noProof="1">
                <a:latin typeface="Arial"/>
                <a:cs typeface="Arial"/>
              </a:rPr>
              <a:t> </a:t>
            </a:r>
            <a:r>
              <a:rPr lang="en-US" sz="900" b="1" noProof="1">
                <a:latin typeface="Arial"/>
                <a:cs typeface="Arial"/>
              </a:rPr>
              <a:t>of</a:t>
            </a:r>
            <a:r>
              <a:rPr lang="en-US" sz="900" b="1" spc="5" noProof="1">
                <a:latin typeface="Arial"/>
                <a:cs typeface="Arial"/>
              </a:rPr>
              <a:t> </a:t>
            </a:r>
            <a:r>
              <a:rPr lang="en-US" sz="900" b="1" noProof="1">
                <a:latin typeface="Arial"/>
                <a:cs typeface="Arial"/>
              </a:rPr>
              <a:t>the</a:t>
            </a:r>
            <a:r>
              <a:rPr lang="en-US" sz="900" b="1" spc="5" noProof="1">
                <a:latin typeface="Arial"/>
                <a:cs typeface="Arial"/>
              </a:rPr>
              <a:t> </a:t>
            </a:r>
            <a:r>
              <a:rPr lang="en-US" sz="900" b="1" spc="-35" noProof="1">
                <a:latin typeface="Arial"/>
                <a:cs typeface="Arial"/>
              </a:rPr>
              <a:t>hardware.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7" name="object 7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8" name="object 8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3234963"/>
              <a:ext cx="1293495" cy="5080"/>
            </a:xfrm>
            <a:custGeom>
              <a:avLst/>
              <a:gdLst/>
              <a:ahLst/>
              <a:cxnLst/>
              <a:rect l="l" t="t" r="r" b="b"/>
              <a:pathLst>
                <a:path w="1293495" h="5080">
                  <a:moveTo>
                    <a:pt x="0" y="5060"/>
                  </a:moveTo>
                  <a:lnTo>
                    <a:pt x="0" y="0"/>
                  </a:lnTo>
                  <a:lnTo>
                    <a:pt x="1293063" y="0"/>
                  </a:lnTo>
                  <a:lnTo>
                    <a:pt x="129306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236537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5" noProof="1"/>
              <a:t>Case</a:t>
            </a:r>
            <a:r>
              <a:rPr lang="en-US" spc="5" noProof="1"/>
              <a:t> </a:t>
            </a:r>
            <a:r>
              <a:rPr lang="en-US" spc="-10" noProof="1"/>
              <a:t>Study:</a:t>
            </a:r>
            <a:r>
              <a:rPr lang="en-US" spc="105" noProof="1"/>
              <a:t> </a:t>
            </a:r>
            <a:r>
              <a:rPr lang="en-US" spc="-35" noProof="1"/>
              <a:t>Serving</a:t>
            </a:r>
            <a:r>
              <a:rPr lang="en-US" spc="10" noProof="1"/>
              <a:t> </a:t>
            </a:r>
            <a:r>
              <a:rPr lang="en-US" noProof="1"/>
              <a:t>a</a:t>
            </a:r>
            <a:r>
              <a:rPr lang="en-US" spc="10" noProof="1"/>
              <a:t> </a:t>
            </a:r>
            <a:r>
              <a:rPr lang="en-US" spc="-35" noProof="1"/>
              <a:t>Personal</a:t>
            </a:r>
            <a:r>
              <a:rPr lang="en-US" spc="5" noProof="1"/>
              <a:t> </a:t>
            </a:r>
            <a:r>
              <a:rPr lang="en-US" spc="-10" noProof="1"/>
              <a:t>Website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3319" y="1089972"/>
            <a:ext cx="5063490" cy="119824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9525" algn="ctr">
              <a:lnSpc>
                <a:spcPct val="100000"/>
              </a:lnSpc>
              <a:spcBef>
                <a:spcPts val="95"/>
              </a:spcBef>
            </a:pP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Which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are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the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EB811B"/>
                </a:solidFill>
                <a:latin typeface="Arial"/>
                <a:cs typeface="Arial"/>
              </a:rPr>
              <a:t>steps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to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EB811B"/>
                </a:solidFill>
                <a:latin typeface="Arial"/>
                <a:cs typeface="Arial"/>
              </a:rPr>
              <a:t>serve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a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EB811B"/>
                </a:solidFill>
                <a:latin typeface="Arial"/>
                <a:cs typeface="Arial"/>
              </a:rPr>
              <a:t>personal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EB811B"/>
                </a:solidFill>
                <a:latin typeface="Arial"/>
                <a:cs typeface="Arial"/>
              </a:rPr>
              <a:t>website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in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traditional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computing?</a:t>
            </a:r>
            <a:endParaRPr lang="en-US" sz="900" noProof="1">
              <a:latin typeface="Arial"/>
              <a:cs typeface="Arial"/>
            </a:endParaRPr>
          </a:p>
          <a:p>
            <a:pPr marL="16510" marR="5080" indent="-4445">
              <a:lnSpc>
                <a:spcPct val="116199"/>
              </a:lnSpc>
              <a:spcBef>
                <a:spcPts val="625"/>
              </a:spcBef>
            </a:pPr>
            <a:r>
              <a:rPr lang="en-US" sz="900" i="1" spc="-2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3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 to buy a </a:t>
            </a:r>
            <a:r>
              <a:rPr lang="en-US" sz="900" i="1" spc="-30" noProof="1">
                <a:solidFill>
                  <a:srgbClr val="22373A"/>
                </a:solidFill>
                <a:latin typeface="Arial"/>
                <a:cs typeface="Arial"/>
              </a:rPr>
              <a:t>server,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 install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operating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30" noProof="1">
                <a:solidFill>
                  <a:srgbClr val="22373A"/>
                </a:solidFill>
                <a:latin typeface="Arial"/>
                <a:cs typeface="Arial"/>
              </a:rPr>
              <a:t>system,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 install the </a:t>
            </a:r>
            <a:r>
              <a:rPr lang="en-US" sz="900" i="1" spc="-30" noProof="1">
                <a:solidFill>
                  <a:srgbClr val="22373A"/>
                </a:solidFill>
                <a:latin typeface="Arial"/>
                <a:cs typeface="Arial"/>
              </a:rPr>
              <a:t>web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30" noProof="1">
                <a:solidFill>
                  <a:srgbClr val="22373A"/>
                </a:solidFill>
                <a:latin typeface="Arial"/>
                <a:cs typeface="Arial"/>
              </a:rPr>
              <a:t>server,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0" noProof="1">
                <a:solidFill>
                  <a:srgbClr val="22373A"/>
                </a:solidFill>
                <a:latin typeface="Arial"/>
                <a:cs typeface="Arial"/>
              </a:rPr>
              <a:t>configure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 the </a:t>
            </a:r>
            <a:r>
              <a:rPr lang="en-US" sz="900" i="1" spc="-30" noProof="1">
                <a:solidFill>
                  <a:srgbClr val="22373A"/>
                </a:solidFill>
                <a:latin typeface="Arial"/>
                <a:cs typeface="Arial"/>
              </a:rPr>
              <a:t>web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server,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then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upload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i="1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website.</a:t>
            </a:r>
            <a:endParaRPr lang="en-US" sz="900" noProof="1">
              <a:latin typeface="Arial"/>
              <a:cs typeface="Arial"/>
            </a:endParaRPr>
          </a:p>
          <a:p>
            <a:pPr marL="9525" algn="ctr">
              <a:lnSpc>
                <a:spcPct val="100000"/>
              </a:lnSpc>
              <a:spcBef>
                <a:spcPts val="805"/>
              </a:spcBef>
            </a:pP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What</a:t>
            </a:r>
            <a:r>
              <a:rPr lang="en-US" sz="9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EB811B"/>
                </a:solidFill>
                <a:latin typeface="Arial"/>
                <a:cs typeface="Arial"/>
              </a:rPr>
              <a:t>is</a:t>
            </a:r>
            <a:r>
              <a:rPr lang="en-US" sz="9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the</a:t>
            </a:r>
            <a:r>
              <a:rPr lang="en-US" sz="9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EB811B"/>
                </a:solidFill>
                <a:latin typeface="Arial"/>
                <a:cs typeface="Arial"/>
              </a:rPr>
              <a:t>advantatge</a:t>
            </a:r>
            <a:r>
              <a:rPr lang="en-US" sz="9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of</a:t>
            </a:r>
            <a:r>
              <a:rPr lang="en-US" sz="9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5" noProof="1">
                <a:solidFill>
                  <a:srgbClr val="EB811B"/>
                </a:solidFill>
                <a:latin typeface="Arial"/>
                <a:cs typeface="Arial"/>
              </a:rPr>
              <a:t>using</a:t>
            </a:r>
            <a:r>
              <a:rPr lang="en-US" sz="9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EB811B"/>
                </a:solidFill>
                <a:latin typeface="Arial"/>
                <a:cs typeface="Arial"/>
              </a:rPr>
              <a:t>cloud</a:t>
            </a:r>
            <a:r>
              <a:rPr lang="en-US" sz="9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computing?</a:t>
            </a:r>
            <a:endParaRPr lang="en-US" sz="900" noProof="1">
              <a:latin typeface="Arial"/>
              <a:cs typeface="Arial"/>
            </a:endParaRPr>
          </a:p>
          <a:p>
            <a:pPr marL="16510" marR="297815" indent="-4445">
              <a:lnSpc>
                <a:spcPct val="116199"/>
              </a:lnSpc>
              <a:spcBef>
                <a:spcPts val="625"/>
              </a:spcBef>
            </a:pP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i="1" spc="-35" noProof="1">
                <a:solidFill>
                  <a:srgbClr val="22373A"/>
                </a:solidFill>
                <a:latin typeface="Arial"/>
                <a:cs typeface="Arial"/>
              </a:rPr>
              <a:t>user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40" noProof="1">
                <a:solidFill>
                  <a:srgbClr val="22373A"/>
                </a:solidFill>
                <a:latin typeface="Arial"/>
                <a:cs typeface="Arial"/>
              </a:rPr>
              <a:t>does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not </a:t>
            </a:r>
            <a:r>
              <a:rPr lang="en-US" sz="900" i="1" spc="-50" noProof="1">
                <a:solidFill>
                  <a:srgbClr val="22373A"/>
                </a:solidFill>
                <a:latin typeface="Arial"/>
                <a:cs typeface="Arial"/>
              </a:rPr>
              <a:t>need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buy the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35" noProof="1">
                <a:solidFill>
                  <a:srgbClr val="22373A"/>
                </a:solidFill>
                <a:latin typeface="Arial"/>
                <a:cs typeface="Arial"/>
              </a:rPr>
              <a:t>server,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i="1" spc="-35" noProof="1">
                <a:solidFill>
                  <a:srgbClr val="22373A"/>
                </a:solidFill>
                <a:latin typeface="Arial"/>
                <a:cs typeface="Arial"/>
              </a:rPr>
              <a:t>user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rent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i="1" spc="-35" noProof="1">
                <a:solidFill>
                  <a:srgbClr val="22373A"/>
                </a:solidFill>
                <a:latin typeface="Arial"/>
                <a:cs typeface="Arial"/>
              </a:rPr>
              <a:t>server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i="1" spc="-30" noProof="1">
                <a:solidFill>
                  <a:srgbClr val="22373A"/>
                </a:solidFill>
                <a:latin typeface="Arial"/>
                <a:cs typeface="Arial"/>
              </a:rPr>
              <a:t>web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35" noProof="1">
                <a:solidFill>
                  <a:srgbClr val="22373A"/>
                </a:solidFill>
                <a:latin typeface="Arial"/>
                <a:cs typeface="Arial"/>
              </a:rPr>
              <a:t>server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(cloud </a:t>
            </a:r>
            <a:r>
              <a:rPr lang="en-US" sz="900" i="1" spc="-20" noProof="1">
                <a:solidFill>
                  <a:srgbClr val="22373A"/>
                </a:solidFill>
                <a:latin typeface="Arial"/>
                <a:cs typeface="Arial"/>
              </a:rPr>
              <a:t>provider</a:t>
            </a:r>
            <a:r>
              <a:rPr lang="en-US" sz="900" i="1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responsibility),</a:t>
            </a:r>
            <a:r>
              <a:rPr lang="en-US" sz="900" i="1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i="1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then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 upload</a:t>
            </a:r>
            <a:r>
              <a:rPr lang="en-US" sz="900" i="1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i="1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30" noProof="1">
                <a:solidFill>
                  <a:srgbClr val="22373A"/>
                </a:solidFill>
                <a:latin typeface="Arial"/>
                <a:cs typeface="Arial"/>
              </a:rPr>
              <a:t>website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 (user</a:t>
            </a:r>
            <a:r>
              <a:rPr lang="en-US" sz="900" i="1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responsibility).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1410970" cy="5080"/>
            </a:xfrm>
            <a:custGeom>
              <a:avLst/>
              <a:gdLst/>
              <a:ahLst/>
              <a:cxnLst/>
              <a:rect l="l" t="t" r="r" b="b"/>
              <a:pathLst>
                <a:path w="1410970" h="5080">
                  <a:moveTo>
                    <a:pt x="0" y="5060"/>
                  </a:moveTo>
                  <a:lnTo>
                    <a:pt x="0" y="0"/>
                  </a:lnTo>
                  <a:lnTo>
                    <a:pt x="1410662" y="0"/>
                  </a:lnTo>
                  <a:lnTo>
                    <a:pt x="1410662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318262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Which are the</a:t>
            </a:r>
            <a:r>
              <a:rPr lang="en-US" spc="5" noProof="1"/>
              <a:t> </a:t>
            </a:r>
            <a:r>
              <a:rPr lang="en-US" spc="-10" noProof="1"/>
              <a:t>main</a:t>
            </a:r>
            <a:r>
              <a:rPr lang="en-US" noProof="1"/>
              <a:t> </a:t>
            </a:r>
            <a:r>
              <a:rPr lang="en-US" spc="-35" noProof="1"/>
              <a:t>cloud</a:t>
            </a:r>
            <a:r>
              <a:rPr lang="en-US" noProof="1"/>
              <a:t> </a:t>
            </a:r>
            <a:r>
              <a:rPr lang="en-US" spc="-35" noProof="1"/>
              <a:t>computing</a:t>
            </a:r>
            <a:r>
              <a:rPr lang="en-US" spc="5" noProof="1"/>
              <a:t> </a:t>
            </a:r>
            <a:r>
              <a:rPr lang="en-US" spc="-55" noProof="1"/>
              <a:t>services</a:t>
            </a:r>
            <a:r>
              <a:rPr lang="en-US" noProof="1"/>
              <a:t> </a:t>
            </a:r>
            <a:r>
              <a:rPr lang="en-US" spc="-35" noProof="1"/>
              <a:t>models?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427126" y="578272"/>
            <a:ext cx="4949190" cy="1123962"/>
          </a:xfrm>
          <a:prstGeom prst="rect">
            <a:avLst/>
          </a:prstGeom>
        </p:spPr>
        <p:txBody>
          <a:bodyPr vert="horz" wrap="square" lIns="0" tIns="34925" rIns="0" bIns="0" rtlCol="0">
            <a:spAutoFit/>
          </a:bodyPr>
          <a:lstStyle/>
          <a:p>
            <a:pPr marL="160020" indent="-147320">
              <a:lnSpc>
                <a:spcPct val="100000"/>
              </a:lnSpc>
              <a:spcBef>
                <a:spcPts val="275"/>
              </a:spcBef>
              <a:buFont typeface="Arial"/>
              <a:buChar char="•"/>
              <a:tabLst>
                <a:tab pos="160020" algn="l"/>
              </a:tabLst>
            </a:pP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Infrastructure</a:t>
            </a:r>
            <a:r>
              <a:rPr lang="en-US" sz="900" b="1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lang="en-US" sz="900" b="1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b="1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Service</a:t>
            </a:r>
            <a:r>
              <a:rPr lang="en-US" sz="900" b="1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(IaaS)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Provides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virtualized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resources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over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internet.</a:t>
            </a:r>
            <a:endParaRPr lang="en-US" sz="900" noProof="1">
              <a:latin typeface="Arial"/>
              <a:cs typeface="Arial"/>
            </a:endParaRPr>
          </a:p>
          <a:p>
            <a:pPr marL="160020" marR="243840" indent="-147955">
              <a:lnSpc>
                <a:spcPct val="116199"/>
              </a:lnSpc>
              <a:buFont typeface="Arial"/>
              <a:buChar char="•"/>
              <a:tabLst>
                <a:tab pos="160020" algn="l"/>
              </a:tabLst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Platform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b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Service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(PaaS)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Provides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platform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allowing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customers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develop,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run,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manage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applications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without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complexity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building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maintaining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infrastructure.</a:t>
            </a:r>
            <a:endParaRPr lang="en-US" sz="900" noProof="1">
              <a:latin typeface="Arial"/>
              <a:cs typeface="Arial"/>
            </a:endParaRPr>
          </a:p>
          <a:p>
            <a:pPr marL="160020" marR="5080" indent="-147955">
              <a:lnSpc>
                <a:spcPct val="116199"/>
              </a:lnSpc>
              <a:buFont typeface="Arial"/>
              <a:buChar char="•"/>
              <a:tabLst>
                <a:tab pos="160020" algn="l"/>
              </a:tabLst>
            </a:pP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Software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Service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(SaaS)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Provides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software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applications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over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internet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subscription basis.</a:t>
            </a:r>
          </a:p>
          <a:p>
            <a:pPr marL="160020" marR="5080" indent="-147955">
              <a:lnSpc>
                <a:spcPct val="116199"/>
              </a:lnSpc>
              <a:buFont typeface="Arial"/>
              <a:buChar char="•"/>
              <a:tabLst>
                <a:tab pos="160020" algn="l"/>
              </a:tabLst>
            </a:pP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On-Premises: </a:t>
            </a:r>
            <a:r>
              <a:rPr lang="en-US" sz="900" noProof="1"/>
              <a:t>refers to software and hardware that is physically located within your own building or data center, rather than being hosted by a provider like AWS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</a:p>
        </p:txBody>
      </p:sp>
      <p:pic>
        <p:nvPicPr>
          <p:cNvPr id="4" name="object 4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360184" y="1893493"/>
            <a:ext cx="5039641" cy="795732"/>
          </a:xfrm>
          <a:prstGeom prst="rect">
            <a:avLst/>
          </a:prstGeom>
        </p:spPr>
      </p:pic>
      <p:sp>
        <p:nvSpPr>
          <p:cNvPr id="5" name="object 5"/>
          <p:cNvSpPr txBox="1"/>
          <p:nvPr/>
        </p:nvSpPr>
        <p:spPr>
          <a:xfrm>
            <a:off x="2131910" y="2922905"/>
            <a:ext cx="1496695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800" b="1" spc="-20" noProof="1">
                <a:solidFill>
                  <a:srgbClr val="22373A"/>
                </a:solidFill>
                <a:latin typeface="Arial"/>
                <a:cs typeface="Arial"/>
              </a:rPr>
              <a:t>Figure</a:t>
            </a:r>
            <a:r>
              <a:rPr lang="en-US" sz="8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4:</a:t>
            </a:r>
            <a:r>
              <a:rPr lang="en-US" sz="800" b="1" spc="1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8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30" noProof="1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r>
              <a:rPr lang="en-US" sz="8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Models</a:t>
            </a:r>
            <a:endParaRPr lang="en-US" sz="800" noProof="1">
              <a:latin typeface="Arial"/>
              <a:cs typeface="Arial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1528445" cy="5080"/>
            </a:xfrm>
            <a:custGeom>
              <a:avLst/>
              <a:gdLst/>
              <a:ahLst/>
              <a:cxnLst/>
              <a:rect l="l" t="t" r="r" b="b"/>
              <a:pathLst>
                <a:path w="1528445" h="5080">
                  <a:moveTo>
                    <a:pt x="0" y="5060"/>
                  </a:moveTo>
                  <a:lnTo>
                    <a:pt x="0" y="0"/>
                  </a:lnTo>
                  <a:lnTo>
                    <a:pt x="1528173" y="0"/>
                  </a:lnTo>
                  <a:lnTo>
                    <a:pt x="15281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5" noProof="1"/>
              <a:t>Shared</a:t>
            </a:r>
            <a:r>
              <a:rPr lang="en-US" spc="20" noProof="1"/>
              <a:t> </a:t>
            </a:r>
            <a:r>
              <a:rPr lang="en-US" spc="-45" noProof="1"/>
              <a:t>Responsibility</a:t>
            </a:r>
            <a:r>
              <a:rPr lang="en-US" spc="20" noProof="1"/>
              <a:t> </a:t>
            </a:r>
            <a:r>
              <a:rPr lang="en-US" spc="-20" noProof="1"/>
              <a:t>Model</a:t>
            </a:r>
          </a:p>
        </p:txBody>
      </p:sp>
      <p:pic>
        <p:nvPicPr>
          <p:cNvPr id="3" name="object 3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004950" y="351412"/>
            <a:ext cx="3750119" cy="2399115"/>
          </a:xfrm>
          <a:prstGeom prst="rect">
            <a:avLst/>
          </a:prstGeom>
        </p:spPr>
      </p:pic>
      <p:sp>
        <p:nvSpPr>
          <p:cNvPr id="4" name="object 4"/>
          <p:cNvSpPr txBox="1"/>
          <p:nvPr/>
        </p:nvSpPr>
        <p:spPr>
          <a:xfrm>
            <a:off x="440956" y="2840269"/>
            <a:ext cx="4878705" cy="34417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736725" marR="5080" indent="-1724660">
              <a:lnSpc>
                <a:spcPct val="116199"/>
              </a:lnSpc>
              <a:spcBef>
                <a:spcPts val="100"/>
              </a:spcBef>
            </a:pP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The</a:t>
            </a:r>
            <a:r>
              <a:rPr lang="en-US" sz="900" b="1" spc="1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5" noProof="1">
                <a:solidFill>
                  <a:srgbClr val="EB811B"/>
                </a:solidFill>
                <a:latin typeface="Arial"/>
                <a:cs typeface="Arial"/>
              </a:rPr>
              <a:t>shared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EB811B"/>
                </a:solidFill>
                <a:latin typeface="Arial"/>
                <a:cs typeface="Arial"/>
              </a:rPr>
              <a:t>responsibility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EB811B"/>
                </a:solidFill>
                <a:latin typeface="Arial"/>
                <a:cs typeface="Arial"/>
              </a:rPr>
              <a:t>model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EB811B"/>
                </a:solidFill>
                <a:latin typeface="Arial"/>
                <a:cs typeface="Arial"/>
              </a:rPr>
              <a:t>outlines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EB811B"/>
                </a:solidFill>
                <a:latin typeface="Arial"/>
                <a:cs typeface="Arial"/>
              </a:rPr>
              <a:t>where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a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EB811B"/>
                </a:solidFill>
                <a:latin typeface="Arial"/>
                <a:cs typeface="Arial"/>
              </a:rPr>
              <a:t>cloud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EB811B"/>
                </a:solidFill>
                <a:latin typeface="Arial"/>
                <a:cs typeface="Arial"/>
              </a:rPr>
              <a:t>provider’s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role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and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EB811B"/>
                </a:solidFill>
                <a:latin typeface="Arial"/>
                <a:cs typeface="Arial"/>
              </a:rPr>
              <a:t>responsibility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EB811B"/>
                </a:solidFill>
                <a:latin typeface="Arial"/>
                <a:cs typeface="Arial"/>
              </a:rPr>
              <a:t>ends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and</a:t>
            </a:r>
            <a:r>
              <a:rPr lang="en-US" sz="900" b="1" spc="2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the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EB811B"/>
                </a:solidFill>
                <a:latin typeface="Arial"/>
                <a:cs typeface="Arial"/>
              </a:rPr>
              <a:t>customer’s</a:t>
            </a:r>
            <a:r>
              <a:rPr lang="en-US" sz="900" b="1" spc="2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begins.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1763395" cy="5080"/>
            </a:xfrm>
            <a:custGeom>
              <a:avLst/>
              <a:gdLst/>
              <a:ahLst/>
              <a:cxnLst/>
              <a:rect l="l" t="t" r="r" b="b"/>
              <a:pathLst>
                <a:path w="1763395" h="5080">
                  <a:moveTo>
                    <a:pt x="0" y="5060"/>
                  </a:moveTo>
                  <a:lnTo>
                    <a:pt x="0" y="0"/>
                  </a:lnTo>
                  <a:lnTo>
                    <a:pt x="1763284" y="0"/>
                  </a:lnTo>
                  <a:lnTo>
                    <a:pt x="1763284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5" noProof="1"/>
              <a:t>Shared</a:t>
            </a:r>
            <a:r>
              <a:rPr lang="en-US" spc="15" noProof="1"/>
              <a:t> </a:t>
            </a:r>
            <a:r>
              <a:rPr lang="en-US" spc="-45" noProof="1"/>
              <a:t>Responsibility</a:t>
            </a:r>
            <a:r>
              <a:rPr lang="en-US" spc="20" noProof="1"/>
              <a:t> </a:t>
            </a:r>
            <a:r>
              <a:rPr lang="en-US" noProof="1"/>
              <a:t>Model:</a:t>
            </a:r>
            <a:r>
              <a:rPr lang="en-US" spc="120" noProof="1"/>
              <a:t> </a:t>
            </a:r>
            <a:r>
              <a:rPr lang="en-US" noProof="1"/>
              <a:t>Pizza</a:t>
            </a:r>
            <a:r>
              <a:rPr lang="en-US" spc="20" noProof="1"/>
              <a:t> </a:t>
            </a:r>
            <a:r>
              <a:rPr lang="en-US" spc="-25" noProof="1"/>
              <a:t>as</a:t>
            </a:r>
            <a:r>
              <a:rPr lang="en-US" spc="15" noProof="1"/>
              <a:t> </a:t>
            </a:r>
            <a:r>
              <a:rPr lang="en-US" noProof="1"/>
              <a:t>a</a:t>
            </a:r>
            <a:r>
              <a:rPr lang="en-US" spc="20" noProof="1"/>
              <a:t> </a:t>
            </a:r>
            <a:r>
              <a:rPr lang="en-US" spc="-20" noProof="1"/>
              <a:t>Service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427126" y="813594"/>
            <a:ext cx="4986020" cy="175577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R="71755" algn="ctr">
              <a:lnSpc>
                <a:spcPct val="100000"/>
              </a:lnSpc>
              <a:spcBef>
                <a:spcPts val="95"/>
              </a:spcBef>
            </a:pP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The</a:t>
            </a:r>
            <a:r>
              <a:rPr lang="en-US" sz="900" b="1" spc="2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5" noProof="1">
                <a:solidFill>
                  <a:srgbClr val="EB811B"/>
                </a:solidFill>
                <a:latin typeface="Arial"/>
                <a:cs typeface="Arial"/>
              </a:rPr>
              <a:t>shared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5" noProof="1">
                <a:solidFill>
                  <a:srgbClr val="EB811B"/>
                </a:solidFill>
                <a:latin typeface="Arial"/>
                <a:cs typeface="Arial"/>
              </a:rPr>
              <a:t>responsibility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EB811B"/>
                </a:solidFill>
                <a:latin typeface="Arial"/>
                <a:cs typeface="Arial"/>
              </a:rPr>
              <a:t>model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EB811B"/>
                </a:solidFill>
                <a:latin typeface="Arial"/>
                <a:cs typeface="Arial"/>
              </a:rPr>
              <a:t>is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like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EB811B"/>
                </a:solidFill>
                <a:latin typeface="Arial"/>
                <a:cs typeface="Arial"/>
              </a:rPr>
              <a:t>ordering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a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pizza.</a:t>
            </a:r>
            <a:endParaRPr lang="en-US" sz="900" noProof="1">
              <a:latin typeface="Arial"/>
              <a:cs typeface="Arial"/>
            </a:endParaRPr>
          </a:p>
          <a:p>
            <a:pPr marL="160020" marR="173355" indent="-147955">
              <a:lnSpc>
                <a:spcPct val="116199"/>
              </a:lnSpc>
              <a:spcBef>
                <a:spcPts val="625"/>
              </a:spcBef>
              <a:buFont typeface="Arial"/>
              <a:buChar char="•"/>
              <a:tabLst>
                <a:tab pos="160020" algn="l"/>
              </a:tabLst>
            </a:pP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SaaS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Take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pizza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restaurant.</a:t>
            </a:r>
            <a:r>
              <a:rPr lang="en-US" sz="900" spc="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pizza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provider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responsible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everything,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just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need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eat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pizza.</a:t>
            </a:r>
            <a:endParaRPr lang="en-US" sz="900" noProof="1">
              <a:latin typeface="Arial"/>
              <a:cs typeface="Arial"/>
            </a:endParaRPr>
          </a:p>
          <a:p>
            <a:pPr marL="160020" marR="173990" indent="-147955">
              <a:lnSpc>
                <a:spcPct val="116199"/>
              </a:lnSpc>
              <a:spcBef>
                <a:spcPts val="630"/>
              </a:spcBef>
              <a:buFont typeface="Arial"/>
              <a:buChar char="•"/>
              <a:tabLst>
                <a:tab pos="160020" algn="l"/>
              </a:tabLst>
            </a:pP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PaaS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Pizza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delivery.</a:t>
            </a:r>
            <a:r>
              <a:rPr lang="en-US" sz="900" spc="8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pizza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provider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is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responsible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for the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baking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the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pizza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and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ensuring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it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arrives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to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home.</a:t>
            </a:r>
            <a:r>
              <a:rPr lang="en-US" sz="900" spc="8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responsible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for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preparaing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the table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 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drinks.</a:t>
            </a:r>
            <a:endParaRPr lang="en-US" sz="900" noProof="1">
              <a:latin typeface="Arial"/>
              <a:cs typeface="Arial"/>
            </a:endParaRPr>
          </a:p>
          <a:p>
            <a:pPr marL="160020" marR="215900" indent="-147955">
              <a:lnSpc>
                <a:spcPct val="116199"/>
              </a:lnSpc>
              <a:spcBef>
                <a:spcPts val="625"/>
              </a:spcBef>
              <a:buFont typeface="Arial"/>
              <a:buChar char="•"/>
              <a:tabLst>
                <a:tab pos="160020" algn="l"/>
              </a:tabLst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IaaS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: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Take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pizza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home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bake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it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yourself.</a:t>
            </a:r>
            <a:r>
              <a:rPr lang="en-US" sz="900" spc="8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responsible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for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dinning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table,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electricity,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 the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oven.</a:t>
            </a:r>
            <a:r>
              <a:rPr lang="en-US" sz="900" spc="8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pizza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provider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is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responsible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for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pizza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 the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box.</a:t>
            </a:r>
            <a:endParaRPr lang="en-US" sz="900" noProof="1">
              <a:latin typeface="Arial"/>
              <a:cs typeface="Arial"/>
            </a:endParaRPr>
          </a:p>
          <a:p>
            <a:pPr marL="160020" marR="5080" indent="-147955">
              <a:lnSpc>
                <a:spcPct val="116199"/>
              </a:lnSpc>
              <a:spcBef>
                <a:spcPts val="630"/>
              </a:spcBef>
              <a:buFont typeface="Arial"/>
              <a:buChar char="•"/>
              <a:tabLst>
                <a:tab pos="160020" algn="l"/>
              </a:tabLst>
            </a:pP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On-P</a:t>
            </a:r>
            <a:r>
              <a:rPr lang="en-US" sz="900" b="1" spc="-40" noProof="1">
                <a:solidFill>
                  <a:srgbClr val="22373A"/>
                </a:solidFill>
                <a:latin typeface="Arial"/>
                <a:cs typeface="Arial"/>
              </a:rPr>
              <a:t>remises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8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make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pizza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home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scratch.</a:t>
            </a:r>
            <a:r>
              <a:rPr lang="en-US" sz="900" spc="9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responsible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everything,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from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ingredients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baking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 for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preparing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table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 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drinks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too.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1880870" cy="5080"/>
            </a:xfrm>
            <a:custGeom>
              <a:avLst/>
              <a:gdLst/>
              <a:ahLst/>
              <a:cxnLst/>
              <a:rect l="l" t="t" r="r" b="b"/>
              <a:pathLst>
                <a:path w="1880870" h="5080">
                  <a:moveTo>
                    <a:pt x="0" y="5060"/>
                  </a:moveTo>
                  <a:lnTo>
                    <a:pt x="0" y="0"/>
                  </a:lnTo>
                  <a:lnTo>
                    <a:pt x="1880795" y="0"/>
                  </a:lnTo>
                  <a:lnTo>
                    <a:pt x="1880795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10" noProof="1"/>
              <a:t>Public</a:t>
            </a:r>
            <a:r>
              <a:rPr lang="en-US" spc="-35" noProof="1"/>
              <a:t> </a:t>
            </a:r>
            <a:r>
              <a:rPr lang="en-US" spc="-40" noProof="1"/>
              <a:t>Cloud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3319" y="1069800"/>
            <a:ext cx="4794250" cy="1023357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r>
              <a:rPr lang="en-US" sz="900" noProof="1"/>
              <a:t>A </a:t>
            </a:r>
            <a:r>
              <a:rPr lang="en-US" sz="900" b="1" noProof="1"/>
              <a:t>public cloud </a:t>
            </a:r>
            <a:r>
              <a:rPr lang="en-US" sz="900" noProof="1"/>
              <a:t>provides computing services over the public Internet, offered by third‑party providers and available to anyone on a pay‑per‑use basis.</a:t>
            </a:r>
          </a:p>
          <a:p>
            <a:pPr marL="243204" indent="-147320">
              <a:lnSpc>
                <a:spcPct val="100000"/>
              </a:lnSpc>
              <a:spcBef>
                <a:spcPts val="800"/>
              </a:spcBef>
              <a:buChar char="•"/>
              <a:tabLst>
                <a:tab pos="243204" algn="l"/>
              </a:tabLst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Type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resources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available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general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public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over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internet.</a:t>
            </a:r>
            <a:endParaRPr lang="en-US" sz="900" noProof="1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43204" algn="l"/>
              </a:tabLst>
            </a:pP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Providers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own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manage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infrastructure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/>
              <a:t>pay‑per‑use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basis.</a:t>
            </a:r>
            <a:endParaRPr lang="en-US" sz="900" noProof="1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43204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Highly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scalable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flexible,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wide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range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available.</a:t>
            </a:r>
            <a:endParaRPr lang="en-US" sz="900" noProof="1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43204" algn="l"/>
              </a:tabLst>
            </a:pP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Popular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affordability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scalability.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2116455" cy="5080"/>
            </a:xfrm>
            <a:custGeom>
              <a:avLst/>
              <a:gdLst/>
              <a:ahLst/>
              <a:cxnLst/>
              <a:rect l="l" t="t" r="r" b="b"/>
              <a:pathLst>
                <a:path w="2116455" h="5080">
                  <a:moveTo>
                    <a:pt x="0" y="5060"/>
                  </a:moveTo>
                  <a:lnTo>
                    <a:pt x="0" y="0"/>
                  </a:lnTo>
                  <a:lnTo>
                    <a:pt x="2115905" y="0"/>
                  </a:lnTo>
                  <a:lnTo>
                    <a:pt x="2115905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170561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Private</a:t>
            </a:r>
            <a:r>
              <a:rPr lang="en-US" spc="30" noProof="1"/>
              <a:t> </a:t>
            </a:r>
            <a:r>
              <a:rPr lang="en-US" spc="-30" noProof="1"/>
              <a:t>Cloud</a:t>
            </a:r>
            <a:r>
              <a:rPr lang="en-US" spc="30" noProof="1"/>
              <a:t> </a:t>
            </a:r>
            <a:r>
              <a:rPr lang="en-US" spc="-25" noProof="1"/>
              <a:t>(On-</a:t>
            </a:r>
            <a:r>
              <a:rPr lang="en-US" spc="-10" noProof="1"/>
              <a:t>Premises)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1069749"/>
            <a:ext cx="4983480" cy="122047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6199"/>
              </a:lnSpc>
              <a:spcBef>
                <a:spcPts val="100"/>
              </a:spcBef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Private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refers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model</a:t>
            </a:r>
            <a:r>
              <a:rPr lang="en-US" sz="900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30" noProof="1">
                <a:solidFill>
                  <a:srgbClr val="22373A"/>
                </a:solidFill>
                <a:latin typeface="Arial"/>
                <a:cs typeface="Arial"/>
              </a:rPr>
              <a:t>where</a:t>
            </a:r>
            <a:r>
              <a:rPr lang="en-US" sz="900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50" noProof="1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r>
              <a:rPr lang="en-US" sz="900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3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30" noProof="1">
                <a:solidFill>
                  <a:srgbClr val="22373A"/>
                </a:solidFill>
                <a:latin typeface="Arial"/>
                <a:cs typeface="Arial"/>
              </a:rPr>
              <a:t>provisioned</a:t>
            </a:r>
            <a:r>
              <a:rPr lang="en-US" sz="900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over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private</a:t>
            </a:r>
            <a:r>
              <a:rPr lang="en-US" sz="900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IT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infrastructure for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dedicated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55" noProof="1">
                <a:solidFill>
                  <a:srgbClr val="22373A"/>
                </a:solidFill>
                <a:latin typeface="Arial"/>
                <a:cs typeface="Arial"/>
              </a:rPr>
              <a:t>use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a 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single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organization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800"/>
              </a:spcBef>
              <a:buChar char="•"/>
              <a:tabLst>
                <a:tab pos="239395" algn="l"/>
              </a:tabLst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Type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used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exclusively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by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single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organization.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Provides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greater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control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customization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over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infrastructure.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be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hosted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on-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premises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or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by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third-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party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provider.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Offers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enhanced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security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and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popular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finance,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government,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and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healthcare.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More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expensive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than public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but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provides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greater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control and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flexibility.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2233930" cy="5080"/>
            </a:xfrm>
            <a:custGeom>
              <a:avLst/>
              <a:gdLst/>
              <a:ahLst/>
              <a:cxnLst/>
              <a:rect l="l" t="t" r="r" b="b"/>
              <a:pathLst>
                <a:path w="2233930" h="5080">
                  <a:moveTo>
                    <a:pt x="0" y="5060"/>
                  </a:moveTo>
                  <a:lnTo>
                    <a:pt x="0" y="0"/>
                  </a:lnTo>
                  <a:lnTo>
                    <a:pt x="2233505" y="0"/>
                  </a:lnTo>
                  <a:lnTo>
                    <a:pt x="2233505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78613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20" noProof="1"/>
              <a:t>Hybrid</a:t>
            </a:r>
            <a:r>
              <a:rPr lang="en-US" spc="15" noProof="1"/>
              <a:t> </a:t>
            </a:r>
            <a:r>
              <a:rPr lang="en-US" spc="-35" noProof="1"/>
              <a:t>Cloud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990082"/>
            <a:ext cx="5066030" cy="13798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6199"/>
              </a:lnSpc>
              <a:spcBef>
                <a:spcPts val="100"/>
              </a:spcBef>
            </a:pP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Hybrid</a:t>
            </a:r>
            <a:r>
              <a:rPr lang="en-US" sz="900" b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computing </a:t>
            </a:r>
            <a:r>
              <a:rPr lang="en-US" sz="900" i="1" spc="-20" noProof="1">
                <a:solidFill>
                  <a:srgbClr val="22373A"/>
                </a:solidFill>
                <a:latin typeface="Arial"/>
                <a:cs typeface="Arial"/>
              </a:rPr>
              <a:t>environment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i="1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40" noProof="1">
                <a:solidFill>
                  <a:srgbClr val="22373A"/>
                </a:solidFill>
                <a:latin typeface="Arial"/>
                <a:cs typeface="Arial"/>
              </a:rPr>
              <a:t>combines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public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 cloud and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 private cloud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by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 allowing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0" noProof="1">
                <a:solidFill>
                  <a:srgbClr val="22373A"/>
                </a:solidFill>
                <a:latin typeface="Arial"/>
                <a:cs typeface="Arial"/>
              </a:rPr>
              <a:t>applications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45" noProof="1">
                <a:solidFill>
                  <a:srgbClr val="22373A"/>
                </a:solidFill>
                <a:latin typeface="Arial"/>
                <a:cs typeface="Arial"/>
              </a:rPr>
              <a:t>shared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35" noProof="1">
                <a:solidFill>
                  <a:srgbClr val="22373A"/>
                </a:solidFill>
                <a:latin typeface="Arial"/>
                <a:cs typeface="Arial"/>
              </a:rPr>
              <a:t>between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them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800"/>
              </a:spcBef>
              <a:buChar char="•"/>
              <a:tabLst>
                <a:tab pos="239395" algn="l"/>
              </a:tabLst>
            </a:pP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Combines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public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private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resources.</a:t>
            </a:r>
            <a:endParaRPr lang="en-US" sz="900" noProof="1">
              <a:latin typeface="Arial"/>
              <a:cs typeface="Arial"/>
            </a:endParaRPr>
          </a:p>
          <a:p>
            <a:pPr marL="240029" marR="38100" indent="-147955">
              <a:lnSpc>
                <a:spcPct val="116199"/>
              </a:lnSpc>
              <a:buChar char="•"/>
              <a:tabLst>
                <a:tab pos="240029" algn="l"/>
              </a:tabLst>
            </a:pP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Provides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cost-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effectiveness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and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scalability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of public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cloud,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while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maintaining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control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over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sensitive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private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Offers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greater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flexibility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agility,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optimize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resources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costs.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Complex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set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up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manage,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requires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careful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planning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coordination.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Balances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benefits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public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private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cloud,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but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requires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expertise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manage.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2351405" cy="5080"/>
            </a:xfrm>
            <a:custGeom>
              <a:avLst/>
              <a:gdLst/>
              <a:ahLst/>
              <a:cxnLst/>
              <a:rect l="l" t="t" r="r" b="b"/>
              <a:pathLst>
                <a:path w="2351405" h="5080">
                  <a:moveTo>
                    <a:pt x="0" y="5060"/>
                  </a:moveTo>
                  <a:lnTo>
                    <a:pt x="0" y="0"/>
                  </a:lnTo>
                  <a:lnTo>
                    <a:pt x="2351016" y="0"/>
                  </a:lnTo>
                  <a:lnTo>
                    <a:pt x="2351016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98526" y="59834"/>
            <a:ext cx="2936774" cy="166071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b="1" spc="-10" noProof="1">
                <a:solidFill>
                  <a:srgbClr val="F9F9F9"/>
                </a:solidFill>
                <a:latin typeface="Arial"/>
                <a:cs typeface="Arial"/>
              </a:rPr>
              <a:t>Public</a:t>
            </a:r>
            <a:r>
              <a:rPr lang="en-US" sz="1000" b="1" spc="-1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40" noProof="1">
                <a:solidFill>
                  <a:srgbClr val="F9F9F9"/>
                </a:solidFill>
                <a:latin typeface="Arial"/>
                <a:cs typeface="Arial"/>
              </a:rPr>
              <a:t>vs</a:t>
            </a:r>
            <a:r>
              <a:rPr lang="en-US" sz="1000" b="1" spc="-1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Private</a:t>
            </a:r>
            <a:r>
              <a:rPr lang="en-US" sz="1000" b="1" spc="-1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40" noProof="1">
                <a:solidFill>
                  <a:srgbClr val="F9F9F9"/>
                </a:solidFill>
                <a:latin typeface="Arial"/>
                <a:cs typeface="Arial"/>
              </a:rPr>
              <a:t>vs</a:t>
            </a:r>
            <a:r>
              <a:rPr lang="en-US" sz="1000" b="1" spc="-1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10" noProof="1">
                <a:solidFill>
                  <a:srgbClr val="F9F9F9"/>
                </a:solidFill>
                <a:latin typeface="Arial"/>
                <a:cs typeface="Arial"/>
              </a:rPr>
              <a:t>Hybrid Cloud Models</a:t>
            </a:r>
            <a:endParaRPr lang="en-US" sz="10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77900" y="494665"/>
            <a:ext cx="3505200" cy="2184400"/>
          </a:xfrm>
          <a:prstGeom prst="rect">
            <a:avLst/>
          </a:prstGeom>
        </p:spPr>
      </p:pic>
      <p:sp>
        <p:nvSpPr>
          <p:cNvPr id="5" name="object 5"/>
          <p:cNvSpPr txBox="1"/>
          <p:nvPr/>
        </p:nvSpPr>
        <p:spPr>
          <a:xfrm>
            <a:off x="1205010" y="2841625"/>
            <a:ext cx="3104515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800" b="1" spc="-20" noProof="1">
                <a:solidFill>
                  <a:srgbClr val="22373A"/>
                </a:solidFill>
                <a:latin typeface="Arial"/>
                <a:cs typeface="Arial"/>
              </a:rPr>
              <a:t>Figure</a:t>
            </a:r>
            <a:r>
              <a:rPr lang="en-US" sz="8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1:</a:t>
            </a:r>
            <a:r>
              <a:rPr lang="en-US" sz="800" b="1" spc="1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How</a:t>
            </a:r>
            <a:r>
              <a:rPr lang="en-US" sz="8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cost</a:t>
            </a:r>
            <a:r>
              <a:rPr lang="en-US" sz="8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8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privacy</a:t>
            </a:r>
            <a:r>
              <a:rPr lang="en-US" sz="8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grow</a:t>
            </a:r>
            <a:r>
              <a:rPr lang="en-US" sz="8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8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different</a:t>
            </a:r>
            <a:r>
              <a:rPr lang="en-US" sz="8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8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paradigms</a:t>
            </a:r>
            <a:endParaRPr lang="en-US" sz="800" noProof="1">
              <a:latin typeface="Arial"/>
              <a:cs typeface="Arial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217804" cy="5080"/>
            </a:xfrm>
            <a:custGeom>
              <a:avLst/>
              <a:gdLst/>
              <a:ahLst/>
              <a:cxnLst/>
              <a:rect l="l" t="t" r="r" b="b"/>
              <a:pathLst>
                <a:path w="217804" h="5080">
                  <a:moveTo>
                    <a:pt x="0" y="5060"/>
                  </a:moveTo>
                  <a:lnTo>
                    <a:pt x="0" y="0"/>
                  </a:lnTo>
                  <a:lnTo>
                    <a:pt x="217356" y="0"/>
                  </a:lnTo>
                  <a:lnTo>
                    <a:pt x="217356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ctr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Which</a:t>
            </a:r>
            <a:r>
              <a:rPr lang="en-US" spc="5" noProof="1"/>
              <a:t> </a:t>
            </a:r>
            <a:r>
              <a:rPr lang="en-US" spc="-25" noProof="1"/>
              <a:t>is</a:t>
            </a:r>
            <a:r>
              <a:rPr lang="en-US" spc="5" noProof="1"/>
              <a:t> </a:t>
            </a:r>
            <a:r>
              <a:rPr lang="en-US" noProof="1"/>
              <a:t>the</a:t>
            </a:r>
            <a:r>
              <a:rPr lang="en-US" spc="10" noProof="1"/>
              <a:t> </a:t>
            </a:r>
            <a:r>
              <a:rPr lang="en-US" spc="-20" noProof="1"/>
              <a:t>current</a:t>
            </a:r>
            <a:r>
              <a:rPr lang="en-US" spc="5" noProof="1"/>
              <a:t> </a:t>
            </a:r>
            <a:r>
              <a:rPr lang="en-US" spc="-20" noProof="1"/>
              <a:t>situation</a:t>
            </a:r>
            <a:r>
              <a:rPr lang="en-US" spc="10" noProof="1"/>
              <a:t> </a:t>
            </a:r>
            <a:r>
              <a:rPr lang="en-US" noProof="1"/>
              <a:t>of</a:t>
            </a:r>
            <a:r>
              <a:rPr lang="en-US" spc="5" noProof="1"/>
              <a:t> </a:t>
            </a:r>
            <a:r>
              <a:rPr lang="en-US" spc="-30" noProof="1"/>
              <a:t>Cloud</a:t>
            </a:r>
            <a:r>
              <a:rPr lang="en-US" spc="5" noProof="1"/>
              <a:t> </a:t>
            </a:r>
            <a:r>
              <a:rPr lang="en-US" spc="-30" noProof="1"/>
              <a:t>Computing?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0" y="631825"/>
            <a:ext cx="5760084" cy="2572114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54965" marR="5080" indent="-342900">
              <a:lnSpc>
                <a:spcPct val="116199"/>
              </a:lnSpc>
              <a:spcBef>
                <a:spcPts val="100"/>
              </a:spcBef>
              <a:buFont typeface="Arial" panose="020B0604020202020204" pitchFamily="34" charset="0"/>
              <a:buChar char="•"/>
            </a:pPr>
            <a:r>
              <a:rPr lang="en-US" sz="2400" b="1" noProof="1">
                <a:solidFill>
                  <a:srgbClr val="EB811B"/>
                </a:solidFill>
                <a:latin typeface="Arial"/>
                <a:cs typeface="Arial"/>
              </a:rPr>
              <a:t>The</a:t>
            </a:r>
            <a:r>
              <a:rPr lang="en-US" sz="24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2400" b="1" spc="-30" noProof="1">
                <a:solidFill>
                  <a:srgbClr val="EB811B"/>
                </a:solidFill>
                <a:latin typeface="Arial"/>
                <a:cs typeface="Arial"/>
              </a:rPr>
              <a:t>global</a:t>
            </a:r>
            <a:r>
              <a:rPr lang="en-US" sz="24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2400" b="1" spc="-35" noProof="1">
                <a:solidFill>
                  <a:srgbClr val="EB811B"/>
                </a:solidFill>
                <a:latin typeface="Arial"/>
                <a:cs typeface="Arial"/>
              </a:rPr>
              <a:t>cloud</a:t>
            </a:r>
            <a:r>
              <a:rPr lang="en-US" sz="24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2400" b="1" spc="-30" noProof="1">
                <a:solidFill>
                  <a:srgbClr val="EB811B"/>
                </a:solidFill>
                <a:latin typeface="Arial"/>
                <a:cs typeface="Arial"/>
              </a:rPr>
              <a:t>computing </a:t>
            </a:r>
            <a:r>
              <a:rPr lang="en-US" sz="2400" b="1" spc="-10" noProof="1">
                <a:solidFill>
                  <a:srgbClr val="EB811B"/>
                </a:solidFill>
                <a:latin typeface="Arial"/>
                <a:cs typeface="Arial"/>
              </a:rPr>
              <a:t>market</a:t>
            </a:r>
            <a:r>
              <a:rPr lang="en-US" sz="24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2400" b="1" spc="-20" noProof="1">
                <a:solidFill>
                  <a:srgbClr val="EB811B"/>
                </a:solidFill>
                <a:latin typeface="Arial"/>
                <a:cs typeface="Arial"/>
              </a:rPr>
              <a:t>is</a:t>
            </a:r>
            <a:r>
              <a:rPr lang="en-US" sz="24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2400" b="1" spc="-25" noProof="1">
                <a:solidFill>
                  <a:srgbClr val="EB811B"/>
                </a:solidFill>
                <a:latin typeface="Arial"/>
                <a:cs typeface="Arial"/>
              </a:rPr>
              <a:t>expected</a:t>
            </a:r>
            <a:r>
              <a:rPr lang="en-US" sz="24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2400" b="1" noProof="1">
                <a:solidFill>
                  <a:srgbClr val="EB811B"/>
                </a:solidFill>
                <a:latin typeface="Arial"/>
                <a:cs typeface="Arial"/>
              </a:rPr>
              <a:t>to</a:t>
            </a:r>
            <a:r>
              <a:rPr lang="en-US" sz="24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2400" b="1" spc="-30" noProof="1">
                <a:solidFill>
                  <a:srgbClr val="EB811B"/>
                </a:solidFill>
                <a:latin typeface="Arial"/>
                <a:cs typeface="Arial"/>
              </a:rPr>
              <a:t>reach</a:t>
            </a:r>
            <a:r>
              <a:rPr lang="en-US" sz="24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2400" b="1" noProof="1">
                <a:solidFill>
                  <a:srgbClr val="EB811B"/>
                </a:solidFill>
                <a:latin typeface="Arial"/>
                <a:cs typeface="Arial"/>
              </a:rPr>
              <a:t>$1.35</a:t>
            </a:r>
            <a:r>
              <a:rPr lang="en-US" sz="24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2400" b="1" spc="-25" noProof="1">
                <a:solidFill>
                  <a:srgbClr val="EB811B"/>
                </a:solidFill>
                <a:latin typeface="Arial"/>
                <a:cs typeface="Arial"/>
              </a:rPr>
              <a:t>trillion</a:t>
            </a:r>
            <a:r>
              <a:rPr lang="en-US" sz="24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2400" b="1" spc="-20" noProof="1">
                <a:solidFill>
                  <a:srgbClr val="EB811B"/>
                </a:solidFill>
                <a:latin typeface="Arial"/>
                <a:cs typeface="Arial"/>
              </a:rPr>
              <a:t>by</a:t>
            </a:r>
            <a:r>
              <a:rPr lang="en-US" sz="24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2400" b="1" noProof="1">
                <a:solidFill>
                  <a:srgbClr val="EB811B"/>
                </a:solidFill>
                <a:latin typeface="Arial"/>
                <a:cs typeface="Arial"/>
              </a:rPr>
              <a:t>2027.</a:t>
            </a:r>
            <a:endParaRPr lang="en-US" sz="2400" b="1" spc="30" noProof="1">
              <a:solidFill>
                <a:srgbClr val="EB811B"/>
              </a:solidFill>
              <a:latin typeface="Arial"/>
              <a:cs typeface="Arial"/>
            </a:endParaRPr>
          </a:p>
          <a:p>
            <a:pPr marL="1500505" marR="5080" indent="-1488440">
              <a:lnSpc>
                <a:spcPct val="116199"/>
              </a:lnSpc>
              <a:spcBef>
                <a:spcPts val="100"/>
              </a:spcBef>
              <a:buFont typeface="Arial" panose="020B0604020202020204" pitchFamily="34" charset="0"/>
              <a:buChar char="•"/>
            </a:pPr>
            <a:endParaRPr lang="en-US" sz="2400" b="1" spc="30" noProof="1">
              <a:solidFill>
                <a:srgbClr val="EB811B"/>
              </a:solidFill>
              <a:latin typeface="Arial"/>
              <a:cs typeface="Arial"/>
            </a:endParaRPr>
          </a:p>
          <a:p>
            <a:pPr marL="354965" marR="5080" indent="-342900">
              <a:lnSpc>
                <a:spcPct val="116199"/>
              </a:lnSpc>
              <a:spcBef>
                <a:spcPts val="100"/>
              </a:spcBef>
              <a:buFont typeface="Arial" panose="020B0604020202020204" pitchFamily="34" charset="0"/>
              <a:buChar char="•"/>
            </a:pPr>
            <a:r>
              <a:rPr lang="en-US" sz="2400" b="1" spc="30" noProof="1">
                <a:solidFill>
                  <a:srgbClr val="EB811B"/>
                </a:solidFill>
                <a:latin typeface="Arial"/>
                <a:cs typeface="Arial"/>
              </a:rPr>
              <a:t> It </a:t>
            </a:r>
            <a:r>
              <a:rPr lang="en-US" sz="2400" b="1" spc="-40" noProof="1">
                <a:solidFill>
                  <a:srgbClr val="EB811B"/>
                </a:solidFill>
                <a:latin typeface="Arial"/>
                <a:cs typeface="Arial"/>
              </a:rPr>
              <a:t>grows</a:t>
            </a:r>
            <a:r>
              <a:rPr lang="en-US" sz="24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2400" b="1" noProof="1">
                <a:solidFill>
                  <a:srgbClr val="EB811B"/>
                </a:solidFill>
                <a:latin typeface="Arial"/>
                <a:cs typeface="Arial"/>
              </a:rPr>
              <a:t>at</a:t>
            </a:r>
            <a:r>
              <a:rPr lang="en-US" sz="24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2400" b="1" spc="-50" noProof="1">
                <a:solidFill>
                  <a:srgbClr val="EB811B"/>
                </a:solidFill>
                <a:latin typeface="Arial"/>
                <a:cs typeface="Arial"/>
              </a:rPr>
              <a:t>a</a:t>
            </a:r>
            <a:r>
              <a:rPr lang="en-US" sz="2400" b="1" noProof="1">
                <a:solidFill>
                  <a:srgbClr val="EB811B"/>
                </a:solidFill>
                <a:latin typeface="Arial"/>
                <a:cs typeface="Arial"/>
              </a:rPr>
              <a:t> CAGR</a:t>
            </a:r>
            <a:r>
              <a:rPr lang="en-US" sz="24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2400" b="1" noProof="1">
                <a:solidFill>
                  <a:srgbClr val="EB811B"/>
                </a:solidFill>
                <a:latin typeface="Arial"/>
                <a:cs typeface="Arial"/>
              </a:rPr>
              <a:t>of</a:t>
            </a:r>
            <a:r>
              <a:rPr lang="en-US" sz="2400" b="1" spc="4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2400" b="1" noProof="1">
                <a:solidFill>
                  <a:srgbClr val="EB811B"/>
                </a:solidFill>
                <a:latin typeface="Arial"/>
                <a:cs typeface="Arial"/>
              </a:rPr>
              <a:t>17.5%</a:t>
            </a:r>
            <a:r>
              <a:rPr lang="en-US" sz="2400" b="1" spc="4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2400" b="1" noProof="1">
                <a:solidFill>
                  <a:srgbClr val="EB811B"/>
                </a:solidFill>
                <a:latin typeface="Arial"/>
                <a:cs typeface="Arial"/>
              </a:rPr>
              <a:t>from</a:t>
            </a:r>
            <a:r>
              <a:rPr lang="en-US" sz="2400" b="1" spc="4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2400" b="1" noProof="1">
                <a:solidFill>
                  <a:srgbClr val="EB811B"/>
                </a:solidFill>
                <a:latin typeface="Arial"/>
                <a:cs typeface="Arial"/>
              </a:rPr>
              <a:t>2020</a:t>
            </a:r>
            <a:r>
              <a:rPr lang="en-US" sz="2400" b="1" spc="4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2400" b="1" noProof="1">
                <a:solidFill>
                  <a:srgbClr val="EB811B"/>
                </a:solidFill>
                <a:latin typeface="Arial"/>
                <a:cs typeface="Arial"/>
              </a:rPr>
              <a:t>to</a:t>
            </a:r>
            <a:r>
              <a:rPr lang="en-US" sz="2400" b="1" spc="4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2400" b="1" spc="-10" noProof="1">
                <a:solidFill>
                  <a:srgbClr val="EB811B"/>
                </a:solidFill>
                <a:latin typeface="Arial"/>
                <a:cs typeface="Arial"/>
              </a:rPr>
              <a:t>2025.</a:t>
            </a:r>
            <a:endParaRPr lang="en-US" sz="2400" noProof="1">
              <a:latin typeface="Arial"/>
              <a:cs typeface="Arial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2468880" cy="5080"/>
            </a:xfrm>
            <a:custGeom>
              <a:avLst/>
              <a:gdLst/>
              <a:ahLst/>
              <a:cxnLst/>
              <a:rect l="l" t="t" r="r" b="b"/>
              <a:pathLst>
                <a:path w="2468880" h="5080">
                  <a:moveTo>
                    <a:pt x="0" y="5060"/>
                  </a:moveTo>
                  <a:lnTo>
                    <a:pt x="0" y="0"/>
                  </a:lnTo>
                  <a:lnTo>
                    <a:pt x="2468615" y="0"/>
                  </a:lnTo>
                  <a:lnTo>
                    <a:pt x="2468615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ctr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0" noProof="1"/>
              <a:t>Cloud</a:t>
            </a:r>
            <a:r>
              <a:rPr lang="en-US" spc="5" noProof="1"/>
              <a:t> </a:t>
            </a:r>
            <a:r>
              <a:rPr lang="en-US" spc="-55" noProof="1"/>
              <a:t>services</a:t>
            </a:r>
            <a:r>
              <a:rPr lang="en-US" spc="10" noProof="1"/>
              <a:t> </a:t>
            </a:r>
            <a:r>
              <a:rPr lang="en-US" spc="-35" noProof="1"/>
              <a:t>everywhere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394503"/>
            <a:ext cx="5026025" cy="34417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6199"/>
              </a:lnSpc>
              <a:spcBef>
                <a:spcPts val="100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go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beyond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just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hosting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websites.</a:t>
            </a:r>
            <a:r>
              <a:rPr lang="en-US" sz="900" spc="8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Examples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include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GitHub,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Netflix,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iCloud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,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and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many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more.</a:t>
            </a:r>
            <a:endParaRPr lang="en-US" sz="9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233335" y="796640"/>
            <a:ext cx="3293343" cy="1799366"/>
          </a:xfrm>
          <a:prstGeom prst="rect">
            <a:avLst/>
          </a:prstGeom>
        </p:spPr>
      </p:pic>
      <p:sp>
        <p:nvSpPr>
          <p:cNvPr id="5" name="object 5"/>
          <p:cNvSpPr txBox="1"/>
          <p:nvPr/>
        </p:nvSpPr>
        <p:spPr>
          <a:xfrm>
            <a:off x="2141283" y="2729977"/>
            <a:ext cx="1477645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800" b="1" spc="-20" noProof="1">
                <a:solidFill>
                  <a:srgbClr val="22373A"/>
                </a:solidFill>
                <a:latin typeface="Arial"/>
                <a:cs typeface="Arial"/>
              </a:rPr>
              <a:t>Figure</a:t>
            </a:r>
            <a:r>
              <a:rPr lang="en-US" sz="8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3:</a:t>
            </a:r>
            <a:r>
              <a:rPr lang="en-US" sz="800" b="1" spc="114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Popular</a:t>
            </a:r>
            <a:r>
              <a:rPr lang="en-US" sz="8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8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30" noProof="1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endParaRPr lang="en-US" sz="800" noProof="1">
              <a:latin typeface="Arial"/>
              <a:cs typeface="Arial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434975" cy="5080"/>
            </a:xfrm>
            <a:custGeom>
              <a:avLst/>
              <a:gdLst/>
              <a:ahLst/>
              <a:cxnLst/>
              <a:rect l="l" t="t" r="r" b="b"/>
              <a:pathLst>
                <a:path w="434975" h="5080">
                  <a:moveTo>
                    <a:pt x="0" y="5060"/>
                  </a:moveTo>
                  <a:lnTo>
                    <a:pt x="0" y="0"/>
                  </a:lnTo>
                  <a:lnTo>
                    <a:pt x="434712" y="0"/>
                  </a:lnTo>
                  <a:lnTo>
                    <a:pt x="434712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ctr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0" noProof="1"/>
              <a:t>Cloud</a:t>
            </a:r>
            <a:r>
              <a:rPr lang="en-US" spc="5" noProof="1"/>
              <a:t> </a:t>
            </a:r>
            <a:r>
              <a:rPr lang="en-US" spc="-55" noProof="1"/>
              <a:t>services</a:t>
            </a:r>
            <a:r>
              <a:rPr lang="en-US" spc="10" noProof="1"/>
              <a:t> </a:t>
            </a:r>
            <a:r>
              <a:rPr lang="en-US" spc="-35" noProof="1"/>
              <a:t>everywhere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3433" y="380965"/>
            <a:ext cx="5069205" cy="34417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 indent="3810">
              <a:lnSpc>
                <a:spcPct val="116199"/>
              </a:lnSpc>
              <a:spcBef>
                <a:spcPts val="100"/>
              </a:spcBef>
            </a:pP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Beyond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cloud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services,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major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22373A"/>
                </a:solidFill>
                <a:latin typeface="Arial"/>
                <a:cs typeface="Arial"/>
              </a:rPr>
              <a:t>providers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8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Azure,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Google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Platform (GCP),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and Amazon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Web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(AWS).</a:t>
            </a:r>
            <a:endParaRPr lang="en-US" sz="9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721055" y="810204"/>
            <a:ext cx="4317896" cy="1799341"/>
          </a:xfrm>
          <a:prstGeom prst="rect">
            <a:avLst/>
          </a:prstGeom>
        </p:spPr>
      </p:pic>
      <p:sp>
        <p:nvSpPr>
          <p:cNvPr id="5" name="object 5"/>
          <p:cNvSpPr txBox="1"/>
          <p:nvPr/>
        </p:nvSpPr>
        <p:spPr>
          <a:xfrm>
            <a:off x="2150338" y="2743516"/>
            <a:ext cx="1459865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800" b="1" spc="-20" noProof="1">
                <a:solidFill>
                  <a:srgbClr val="22373A"/>
                </a:solidFill>
                <a:latin typeface="Arial"/>
                <a:cs typeface="Arial"/>
              </a:rPr>
              <a:t>Figure</a:t>
            </a:r>
            <a:r>
              <a:rPr lang="en-US" sz="800" b="1" spc="4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4:</a:t>
            </a:r>
            <a:r>
              <a:rPr lang="en-US" sz="800" b="1" spc="1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Major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providers</a:t>
            </a:r>
            <a:endParaRPr lang="en-US" sz="800" noProof="1">
              <a:latin typeface="Arial"/>
              <a:cs typeface="Arial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43560" cy="5080"/>
            </a:xfrm>
            <a:custGeom>
              <a:avLst/>
              <a:gdLst/>
              <a:ahLst/>
              <a:cxnLst/>
              <a:rect l="l" t="t" r="r" b="b"/>
              <a:pathLst>
                <a:path w="543560" h="5080">
                  <a:moveTo>
                    <a:pt x="0" y="5060"/>
                  </a:moveTo>
                  <a:lnTo>
                    <a:pt x="0" y="0"/>
                  </a:lnTo>
                  <a:lnTo>
                    <a:pt x="543434" y="0"/>
                  </a:lnTo>
                  <a:lnTo>
                    <a:pt x="543434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614703" y="1375167"/>
            <a:ext cx="2088514" cy="19177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lang="en-US" sz="1100" b="1" spc="-45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Advantages</a:t>
            </a:r>
            <a:r>
              <a:rPr lang="en-US" sz="1100" b="1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of</a:t>
            </a:r>
            <a:r>
              <a:rPr lang="en-US" sz="1100" b="1" spc="5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lang="en-US" sz="1100" b="1" spc="-35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Cloud</a:t>
            </a:r>
            <a:r>
              <a:rPr lang="en-US" sz="1100" b="1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lang="en-US" sz="1100" b="1" spc="-30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Computing</a:t>
            </a:r>
            <a:endParaRPr lang="en-US" sz="1100" noProof="1">
              <a:latin typeface="Arial"/>
              <a:cs typeface="Arial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1627403" y="1647056"/>
            <a:ext cx="2505710" cy="5080"/>
            <a:chOff x="1627403" y="1647056"/>
            <a:chExt cx="2505710" cy="5080"/>
          </a:xfrm>
        </p:grpSpPr>
        <p:sp>
          <p:nvSpPr>
            <p:cNvPr id="4" name="object 4"/>
            <p:cNvSpPr/>
            <p:nvPr/>
          </p:nvSpPr>
          <p:spPr>
            <a:xfrm>
              <a:off x="1627403" y="1647056"/>
              <a:ext cx="2505710" cy="5080"/>
            </a:xfrm>
            <a:custGeom>
              <a:avLst/>
              <a:gdLst/>
              <a:ahLst/>
              <a:cxnLst/>
              <a:rect l="l" t="t" r="r" b="b"/>
              <a:pathLst>
                <a:path w="2505710" h="5080">
                  <a:moveTo>
                    <a:pt x="0" y="5060"/>
                  </a:moveTo>
                  <a:lnTo>
                    <a:pt x="0" y="0"/>
                  </a:lnTo>
                  <a:lnTo>
                    <a:pt x="2505237" y="0"/>
                  </a:lnTo>
                  <a:lnTo>
                    <a:pt x="250523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1627403" y="1647056"/>
              <a:ext cx="1073785" cy="5080"/>
            </a:xfrm>
            <a:custGeom>
              <a:avLst/>
              <a:gdLst/>
              <a:ahLst/>
              <a:cxnLst/>
              <a:rect l="l" t="t" r="r" b="b"/>
              <a:pathLst>
                <a:path w="1073785" h="5080">
                  <a:moveTo>
                    <a:pt x="0" y="5060"/>
                  </a:moveTo>
                  <a:lnTo>
                    <a:pt x="0" y="0"/>
                  </a:lnTo>
                  <a:lnTo>
                    <a:pt x="1073678" y="0"/>
                  </a:lnTo>
                  <a:lnTo>
                    <a:pt x="1073678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3766820" cy="166071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10" noProof="1"/>
              <a:t>Capital</a:t>
            </a:r>
            <a:r>
              <a:rPr lang="en-US" spc="45" noProof="1"/>
              <a:t> </a:t>
            </a:r>
            <a:r>
              <a:rPr lang="en-US" spc="-55" noProof="1"/>
              <a:t>expenses</a:t>
            </a:r>
            <a:r>
              <a:rPr lang="en-US" spc="45" noProof="1"/>
              <a:t> </a:t>
            </a:r>
            <a:r>
              <a:rPr lang="en-US" noProof="1"/>
              <a:t>to</a:t>
            </a:r>
            <a:r>
              <a:rPr lang="en-US" spc="45" noProof="1"/>
              <a:t> </a:t>
            </a:r>
            <a:r>
              <a:rPr lang="en-US" spc="-25" noProof="1"/>
              <a:t>operational</a:t>
            </a:r>
            <a:r>
              <a:rPr lang="en-US" spc="50" noProof="1"/>
              <a:t> </a:t>
            </a:r>
            <a:r>
              <a:rPr lang="en-US" spc="-55" noProof="1"/>
              <a:t>expenses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3319" y="655844"/>
            <a:ext cx="5005070" cy="74295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6510" marR="154940" indent="-4445">
              <a:lnSpc>
                <a:spcPct val="116199"/>
              </a:lnSpc>
              <a:spcBef>
                <a:spcPts val="10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capital </a:t>
            </a:r>
            <a:r>
              <a:rPr lang="en-US" sz="900" spc="-60" noProof="1">
                <a:solidFill>
                  <a:srgbClr val="22373A"/>
                </a:solidFill>
                <a:latin typeface="Arial"/>
                <a:cs typeface="Arial"/>
              </a:rPr>
              <a:t>expenses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(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CapEx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)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 building and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maintaining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centers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is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converted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to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operational </a:t>
            </a:r>
            <a:r>
              <a:rPr lang="en-US" sz="900" spc="-60" noProof="1">
                <a:solidFill>
                  <a:srgbClr val="22373A"/>
                </a:solidFill>
                <a:latin typeface="Arial"/>
                <a:cs typeface="Arial"/>
              </a:rPr>
              <a:t>expenses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(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OpEx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)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renting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resources.</a:t>
            </a:r>
            <a:endParaRPr lang="en-US" sz="900" noProof="1">
              <a:latin typeface="Arial"/>
              <a:cs typeface="Arial"/>
            </a:endParaRPr>
          </a:p>
          <a:p>
            <a:pPr marL="16510" marR="5080">
              <a:lnSpc>
                <a:spcPct val="116199"/>
              </a:lnSpc>
              <a:spcBef>
                <a:spcPts val="625"/>
              </a:spcBef>
            </a:pPr>
            <a:r>
              <a:rPr lang="en-US" sz="900" spc="315" noProof="1">
                <a:solidFill>
                  <a:srgbClr val="880B57"/>
                </a:solidFill>
                <a:latin typeface="Apple Symbols"/>
                <a:cs typeface="Apple Symbols"/>
              </a:rPr>
              <a:t>⇒</a:t>
            </a:r>
            <a:r>
              <a:rPr lang="en-US" sz="900" spc="-35" noProof="1">
                <a:solidFill>
                  <a:srgbClr val="880B57"/>
                </a:solidFill>
                <a:latin typeface="Apple Symbols"/>
                <a:cs typeface="Apple Symbols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shift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reduces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need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large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investments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hardware,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provides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more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predictable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manageable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cost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structure.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359994" y="1474762"/>
            <a:ext cx="5039995" cy="164465"/>
          </a:xfrm>
          <a:prstGeom prst="rect">
            <a:avLst/>
          </a:prstGeom>
          <a:solidFill>
            <a:srgbClr val="CED2D3"/>
          </a:solidFill>
        </p:spPr>
        <p:txBody>
          <a:bodyPr vert="horz" wrap="square" lIns="0" tIns="0" rIns="0" bIns="0" rtlCol="0">
            <a:spAutoFit/>
          </a:bodyPr>
          <a:lstStyle/>
          <a:p>
            <a:pPr marL="37465">
              <a:lnSpc>
                <a:spcPts val="1050"/>
              </a:lnSpc>
            </a:pPr>
            <a:r>
              <a:rPr lang="en-US" sz="900" b="1" spc="-25" noProof="1">
                <a:solidFill>
                  <a:srgbClr val="13AF3C"/>
                </a:solidFill>
                <a:latin typeface="Arial"/>
                <a:cs typeface="Arial"/>
              </a:rPr>
              <a:t>Example:</a:t>
            </a:r>
            <a:r>
              <a:rPr lang="en-US" sz="900" b="1" spc="135" noProof="1">
                <a:solidFill>
                  <a:srgbClr val="13AF3C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13AF3C"/>
                </a:solidFill>
                <a:latin typeface="Arial"/>
                <a:cs typeface="Arial"/>
              </a:rPr>
              <a:t>Hotel</a:t>
            </a:r>
            <a:r>
              <a:rPr lang="en-US" sz="900" b="1" spc="45" noProof="1">
                <a:solidFill>
                  <a:srgbClr val="13AF3C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13AF3C"/>
                </a:solidFill>
                <a:latin typeface="Arial"/>
                <a:cs typeface="Arial"/>
              </a:rPr>
              <a:t>Analogy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359994" y="1639188"/>
            <a:ext cx="5039995" cy="339090"/>
          </a:xfrm>
          <a:prstGeom prst="rect">
            <a:avLst/>
          </a:prstGeom>
          <a:solidFill>
            <a:srgbClr val="E4E6E6"/>
          </a:solidFill>
        </p:spPr>
        <p:txBody>
          <a:bodyPr vert="horz" wrap="square" lIns="0" tIns="3810" rIns="0" bIns="0" rtlCol="0">
            <a:spAutoFit/>
          </a:bodyPr>
          <a:lstStyle/>
          <a:p>
            <a:pPr marL="37465">
              <a:lnSpc>
                <a:spcPct val="100000"/>
              </a:lnSpc>
              <a:spcBef>
                <a:spcPts val="3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like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renting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room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hotel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instead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buying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house.</a:t>
            </a:r>
            <a:r>
              <a:rPr lang="en-US" sz="900" spc="9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need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invest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endParaRPr lang="en-US" sz="900" noProof="1">
              <a:latin typeface="Arial"/>
              <a:cs typeface="Arial"/>
            </a:endParaRPr>
          </a:p>
          <a:p>
            <a:pPr marL="37465">
              <a:lnSpc>
                <a:spcPct val="100000"/>
              </a:lnSpc>
              <a:spcBef>
                <a:spcPts val="17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building,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just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pay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room.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359994" y="2076780"/>
            <a:ext cx="5039995" cy="164465"/>
          </a:xfrm>
          <a:prstGeom prst="rect">
            <a:avLst/>
          </a:prstGeom>
          <a:solidFill>
            <a:srgbClr val="CED2D3"/>
          </a:solidFill>
        </p:spPr>
        <p:txBody>
          <a:bodyPr vert="horz" wrap="square" lIns="0" tIns="0" rIns="0" bIns="0" rtlCol="0">
            <a:spAutoFit/>
          </a:bodyPr>
          <a:lstStyle/>
          <a:p>
            <a:pPr marL="37465">
              <a:lnSpc>
                <a:spcPts val="1050"/>
              </a:lnSpc>
            </a:pP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Be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aware!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359994" y="2241206"/>
            <a:ext cx="5039995" cy="178435"/>
          </a:xfrm>
          <a:prstGeom prst="rect">
            <a:avLst/>
          </a:prstGeom>
          <a:solidFill>
            <a:srgbClr val="E4E6E6"/>
          </a:solidFill>
        </p:spPr>
        <p:txBody>
          <a:bodyPr vert="horz" wrap="square" lIns="0" tIns="2540" rIns="0" bIns="0" rtlCol="0">
            <a:spAutoFit/>
          </a:bodyPr>
          <a:lstStyle/>
          <a:p>
            <a:pPr marL="37465">
              <a:lnSpc>
                <a:spcPct val="100000"/>
              </a:lnSpc>
              <a:spcBef>
                <a:spcPts val="2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long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term,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more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expensive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rent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room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buy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house.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2057831" y="2542052"/>
            <a:ext cx="1644650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You</a:t>
            </a:r>
            <a:r>
              <a:rPr lang="en-US" sz="900" b="1" spc="-2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EB811B"/>
                </a:solidFill>
                <a:latin typeface="Arial"/>
                <a:cs typeface="Arial"/>
              </a:rPr>
              <a:t>only</a:t>
            </a:r>
            <a:r>
              <a:rPr lang="en-US" sz="900" b="1" spc="-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EB811B"/>
                </a:solidFill>
                <a:latin typeface="Arial"/>
                <a:cs typeface="Arial"/>
              </a:rPr>
              <a:t>pay</a:t>
            </a:r>
            <a:r>
              <a:rPr lang="en-US" sz="900" b="1" spc="-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for</a:t>
            </a:r>
            <a:r>
              <a:rPr lang="en-US" sz="900" b="1" spc="-2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what</a:t>
            </a:r>
            <a:r>
              <a:rPr lang="en-US" sz="900" b="1" spc="-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EB811B"/>
                </a:solidFill>
                <a:latin typeface="Arial"/>
                <a:cs typeface="Arial"/>
              </a:rPr>
              <a:t>you</a:t>
            </a:r>
            <a:r>
              <a:rPr lang="en-US" sz="900" b="1" spc="-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EB811B"/>
                </a:solidFill>
                <a:latin typeface="Arial"/>
                <a:cs typeface="Arial"/>
              </a:rPr>
              <a:t>use.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9" name="object 9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10" name="object 10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1" name="object 11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2" name="object 12"/>
            <p:cNvSpPr/>
            <p:nvPr/>
          </p:nvSpPr>
          <p:spPr>
            <a:xfrm>
              <a:off x="0" y="3234963"/>
              <a:ext cx="2586355" cy="5080"/>
            </a:xfrm>
            <a:custGeom>
              <a:avLst/>
              <a:gdLst/>
              <a:ahLst/>
              <a:cxnLst/>
              <a:rect l="l" t="t" r="r" b="b"/>
              <a:pathLst>
                <a:path w="2586355" h="5080">
                  <a:moveTo>
                    <a:pt x="0" y="5060"/>
                  </a:moveTo>
                  <a:lnTo>
                    <a:pt x="0" y="0"/>
                  </a:lnTo>
                  <a:lnTo>
                    <a:pt x="2586126" y="0"/>
                  </a:lnTo>
                  <a:lnTo>
                    <a:pt x="2586126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112268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55" noProof="1"/>
              <a:t>Economies</a:t>
            </a:r>
            <a:r>
              <a:rPr lang="en-US" spc="25" noProof="1"/>
              <a:t> </a:t>
            </a:r>
            <a:r>
              <a:rPr lang="en-US" noProof="1"/>
              <a:t>of</a:t>
            </a:r>
            <a:r>
              <a:rPr lang="en-US" spc="30" noProof="1"/>
              <a:t> </a:t>
            </a:r>
            <a:r>
              <a:rPr lang="en-US" spc="-40" noProof="1"/>
              <a:t>scale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1007100"/>
            <a:ext cx="4888865" cy="480966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6199"/>
              </a:lnSpc>
              <a:spcBef>
                <a:spcPts val="100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providers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benefit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economies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scale,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which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allows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them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offer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lower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prices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individual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company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achieve.</a:t>
            </a:r>
            <a:r>
              <a:rPr lang="en-US" sz="900" spc="7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because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they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buy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manage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resources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at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larger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scale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359994" y="1587030"/>
            <a:ext cx="5039995" cy="164465"/>
          </a:xfrm>
          <a:prstGeom prst="rect">
            <a:avLst/>
          </a:prstGeom>
          <a:solidFill>
            <a:srgbClr val="CED2D3"/>
          </a:solidFill>
        </p:spPr>
        <p:txBody>
          <a:bodyPr vert="horz" wrap="square" lIns="0" tIns="0" rIns="0" bIns="0" rtlCol="0">
            <a:spAutoFit/>
          </a:bodyPr>
          <a:lstStyle/>
          <a:p>
            <a:pPr marL="37465">
              <a:lnSpc>
                <a:spcPts val="1050"/>
              </a:lnSpc>
            </a:pPr>
            <a:r>
              <a:rPr lang="en-US" sz="900" b="1" spc="-25" noProof="1">
                <a:solidFill>
                  <a:srgbClr val="13AF3C"/>
                </a:solidFill>
                <a:latin typeface="Arial"/>
                <a:cs typeface="Arial"/>
              </a:rPr>
              <a:t>Example:</a:t>
            </a:r>
            <a:r>
              <a:rPr lang="en-US" sz="900" b="1" spc="135" noProof="1">
                <a:solidFill>
                  <a:srgbClr val="13AF3C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13AF3C"/>
                </a:solidFill>
                <a:latin typeface="Arial"/>
                <a:cs typeface="Arial"/>
              </a:rPr>
              <a:t>Hotel</a:t>
            </a:r>
            <a:r>
              <a:rPr lang="en-US" sz="900" b="1" spc="45" noProof="1">
                <a:solidFill>
                  <a:srgbClr val="13AF3C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13AF3C"/>
                </a:solidFill>
                <a:latin typeface="Arial"/>
                <a:cs typeface="Arial"/>
              </a:rPr>
              <a:t>Analogy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359994" y="1751456"/>
            <a:ext cx="5039995" cy="316865"/>
          </a:xfrm>
          <a:prstGeom prst="rect">
            <a:avLst/>
          </a:prstGeom>
          <a:solidFill>
            <a:srgbClr val="E4E6E6"/>
          </a:solidFill>
        </p:spPr>
        <p:txBody>
          <a:bodyPr vert="horz" wrap="square" lIns="0" tIns="3810" rIns="0" bIns="0" rtlCol="0">
            <a:spAutoFit/>
          </a:bodyPr>
          <a:lstStyle/>
          <a:p>
            <a:pPr marL="33655">
              <a:lnSpc>
                <a:spcPct val="100000"/>
              </a:lnSpc>
              <a:spcBef>
                <a:spcPts val="3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hotel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buy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food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and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cleaning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products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bulk,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obtain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better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prices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individual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endParaRPr lang="en-US" sz="900" noProof="1">
              <a:latin typeface="Arial"/>
              <a:cs typeface="Arial"/>
            </a:endParaRPr>
          </a:p>
          <a:p>
            <a:pPr marL="37465">
              <a:lnSpc>
                <a:spcPct val="100000"/>
              </a:lnSpc>
              <a:spcBef>
                <a:spcPts val="175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achieve.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504609" y="2190681"/>
            <a:ext cx="4751070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b="1" spc="-25" noProof="1">
                <a:solidFill>
                  <a:srgbClr val="EB811B"/>
                </a:solidFill>
                <a:latin typeface="Arial"/>
                <a:cs typeface="Arial"/>
              </a:rPr>
              <a:t>Aggregated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EB811B"/>
                </a:solidFill>
                <a:latin typeface="Arial"/>
                <a:cs typeface="Arial"/>
              </a:rPr>
              <a:t>demand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 from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multiple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5" noProof="1">
                <a:solidFill>
                  <a:srgbClr val="EB811B"/>
                </a:solidFill>
                <a:latin typeface="Arial"/>
                <a:cs typeface="Arial"/>
              </a:rPr>
              <a:t>companies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can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create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 a </a:t>
            </a:r>
            <a:r>
              <a:rPr lang="en-US" sz="900" b="1" spc="-20" noProof="1">
                <a:solidFill>
                  <a:srgbClr val="EB811B"/>
                </a:solidFill>
                <a:latin typeface="Arial"/>
                <a:cs typeface="Arial"/>
              </a:rPr>
              <a:t>more</a:t>
            </a:r>
            <a:r>
              <a:rPr lang="en-US" sz="900" b="1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EB811B"/>
                </a:solidFill>
                <a:latin typeface="Arial"/>
                <a:cs typeface="Arial"/>
              </a:rPr>
              <a:t>eﬀicient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EB811B"/>
                </a:solidFill>
                <a:latin typeface="Arial"/>
                <a:cs typeface="Arial"/>
              </a:rPr>
              <a:t>use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 of </a:t>
            </a:r>
            <a:r>
              <a:rPr lang="en-US" sz="900" b="1" spc="-60" noProof="1">
                <a:solidFill>
                  <a:srgbClr val="EB811B"/>
                </a:solidFill>
                <a:latin typeface="Arial"/>
                <a:cs typeface="Arial"/>
              </a:rPr>
              <a:t>resources.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7" name="object 7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8" name="object 8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3234963"/>
              <a:ext cx="2703830" cy="5080"/>
            </a:xfrm>
            <a:custGeom>
              <a:avLst/>
              <a:gdLst/>
              <a:ahLst/>
              <a:cxnLst/>
              <a:rect l="l" t="t" r="r" b="b"/>
              <a:pathLst>
                <a:path w="2703830" h="5080">
                  <a:moveTo>
                    <a:pt x="0" y="5060"/>
                  </a:moveTo>
                  <a:lnTo>
                    <a:pt x="0" y="0"/>
                  </a:lnTo>
                  <a:lnTo>
                    <a:pt x="2703726" y="0"/>
                  </a:lnTo>
                  <a:lnTo>
                    <a:pt x="2703726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20" noProof="1"/>
              <a:t>Adaptability</a:t>
            </a:r>
            <a:r>
              <a:rPr lang="en-US" noProof="1"/>
              <a:t> </a:t>
            </a:r>
            <a:r>
              <a:rPr lang="en-US" spc="-10" noProof="1"/>
              <a:t>and</a:t>
            </a:r>
            <a:r>
              <a:rPr lang="en-US" noProof="1"/>
              <a:t> </a:t>
            </a:r>
            <a:r>
              <a:rPr lang="en-US" spc="-35" noProof="1"/>
              <a:t>scalability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1075756"/>
            <a:ext cx="5067300" cy="34417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6199"/>
              </a:lnSpc>
              <a:spcBef>
                <a:spcPts val="100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allows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companies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scale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up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down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needed.</a:t>
            </a:r>
            <a:r>
              <a:rPr lang="en-US" sz="900" spc="7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They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stop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guessing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about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their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infrastructure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65" noProof="1">
                <a:solidFill>
                  <a:srgbClr val="22373A"/>
                </a:solidFill>
                <a:latin typeface="Arial"/>
                <a:cs typeface="Arial"/>
              </a:rPr>
              <a:t>needs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scale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up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down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business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changes.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359994" y="1496377"/>
            <a:ext cx="5039995" cy="164465"/>
          </a:xfrm>
          <a:prstGeom prst="rect">
            <a:avLst/>
          </a:prstGeom>
          <a:solidFill>
            <a:srgbClr val="CED2D3"/>
          </a:solidFill>
        </p:spPr>
        <p:txBody>
          <a:bodyPr vert="horz" wrap="square" lIns="0" tIns="0" rIns="0" bIns="0" rtlCol="0">
            <a:spAutoFit/>
          </a:bodyPr>
          <a:lstStyle/>
          <a:p>
            <a:pPr marL="37465">
              <a:lnSpc>
                <a:spcPts val="1050"/>
              </a:lnSpc>
            </a:pPr>
            <a:r>
              <a:rPr lang="en-US" sz="900" b="1" spc="-25" noProof="1">
                <a:solidFill>
                  <a:srgbClr val="13AF3C"/>
                </a:solidFill>
                <a:latin typeface="Arial"/>
                <a:cs typeface="Arial"/>
              </a:rPr>
              <a:t>Example:</a:t>
            </a:r>
            <a:r>
              <a:rPr lang="en-US" sz="900" b="1" spc="135" noProof="1">
                <a:solidFill>
                  <a:srgbClr val="13AF3C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13AF3C"/>
                </a:solidFill>
                <a:latin typeface="Arial"/>
                <a:cs typeface="Arial"/>
              </a:rPr>
              <a:t>Hotel</a:t>
            </a:r>
            <a:r>
              <a:rPr lang="en-US" sz="900" b="1" spc="45" noProof="1">
                <a:solidFill>
                  <a:srgbClr val="13AF3C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13AF3C"/>
                </a:solidFill>
                <a:latin typeface="Arial"/>
                <a:cs typeface="Arial"/>
              </a:rPr>
              <a:t>Analogy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359994" y="1660804"/>
            <a:ext cx="5039995" cy="339090"/>
          </a:xfrm>
          <a:prstGeom prst="rect">
            <a:avLst/>
          </a:prstGeom>
          <a:solidFill>
            <a:srgbClr val="E4E6E6"/>
          </a:solidFill>
        </p:spPr>
        <p:txBody>
          <a:bodyPr vert="horz" wrap="square" lIns="0" tIns="3810" rIns="0" bIns="0" rtlCol="0">
            <a:spAutoFit/>
          </a:bodyPr>
          <a:lstStyle/>
          <a:p>
            <a:pPr marL="37465">
              <a:lnSpc>
                <a:spcPct val="100000"/>
              </a:lnSpc>
              <a:spcBef>
                <a:spcPts val="3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If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want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suite,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rent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suite.</a:t>
            </a:r>
            <a:r>
              <a:rPr lang="en-US" sz="900" spc="8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If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want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single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room,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rent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single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room.</a:t>
            </a:r>
            <a:r>
              <a:rPr lang="en-US" sz="900" spc="8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Each</a:t>
            </a:r>
            <a:endParaRPr lang="en-US" sz="900" noProof="1">
              <a:latin typeface="Arial"/>
              <a:cs typeface="Arial"/>
            </a:endParaRPr>
          </a:p>
          <a:p>
            <a:pPr marL="37465">
              <a:lnSpc>
                <a:spcPct val="100000"/>
              </a:lnSpc>
              <a:spcBef>
                <a:spcPts val="17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time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rent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room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need.</a:t>
            </a:r>
            <a:r>
              <a:rPr lang="en-US" sz="900" spc="7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need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more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rooms?</a:t>
            </a:r>
            <a:r>
              <a:rPr lang="en-US" sz="900" spc="7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rent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more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rooms.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1534985" y="2122126"/>
            <a:ext cx="2690495" cy="150682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You</a:t>
            </a:r>
            <a:r>
              <a:rPr lang="en-US" sz="900" b="1" spc="-4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can</a:t>
            </a:r>
            <a:r>
              <a:rPr lang="en-US" sz="900" b="1" spc="-2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5" noProof="1">
                <a:solidFill>
                  <a:srgbClr val="EB811B"/>
                </a:solidFill>
                <a:latin typeface="Arial"/>
                <a:cs typeface="Arial"/>
              </a:rPr>
              <a:t>scale</a:t>
            </a:r>
            <a:r>
              <a:rPr lang="en-US" sz="900" b="1" spc="-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up</a:t>
            </a:r>
            <a:r>
              <a:rPr lang="en-US" sz="900" b="1" spc="-2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or</a:t>
            </a:r>
            <a:r>
              <a:rPr lang="en-US" sz="900" b="1" spc="-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EB811B"/>
                </a:solidFill>
                <a:latin typeface="Arial"/>
                <a:cs typeface="Arial"/>
              </a:rPr>
              <a:t>down</a:t>
            </a:r>
            <a:r>
              <a:rPr lang="en-US" sz="900" b="1" spc="-2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EB811B"/>
                </a:solidFill>
                <a:latin typeface="Arial"/>
                <a:cs typeface="Arial"/>
              </a:rPr>
              <a:t>as</a:t>
            </a:r>
            <a:r>
              <a:rPr lang="en-US" sz="900" b="1" spc="-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your</a:t>
            </a:r>
            <a:r>
              <a:rPr lang="en-US" sz="900" b="1" spc="-2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65" noProof="1">
                <a:solidFill>
                  <a:srgbClr val="EB811B"/>
                </a:solidFill>
                <a:latin typeface="Arial"/>
                <a:cs typeface="Arial"/>
              </a:rPr>
              <a:t>business</a:t>
            </a:r>
            <a:r>
              <a:rPr lang="en-US" sz="900" b="1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needed.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7" name="object 7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8" name="object 8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3234963"/>
              <a:ext cx="2821305" cy="5080"/>
            </a:xfrm>
            <a:custGeom>
              <a:avLst/>
              <a:gdLst/>
              <a:ahLst/>
              <a:cxnLst/>
              <a:rect l="l" t="t" r="r" b="b"/>
              <a:pathLst>
                <a:path w="2821305" h="5080">
                  <a:moveTo>
                    <a:pt x="0" y="5060"/>
                  </a:moveTo>
                  <a:lnTo>
                    <a:pt x="0" y="0"/>
                  </a:lnTo>
                  <a:lnTo>
                    <a:pt x="2821237" y="0"/>
                  </a:lnTo>
                  <a:lnTo>
                    <a:pt x="282123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109474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25" noProof="1"/>
              <a:t>Deployment</a:t>
            </a:r>
            <a:r>
              <a:rPr lang="en-US" spc="45" noProof="1"/>
              <a:t> </a:t>
            </a:r>
            <a:r>
              <a:rPr lang="en-US" spc="-45" noProof="1"/>
              <a:t>speed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1075642"/>
            <a:ext cx="4879340" cy="5035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 algn="just">
              <a:lnSpc>
                <a:spcPct val="116199"/>
              </a:lnSpc>
              <a:spcBef>
                <a:spcPts val="100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computing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provided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demand,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so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vast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amounts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computing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resources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be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provisioned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minutes.</a:t>
            </a:r>
            <a:r>
              <a:rPr lang="en-US" sz="900" spc="10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gives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60" noProof="1">
                <a:solidFill>
                  <a:srgbClr val="22373A"/>
                </a:solidFill>
                <a:latin typeface="Arial"/>
                <a:cs typeface="Arial"/>
              </a:rPr>
              <a:t>businesses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lot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flexibility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taking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pressure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off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capacity planning.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359994" y="1655584"/>
            <a:ext cx="5039995" cy="164465"/>
          </a:xfrm>
          <a:prstGeom prst="rect">
            <a:avLst/>
          </a:prstGeom>
          <a:solidFill>
            <a:srgbClr val="CED2D3"/>
          </a:solidFill>
        </p:spPr>
        <p:txBody>
          <a:bodyPr vert="horz" wrap="square" lIns="0" tIns="0" rIns="0" bIns="0" rtlCol="0">
            <a:spAutoFit/>
          </a:bodyPr>
          <a:lstStyle/>
          <a:p>
            <a:pPr marL="37465">
              <a:lnSpc>
                <a:spcPts val="1050"/>
              </a:lnSpc>
            </a:pPr>
            <a:r>
              <a:rPr lang="en-US" sz="900" b="1" spc="-25" noProof="1">
                <a:solidFill>
                  <a:srgbClr val="13AF3C"/>
                </a:solidFill>
                <a:latin typeface="Arial"/>
                <a:cs typeface="Arial"/>
              </a:rPr>
              <a:t>Example:</a:t>
            </a:r>
            <a:r>
              <a:rPr lang="en-US" sz="900" b="1" spc="135" noProof="1">
                <a:solidFill>
                  <a:srgbClr val="13AF3C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13AF3C"/>
                </a:solidFill>
                <a:latin typeface="Arial"/>
                <a:cs typeface="Arial"/>
              </a:rPr>
              <a:t>Hotel</a:t>
            </a:r>
            <a:r>
              <a:rPr lang="en-US" sz="900" b="1" spc="45" noProof="1">
                <a:solidFill>
                  <a:srgbClr val="13AF3C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13AF3C"/>
                </a:solidFill>
                <a:latin typeface="Arial"/>
                <a:cs typeface="Arial"/>
              </a:rPr>
              <a:t>Analogy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359994" y="1820011"/>
            <a:ext cx="5039995" cy="179705"/>
          </a:xfrm>
          <a:prstGeom prst="rect">
            <a:avLst/>
          </a:prstGeom>
          <a:solidFill>
            <a:srgbClr val="E4E6E6"/>
          </a:solidFill>
        </p:spPr>
        <p:txBody>
          <a:bodyPr vert="horz" wrap="square" lIns="0" tIns="3810" rIns="0" bIns="0" rtlCol="0">
            <a:spAutoFit/>
          </a:bodyPr>
          <a:lstStyle/>
          <a:p>
            <a:pPr marL="33655">
              <a:lnSpc>
                <a:spcPct val="100000"/>
              </a:lnSpc>
              <a:spcBef>
                <a:spcPts val="30"/>
              </a:spcBef>
            </a:pP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rent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 room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minutes.</a:t>
            </a:r>
            <a:r>
              <a:rPr lang="en-US" sz="900" spc="8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How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long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does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it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take to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buy a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house?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1982393" y="2122126"/>
            <a:ext cx="1795780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You</a:t>
            </a:r>
            <a:r>
              <a:rPr lang="en-US" sz="900" b="1" spc="-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EB811B"/>
                </a:solidFill>
                <a:latin typeface="Arial"/>
                <a:cs typeface="Arial"/>
              </a:rPr>
              <a:t>can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 get </a:t>
            </a:r>
            <a:r>
              <a:rPr lang="en-US" sz="900" b="1" spc="-55" noProof="1">
                <a:solidFill>
                  <a:srgbClr val="EB811B"/>
                </a:solidFill>
                <a:latin typeface="Arial"/>
                <a:cs typeface="Arial"/>
              </a:rPr>
              <a:t>resources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 in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minutes.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7" name="object 7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8" name="object 8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3234963"/>
              <a:ext cx="2939415" cy="5080"/>
            </a:xfrm>
            <a:custGeom>
              <a:avLst/>
              <a:gdLst/>
              <a:ahLst/>
              <a:cxnLst/>
              <a:rect l="l" t="t" r="r" b="b"/>
              <a:pathLst>
                <a:path w="2939415" h="5080">
                  <a:moveTo>
                    <a:pt x="0" y="5060"/>
                  </a:moveTo>
                  <a:lnTo>
                    <a:pt x="0" y="0"/>
                  </a:lnTo>
                  <a:lnTo>
                    <a:pt x="2938836" y="0"/>
                  </a:lnTo>
                  <a:lnTo>
                    <a:pt x="2938836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3766820" cy="166071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5" noProof="1"/>
              <a:t>Case</a:t>
            </a:r>
            <a:r>
              <a:rPr lang="en-US" spc="-5" noProof="1"/>
              <a:t> </a:t>
            </a:r>
            <a:r>
              <a:rPr lang="en-US" spc="-10" noProof="1"/>
              <a:t>Study:</a:t>
            </a:r>
            <a:r>
              <a:rPr lang="en-US" spc="95" noProof="1"/>
              <a:t> </a:t>
            </a:r>
            <a:r>
              <a:rPr lang="en-US" spc="-30" noProof="1"/>
              <a:t>Dropbox</a:t>
            </a:r>
            <a:endParaRPr lang="en-US" spc="-35" noProof="1"/>
          </a:p>
        </p:txBody>
      </p:sp>
      <p:sp>
        <p:nvSpPr>
          <p:cNvPr id="3" name="object 3"/>
          <p:cNvSpPr txBox="1"/>
          <p:nvPr/>
        </p:nvSpPr>
        <p:spPr>
          <a:xfrm>
            <a:off x="347294" y="397945"/>
            <a:ext cx="4902200" cy="6629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6199"/>
              </a:lnSpc>
              <a:spcBef>
                <a:spcPts val="100"/>
              </a:spcBef>
            </a:pPr>
            <a:r>
              <a:rPr lang="en-US" sz="900" b="1" spc="-10" noProof="1">
                <a:solidFill>
                  <a:srgbClr val="0070C0"/>
                </a:solidFill>
                <a:latin typeface="Arial"/>
                <a:cs typeface="Arial"/>
              </a:rPr>
              <a:t>Dropbox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file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hosting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service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offers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storage,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file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synchronization,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personal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cloud,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client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software.</a:t>
            </a:r>
            <a:r>
              <a:rPr lang="en-US" sz="900" spc="1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allows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users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create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particular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folder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their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computers,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which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Dropbox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then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synchronizes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so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appears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same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folder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(with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same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contents)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regardless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which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device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is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used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view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it. 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240004" y="1209878"/>
            <a:ext cx="5081296" cy="132024"/>
          </a:xfrm>
          <a:prstGeom prst="rect">
            <a:avLst/>
          </a:prstGeom>
          <a:solidFill>
            <a:srgbClr val="CED2D3"/>
          </a:solidFill>
        </p:spPr>
        <p:txBody>
          <a:bodyPr vert="horz" wrap="square" lIns="0" tIns="0" rIns="0" bIns="0" rtlCol="0">
            <a:spAutoFit/>
          </a:bodyPr>
          <a:lstStyle/>
          <a:p>
            <a:pPr marL="37465">
              <a:lnSpc>
                <a:spcPts val="1050"/>
              </a:lnSpc>
            </a:pPr>
            <a:r>
              <a:rPr lang="en-US" sz="900" b="1" spc="-25" noProof="1">
                <a:solidFill>
                  <a:srgbClr val="EB811B"/>
                </a:solidFill>
                <a:latin typeface="Arial"/>
                <a:cs typeface="Arial"/>
              </a:rPr>
              <a:t>Dropbox</a:t>
            </a:r>
            <a:r>
              <a:rPr lang="en-US" sz="900" b="1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5" noProof="1">
                <a:solidFill>
                  <a:srgbClr val="EB811B"/>
                </a:solidFill>
                <a:latin typeface="Arial"/>
                <a:cs typeface="Arial"/>
              </a:rPr>
              <a:t>using</a:t>
            </a:r>
            <a:r>
              <a:rPr lang="en-US" sz="900" b="1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EB811B"/>
                </a:solidFill>
                <a:latin typeface="Arial"/>
                <a:cs typeface="Arial"/>
              </a:rPr>
              <a:t>Public</a:t>
            </a:r>
            <a:r>
              <a:rPr lang="en-US" sz="900" b="1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Cloud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240004" y="1374305"/>
            <a:ext cx="5081296" cy="727187"/>
          </a:xfrm>
          <a:prstGeom prst="rect">
            <a:avLst/>
          </a:prstGeom>
          <a:solidFill>
            <a:srgbClr val="E4E6E6"/>
          </a:solidFill>
        </p:spPr>
        <p:txBody>
          <a:bodyPr vert="horz" wrap="square" lIns="0" tIns="5080" rIns="0" bIns="0" rtlCol="0">
            <a:spAutoFit/>
          </a:bodyPr>
          <a:lstStyle/>
          <a:p>
            <a:pPr marL="37465">
              <a:lnSpc>
                <a:spcPct val="100000"/>
              </a:lnSpc>
              <a:spcBef>
                <a:spcPts val="4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early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stages,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Dropbox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leveraged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AWS’s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S3</a:t>
            </a:r>
            <a:r>
              <a:rPr lang="en-US" sz="900" noProof="1"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service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file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storage.</a:t>
            </a:r>
            <a:r>
              <a:rPr lang="en-US" sz="900" spc="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decision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offered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Dropbox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ability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to: </a:t>
            </a:r>
            <a:endParaRPr lang="en-US" sz="900" noProof="1">
              <a:latin typeface="Arial"/>
              <a:cs typeface="Arial"/>
            </a:endParaRPr>
          </a:p>
          <a:p>
            <a:pPr marL="227329" marR="26034" indent="-147955">
              <a:lnSpc>
                <a:spcPct val="116199"/>
              </a:lnSpc>
              <a:spcBef>
                <a:spcPts val="445"/>
              </a:spcBef>
              <a:buClr>
                <a:srgbClr val="EB811B"/>
              </a:buClr>
              <a:buChar char="•"/>
              <a:tabLst>
                <a:tab pos="227329" algn="l"/>
              </a:tabLst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Rapidly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scale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storage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capacity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user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demand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increased.</a:t>
            </a:r>
            <a:endParaRPr lang="en-US" sz="900" noProof="1">
              <a:latin typeface="Arial"/>
              <a:cs typeface="Arial"/>
            </a:endParaRPr>
          </a:p>
          <a:p>
            <a:pPr marL="222885" marR="388620" indent="-143510">
              <a:lnSpc>
                <a:spcPct val="116199"/>
              </a:lnSpc>
              <a:spcBef>
                <a:spcPts val="450"/>
              </a:spcBef>
              <a:buClr>
                <a:srgbClr val="EB811B"/>
              </a:buClr>
              <a:buChar char="•"/>
              <a:tabLst>
                <a:tab pos="227329" algn="l"/>
              </a:tabLst>
            </a:pP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Achieve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swift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production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deployment,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enhancing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their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market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responsiveness.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8" name="object 8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9" name="object 9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1" name="object 11"/>
            <p:cNvSpPr/>
            <p:nvPr/>
          </p:nvSpPr>
          <p:spPr>
            <a:xfrm>
              <a:off x="0" y="3234963"/>
              <a:ext cx="3056890" cy="5080"/>
            </a:xfrm>
            <a:custGeom>
              <a:avLst/>
              <a:gdLst/>
              <a:ahLst/>
              <a:cxnLst/>
              <a:rect l="l" t="t" r="r" b="b"/>
              <a:pathLst>
                <a:path w="3056890" h="5080">
                  <a:moveTo>
                    <a:pt x="0" y="5060"/>
                  </a:moveTo>
                  <a:lnTo>
                    <a:pt x="0" y="0"/>
                  </a:lnTo>
                  <a:lnTo>
                    <a:pt x="3056347" y="0"/>
                  </a:lnTo>
                  <a:lnTo>
                    <a:pt x="305634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6" name="object 4">
            <a:extLst>
              <a:ext uri="{FF2B5EF4-FFF2-40B4-BE49-F238E27FC236}">
                <a16:creationId xmlns:a16="http://schemas.microsoft.com/office/drawing/2014/main" id="{4F5519C6-C707-B746-D702-E190A0DAD823}"/>
              </a:ext>
            </a:extLst>
          </p:cNvPr>
          <p:cNvSpPr txBox="1"/>
          <p:nvPr/>
        </p:nvSpPr>
        <p:spPr>
          <a:xfrm>
            <a:off x="257746" y="2174248"/>
            <a:ext cx="5081296" cy="132024"/>
          </a:xfrm>
          <a:prstGeom prst="rect">
            <a:avLst/>
          </a:prstGeom>
          <a:solidFill>
            <a:srgbClr val="CED2D3"/>
          </a:solidFill>
        </p:spPr>
        <p:txBody>
          <a:bodyPr vert="horz" wrap="square" lIns="0" tIns="0" rIns="0" bIns="0" rtlCol="0">
            <a:spAutoFit/>
          </a:bodyPr>
          <a:lstStyle/>
          <a:p>
            <a:pPr marL="37465">
              <a:lnSpc>
                <a:spcPts val="1050"/>
              </a:lnSpc>
            </a:pPr>
            <a:r>
              <a:rPr lang="en-US" sz="900" b="1" spc="-25" noProof="1">
                <a:solidFill>
                  <a:srgbClr val="EB811B"/>
                </a:solidFill>
                <a:latin typeface="Arial"/>
                <a:cs typeface="Arial"/>
              </a:rPr>
              <a:t>Disadvantage: </a:t>
            </a:r>
            <a:r>
              <a:rPr lang="en-US" sz="900" b="1" spc="-25" noProof="1">
                <a:solidFill>
                  <a:schemeClr val="tx1"/>
                </a:solidFill>
                <a:latin typeface="Arial"/>
                <a:cs typeface="Arial"/>
              </a:rPr>
              <a:t>Elevated Cost </a:t>
            </a:r>
            <a:endParaRPr lang="en-US" sz="900" noProof="1">
              <a:solidFill>
                <a:schemeClr val="tx1"/>
              </a:solidFill>
              <a:latin typeface="Arial"/>
              <a:cs typeface="Arial"/>
            </a:endParaRPr>
          </a:p>
        </p:txBody>
      </p:sp>
    </p:spTree>
  </p:cSld>
  <p:clrMapOvr>
    <a:masterClrMapping/>
  </p:clrMapOvr>
  <p:transition>
    <p:cut/>
  </p:transition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25"/>
            <a:ext cx="5760085" cy="3240405"/>
          </a:xfrm>
          <a:custGeom>
            <a:avLst/>
            <a:gdLst/>
            <a:ahLst/>
            <a:cxnLst/>
            <a:rect l="l" t="t" r="r" b="b"/>
            <a:pathLst>
              <a:path w="5760085" h="3240405">
                <a:moveTo>
                  <a:pt x="5759996" y="0"/>
                </a:moveTo>
                <a:lnTo>
                  <a:pt x="0" y="0"/>
                </a:lnTo>
                <a:lnTo>
                  <a:pt x="0" y="3239998"/>
                </a:lnTo>
                <a:lnTo>
                  <a:pt x="5759996" y="3239998"/>
                </a:lnTo>
                <a:lnTo>
                  <a:pt x="5759996" y="0"/>
                </a:lnTo>
                <a:close/>
              </a:path>
            </a:pathLst>
          </a:custGeom>
          <a:solidFill>
            <a:srgbClr val="F9F9F9"/>
          </a:solidFill>
        </p:spPr>
        <p:txBody>
          <a:bodyPr wrap="square" lIns="0" tIns="0" rIns="0" bIns="0" rtlCol="0"/>
          <a:lstStyle/>
          <a:p>
            <a:endParaRPr lang="en-US" noProof="1"/>
          </a:p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1614703" y="1257691"/>
            <a:ext cx="1940560" cy="4038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2799"/>
              </a:lnSpc>
              <a:spcBef>
                <a:spcPts val="100"/>
              </a:spcBef>
            </a:pPr>
            <a:r>
              <a:rPr lang="en-US" sz="1100" spc="-70" noProof="1">
                <a:solidFill>
                  <a:srgbClr val="22373A"/>
                </a:solidFill>
                <a:hlinkClick r:id="rId3" action="ppaction://hlinksldjump"/>
              </a:rPr>
              <a:t>Risks</a:t>
            </a:r>
            <a:r>
              <a:rPr lang="en-US" sz="1100" spc="15" noProof="1">
                <a:solidFill>
                  <a:srgbClr val="22373A"/>
                </a:solidFill>
                <a:hlinkClick r:id="rId3" action="ppaction://hlinksldjump"/>
              </a:rPr>
              <a:t> </a:t>
            </a:r>
            <a:r>
              <a:rPr lang="en-US" sz="1100" spc="-20" noProof="1">
                <a:solidFill>
                  <a:srgbClr val="22373A"/>
                </a:solidFill>
                <a:hlinkClick r:id="rId3" action="ppaction://hlinksldjump"/>
              </a:rPr>
              <a:t>and</a:t>
            </a:r>
            <a:r>
              <a:rPr lang="en-US" sz="1100" spc="20" noProof="1">
                <a:solidFill>
                  <a:srgbClr val="22373A"/>
                </a:solidFill>
                <a:hlinkClick r:id="rId3" action="ppaction://hlinksldjump"/>
              </a:rPr>
              <a:t> </a:t>
            </a:r>
            <a:r>
              <a:rPr lang="en-US" sz="1100" spc="-55" noProof="1">
                <a:solidFill>
                  <a:srgbClr val="22373A"/>
                </a:solidFill>
                <a:hlinkClick r:id="rId3" action="ppaction://hlinksldjump"/>
              </a:rPr>
              <a:t>Challenges</a:t>
            </a:r>
            <a:r>
              <a:rPr lang="en-US" sz="1100" spc="15" noProof="1">
                <a:solidFill>
                  <a:srgbClr val="22373A"/>
                </a:solidFill>
                <a:hlinkClick r:id="rId3" action="ppaction://hlinksldjump"/>
              </a:rPr>
              <a:t> </a:t>
            </a:r>
            <a:r>
              <a:rPr lang="en-US" sz="1100" noProof="1">
                <a:solidFill>
                  <a:srgbClr val="22373A"/>
                </a:solidFill>
                <a:hlinkClick r:id="rId3" action="ppaction://hlinksldjump"/>
              </a:rPr>
              <a:t>of</a:t>
            </a:r>
            <a:r>
              <a:rPr lang="en-US" sz="1100" spc="20" noProof="1">
                <a:solidFill>
                  <a:srgbClr val="22373A"/>
                </a:solidFill>
                <a:hlinkClick r:id="rId3" action="ppaction://hlinksldjump"/>
              </a:rPr>
              <a:t> </a:t>
            </a:r>
            <a:r>
              <a:rPr lang="en-US" sz="1100" spc="-50" noProof="1">
                <a:solidFill>
                  <a:srgbClr val="22373A"/>
                </a:solidFill>
                <a:hlinkClick r:id="rId3" action="ppaction://hlinksldjump"/>
              </a:rPr>
              <a:t>Cloud</a:t>
            </a:r>
            <a:r>
              <a:rPr lang="en-US" sz="1100" spc="-50" noProof="1">
                <a:solidFill>
                  <a:srgbClr val="22373A"/>
                </a:solidFill>
              </a:rPr>
              <a:t> </a:t>
            </a:r>
            <a:r>
              <a:rPr lang="en-US" sz="1100" spc="-10" noProof="1">
                <a:solidFill>
                  <a:srgbClr val="22373A"/>
                </a:solidFill>
                <a:hlinkClick r:id="rId3" action="ppaction://hlinksldjump"/>
              </a:rPr>
              <a:t>Computing</a:t>
            </a:r>
            <a:endParaRPr lang="en-US" sz="1100" noProof="1"/>
          </a:p>
        </p:txBody>
      </p:sp>
      <p:grpSp>
        <p:nvGrpSpPr>
          <p:cNvPr id="4" name="object 4"/>
          <p:cNvGrpSpPr/>
          <p:nvPr/>
        </p:nvGrpSpPr>
        <p:grpSpPr>
          <a:xfrm>
            <a:off x="1627403" y="1741633"/>
            <a:ext cx="2505710" cy="5080"/>
            <a:chOff x="1627403" y="1741633"/>
            <a:chExt cx="2505710" cy="5080"/>
          </a:xfrm>
        </p:grpSpPr>
        <p:sp>
          <p:nvSpPr>
            <p:cNvPr id="5" name="object 5"/>
            <p:cNvSpPr/>
            <p:nvPr/>
          </p:nvSpPr>
          <p:spPr>
            <a:xfrm>
              <a:off x="1627403" y="1741633"/>
              <a:ext cx="2505710" cy="5080"/>
            </a:xfrm>
            <a:custGeom>
              <a:avLst/>
              <a:gdLst/>
              <a:ahLst/>
              <a:cxnLst/>
              <a:rect l="l" t="t" r="r" b="b"/>
              <a:pathLst>
                <a:path w="2505710" h="5080">
                  <a:moveTo>
                    <a:pt x="0" y="5060"/>
                  </a:moveTo>
                  <a:lnTo>
                    <a:pt x="0" y="0"/>
                  </a:lnTo>
                  <a:lnTo>
                    <a:pt x="2505237" y="0"/>
                  </a:lnTo>
                  <a:lnTo>
                    <a:pt x="250523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1627403" y="1741633"/>
              <a:ext cx="1380490" cy="5080"/>
            </a:xfrm>
            <a:custGeom>
              <a:avLst/>
              <a:gdLst/>
              <a:ahLst/>
              <a:cxnLst/>
              <a:rect l="l" t="t" r="r" b="b"/>
              <a:pathLst>
                <a:path w="1380489" h="5080">
                  <a:moveTo>
                    <a:pt x="0" y="5060"/>
                  </a:moveTo>
                  <a:lnTo>
                    <a:pt x="0" y="0"/>
                  </a:lnTo>
                  <a:lnTo>
                    <a:pt x="1380449" y="0"/>
                  </a:lnTo>
                  <a:lnTo>
                    <a:pt x="1380449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Data</a:t>
            </a:r>
            <a:r>
              <a:rPr lang="en-US" spc="145" noProof="1"/>
              <a:t> </a:t>
            </a:r>
            <a:r>
              <a:rPr lang="en-US" spc="-40" noProof="1"/>
              <a:t>security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950306"/>
            <a:ext cx="5005705" cy="145986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106045">
              <a:lnSpc>
                <a:spcPct val="116199"/>
              </a:lnSpc>
              <a:spcBef>
                <a:spcPts val="100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providers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invest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heavily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security,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but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breaches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and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do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happen.</a:t>
            </a:r>
            <a:r>
              <a:rPr lang="en-US" sz="900" spc="8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is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immune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security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threats,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companies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must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carefully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manage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their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security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measures.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800"/>
              </a:spcBef>
              <a:buChar char="•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breaches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compliance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Misconfiguration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Insider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threats</a:t>
            </a:r>
            <a:endParaRPr lang="en-US" sz="900" noProof="1">
              <a:latin typeface="Arial"/>
              <a:cs typeface="Arial"/>
            </a:endParaRPr>
          </a:p>
          <a:p>
            <a:pPr marL="2185035" marR="5080" indent="-2112645">
              <a:lnSpc>
                <a:spcPct val="116199"/>
              </a:lnSpc>
              <a:spcBef>
                <a:spcPts val="625"/>
              </a:spcBef>
            </a:pP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You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EB811B"/>
                </a:solidFill>
                <a:latin typeface="Arial"/>
                <a:cs typeface="Arial"/>
              </a:rPr>
              <a:t>need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to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be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EB811B"/>
                </a:solidFill>
                <a:latin typeface="Arial"/>
                <a:cs typeface="Arial"/>
              </a:rPr>
              <a:t>aware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of</a:t>
            </a:r>
            <a:r>
              <a:rPr lang="en-US" sz="900" b="1" spc="2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the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EB811B"/>
                </a:solidFill>
                <a:latin typeface="Arial"/>
                <a:cs typeface="Arial"/>
              </a:rPr>
              <a:t>security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50" noProof="1">
                <a:solidFill>
                  <a:srgbClr val="EB811B"/>
                </a:solidFill>
                <a:latin typeface="Arial"/>
                <a:cs typeface="Arial"/>
              </a:rPr>
              <a:t>measures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of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EB811B"/>
                </a:solidFill>
                <a:latin typeface="Arial"/>
                <a:cs typeface="Arial"/>
              </a:rPr>
              <a:t>your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EB811B"/>
                </a:solidFill>
                <a:latin typeface="Arial"/>
                <a:cs typeface="Arial"/>
              </a:rPr>
              <a:t>cloud</a:t>
            </a:r>
            <a:r>
              <a:rPr lang="en-US" sz="900" b="1" spc="2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EB811B"/>
                </a:solidFill>
                <a:latin typeface="Arial"/>
                <a:cs typeface="Arial"/>
              </a:rPr>
              <a:t>provider and yours,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it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EB811B"/>
                </a:solidFill>
                <a:latin typeface="Arial"/>
                <a:cs typeface="Arial"/>
              </a:rPr>
              <a:t>is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a</a:t>
            </a:r>
            <a:r>
              <a:rPr lang="en-US" sz="900" b="1" spc="2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EB811B"/>
                </a:solidFill>
                <a:latin typeface="Arial"/>
                <a:cs typeface="Arial"/>
              </a:rPr>
              <a:t>shared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responsibility.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3291840" cy="5080"/>
            </a:xfrm>
            <a:custGeom>
              <a:avLst/>
              <a:gdLst/>
              <a:ahLst/>
              <a:cxnLst/>
              <a:rect l="l" t="t" r="r" b="b"/>
              <a:pathLst>
                <a:path w="3291840" h="5080">
                  <a:moveTo>
                    <a:pt x="0" y="5060"/>
                  </a:moveTo>
                  <a:lnTo>
                    <a:pt x="0" y="0"/>
                  </a:lnTo>
                  <a:lnTo>
                    <a:pt x="3291458" y="0"/>
                  </a:lnTo>
                  <a:lnTo>
                    <a:pt x="3291458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Real </a:t>
            </a:r>
            <a:r>
              <a:rPr lang="en-US" spc="-60" noProof="1"/>
              <a:t>Cases</a:t>
            </a:r>
            <a:r>
              <a:rPr lang="en-US" spc="5" noProof="1"/>
              <a:t> </a:t>
            </a:r>
            <a:r>
              <a:rPr lang="en-US" noProof="1"/>
              <a:t>of </a:t>
            </a:r>
            <a:r>
              <a:rPr lang="en-US" spc="-30" noProof="1"/>
              <a:t>Security</a:t>
            </a:r>
            <a:r>
              <a:rPr lang="en-US" spc="5" noProof="1"/>
              <a:t> </a:t>
            </a:r>
            <a:r>
              <a:rPr lang="en-US" spc="-35" noProof="1"/>
              <a:t>Breaches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427126" y="950306"/>
            <a:ext cx="4930140" cy="145986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53670" marR="5080" indent="-141605">
              <a:lnSpc>
                <a:spcPct val="116199"/>
              </a:lnSpc>
              <a:spcBef>
                <a:spcPts val="100"/>
              </a:spcBef>
              <a:buChar char="•"/>
              <a:tabLst>
                <a:tab pos="160020" algn="l"/>
              </a:tabLst>
            </a:pP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WannaCry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ransomware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attack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2017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affected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more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200,000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computers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150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countries, 	including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UK’s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National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Health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Service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(NHS).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attack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encrypted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computers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and 	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demanded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ransom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unlock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it.</a:t>
            </a:r>
            <a:endParaRPr lang="en-US" sz="900" noProof="1">
              <a:latin typeface="Arial"/>
              <a:cs typeface="Arial"/>
            </a:endParaRPr>
          </a:p>
          <a:p>
            <a:pPr marL="160020" marR="233045" indent="-147955">
              <a:lnSpc>
                <a:spcPct val="116199"/>
              </a:lnSpc>
              <a:buChar char="•"/>
              <a:tabLst>
                <a:tab pos="160020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2021,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Universitat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Autònoma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Barcelona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(UAB)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suffered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breach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exposed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personal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information of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students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and staff.</a:t>
            </a:r>
            <a:r>
              <a:rPr lang="en-US" sz="900" spc="8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breach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occurred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when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hacker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gained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unauthorized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solidFill>
                  <a:srgbClr val="22373A"/>
                </a:solidFill>
                <a:latin typeface="Arial"/>
                <a:cs typeface="Arial"/>
              </a:rPr>
              <a:t>access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university’s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computer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systems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stole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sensitive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data.</a:t>
            </a:r>
            <a:endParaRPr lang="en-US" sz="900" noProof="1">
              <a:latin typeface="Arial"/>
              <a:cs typeface="Arial"/>
            </a:endParaRPr>
          </a:p>
          <a:p>
            <a:pPr marL="160020" marR="354965" indent="-147955">
              <a:lnSpc>
                <a:spcPct val="116199"/>
              </a:lnSpc>
              <a:buChar char="•"/>
              <a:tabLst>
                <a:tab pos="160020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2023,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Clinic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Barcelona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Hospital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suffered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breach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exposed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personal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information of million of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patients.</a:t>
            </a:r>
            <a:r>
              <a:rPr lang="en-US" sz="900" spc="8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breach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occurred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when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subcontractor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accidentally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uploaded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patient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internet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without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proper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security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measures.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3409315" cy="5080"/>
            </a:xfrm>
            <a:custGeom>
              <a:avLst/>
              <a:gdLst/>
              <a:ahLst/>
              <a:cxnLst/>
              <a:rect l="l" t="t" r="r" b="b"/>
              <a:pathLst>
                <a:path w="3409315" h="5080">
                  <a:moveTo>
                    <a:pt x="0" y="5060"/>
                  </a:moveTo>
                  <a:lnTo>
                    <a:pt x="0" y="0"/>
                  </a:lnTo>
                  <a:lnTo>
                    <a:pt x="3409057" y="0"/>
                  </a:lnTo>
                  <a:lnTo>
                    <a:pt x="340905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How</a:t>
            </a:r>
            <a:r>
              <a:rPr lang="en-US" spc="25" noProof="1"/>
              <a:t> </a:t>
            </a:r>
            <a:r>
              <a:rPr lang="en-US" noProof="1"/>
              <a:t>to</a:t>
            </a:r>
            <a:r>
              <a:rPr lang="en-US" spc="30" noProof="1"/>
              <a:t> </a:t>
            </a:r>
            <a:r>
              <a:rPr lang="en-US" spc="-10" noProof="1"/>
              <a:t>protect</a:t>
            </a:r>
            <a:r>
              <a:rPr lang="en-US" spc="25" noProof="1"/>
              <a:t> </a:t>
            </a:r>
            <a:r>
              <a:rPr lang="en-US" spc="-35" noProof="1"/>
              <a:t>your</a:t>
            </a:r>
            <a:r>
              <a:rPr lang="en-US" spc="30" noProof="1"/>
              <a:t> </a:t>
            </a:r>
            <a:r>
              <a:rPr lang="en-US" noProof="1"/>
              <a:t>data</a:t>
            </a:r>
            <a:r>
              <a:rPr lang="en-US" spc="25" noProof="1"/>
              <a:t> </a:t>
            </a:r>
            <a:r>
              <a:rPr lang="en-US" noProof="1"/>
              <a:t>in</a:t>
            </a:r>
            <a:r>
              <a:rPr lang="en-US" spc="30" noProof="1"/>
              <a:t> </a:t>
            </a:r>
            <a:r>
              <a:rPr lang="en-US" noProof="1"/>
              <a:t>the</a:t>
            </a:r>
            <a:r>
              <a:rPr lang="en-US" spc="25" noProof="1"/>
              <a:t> </a:t>
            </a:r>
            <a:r>
              <a:rPr lang="en-US" spc="-45" noProof="1"/>
              <a:t>cloud?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427126" y="950230"/>
            <a:ext cx="4977130" cy="1459865"/>
          </a:xfrm>
          <a:prstGeom prst="rect">
            <a:avLst/>
          </a:prstGeom>
        </p:spPr>
        <p:txBody>
          <a:bodyPr vert="horz" wrap="square" lIns="0" tIns="34925" rIns="0" bIns="0" rtlCol="0">
            <a:spAutoFit/>
          </a:bodyPr>
          <a:lstStyle/>
          <a:p>
            <a:pPr marL="160020" indent="-147320">
              <a:lnSpc>
                <a:spcPct val="100000"/>
              </a:lnSpc>
              <a:spcBef>
                <a:spcPts val="275"/>
              </a:spcBef>
              <a:buFont typeface="Arial"/>
              <a:buChar char="•"/>
              <a:tabLst>
                <a:tab pos="160020" algn="l"/>
              </a:tabLst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b="1" spc="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encryption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1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Encrypt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at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rest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transit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protect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unauthorized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access.</a:t>
            </a:r>
            <a:endParaRPr lang="en-US" sz="900" noProof="1">
              <a:latin typeface="Arial"/>
              <a:cs typeface="Arial"/>
            </a:endParaRPr>
          </a:p>
          <a:p>
            <a:pPr marL="160020" marR="7620" indent="-147955">
              <a:lnSpc>
                <a:spcPct val="116199"/>
              </a:lnSpc>
              <a:buFont typeface="Arial"/>
              <a:buChar char="•"/>
              <a:tabLst>
                <a:tab pos="160020" algn="l"/>
              </a:tabLst>
            </a:pPr>
            <a:r>
              <a:rPr lang="en-US" sz="900" b="1" spc="-65" noProof="1">
                <a:solidFill>
                  <a:srgbClr val="22373A"/>
                </a:solidFill>
                <a:latin typeface="Arial"/>
                <a:cs typeface="Arial"/>
              </a:rPr>
              <a:t>Access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control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9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Implement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strong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solidFill>
                  <a:srgbClr val="22373A"/>
                </a:solidFill>
                <a:latin typeface="Arial"/>
                <a:cs typeface="Arial"/>
              </a:rPr>
              <a:t>access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controls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ensure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only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authorized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users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access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data.</a:t>
            </a:r>
            <a:endParaRPr lang="en-US" sz="900" noProof="1">
              <a:latin typeface="Arial"/>
              <a:cs typeface="Arial"/>
            </a:endParaRPr>
          </a:p>
          <a:p>
            <a:pPr marL="160020" marR="5080" indent="-147955">
              <a:lnSpc>
                <a:spcPct val="116199"/>
              </a:lnSpc>
              <a:buFont typeface="Arial"/>
              <a:buChar char="•"/>
              <a:tabLst>
                <a:tab pos="160020" algn="l"/>
              </a:tabLst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b="1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backup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1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Regularly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back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up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ensure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recovered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event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loss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corruption.</a:t>
            </a:r>
            <a:endParaRPr lang="en-US" sz="900" noProof="1">
              <a:latin typeface="Arial"/>
              <a:cs typeface="Arial"/>
            </a:endParaRPr>
          </a:p>
          <a:p>
            <a:pPr marL="160020" marR="9525" indent="-147955">
              <a:lnSpc>
                <a:spcPct val="116199"/>
              </a:lnSpc>
              <a:buFont typeface="Arial"/>
              <a:buChar char="•"/>
              <a:tabLst>
                <a:tab pos="160020" algn="l"/>
              </a:tabLst>
            </a:pP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Security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monitoring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9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Monitor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environments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security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threats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respond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incidents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in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timely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manner.</a:t>
            </a:r>
            <a:endParaRPr lang="en-US" sz="900" noProof="1">
              <a:latin typeface="Arial"/>
              <a:cs typeface="Arial"/>
            </a:endParaRPr>
          </a:p>
          <a:p>
            <a:pPr marL="160020" marR="385445" indent="-147955">
              <a:lnSpc>
                <a:spcPct val="116199"/>
              </a:lnSpc>
              <a:buFont typeface="Arial"/>
              <a:buChar char="•"/>
              <a:tabLst>
                <a:tab pos="160020" algn="l"/>
              </a:tabLst>
            </a:pP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Compliance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114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Ensure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environments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comply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relevant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security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standards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regulations.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3644265" cy="5080"/>
            </a:xfrm>
            <a:custGeom>
              <a:avLst/>
              <a:gdLst/>
              <a:ahLst/>
              <a:cxnLst/>
              <a:rect l="l" t="t" r="r" b="b"/>
              <a:pathLst>
                <a:path w="3644265" h="5080">
                  <a:moveTo>
                    <a:pt x="0" y="5060"/>
                  </a:moveTo>
                  <a:lnTo>
                    <a:pt x="0" y="0"/>
                  </a:lnTo>
                  <a:lnTo>
                    <a:pt x="3644167" y="0"/>
                  </a:lnTo>
                  <a:lnTo>
                    <a:pt x="364416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ctr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Data</a:t>
            </a:r>
            <a:r>
              <a:rPr lang="en-US" spc="145" noProof="1"/>
              <a:t> </a:t>
            </a:r>
            <a:r>
              <a:rPr lang="en-US" spc="-45" noProof="1"/>
              <a:t>compliance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1308738"/>
            <a:ext cx="5044440" cy="74295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6199"/>
              </a:lnSpc>
              <a:spcBef>
                <a:spcPts val="100"/>
              </a:spcBef>
            </a:pP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Regulatory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compliance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critical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consideration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companies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store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process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sensitive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in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cloud.</a:t>
            </a:r>
            <a:r>
              <a:rPr lang="en-US" sz="900" spc="1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Companies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need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ensure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their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environments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comply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relevant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security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standards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regulations,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such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GDPR,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HIPAA,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PCI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DSS.</a:t>
            </a:r>
            <a:endParaRPr lang="en-US" sz="900" noProof="1">
              <a:latin typeface="Arial"/>
              <a:cs typeface="Arial"/>
            </a:endParaRPr>
          </a:p>
          <a:p>
            <a:pPr marL="294005">
              <a:lnSpc>
                <a:spcPct val="100000"/>
              </a:lnSpc>
              <a:spcBef>
                <a:spcPts val="800"/>
              </a:spcBef>
            </a:pP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You</a:t>
            </a:r>
            <a:r>
              <a:rPr lang="en-US" sz="900" b="1" spc="2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EB811B"/>
                </a:solidFill>
                <a:latin typeface="Arial"/>
                <a:cs typeface="Arial"/>
              </a:rPr>
              <a:t>need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to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be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EB811B"/>
                </a:solidFill>
                <a:latin typeface="Arial"/>
                <a:cs typeface="Arial"/>
              </a:rPr>
              <a:t>aware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of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the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data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EB811B"/>
                </a:solidFill>
                <a:latin typeface="Arial"/>
                <a:cs typeface="Arial"/>
              </a:rPr>
              <a:t>compliance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EB811B"/>
                </a:solidFill>
                <a:latin typeface="Arial"/>
                <a:cs typeface="Arial"/>
              </a:rPr>
              <a:t>regulations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that</a:t>
            </a:r>
            <a:r>
              <a:rPr lang="en-US" sz="900" b="1" spc="2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EB811B"/>
                </a:solidFill>
                <a:latin typeface="Arial"/>
                <a:cs typeface="Arial"/>
              </a:rPr>
              <a:t>apply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to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EB811B"/>
                </a:solidFill>
                <a:latin typeface="Arial"/>
                <a:cs typeface="Arial"/>
              </a:rPr>
              <a:t>your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business.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3761740" cy="5080"/>
            </a:xfrm>
            <a:custGeom>
              <a:avLst/>
              <a:gdLst/>
              <a:ahLst/>
              <a:cxnLst/>
              <a:rect l="l" t="t" r="r" b="b"/>
              <a:pathLst>
                <a:path w="3761740" h="5080">
                  <a:moveTo>
                    <a:pt x="0" y="5060"/>
                  </a:moveTo>
                  <a:lnTo>
                    <a:pt x="0" y="0"/>
                  </a:lnTo>
                  <a:lnTo>
                    <a:pt x="3761679" y="0"/>
                  </a:lnTo>
                  <a:lnTo>
                    <a:pt x="3761679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3766820" cy="166071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40" noProof="1"/>
              <a:t>Dependence</a:t>
            </a:r>
            <a:endParaRPr lang="en-US" spc="-25" noProof="1"/>
          </a:p>
        </p:txBody>
      </p:sp>
      <p:sp>
        <p:nvSpPr>
          <p:cNvPr id="3" name="object 3"/>
          <p:cNvSpPr txBox="1"/>
          <p:nvPr/>
        </p:nvSpPr>
        <p:spPr>
          <a:xfrm>
            <a:off x="343319" y="476774"/>
            <a:ext cx="5042535" cy="2254528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6510" marR="467359">
              <a:lnSpc>
                <a:spcPct val="116199"/>
              </a:lnSpc>
              <a:spcBef>
                <a:spcPts val="100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providers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use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EB811B"/>
                </a:solidFill>
                <a:latin typeface="Arial"/>
                <a:cs typeface="Arial"/>
              </a:rPr>
              <a:t>proprietary</a:t>
            </a:r>
            <a:r>
              <a:rPr lang="en-US" sz="900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EB811B"/>
                </a:solidFill>
                <a:latin typeface="Arial"/>
                <a:cs typeface="Arial"/>
              </a:rPr>
              <a:t>technology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,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which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make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diﬀicult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migrate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applications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other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providers.</a:t>
            </a:r>
            <a:r>
              <a:rPr lang="en-US" sz="900" spc="10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result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vendor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dependence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,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where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companies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are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dependent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single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provider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their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needs.</a:t>
            </a:r>
          </a:p>
          <a:p>
            <a:pPr marL="16510" marR="467359">
              <a:lnSpc>
                <a:spcPct val="116199"/>
              </a:lnSpc>
              <a:spcBef>
                <a:spcPts val="100"/>
              </a:spcBef>
            </a:pPr>
            <a:endParaRPr lang="en-US" sz="900" noProof="1">
              <a:latin typeface="Arial"/>
              <a:cs typeface="Arial"/>
            </a:endParaRPr>
          </a:p>
          <a:p>
            <a:pPr marL="241300" marR="266700" indent="-145415" algn="just">
              <a:lnSpc>
                <a:spcPct val="116199"/>
              </a:lnSpc>
              <a:spcBef>
                <a:spcPts val="625"/>
              </a:spcBef>
              <a:buFont typeface="Arial"/>
              <a:buChar char="•"/>
              <a:tabLst>
                <a:tab pos="241300" algn="l"/>
                <a:tab pos="243204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	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Limited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flexibility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choice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Customers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may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limited in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their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ability to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choose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different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vendors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solutions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better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meet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their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evolving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65" noProof="1">
                <a:solidFill>
                  <a:srgbClr val="22373A"/>
                </a:solidFill>
                <a:latin typeface="Arial"/>
                <a:cs typeface="Arial"/>
              </a:rPr>
              <a:t>needs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provide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better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value.</a:t>
            </a:r>
          </a:p>
          <a:p>
            <a:pPr marL="241300" marR="266700" indent="-145415" algn="just">
              <a:lnSpc>
                <a:spcPct val="116199"/>
              </a:lnSpc>
              <a:spcBef>
                <a:spcPts val="625"/>
              </a:spcBef>
              <a:buFont typeface="Arial"/>
              <a:buChar char="•"/>
              <a:tabLst>
                <a:tab pos="241300" algn="l"/>
                <a:tab pos="243204" algn="l"/>
              </a:tabLst>
            </a:pPr>
            <a:endParaRPr lang="en-US" sz="900" noProof="1">
              <a:latin typeface="Arial"/>
              <a:cs typeface="Arial"/>
            </a:endParaRPr>
          </a:p>
          <a:p>
            <a:pPr marL="243840" marR="187325" indent="-147955" algn="just">
              <a:lnSpc>
                <a:spcPct val="116199"/>
              </a:lnSpc>
              <a:buFont typeface="Arial"/>
              <a:buChar char="•"/>
              <a:tabLst>
                <a:tab pos="243840" algn="l"/>
              </a:tabLst>
            </a:pP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Higher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switching</a:t>
            </a:r>
            <a:r>
              <a:rPr lang="en-US" sz="9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costs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Customers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may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face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high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costs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complexity when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migrating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their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data,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applications,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different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vendor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on-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premises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environment.</a:t>
            </a:r>
          </a:p>
          <a:p>
            <a:pPr marL="243840" marR="187325" indent="-147955" algn="just">
              <a:lnSpc>
                <a:spcPct val="116199"/>
              </a:lnSpc>
              <a:buFont typeface="Arial"/>
              <a:buChar char="•"/>
              <a:tabLst>
                <a:tab pos="243840" algn="l"/>
              </a:tabLst>
            </a:pPr>
            <a:endParaRPr lang="en-US" sz="900" noProof="1">
              <a:latin typeface="Arial"/>
              <a:cs typeface="Arial"/>
            </a:endParaRPr>
          </a:p>
          <a:p>
            <a:pPr marL="243840" marR="270510" indent="-147955" algn="just">
              <a:lnSpc>
                <a:spcPct val="116199"/>
              </a:lnSpc>
              <a:buFont typeface="Arial"/>
              <a:buChar char="•"/>
              <a:tabLst>
                <a:tab pos="243840" algn="l"/>
              </a:tabLst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b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interoperability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1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Customers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may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face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challenges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ensuring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interoperability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portability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across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different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platforms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environments,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which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hinder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their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ability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to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integrate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share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other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applications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systems.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3879215" cy="5080"/>
            </a:xfrm>
            <a:custGeom>
              <a:avLst/>
              <a:gdLst/>
              <a:ahLst/>
              <a:cxnLst/>
              <a:rect l="l" t="t" r="r" b="b"/>
              <a:pathLst>
                <a:path w="3879215" h="5080">
                  <a:moveTo>
                    <a:pt x="0" y="5060"/>
                  </a:moveTo>
                  <a:lnTo>
                    <a:pt x="0" y="0"/>
                  </a:lnTo>
                  <a:lnTo>
                    <a:pt x="3879190" y="0"/>
                  </a:lnTo>
                  <a:lnTo>
                    <a:pt x="3879190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Other</a:t>
            </a:r>
            <a:r>
              <a:rPr lang="en-US" spc="30" noProof="1"/>
              <a:t> </a:t>
            </a:r>
            <a:r>
              <a:rPr lang="en-US" spc="-50" noProof="1"/>
              <a:t>challenges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427126" y="591747"/>
            <a:ext cx="4988560" cy="21767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60020" marR="24130" indent="-147955">
              <a:lnSpc>
                <a:spcPct val="116199"/>
              </a:lnSpc>
              <a:spcBef>
                <a:spcPts val="100"/>
              </a:spcBef>
              <a:buFont typeface="Arial"/>
              <a:buChar char="•"/>
              <a:tabLst>
                <a:tab pos="160020" algn="l"/>
              </a:tabLst>
            </a:pP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Performance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6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affected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by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factors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such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network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latency,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bandwidth,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location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of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centers.</a:t>
            </a:r>
            <a:endParaRPr lang="en-US" sz="900" noProof="1">
              <a:latin typeface="Arial"/>
              <a:cs typeface="Arial"/>
            </a:endParaRPr>
          </a:p>
          <a:p>
            <a:pPr marL="160020" marR="240029" indent="-147955">
              <a:lnSpc>
                <a:spcPct val="116199"/>
              </a:lnSpc>
              <a:buFont typeface="Arial"/>
              <a:buChar char="•"/>
              <a:tabLst>
                <a:tab pos="160020" algn="l"/>
              </a:tabLst>
            </a:pP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Cost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management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9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costs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spiral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out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control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if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properly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managed,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leading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to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unexpected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expenses.</a:t>
            </a:r>
            <a:endParaRPr lang="en-US" sz="900" noProof="1">
              <a:latin typeface="Arial"/>
              <a:cs typeface="Arial"/>
            </a:endParaRPr>
          </a:p>
          <a:p>
            <a:pPr marL="160020" marR="466090" indent="-147955">
              <a:lnSpc>
                <a:spcPct val="116199"/>
              </a:lnSpc>
              <a:buFont typeface="Arial"/>
              <a:buChar char="•"/>
              <a:tabLst>
                <a:tab pos="160020" algn="l"/>
              </a:tabLst>
            </a:pP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Service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level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agreements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(SLAs)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8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providers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may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not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meet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their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SLAs,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leading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to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downtime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or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performance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issues.</a:t>
            </a:r>
            <a:endParaRPr lang="en-US" sz="900" noProof="1">
              <a:latin typeface="Arial"/>
              <a:cs typeface="Arial"/>
            </a:endParaRPr>
          </a:p>
          <a:p>
            <a:pPr marL="160020" marR="235585" indent="-147955">
              <a:lnSpc>
                <a:spcPct val="116199"/>
              </a:lnSpc>
              <a:buFont typeface="Arial"/>
              <a:buChar char="•"/>
              <a:tabLst>
                <a:tab pos="160020" algn="l"/>
              </a:tabLst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Integrity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8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Ensuring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integrity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 data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applications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in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protecting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against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unauthorized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changes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tampering.</a:t>
            </a:r>
            <a:endParaRPr lang="en-US" sz="900" noProof="1">
              <a:latin typeface="Arial"/>
              <a:cs typeface="Arial"/>
            </a:endParaRPr>
          </a:p>
          <a:p>
            <a:pPr marL="160020" marR="5080" indent="-147955">
              <a:lnSpc>
                <a:spcPct val="116199"/>
              </a:lnSpc>
              <a:buFont typeface="Arial"/>
              <a:buChar char="•"/>
              <a:tabLst>
                <a:tab pos="160020" algn="l"/>
              </a:tabLst>
            </a:pP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Real-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time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50" noProof="1">
                <a:solidFill>
                  <a:srgbClr val="22373A"/>
                </a:solidFill>
                <a:latin typeface="Arial"/>
                <a:cs typeface="Arial"/>
              </a:rPr>
              <a:t>processing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environments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may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optimized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real-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time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data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processing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and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analysis,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which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impact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performance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applications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require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low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latency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high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throughput.</a:t>
            </a:r>
            <a:endParaRPr lang="en-US" sz="900" noProof="1">
              <a:latin typeface="Arial"/>
              <a:cs typeface="Arial"/>
            </a:endParaRPr>
          </a:p>
          <a:p>
            <a:pPr marL="1007744" marR="203200" indent="-879475">
              <a:lnSpc>
                <a:spcPct val="116199"/>
              </a:lnSpc>
              <a:spcBef>
                <a:spcPts val="625"/>
              </a:spcBef>
            </a:pPr>
            <a:r>
              <a:rPr lang="en-US" sz="900" b="1" spc="-25" noProof="1">
                <a:solidFill>
                  <a:srgbClr val="EB811B"/>
                </a:solidFill>
                <a:latin typeface="Arial"/>
                <a:cs typeface="Arial"/>
              </a:rPr>
              <a:t>Cloud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EB811B"/>
                </a:solidFill>
                <a:latin typeface="Arial"/>
                <a:cs typeface="Arial"/>
              </a:rPr>
              <a:t>computing</a:t>
            </a:r>
            <a:r>
              <a:rPr lang="en-US" sz="900" b="1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EB811B"/>
                </a:solidFill>
                <a:latin typeface="Arial"/>
                <a:cs typeface="Arial"/>
              </a:rPr>
              <a:t>is</a:t>
            </a:r>
            <a:r>
              <a:rPr lang="en-US" sz="900" b="1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not</a:t>
            </a:r>
            <a:r>
              <a:rPr lang="en-US" sz="900" b="1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without</a:t>
            </a:r>
            <a:r>
              <a:rPr lang="en-US" sz="900" b="1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its</a:t>
            </a:r>
            <a:r>
              <a:rPr lang="en-US" sz="900" b="1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50" noProof="1">
                <a:solidFill>
                  <a:srgbClr val="EB811B"/>
                </a:solidFill>
                <a:latin typeface="Arial"/>
                <a:cs typeface="Arial"/>
              </a:rPr>
              <a:t>risks</a:t>
            </a:r>
            <a:r>
              <a:rPr lang="en-US" sz="900" b="1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and</a:t>
            </a:r>
            <a:r>
              <a:rPr lang="en-US" sz="900" b="1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EB811B"/>
                </a:solidFill>
                <a:latin typeface="Arial"/>
                <a:cs typeface="Arial"/>
              </a:rPr>
              <a:t>challenges,</a:t>
            </a:r>
            <a:r>
              <a:rPr lang="en-US" sz="900" b="1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and</a:t>
            </a:r>
            <a:r>
              <a:rPr lang="en-US" sz="900" b="1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5" noProof="1">
                <a:solidFill>
                  <a:srgbClr val="EB811B"/>
                </a:solidFill>
                <a:latin typeface="Arial"/>
                <a:cs typeface="Arial"/>
              </a:rPr>
              <a:t>companies</a:t>
            </a:r>
            <a:r>
              <a:rPr lang="en-US" sz="900" b="1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EB811B"/>
                </a:solidFill>
                <a:latin typeface="Arial"/>
                <a:cs typeface="Arial"/>
              </a:rPr>
              <a:t>need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 to</a:t>
            </a:r>
            <a:r>
              <a:rPr lang="en-US" sz="900" b="1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EB811B"/>
                </a:solidFill>
                <a:latin typeface="Arial"/>
                <a:cs typeface="Arial"/>
              </a:rPr>
              <a:t>carefully </a:t>
            </a:r>
            <a:r>
              <a:rPr lang="en-US" sz="900" b="1" spc="-30" noProof="1">
                <a:solidFill>
                  <a:srgbClr val="EB811B"/>
                </a:solidFill>
                <a:latin typeface="Arial"/>
                <a:cs typeface="Arial"/>
              </a:rPr>
              <a:t>manage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EB811B"/>
                </a:solidFill>
                <a:latin typeface="Arial"/>
                <a:cs typeface="Arial"/>
              </a:rPr>
              <a:t>these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to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5" noProof="1">
                <a:solidFill>
                  <a:srgbClr val="EB811B"/>
                </a:solidFill>
                <a:latin typeface="Arial"/>
                <a:cs typeface="Arial"/>
              </a:rPr>
              <a:t>ensure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a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60" noProof="1">
                <a:solidFill>
                  <a:srgbClr val="EB811B"/>
                </a:solidFill>
                <a:latin typeface="Arial"/>
                <a:cs typeface="Arial"/>
              </a:rPr>
              <a:t>successful</a:t>
            </a:r>
            <a:r>
              <a:rPr lang="en-US" sz="9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EB811B"/>
                </a:solidFill>
                <a:latin typeface="Arial"/>
                <a:cs typeface="Arial"/>
              </a:rPr>
              <a:t>cloud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deployment.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3997325" cy="5080"/>
            </a:xfrm>
            <a:custGeom>
              <a:avLst/>
              <a:gdLst/>
              <a:ahLst/>
              <a:cxnLst/>
              <a:rect l="l" t="t" r="r" b="b"/>
              <a:pathLst>
                <a:path w="3997325" h="5080">
                  <a:moveTo>
                    <a:pt x="0" y="5060"/>
                  </a:moveTo>
                  <a:lnTo>
                    <a:pt x="0" y="0"/>
                  </a:lnTo>
                  <a:lnTo>
                    <a:pt x="3996789" y="0"/>
                  </a:lnTo>
                  <a:lnTo>
                    <a:pt x="3996789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ctr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5" noProof="1"/>
              <a:t>Homework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433590" y="1507874"/>
            <a:ext cx="4893310" cy="344170"/>
          </a:xfrm>
          <a:prstGeom prst="rect">
            <a:avLst/>
          </a:prstGeom>
        </p:spPr>
        <p:txBody>
          <a:bodyPr vert="horz" wrap="square" lIns="0" tIns="34925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27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 want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create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GitHub</a:t>
            </a:r>
            <a:r>
              <a:rPr lang="en-US" sz="900" b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account.</a:t>
            </a:r>
            <a:r>
              <a:rPr lang="en-US" sz="900" spc="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Next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week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going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create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personal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website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using</a:t>
            </a:r>
            <a:endParaRPr lang="en-US" sz="900" noProof="1">
              <a:latin typeface="Arial"/>
              <a:cs typeface="Arial"/>
            </a:endParaRPr>
          </a:p>
          <a:p>
            <a:pPr marL="22860" algn="ctr">
              <a:lnSpc>
                <a:spcPct val="100000"/>
              </a:lnSpc>
              <a:spcBef>
                <a:spcPts val="175"/>
              </a:spcBef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  <a:hlinkClick r:id="rId4"/>
              </a:rPr>
              <a:t>GitHub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  <a:hlinkClick r:id="rId4"/>
              </a:rPr>
              <a:t> </a:t>
            </a: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  <a:hlinkClick r:id="rId4"/>
              </a:rPr>
              <a:t>Pages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r>
              <a:rPr lang="en-US" sz="900" spc="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Take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look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  <a:hlinkClick r:id="rId5"/>
              </a:rPr>
              <a:t>the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  <a:hlinkClick r:id="rId5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  <a:hlinkClick r:id="rId5"/>
              </a:rPr>
              <a:t>lab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  <a:hlinkClick r:id="rId5"/>
              </a:rPr>
              <a:t> </a:t>
            </a:r>
            <a:r>
              <a:rPr lang="en-US" sz="900" b="1" spc="-40" noProof="1">
                <a:solidFill>
                  <a:srgbClr val="22373A"/>
                </a:solidFill>
                <a:latin typeface="Arial"/>
                <a:cs typeface="Arial"/>
                <a:hlinkClick r:id="rId5"/>
              </a:rPr>
              <a:t>descripton</a:t>
            </a:r>
            <a:r>
              <a:rPr lang="en-US" sz="900" b="1" spc="5" noProof="1">
                <a:solidFill>
                  <a:srgbClr val="22373A"/>
                </a:solidFill>
                <a:latin typeface="Arial"/>
                <a:cs typeface="Arial"/>
                <a:hlinkClick r:id="rId5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if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want.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4114800" cy="5080"/>
            </a:xfrm>
            <a:custGeom>
              <a:avLst/>
              <a:gdLst/>
              <a:ahLst/>
              <a:cxnLst/>
              <a:rect l="l" t="t" r="r" b="b"/>
              <a:pathLst>
                <a:path w="4114800" h="5080">
                  <a:moveTo>
                    <a:pt x="0" y="5060"/>
                  </a:moveTo>
                  <a:lnTo>
                    <a:pt x="0" y="0"/>
                  </a:lnTo>
                  <a:lnTo>
                    <a:pt x="4114300" y="0"/>
                  </a:lnTo>
                  <a:lnTo>
                    <a:pt x="4114300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5" noProof="1"/>
              <a:t>Case</a:t>
            </a:r>
            <a:r>
              <a:rPr lang="en-US" spc="-5" noProof="1"/>
              <a:t> </a:t>
            </a:r>
            <a:r>
              <a:rPr lang="en-US" spc="-10" noProof="1"/>
              <a:t>Study:</a:t>
            </a:r>
            <a:r>
              <a:rPr lang="en-US" spc="90" noProof="1"/>
              <a:t> </a:t>
            </a:r>
            <a:r>
              <a:rPr lang="en-US" noProof="1"/>
              <a:t>Is</a:t>
            </a:r>
            <a:r>
              <a:rPr lang="en-US" spc="-5" noProof="1"/>
              <a:t> </a:t>
            </a:r>
            <a:r>
              <a:rPr lang="en-US" spc="-30" noProof="1"/>
              <a:t>Cloud</a:t>
            </a:r>
            <a:r>
              <a:rPr lang="en-US" noProof="1"/>
              <a:t> </a:t>
            </a:r>
            <a:r>
              <a:rPr lang="en-US" spc="-30" noProof="1"/>
              <a:t>Computing</a:t>
            </a:r>
            <a:r>
              <a:rPr lang="en-US" spc="-5" noProof="1"/>
              <a:t> </a:t>
            </a:r>
            <a:r>
              <a:rPr lang="en-US" noProof="1"/>
              <a:t>Right for</a:t>
            </a:r>
            <a:r>
              <a:rPr lang="en-US" spc="-5" noProof="1"/>
              <a:t> </a:t>
            </a:r>
            <a:r>
              <a:rPr lang="en-US" spc="-20" noProof="1"/>
              <a:t>Your</a:t>
            </a:r>
            <a:r>
              <a:rPr lang="en-US" noProof="1"/>
              <a:t> </a:t>
            </a:r>
            <a:r>
              <a:rPr lang="en-US" spc="-40" noProof="1"/>
              <a:t>Company?</a:t>
            </a:r>
            <a:r>
              <a:rPr lang="en-US" spc="85" noProof="1"/>
              <a:t> </a:t>
            </a:r>
            <a:r>
              <a:rPr lang="en-US" spc="50" noProof="1"/>
              <a:t>(I)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3319" y="1149391"/>
            <a:ext cx="5069840" cy="106108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6510" marR="5080" algn="ctr">
              <a:lnSpc>
                <a:spcPct val="116199"/>
              </a:lnSpc>
              <a:spcBef>
                <a:spcPts val="100"/>
              </a:spcBef>
            </a:pP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Consider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startup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company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X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company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competitive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market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65" noProof="1">
                <a:solidFill>
                  <a:srgbClr val="22373A"/>
                </a:solidFill>
                <a:latin typeface="Arial"/>
                <a:cs typeface="Arial"/>
              </a:rPr>
              <a:t>needs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reduce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costs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time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market.</a:t>
            </a:r>
            <a:r>
              <a:rPr lang="en-US" sz="900" spc="9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company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50" noProof="1">
                <a:solidFill>
                  <a:srgbClr val="22373A"/>
                </a:solidFill>
                <a:latin typeface="Arial"/>
                <a:cs typeface="Arial"/>
              </a:rPr>
              <a:t>considering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whether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adopt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traditional infrastructure?</a:t>
            </a:r>
            <a:endParaRPr lang="en-US" sz="900" noProof="1">
              <a:latin typeface="Arial"/>
              <a:cs typeface="Arial"/>
            </a:endParaRPr>
          </a:p>
          <a:p>
            <a:pPr marL="16510" marR="65405" indent="-4445">
              <a:lnSpc>
                <a:spcPct val="116199"/>
              </a:lnSpc>
              <a:spcBef>
                <a:spcPts val="625"/>
              </a:spcBef>
            </a:pP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30" noProof="1">
                <a:solidFill>
                  <a:srgbClr val="22373A"/>
                </a:solidFill>
                <a:latin typeface="Arial"/>
                <a:cs typeface="Arial"/>
              </a:rPr>
              <a:t>company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40" noProof="1">
                <a:solidFill>
                  <a:srgbClr val="22373A"/>
                </a:solidFill>
                <a:latin typeface="Arial"/>
                <a:cs typeface="Arial"/>
              </a:rPr>
              <a:t>leverage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to </a:t>
            </a:r>
            <a:r>
              <a:rPr lang="en-US" sz="900" i="1" spc="-35" noProof="1">
                <a:solidFill>
                  <a:srgbClr val="22373A"/>
                </a:solidFill>
                <a:latin typeface="Arial"/>
                <a:cs typeface="Arial"/>
              </a:rPr>
              <a:t>reduce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30" noProof="1">
                <a:solidFill>
                  <a:srgbClr val="22373A"/>
                </a:solidFill>
                <a:latin typeface="Arial"/>
                <a:cs typeface="Arial"/>
              </a:rPr>
              <a:t>costs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and time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market,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 while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also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benefiting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flexibility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scalability</a:t>
            </a:r>
            <a:r>
              <a:rPr lang="en-US" sz="900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40" noProof="1">
                <a:solidFill>
                  <a:srgbClr val="22373A"/>
                </a:solidFill>
                <a:latin typeface="Arial"/>
                <a:cs typeface="Arial"/>
              </a:rPr>
              <a:t>resources.</a:t>
            </a:r>
            <a:r>
              <a:rPr lang="en-US" sz="900" i="1" spc="9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instance,</a:t>
            </a:r>
            <a:r>
              <a:rPr lang="en-US" sz="900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spc="-20" noProof="1">
                <a:solidFill>
                  <a:srgbClr val="22373A"/>
                </a:solidFill>
                <a:latin typeface="Arial"/>
                <a:cs typeface="Arial"/>
              </a:rPr>
              <a:t>Amazon</a:t>
            </a:r>
            <a:r>
              <a:rPr lang="en-US" sz="900" b="1" i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noProof="1">
                <a:solidFill>
                  <a:srgbClr val="22373A"/>
                </a:solidFill>
                <a:latin typeface="Arial"/>
                <a:cs typeface="Arial"/>
              </a:rPr>
              <a:t>Web</a:t>
            </a:r>
            <a:r>
              <a:rPr lang="en-US" sz="900" b="1" i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spc="-50" noProof="1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r>
              <a:rPr lang="en-US" sz="900" b="1" i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spc="-10" noProof="1">
                <a:solidFill>
                  <a:srgbClr val="22373A"/>
                </a:solidFill>
                <a:latin typeface="Arial"/>
                <a:cs typeface="Arial"/>
              </a:rPr>
              <a:t>(AWS) </a:t>
            </a:r>
            <a:r>
              <a:rPr lang="en-US" sz="900" i="1" spc="-20" noProof="1">
                <a:solidFill>
                  <a:srgbClr val="22373A"/>
                </a:solidFill>
                <a:latin typeface="Arial"/>
                <a:cs typeface="Arial"/>
              </a:rPr>
              <a:t>offers</a:t>
            </a:r>
            <a:r>
              <a:rPr lang="en-US" sz="900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45" noProof="1">
                <a:solidFill>
                  <a:srgbClr val="22373A"/>
                </a:solidFill>
                <a:latin typeface="Arial"/>
                <a:cs typeface="Arial"/>
              </a:rPr>
              <a:t>pay-</a:t>
            </a:r>
            <a:r>
              <a:rPr lang="en-US" sz="900" i="1" spc="-40" noProof="1">
                <a:solidFill>
                  <a:srgbClr val="22373A"/>
                </a:solidFill>
                <a:latin typeface="Arial"/>
                <a:cs typeface="Arial"/>
              </a:rPr>
              <a:t>as-</a:t>
            </a:r>
            <a:r>
              <a:rPr lang="en-US" sz="900" i="1" spc="-45" noProof="1">
                <a:solidFill>
                  <a:srgbClr val="22373A"/>
                </a:solidFill>
                <a:latin typeface="Arial"/>
                <a:cs typeface="Arial"/>
              </a:rPr>
              <a:t>you-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go</a:t>
            </a:r>
            <a:r>
              <a:rPr lang="en-US" sz="900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model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allows</a:t>
            </a:r>
            <a:r>
              <a:rPr lang="en-US" sz="900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startups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only</a:t>
            </a:r>
            <a:r>
              <a:rPr lang="en-US" sz="900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0" noProof="1">
                <a:solidFill>
                  <a:srgbClr val="22373A"/>
                </a:solidFill>
                <a:latin typeface="Arial"/>
                <a:cs typeface="Arial"/>
              </a:rPr>
              <a:t>pay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50" noProof="1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they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0" noProof="1">
                <a:solidFill>
                  <a:srgbClr val="22373A"/>
                </a:solidFill>
                <a:latin typeface="Arial"/>
                <a:cs typeface="Arial"/>
              </a:rPr>
              <a:t>use.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4232275" cy="5080"/>
            </a:xfrm>
            <a:custGeom>
              <a:avLst/>
              <a:gdLst/>
              <a:ahLst/>
              <a:cxnLst/>
              <a:rect l="l" t="t" r="r" b="b"/>
              <a:pathLst>
                <a:path w="4232275" h="5080">
                  <a:moveTo>
                    <a:pt x="0" y="5060"/>
                  </a:moveTo>
                  <a:lnTo>
                    <a:pt x="0" y="0"/>
                  </a:lnTo>
                  <a:lnTo>
                    <a:pt x="4231899" y="0"/>
                  </a:lnTo>
                  <a:lnTo>
                    <a:pt x="4231899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5" noProof="1"/>
              <a:t>Case</a:t>
            </a:r>
            <a:r>
              <a:rPr lang="en-US" spc="-5" noProof="1"/>
              <a:t> </a:t>
            </a:r>
            <a:r>
              <a:rPr lang="en-US" spc="-10" noProof="1"/>
              <a:t>Study:</a:t>
            </a:r>
            <a:r>
              <a:rPr lang="en-US" spc="90" noProof="1"/>
              <a:t> </a:t>
            </a:r>
            <a:r>
              <a:rPr lang="en-US" noProof="1"/>
              <a:t>Is</a:t>
            </a:r>
            <a:r>
              <a:rPr lang="en-US" spc="-5" noProof="1"/>
              <a:t> </a:t>
            </a:r>
            <a:r>
              <a:rPr lang="en-US" spc="-30" noProof="1"/>
              <a:t>Cloud</a:t>
            </a:r>
            <a:r>
              <a:rPr lang="en-US" noProof="1"/>
              <a:t> </a:t>
            </a:r>
            <a:r>
              <a:rPr lang="en-US" spc="-30" noProof="1"/>
              <a:t>Computing</a:t>
            </a:r>
            <a:r>
              <a:rPr lang="en-US" spc="-5" noProof="1"/>
              <a:t> </a:t>
            </a:r>
            <a:r>
              <a:rPr lang="en-US" noProof="1"/>
              <a:t>Right for</a:t>
            </a:r>
            <a:r>
              <a:rPr lang="en-US" spc="-5" noProof="1"/>
              <a:t> </a:t>
            </a:r>
            <a:r>
              <a:rPr lang="en-US" spc="-20" noProof="1"/>
              <a:t>Your</a:t>
            </a:r>
            <a:r>
              <a:rPr lang="en-US" noProof="1"/>
              <a:t> </a:t>
            </a:r>
            <a:r>
              <a:rPr lang="en-US" spc="-40" noProof="1"/>
              <a:t>Company?</a:t>
            </a:r>
            <a:r>
              <a:rPr lang="en-US" spc="85" noProof="1"/>
              <a:t> </a:t>
            </a:r>
            <a:r>
              <a:rPr lang="en-US" spc="55" noProof="1"/>
              <a:t>(II)</a:t>
            </a:r>
          </a:p>
        </p:txBody>
      </p:sp>
      <p:sp>
        <p:nvSpPr>
          <p:cNvPr id="3" name="object 3"/>
          <p:cNvSpPr txBox="1">
            <a:spLocks noGrp="1"/>
          </p:cNvSpPr>
          <p:nvPr>
            <p:ph type="body" idx="1"/>
          </p:nvPr>
        </p:nvSpPr>
        <p:spPr>
          <a:xfrm>
            <a:off x="227304" y="630854"/>
            <a:ext cx="5208270" cy="1643831"/>
          </a:xfrm>
          <a:prstGeom prst="rect">
            <a:avLst/>
          </a:prstGeom>
        </p:spPr>
        <p:txBody>
          <a:bodyPr vert="horz" wrap="square" lIns="0" tIns="451595" rIns="0" bIns="0" rtlCol="0">
            <a:spAutoFit/>
          </a:bodyPr>
          <a:lstStyle/>
          <a:p>
            <a:pPr marL="109855" marR="5080" algn="ctr">
              <a:lnSpc>
                <a:spcPct val="116199"/>
              </a:lnSpc>
              <a:spcBef>
                <a:spcPts val="100"/>
              </a:spcBef>
            </a:pPr>
            <a:r>
              <a:rPr lang="en-US" noProof="1"/>
              <a:t>Now,</a:t>
            </a:r>
            <a:r>
              <a:rPr lang="en-US" spc="10" noProof="1"/>
              <a:t> </a:t>
            </a:r>
            <a:r>
              <a:rPr lang="en-US" spc="-30" noProof="1"/>
              <a:t>consider</a:t>
            </a:r>
            <a:r>
              <a:rPr lang="en-US" spc="15" noProof="1"/>
              <a:t> </a:t>
            </a:r>
            <a:r>
              <a:rPr lang="en-US" noProof="1"/>
              <a:t>a</a:t>
            </a:r>
            <a:r>
              <a:rPr lang="en-US" spc="15" noProof="1"/>
              <a:t> </a:t>
            </a:r>
            <a:r>
              <a:rPr lang="en-US" spc="-10" noProof="1"/>
              <a:t>small</a:t>
            </a:r>
            <a:r>
              <a:rPr lang="en-US" spc="10" noProof="1"/>
              <a:t> </a:t>
            </a:r>
            <a:r>
              <a:rPr lang="en-US" spc="-30" noProof="1"/>
              <a:t>company</a:t>
            </a:r>
            <a:r>
              <a:rPr lang="en-US" spc="15" noProof="1"/>
              <a:t> </a:t>
            </a:r>
            <a:r>
              <a:rPr lang="en-US" b="1" spc="50" noProof="1">
                <a:latin typeface="Arial"/>
                <a:cs typeface="Arial"/>
              </a:rPr>
              <a:t>Y</a:t>
            </a:r>
            <a:r>
              <a:rPr lang="en-US" b="1" spc="15" noProof="1">
                <a:latin typeface="Arial"/>
                <a:cs typeface="Arial"/>
              </a:rPr>
              <a:t> </a:t>
            </a:r>
            <a:r>
              <a:rPr lang="en-US" noProof="1"/>
              <a:t>that</a:t>
            </a:r>
            <a:r>
              <a:rPr lang="en-US" spc="10" noProof="1"/>
              <a:t> </a:t>
            </a:r>
            <a:r>
              <a:rPr lang="en-US" spc="-55" noProof="1"/>
              <a:t>needs</a:t>
            </a:r>
            <a:r>
              <a:rPr lang="en-US" spc="15" noProof="1"/>
              <a:t> </a:t>
            </a:r>
            <a:r>
              <a:rPr lang="en-US" noProof="1"/>
              <a:t>to</a:t>
            </a:r>
            <a:r>
              <a:rPr lang="en-US" spc="15" noProof="1"/>
              <a:t> </a:t>
            </a:r>
            <a:r>
              <a:rPr lang="en-US" noProof="1"/>
              <a:t>digitalize</a:t>
            </a:r>
            <a:r>
              <a:rPr lang="en-US" spc="15" noProof="1"/>
              <a:t> </a:t>
            </a:r>
            <a:r>
              <a:rPr lang="en-US" noProof="1"/>
              <a:t>its</a:t>
            </a:r>
            <a:r>
              <a:rPr lang="en-US" spc="10" noProof="1"/>
              <a:t> </a:t>
            </a:r>
            <a:r>
              <a:rPr lang="en-US" spc="-50" noProof="1"/>
              <a:t>business</a:t>
            </a:r>
            <a:r>
              <a:rPr lang="en-US" spc="15" noProof="1"/>
              <a:t> </a:t>
            </a:r>
            <a:r>
              <a:rPr lang="en-US" noProof="1"/>
              <a:t>and</a:t>
            </a:r>
            <a:r>
              <a:rPr lang="en-US" spc="15" noProof="1"/>
              <a:t> </a:t>
            </a:r>
            <a:r>
              <a:rPr lang="en-US" spc="-35" noProof="1"/>
              <a:t>reduce</a:t>
            </a:r>
            <a:r>
              <a:rPr lang="en-US" spc="10" noProof="1"/>
              <a:t> </a:t>
            </a:r>
            <a:r>
              <a:rPr lang="en-US" spc="-30" noProof="1"/>
              <a:t>costs</a:t>
            </a:r>
            <a:r>
              <a:rPr lang="en-US" spc="15" noProof="1"/>
              <a:t> </a:t>
            </a:r>
            <a:r>
              <a:rPr lang="en-US" noProof="1"/>
              <a:t>to</a:t>
            </a:r>
            <a:r>
              <a:rPr lang="en-US" spc="15" noProof="1"/>
              <a:t> </a:t>
            </a:r>
            <a:r>
              <a:rPr lang="en-US" spc="-10" noProof="1"/>
              <a:t>compete </a:t>
            </a:r>
            <a:r>
              <a:rPr lang="en-US" spc="-20" noProof="1"/>
              <a:t>effectively</a:t>
            </a:r>
            <a:r>
              <a:rPr lang="en-US" spc="5" noProof="1"/>
              <a:t> </a:t>
            </a:r>
            <a:r>
              <a:rPr lang="en-US" noProof="1"/>
              <a:t>in</a:t>
            </a:r>
            <a:r>
              <a:rPr lang="en-US" spc="10" noProof="1"/>
              <a:t> </a:t>
            </a:r>
            <a:r>
              <a:rPr lang="en-US" noProof="1"/>
              <a:t>the</a:t>
            </a:r>
            <a:r>
              <a:rPr lang="en-US" spc="10" noProof="1"/>
              <a:t> </a:t>
            </a:r>
            <a:r>
              <a:rPr lang="en-US" spc="-10" noProof="1"/>
              <a:t>market.</a:t>
            </a:r>
            <a:r>
              <a:rPr lang="en-US" spc="95" noProof="1"/>
              <a:t> </a:t>
            </a:r>
            <a:r>
              <a:rPr lang="en-US" noProof="1"/>
              <a:t>The</a:t>
            </a:r>
            <a:r>
              <a:rPr lang="en-US" spc="10" noProof="1"/>
              <a:t> </a:t>
            </a:r>
            <a:r>
              <a:rPr lang="en-US" spc="-30" noProof="1"/>
              <a:t>company</a:t>
            </a:r>
            <a:r>
              <a:rPr lang="en-US" spc="10" noProof="1"/>
              <a:t> </a:t>
            </a:r>
            <a:r>
              <a:rPr lang="en-US" noProof="1"/>
              <a:t>is</a:t>
            </a:r>
            <a:r>
              <a:rPr lang="en-US" spc="10" noProof="1"/>
              <a:t> </a:t>
            </a:r>
            <a:r>
              <a:rPr lang="en-US" spc="-25" noProof="1"/>
              <a:t>also</a:t>
            </a:r>
            <a:r>
              <a:rPr lang="en-US" spc="10" noProof="1"/>
              <a:t> </a:t>
            </a:r>
            <a:r>
              <a:rPr lang="en-US" spc="-30" noProof="1"/>
              <a:t>considering</a:t>
            </a:r>
            <a:r>
              <a:rPr lang="en-US" spc="10" noProof="1"/>
              <a:t> </a:t>
            </a:r>
            <a:r>
              <a:rPr lang="en-US" spc="-10" noProof="1"/>
              <a:t>whether</a:t>
            </a:r>
            <a:r>
              <a:rPr lang="en-US" spc="10" noProof="1"/>
              <a:t> </a:t>
            </a:r>
            <a:r>
              <a:rPr lang="en-US" noProof="1"/>
              <a:t>to</a:t>
            </a:r>
            <a:r>
              <a:rPr lang="en-US" spc="10" noProof="1"/>
              <a:t> </a:t>
            </a:r>
            <a:r>
              <a:rPr lang="en-US" noProof="1"/>
              <a:t>adopt</a:t>
            </a:r>
            <a:r>
              <a:rPr lang="en-US" spc="10" noProof="1"/>
              <a:t> </a:t>
            </a:r>
            <a:r>
              <a:rPr lang="en-US" spc="-10" noProof="1"/>
              <a:t>cloud</a:t>
            </a:r>
            <a:r>
              <a:rPr lang="en-US" spc="10" noProof="1"/>
              <a:t> </a:t>
            </a:r>
            <a:r>
              <a:rPr lang="en-US" spc="-10" noProof="1"/>
              <a:t>computing</a:t>
            </a:r>
            <a:r>
              <a:rPr lang="en-US" spc="10" noProof="1"/>
              <a:t> </a:t>
            </a:r>
            <a:r>
              <a:rPr lang="en-US" spc="-25" noProof="1"/>
              <a:t>or </a:t>
            </a:r>
            <a:r>
              <a:rPr lang="en-US" noProof="1"/>
              <a:t>traditional</a:t>
            </a:r>
            <a:r>
              <a:rPr lang="en-US" spc="55" noProof="1"/>
              <a:t> </a:t>
            </a:r>
            <a:r>
              <a:rPr lang="en-US" spc="-10" noProof="1"/>
              <a:t>infrastructure.</a:t>
            </a:r>
          </a:p>
          <a:p>
            <a:pPr marL="132080" marR="76200" indent="-4445">
              <a:lnSpc>
                <a:spcPct val="116199"/>
              </a:lnSpc>
              <a:spcBef>
                <a:spcPts val="625"/>
              </a:spcBef>
            </a:pPr>
            <a:r>
              <a:rPr lang="en-US" i="1" noProof="1">
                <a:latin typeface="Arial"/>
                <a:cs typeface="Arial"/>
              </a:rPr>
              <a:t>The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spc="-30" noProof="1">
                <a:latin typeface="Arial"/>
                <a:cs typeface="Arial"/>
              </a:rPr>
              <a:t>decision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spc="-45" noProof="1">
                <a:latin typeface="Arial"/>
                <a:cs typeface="Arial"/>
              </a:rPr>
              <a:t>depends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noProof="1">
                <a:latin typeface="Arial"/>
                <a:cs typeface="Arial"/>
              </a:rPr>
              <a:t>on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noProof="1">
                <a:latin typeface="Arial"/>
                <a:cs typeface="Arial"/>
              </a:rPr>
              <a:t>the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spc="-20" noProof="1">
                <a:latin typeface="Arial"/>
                <a:cs typeface="Arial"/>
              </a:rPr>
              <a:t>specific</a:t>
            </a:r>
            <a:r>
              <a:rPr lang="en-US" i="1" spc="15" noProof="1">
                <a:latin typeface="Arial"/>
                <a:cs typeface="Arial"/>
              </a:rPr>
              <a:t> </a:t>
            </a:r>
            <a:r>
              <a:rPr lang="en-US" i="1" spc="-65" noProof="1">
                <a:latin typeface="Arial"/>
                <a:cs typeface="Arial"/>
              </a:rPr>
              <a:t>needs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noProof="1">
                <a:latin typeface="Arial"/>
                <a:cs typeface="Arial"/>
              </a:rPr>
              <a:t>and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spc="-50" noProof="1">
                <a:latin typeface="Arial"/>
                <a:cs typeface="Arial"/>
              </a:rPr>
              <a:t>resources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noProof="1">
                <a:latin typeface="Arial"/>
                <a:cs typeface="Arial"/>
              </a:rPr>
              <a:t>of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noProof="1">
                <a:latin typeface="Arial"/>
                <a:cs typeface="Arial"/>
              </a:rPr>
              <a:t>the</a:t>
            </a:r>
            <a:r>
              <a:rPr lang="en-US" i="1" spc="15" noProof="1">
                <a:latin typeface="Arial"/>
                <a:cs typeface="Arial"/>
              </a:rPr>
              <a:t> </a:t>
            </a:r>
            <a:r>
              <a:rPr lang="en-US" i="1" spc="-30" noProof="1">
                <a:latin typeface="Arial"/>
                <a:cs typeface="Arial"/>
              </a:rPr>
              <a:t>company.</a:t>
            </a:r>
            <a:r>
              <a:rPr lang="en-US" i="1" spc="95" noProof="1">
                <a:latin typeface="Arial"/>
                <a:cs typeface="Arial"/>
              </a:rPr>
              <a:t> </a:t>
            </a:r>
            <a:r>
              <a:rPr lang="en-US" i="1" noProof="1">
                <a:latin typeface="Arial"/>
                <a:cs typeface="Arial"/>
              </a:rPr>
              <a:t>If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noProof="1">
                <a:latin typeface="Arial"/>
                <a:cs typeface="Arial"/>
              </a:rPr>
              <a:t>the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spc="-30" noProof="1">
                <a:latin typeface="Arial"/>
                <a:cs typeface="Arial"/>
              </a:rPr>
              <a:t>company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spc="-45" noProof="1">
                <a:latin typeface="Arial"/>
                <a:cs typeface="Arial"/>
              </a:rPr>
              <a:t>has</a:t>
            </a:r>
            <a:r>
              <a:rPr lang="en-US" i="1" spc="15" noProof="1">
                <a:latin typeface="Arial"/>
                <a:cs typeface="Arial"/>
              </a:rPr>
              <a:t> </a:t>
            </a:r>
            <a:r>
              <a:rPr lang="en-US" i="1" spc="-50" noProof="1">
                <a:latin typeface="Arial"/>
                <a:cs typeface="Arial"/>
              </a:rPr>
              <a:t>a</a:t>
            </a:r>
            <a:r>
              <a:rPr lang="en-US" i="1" spc="-10" noProof="1">
                <a:latin typeface="Arial"/>
                <a:cs typeface="Arial"/>
              </a:rPr>
              <a:t> significant</a:t>
            </a:r>
            <a:r>
              <a:rPr lang="en-US" i="1" noProof="1">
                <a:latin typeface="Arial"/>
                <a:cs typeface="Arial"/>
              </a:rPr>
              <a:t> amount</a:t>
            </a:r>
            <a:r>
              <a:rPr lang="en-US" i="1" spc="5" noProof="1">
                <a:latin typeface="Arial"/>
                <a:cs typeface="Arial"/>
              </a:rPr>
              <a:t> </a:t>
            </a:r>
            <a:r>
              <a:rPr lang="en-US" i="1" noProof="1">
                <a:latin typeface="Arial"/>
                <a:cs typeface="Arial"/>
              </a:rPr>
              <a:t>of</a:t>
            </a:r>
            <a:r>
              <a:rPr lang="en-US" i="1" spc="5" noProof="1">
                <a:latin typeface="Arial"/>
                <a:cs typeface="Arial"/>
              </a:rPr>
              <a:t> </a:t>
            </a:r>
            <a:r>
              <a:rPr lang="en-US" i="1" noProof="1">
                <a:latin typeface="Arial"/>
                <a:cs typeface="Arial"/>
              </a:rPr>
              <a:t>data,</a:t>
            </a:r>
            <a:r>
              <a:rPr lang="en-US" i="1" spc="5" noProof="1">
                <a:latin typeface="Arial"/>
                <a:cs typeface="Arial"/>
              </a:rPr>
              <a:t> </a:t>
            </a:r>
            <a:r>
              <a:rPr lang="en-US" i="1" noProof="1">
                <a:latin typeface="Arial"/>
                <a:cs typeface="Arial"/>
              </a:rPr>
              <a:t>a</a:t>
            </a:r>
            <a:r>
              <a:rPr lang="en-US" i="1" spc="5" noProof="1">
                <a:latin typeface="Arial"/>
                <a:cs typeface="Arial"/>
              </a:rPr>
              <a:t> </a:t>
            </a:r>
            <a:r>
              <a:rPr lang="en-US" i="1" noProof="1">
                <a:latin typeface="Arial"/>
                <a:cs typeface="Arial"/>
              </a:rPr>
              <a:t>traditional infrastructure</a:t>
            </a:r>
            <a:r>
              <a:rPr lang="en-US" i="1" spc="5" noProof="1">
                <a:latin typeface="Arial"/>
                <a:cs typeface="Arial"/>
              </a:rPr>
              <a:t> </a:t>
            </a:r>
            <a:r>
              <a:rPr lang="en-US" i="1" noProof="1">
                <a:latin typeface="Arial"/>
                <a:cs typeface="Arial"/>
              </a:rPr>
              <a:t>might</a:t>
            </a:r>
            <a:r>
              <a:rPr lang="en-US" i="1" spc="5" noProof="1">
                <a:latin typeface="Arial"/>
                <a:cs typeface="Arial"/>
              </a:rPr>
              <a:t> </a:t>
            </a:r>
            <a:r>
              <a:rPr lang="en-US" i="1" noProof="1">
                <a:latin typeface="Arial"/>
                <a:cs typeface="Arial"/>
              </a:rPr>
              <a:t>be</a:t>
            </a:r>
            <a:r>
              <a:rPr lang="en-US" i="1" spc="5" noProof="1">
                <a:latin typeface="Arial"/>
                <a:cs typeface="Arial"/>
              </a:rPr>
              <a:t> </a:t>
            </a:r>
            <a:r>
              <a:rPr lang="en-US" i="1" spc="-25" noProof="1">
                <a:latin typeface="Arial"/>
                <a:cs typeface="Arial"/>
              </a:rPr>
              <a:t>more</a:t>
            </a:r>
            <a:r>
              <a:rPr lang="en-US" i="1" spc="5" noProof="1">
                <a:latin typeface="Arial"/>
                <a:cs typeface="Arial"/>
              </a:rPr>
              <a:t> </a:t>
            </a:r>
            <a:r>
              <a:rPr lang="en-US" i="1" spc="-10" noProof="1">
                <a:latin typeface="Arial"/>
                <a:cs typeface="Arial"/>
              </a:rPr>
              <a:t>suitable</a:t>
            </a:r>
            <a:r>
              <a:rPr lang="en-US" i="1" spc="5" noProof="1">
                <a:latin typeface="Arial"/>
                <a:cs typeface="Arial"/>
              </a:rPr>
              <a:t> </a:t>
            </a:r>
            <a:r>
              <a:rPr lang="en-US" i="1" spc="-20" noProof="1">
                <a:latin typeface="Arial"/>
                <a:cs typeface="Arial"/>
              </a:rPr>
              <a:t>due</a:t>
            </a:r>
            <a:r>
              <a:rPr lang="en-US" i="1" noProof="1">
                <a:latin typeface="Arial"/>
                <a:cs typeface="Arial"/>
              </a:rPr>
              <a:t> to</a:t>
            </a:r>
            <a:r>
              <a:rPr lang="en-US" i="1" spc="5" noProof="1">
                <a:latin typeface="Arial"/>
                <a:cs typeface="Arial"/>
              </a:rPr>
              <a:t> </a:t>
            </a:r>
            <a:r>
              <a:rPr lang="en-US" i="1" spc="-25" noProof="1">
                <a:latin typeface="Arial"/>
                <a:cs typeface="Arial"/>
              </a:rPr>
              <a:t>the </a:t>
            </a:r>
            <a:r>
              <a:rPr lang="en-US" i="1" spc="-40" noProof="1">
                <a:latin typeface="Arial"/>
                <a:cs typeface="Arial"/>
              </a:rPr>
              <a:t>increased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noProof="1">
                <a:latin typeface="Arial"/>
                <a:cs typeface="Arial"/>
              </a:rPr>
              <a:t>control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spc="-10" noProof="1">
                <a:latin typeface="Arial"/>
                <a:cs typeface="Arial"/>
              </a:rPr>
              <a:t>over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noProof="1">
                <a:latin typeface="Arial"/>
                <a:cs typeface="Arial"/>
              </a:rPr>
              <a:t>data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spc="-25" noProof="1">
                <a:latin typeface="Arial"/>
                <a:cs typeface="Arial"/>
              </a:rPr>
              <a:t>security.</a:t>
            </a:r>
            <a:r>
              <a:rPr lang="en-US" i="1" spc="100" noProof="1">
                <a:latin typeface="Arial"/>
                <a:cs typeface="Arial"/>
              </a:rPr>
              <a:t> </a:t>
            </a:r>
            <a:r>
              <a:rPr lang="en-US" i="1" spc="-35" noProof="1">
                <a:latin typeface="Arial"/>
                <a:cs typeface="Arial"/>
              </a:rPr>
              <a:t>However,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noProof="1">
                <a:latin typeface="Arial"/>
                <a:cs typeface="Arial"/>
              </a:rPr>
              <a:t>if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noProof="1">
                <a:latin typeface="Arial"/>
                <a:cs typeface="Arial"/>
              </a:rPr>
              <a:t>the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spc="-30" noProof="1">
                <a:latin typeface="Arial"/>
                <a:cs typeface="Arial"/>
              </a:rPr>
              <a:t>company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spc="-35" noProof="1">
                <a:latin typeface="Arial"/>
                <a:cs typeface="Arial"/>
              </a:rPr>
              <a:t>values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noProof="1">
                <a:latin typeface="Arial"/>
                <a:cs typeface="Arial"/>
              </a:rPr>
              <a:t>flexibility</a:t>
            </a:r>
            <a:r>
              <a:rPr lang="en-US" i="1" spc="15" noProof="1">
                <a:latin typeface="Arial"/>
                <a:cs typeface="Arial"/>
              </a:rPr>
              <a:t> </a:t>
            </a:r>
            <a:r>
              <a:rPr lang="en-US" i="1" noProof="1">
                <a:latin typeface="Arial"/>
                <a:cs typeface="Arial"/>
              </a:rPr>
              <a:t>and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spc="-20" noProof="1">
                <a:latin typeface="Arial"/>
                <a:cs typeface="Arial"/>
              </a:rPr>
              <a:t>scalability,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spc="-10" noProof="1">
                <a:latin typeface="Arial"/>
                <a:cs typeface="Arial"/>
              </a:rPr>
              <a:t>cloud computing</a:t>
            </a:r>
            <a:r>
              <a:rPr lang="en-US" i="1" noProof="1">
                <a:latin typeface="Arial"/>
                <a:cs typeface="Arial"/>
              </a:rPr>
              <a:t> </a:t>
            </a:r>
            <a:r>
              <a:rPr lang="en-US" i="1" spc="-10" noProof="1">
                <a:latin typeface="Arial"/>
                <a:cs typeface="Arial"/>
              </a:rPr>
              <a:t>could</a:t>
            </a:r>
            <a:r>
              <a:rPr lang="en-US" i="1" noProof="1">
                <a:latin typeface="Arial"/>
                <a:cs typeface="Arial"/>
              </a:rPr>
              <a:t> be</a:t>
            </a:r>
            <a:r>
              <a:rPr lang="en-US" i="1" spc="5" noProof="1">
                <a:latin typeface="Arial"/>
                <a:cs typeface="Arial"/>
              </a:rPr>
              <a:t> </a:t>
            </a:r>
            <a:r>
              <a:rPr lang="en-US" i="1" noProof="1">
                <a:latin typeface="Arial"/>
                <a:cs typeface="Arial"/>
              </a:rPr>
              <a:t>a better</a:t>
            </a:r>
            <a:r>
              <a:rPr lang="en-US" i="1" spc="5" noProof="1">
                <a:latin typeface="Arial"/>
                <a:cs typeface="Arial"/>
              </a:rPr>
              <a:t> </a:t>
            </a:r>
            <a:r>
              <a:rPr lang="en-US" i="1" spc="-10" noProof="1">
                <a:latin typeface="Arial"/>
                <a:cs typeface="Arial"/>
              </a:rPr>
              <a:t>choice.</a:t>
            </a: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4349750" cy="5080"/>
            </a:xfrm>
            <a:custGeom>
              <a:avLst/>
              <a:gdLst/>
              <a:ahLst/>
              <a:cxnLst/>
              <a:rect l="l" t="t" r="r" b="b"/>
              <a:pathLst>
                <a:path w="4349750" h="5080">
                  <a:moveTo>
                    <a:pt x="0" y="5060"/>
                  </a:moveTo>
                  <a:lnTo>
                    <a:pt x="0" y="0"/>
                  </a:lnTo>
                  <a:lnTo>
                    <a:pt x="4349411" y="0"/>
                  </a:lnTo>
                  <a:lnTo>
                    <a:pt x="4349411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5" noProof="1"/>
              <a:t>Case</a:t>
            </a:r>
            <a:r>
              <a:rPr lang="en-US" spc="-5" noProof="1"/>
              <a:t> </a:t>
            </a:r>
            <a:r>
              <a:rPr lang="en-US" spc="-10" noProof="1"/>
              <a:t>Study:</a:t>
            </a:r>
            <a:r>
              <a:rPr lang="en-US" spc="90" noProof="1"/>
              <a:t> </a:t>
            </a:r>
            <a:r>
              <a:rPr lang="en-US" noProof="1"/>
              <a:t>Is</a:t>
            </a:r>
            <a:r>
              <a:rPr lang="en-US" spc="-5" noProof="1"/>
              <a:t> </a:t>
            </a:r>
            <a:r>
              <a:rPr lang="en-US" spc="-30" noProof="1"/>
              <a:t>Cloud</a:t>
            </a:r>
            <a:r>
              <a:rPr lang="en-US" noProof="1"/>
              <a:t> </a:t>
            </a:r>
            <a:r>
              <a:rPr lang="en-US" spc="-30" noProof="1"/>
              <a:t>Computing</a:t>
            </a:r>
            <a:r>
              <a:rPr lang="en-US" spc="-5" noProof="1"/>
              <a:t> </a:t>
            </a:r>
            <a:r>
              <a:rPr lang="en-US" noProof="1"/>
              <a:t>Right for</a:t>
            </a:r>
            <a:r>
              <a:rPr lang="en-US" spc="-5" noProof="1"/>
              <a:t> </a:t>
            </a:r>
            <a:r>
              <a:rPr lang="en-US" spc="-20" noProof="1"/>
              <a:t>Your</a:t>
            </a:r>
            <a:r>
              <a:rPr lang="en-US" noProof="1"/>
              <a:t> </a:t>
            </a:r>
            <a:r>
              <a:rPr lang="en-US" spc="-40" noProof="1"/>
              <a:t>Company?</a:t>
            </a:r>
            <a:r>
              <a:rPr lang="en-US" spc="85" noProof="1"/>
              <a:t> </a:t>
            </a:r>
            <a:r>
              <a:rPr lang="en-US" spc="65" noProof="1"/>
              <a:t>(III)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3319" y="580685"/>
            <a:ext cx="5017135" cy="106108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574165" marR="5080" indent="-1505585">
              <a:lnSpc>
                <a:spcPct val="116199"/>
              </a:lnSpc>
              <a:spcBef>
                <a:spcPts val="100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Fast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forward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 few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years,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and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company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50" noProof="1">
                <a:solidFill>
                  <a:srgbClr val="22373A"/>
                </a:solidFill>
                <a:latin typeface="Arial"/>
                <a:cs typeface="Arial"/>
              </a:rPr>
              <a:t>X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has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achieved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remarkable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success.</a:t>
            </a:r>
            <a:r>
              <a:rPr lang="en-US" sz="900" spc="8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company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has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grown significantly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65" noProof="1">
                <a:solidFill>
                  <a:srgbClr val="22373A"/>
                </a:solidFill>
                <a:latin typeface="Arial"/>
                <a:cs typeface="Arial"/>
              </a:rPr>
              <a:t>needs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evolved.</a:t>
            </a:r>
            <a:endParaRPr lang="en-US" sz="900" noProof="1">
              <a:latin typeface="Arial"/>
              <a:cs typeface="Arial"/>
            </a:endParaRPr>
          </a:p>
          <a:p>
            <a:pPr marL="16510" marR="40640" indent="-4445">
              <a:lnSpc>
                <a:spcPct val="116199"/>
              </a:lnSpc>
              <a:spcBef>
                <a:spcPts val="625"/>
              </a:spcBef>
            </a:pP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The cost of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0" noProof="1">
                <a:solidFill>
                  <a:srgbClr val="22373A"/>
                </a:solidFill>
                <a:latin typeface="Arial"/>
                <a:cs typeface="Arial"/>
              </a:rPr>
              <a:t>using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 public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50" noProof="1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45" noProof="1">
                <a:solidFill>
                  <a:srgbClr val="22373A"/>
                </a:solidFill>
                <a:latin typeface="Arial"/>
                <a:cs typeface="Arial"/>
              </a:rPr>
              <a:t>increases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45" noProof="1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 the </a:t>
            </a:r>
            <a:r>
              <a:rPr lang="en-US" sz="900" i="1" spc="-30" noProof="1">
                <a:solidFill>
                  <a:srgbClr val="22373A"/>
                </a:solidFill>
                <a:latin typeface="Arial"/>
                <a:cs typeface="Arial"/>
              </a:rPr>
              <a:t>company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grows,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 but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i="1" spc="-30" noProof="1">
                <a:solidFill>
                  <a:srgbClr val="22373A"/>
                </a:solidFill>
                <a:latin typeface="Arial"/>
                <a:cs typeface="Arial"/>
              </a:rPr>
              <a:t>company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now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afford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invest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i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private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cloud.</a:t>
            </a:r>
            <a:r>
              <a:rPr lang="en-US" sz="900" i="1" spc="10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At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i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point,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hybrid</a:t>
            </a:r>
            <a:r>
              <a:rPr lang="en-US" sz="900" i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solution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help</a:t>
            </a:r>
            <a:r>
              <a:rPr lang="en-US" sz="900" i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35" noProof="1">
                <a:solidFill>
                  <a:srgbClr val="22373A"/>
                </a:solidFill>
                <a:latin typeface="Arial"/>
                <a:cs typeface="Arial"/>
              </a:rPr>
              <a:t>balance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0" noProof="1">
                <a:solidFill>
                  <a:srgbClr val="22373A"/>
                </a:solidFill>
                <a:latin typeface="Arial"/>
                <a:cs typeface="Arial"/>
              </a:rPr>
              <a:t>between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40" noProof="1">
                <a:solidFill>
                  <a:srgbClr val="22373A"/>
                </a:solidFill>
                <a:latin typeface="Arial"/>
                <a:cs typeface="Arial"/>
              </a:rPr>
              <a:t>advantages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public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 private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clouds.</a:t>
            </a:r>
            <a:r>
              <a:rPr lang="en-US" sz="900" i="1" spc="7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For </a:t>
            </a:r>
            <a:r>
              <a:rPr lang="en-US" sz="900" i="1" spc="-30" noProof="1">
                <a:solidFill>
                  <a:srgbClr val="22373A"/>
                </a:solidFill>
                <a:latin typeface="Arial"/>
                <a:cs typeface="Arial"/>
              </a:rPr>
              <a:t>example,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spc="-10" noProof="1">
                <a:solidFill>
                  <a:srgbClr val="22373A"/>
                </a:solidFill>
                <a:latin typeface="Arial"/>
                <a:cs typeface="Arial"/>
              </a:rPr>
              <a:t>Microsoft</a:t>
            </a:r>
            <a:r>
              <a:rPr lang="en-US" sz="900" b="1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spc="-10" noProof="1">
                <a:solidFill>
                  <a:srgbClr val="22373A"/>
                </a:solidFill>
                <a:latin typeface="Arial"/>
                <a:cs typeface="Arial"/>
              </a:rPr>
              <a:t>Azure </a:t>
            </a:r>
            <a:r>
              <a:rPr lang="en-US" sz="900" i="1" spc="-20" noProof="1">
                <a:solidFill>
                  <a:srgbClr val="22373A"/>
                </a:solidFill>
                <a:latin typeface="Arial"/>
                <a:cs typeface="Arial"/>
              </a:rPr>
              <a:t>offers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hybrid cloud </a:t>
            </a:r>
            <a:r>
              <a:rPr lang="en-US" sz="900" i="1" spc="-20" noProof="1">
                <a:solidFill>
                  <a:srgbClr val="22373A"/>
                </a:solidFill>
                <a:latin typeface="Arial"/>
                <a:cs typeface="Arial"/>
              </a:rPr>
              <a:t>solutions</a:t>
            </a:r>
            <a:r>
              <a:rPr lang="en-US" sz="900" i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i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combine</a:t>
            </a:r>
            <a:r>
              <a:rPr lang="en-US" sz="900" i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i="1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best</a:t>
            </a:r>
            <a:r>
              <a:rPr lang="en-US" sz="900" i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i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both</a:t>
            </a:r>
            <a:r>
              <a:rPr lang="en-US" sz="900" i="1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worlds.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359994" y="1696046"/>
            <a:ext cx="5039995" cy="164465"/>
          </a:xfrm>
          <a:prstGeom prst="rect">
            <a:avLst/>
          </a:prstGeom>
          <a:solidFill>
            <a:srgbClr val="CED2D3"/>
          </a:solidFill>
        </p:spPr>
        <p:txBody>
          <a:bodyPr vert="horz" wrap="square" lIns="0" tIns="0" rIns="0" bIns="0" rtlCol="0">
            <a:spAutoFit/>
          </a:bodyPr>
          <a:lstStyle/>
          <a:p>
            <a:pPr marL="37465">
              <a:lnSpc>
                <a:spcPts val="1050"/>
              </a:lnSpc>
            </a:pP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Take</a:t>
            </a:r>
            <a:r>
              <a:rPr lang="en-US" sz="900" b="1" spc="-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Home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Message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359994" y="1860473"/>
            <a:ext cx="5039995" cy="657860"/>
          </a:xfrm>
          <a:prstGeom prst="rect">
            <a:avLst/>
          </a:prstGeom>
          <a:solidFill>
            <a:srgbClr val="E4E6E6"/>
          </a:solidFill>
        </p:spPr>
        <p:txBody>
          <a:bodyPr vert="horz" wrap="square" lIns="0" tIns="3810" rIns="0" bIns="0" rtlCol="0">
            <a:spAutoFit/>
          </a:bodyPr>
          <a:lstStyle/>
          <a:p>
            <a:pPr marL="33655">
              <a:lnSpc>
                <a:spcPct val="100000"/>
              </a:lnSpc>
              <a:spcBef>
                <a:spcPts val="30"/>
              </a:spcBef>
            </a:pP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There’s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one-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size-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fits-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all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answer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when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comes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choosing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between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Traditional</a:t>
            </a:r>
            <a:endParaRPr lang="en-US" sz="900" noProof="1">
              <a:latin typeface="Arial"/>
              <a:cs typeface="Arial"/>
            </a:endParaRPr>
          </a:p>
          <a:p>
            <a:pPr marL="37465" marR="113030">
              <a:lnSpc>
                <a:spcPct val="116199"/>
              </a:lnSpc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infrastructure.</a:t>
            </a:r>
            <a:r>
              <a:rPr lang="en-US" sz="900" spc="8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optimal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solution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hinges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on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specific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65" noProof="1">
                <a:solidFill>
                  <a:srgbClr val="22373A"/>
                </a:solidFill>
                <a:latin typeface="Arial"/>
                <a:cs typeface="Arial"/>
              </a:rPr>
              <a:t>needs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resources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 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company.</a:t>
            </a:r>
            <a:r>
              <a:rPr lang="en-US" sz="900" spc="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thorough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analysis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costs,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benefits,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potential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risks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associated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each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option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crucial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to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making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informed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decision.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4467225" cy="5080"/>
            </a:xfrm>
            <a:custGeom>
              <a:avLst/>
              <a:gdLst/>
              <a:ahLst/>
              <a:cxnLst/>
              <a:rect l="l" t="t" r="r" b="b"/>
              <a:pathLst>
                <a:path w="4467225" h="5080">
                  <a:moveTo>
                    <a:pt x="0" y="5060"/>
                  </a:moveTo>
                  <a:lnTo>
                    <a:pt x="0" y="0"/>
                  </a:lnTo>
                  <a:lnTo>
                    <a:pt x="4467010" y="0"/>
                  </a:lnTo>
                  <a:lnTo>
                    <a:pt x="4467010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614703" y="1375167"/>
            <a:ext cx="1772920" cy="19177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lang="en-US" sz="1100" b="1" spc="-35" noProof="1">
                <a:solidFill>
                  <a:srgbClr val="22373A"/>
                </a:solidFill>
                <a:latin typeface="Arial"/>
                <a:cs typeface="Arial"/>
                <a:hlinkClick r:id="rId3" action="ppaction://hlinksldjump"/>
              </a:rPr>
              <a:t>Cloud</a:t>
            </a:r>
            <a:r>
              <a:rPr lang="en-US" sz="1100" b="1" spc="-5" noProof="1">
                <a:solidFill>
                  <a:srgbClr val="22373A"/>
                </a:solidFill>
                <a:latin typeface="Arial"/>
                <a:cs typeface="Arial"/>
                <a:hlinkClick r:id="rId3" action="ppaction://hlinksldjump"/>
              </a:rPr>
              <a:t> </a:t>
            </a:r>
            <a:r>
              <a:rPr lang="en-US" sz="1100" b="1" spc="-30" noProof="1">
                <a:solidFill>
                  <a:srgbClr val="22373A"/>
                </a:solidFill>
                <a:latin typeface="Arial"/>
                <a:cs typeface="Arial"/>
                <a:hlinkClick r:id="rId3" action="ppaction://hlinksldjump"/>
              </a:rPr>
              <a:t>Computing</a:t>
            </a:r>
            <a:r>
              <a:rPr lang="en-US" sz="1100" b="1" noProof="1">
                <a:solidFill>
                  <a:srgbClr val="22373A"/>
                </a:solidFill>
                <a:latin typeface="Arial"/>
                <a:cs typeface="Arial"/>
                <a:hlinkClick r:id="rId3" action="ppaction://hlinksldjump"/>
              </a:rPr>
              <a:t> in </a:t>
            </a:r>
            <a:r>
              <a:rPr lang="en-US" sz="1100" b="1" spc="-10" noProof="1">
                <a:solidFill>
                  <a:srgbClr val="22373A"/>
                </a:solidFill>
                <a:latin typeface="Arial"/>
                <a:cs typeface="Arial"/>
                <a:hlinkClick r:id="rId3" action="ppaction://hlinksldjump"/>
              </a:rPr>
              <a:t>Health</a:t>
            </a:r>
            <a:endParaRPr lang="en-US" sz="1100" noProof="1">
              <a:latin typeface="Arial"/>
              <a:cs typeface="Arial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1627403" y="1647056"/>
            <a:ext cx="2505710" cy="5080"/>
            <a:chOff x="1627403" y="1647056"/>
            <a:chExt cx="2505710" cy="5080"/>
          </a:xfrm>
        </p:grpSpPr>
        <p:sp>
          <p:nvSpPr>
            <p:cNvPr id="4" name="object 4"/>
            <p:cNvSpPr/>
            <p:nvPr/>
          </p:nvSpPr>
          <p:spPr>
            <a:xfrm>
              <a:off x="1627403" y="1647056"/>
              <a:ext cx="2505710" cy="5080"/>
            </a:xfrm>
            <a:custGeom>
              <a:avLst/>
              <a:gdLst/>
              <a:ahLst/>
              <a:cxnLst/>
              <a:rect l="l" t="t" r="r" b="b"/>
              <a:pathLst>
                <a:path w="2505710" h="5080">
                  <a:moveTo>
                    <a:pt x="0" y="5060"/>
                  </a:moveTo>
                  <a:lnTo>
                    <a:pt x="0" y="0"/>
                  </a:lnTo>
                  <a:lnTo>
                    <a:pt x="2505237" y="0"/>
                  </a:lnTo>
                  <a:lnTo>
                    <a:pt x="250523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1627403" y="1647056"/>
              <a:ext cx="1943100" cy="5080"/>
            </a:xfrm>
            <a:custGeom>
              <a:avLst/>
              <a:gdLst/>
              <a:ahLst/>
              <a:cxnLst/>
              <a:rect l="l" t="t" r="r" b="b"/>
              <a:pathLst>
                <a:path w="1943100" h="5080">
                  <a:moveTo>
                    <a:pt x="0" y="5060"/>
                  </a:moveTo>
                  <a:lnTo>
                    <a:pt x="0" y="0"/>
                  </a:lnTo>
                  <a:lnTo>
                    <a:pt x="1942843" y="0"/>
                  </a:lnTo>
                  <a:lnTo>
                    <a:pt x="194284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Why</a:t>
            </a:r>
            <a:r>
              <a:rPr lang="en-US" spc="25" noProof="1"/>
              <a:t> </a:t>
            </a:r>
            <a:r>
              <a:rPr lang="en-US" spc="-30" noProof="1"/>
              <a:t>Cloud</a:t>
            </a:r>
            <a:r>
              <a:rPr lang="en-US" spc="30" noProof="1"/>
              <a:t> </a:t>
            </a:r>
            <a:r>
              <a:rPr lang="en-US" spc="-30" noProof="1"/>
              <a:t>Computing</a:t>
            </a:r>
            <a:r>
              <a:rPr lang="en-US" spc="30" noProof="1"/>
              <a:t> </a:t>
            </a:r>
            <a:r>
              <a:rPr lang="en-US" noProof="1"/>
              <a:t>in</a:t>
            </a:r>
            <a:r>
              <a:rPr lang="en-US" spc="25" noProof="1"/>
              <a:t> </a:t>
            </a:r>
            <a:r>
              <a:rPr lang="en-US" spc="-10" noProof="1"/>
              <a:t>Health?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830735"/>
            <a:ext cx="4892040" cy="169862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40029" marR="5080" indent="-147955">
              <a:lnSpc>
                <a:spcPct val="116199"/>
              </a:lnSpc>
              <a:spcBef>
                <a:spcPts val="100"/>
              </a:spcBef>
              <a:buFont typeface="Arial"/>
              <a:buChar char="•"/>
              <a:tabLst>
                <a:tab pos="240029" algn="l"/>
              </a:tabLst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Big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9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Manage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store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large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volumes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data,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including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patient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records,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medical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images,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other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health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information.</a:t>
            </a:r>
            <a:endParaRPr lang="en-US" sz="900" noProof="1">
              <a:latin typeface="Arial"/>
              <a:cs typeface="Arial"/>
            </a:endParaRPr>
          </a:p>
          <a:p>
            <a:pPr marL="240029" marR="10160" indent="-147955">
              <a:lnSpc>
                <a:spcPct val="116199"/>
              </a:lnSpc>
              <a:buFont typeface="Arial"/>
              <a:buChar char="•"/>
              <a:tabLst>
                <a:tab pos="240029" algn="l"/>
              </a:tabLst>
            </a:pP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Interoperability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8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Share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data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across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different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systems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and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platforms,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improving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communication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collaboration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among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providers.</a:t>
            </a:r>
            <a:endParaRPr lang="en-US" sz="900" noProof="1">
              <a:latin typeface="Arial"/>
              <a:cs typeface="Arial"/>
            </a:endParaRPr>
          </a:p>
          <a:p>
            <a:pPr marL="240029" marR="119380" indent="-147955">
              <a:lnSpc>
                <a:spcPct val="116199"/>
              </a:lnSpc>
              <a:buFont typeface="Arial"/>
              <a:buChar char="•"/>
              <a:tabLst>
                <a:tab pos="240029" algn="l"/>
              </a:tabLst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Digital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Transformation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Adopt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new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technologies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services,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such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telemedicine,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remote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monitoring,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mobile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health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apps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electronic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health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records.</a:t>
            </a:r>
            <a:endParaRPr lang="en-US" sz="900" noProof="1">
              <a:latin typeface="Arial"/>
              <a:cs typeface="Arial"/>
            </a:endParaRPr>
          </a:p>
          <a:p>
            <a:pPr marL="12700" marR="15875">
              <a:lnSpc>
                <a:spcPct val="116199"/>
              </a:lnSpc>
              <a:spcBef>
                <a:spcPts val="62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 his PhD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thesis,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Management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45" noProof="1">
                <a:solidFill>
                  <a:srgbClr val="22373A"/>
                </a:solidFill>
                <a:latin typeface="Arial"/>
                <a:cs typeface="Arial"/>
              </a:rPr>
              <a:t>Systems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Applied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eHealth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(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  <a:hlinkClick r:id="rId3" action="ppaction://hlinksldjump"/>
              </a:rPr>
              <a:t>Vilaplana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  <a:hlinkClick r:id="rId3" action="ppaction://hlinksldjump"/>
              </a:rPr>
              <a:t>Mayoral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  <a:hlinkClick r:id="rId3" action="ppaction://hlinksldjump"/>
              </a:rPr>
              <a:t> et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  <a:hlinkClick r:id="rId3" action="ppaction://hlinksldjump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  <a:hlinkClick r:id="rId3" action="ppaction://hlinksldjump"/>
              </a:rPr>
              <a:t>al.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  <a:hlinkClick r:id="rId3" action="ppaction://hlinksldjump"/>
              </a:rPr>
              <a:t>2015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)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conducts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comprehensive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analysis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adoption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within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healthcare sector.</a:t>
            </a:r>
            <a:r>
              <a:rPr lang="en-US" sz="900" spc="8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implemented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various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cloud-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based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tools for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telemedicine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and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remote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patient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monitoring,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highlighting their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transformative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impact on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healthcare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delivery.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4584700" cy="5080"/>
            </a:xfrm>
            <a:custGeom>
              <a:avLst/>
              <a:gdLst/>
              <a:ahLst/>
              <a:cxnLst/>
              <a:rect l="l" t="t" r="r" b="b"/>
              <a:pathLst>
                <a:path w="4584700" h="5080">
                  <a:moveTo>
                    <a:pt x="0" y="5060"/>
                  </a:moveTo>
                  <a:lnTo>
                    <a:pt x="0" y="0"/>
                  </a:lnTo>
                  <a:lnTo>
                    <a:pt x="4584521" y="0"/>
                  </a:lnTo>
                  <a:lnTo>
                    <a:pt x="4584521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Which</a:t>
            </a:r>
            <a:r>
              <a:rPr lang="en-US" spc="10" noProof="1"/>
              <a:t> </a:t>
            </a:r>
            <a:r>
              <a:rPr lang="en-US" noProof="1"/>
              <a:t>are</a:t>
            </a:r>
            <a:r>
              <a:rPr lang="en-US" spc="10" noProof="1"/>
              <a:t> </a:t>
            </a:r>
            <a:r>
              <a:rPr lang="en-US" noProof="1"/>
              <a:t>the</a:t>
            </a:r>
            <a:r>
              <a:rPr lang="en-US" spc="15" noProof="1"/>
              <a:t> </a:t>
            </a:r>
            <a:r>
              <a:rPr lang="en-US" spc="-35" noProof="1"/>
              <a:t>opportunities</a:t>
            </a:r>
            <a:r>
              <a:rPr lang="en-US" spc="10" noProof="1"/>
              <a:t> </a:t>
            </a:r>
            <a:r>
              <a:rPr lang="en-US" noProof="1"/>
              <a:t>of</a:t>
            </a:r>
            <a:r>
              <a:rPr lang="en-US" spc="10" noProof="1"/>
              <a:t> </a:t>
            </a:r>
            <a:r>
              <a:rPr lang="en-US" spc="-30" noProof="1"/>
              <a:t>Cloud</a:t>
            </a:r>
            <a:r>
              <a:rPr lang="en-US" spc="15" noProof="1"/>
              <a:t> </a:t>
            </a:r>
            <a:r>
              <a:rPr lang="en-US" spc="-30" noProof="1"/>
              <a:t>Computing</a:t>
            </a:r>
            <a:r>
              <a:rPr lang="en-US" spc="10" noProof="1"/>
              <a:t> </a:t>
            </a:r>
            <a:r>
              <a:rPr lang="en-US" noProof="1"/>
              <a:t>in</a:t>
            </a:r>
            <a:r>
              <a:rPr lang="en-US" spc="10" noProof="1"/>
              <a:t> </a:t>
            </a:r>
            <a:r>
              <a:rPr lang="en-US" spc="-10" noProof="1"/>
              <a:t>Health?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59994" y="761263"/>
            <a:ext cx="5039995" cy="164465"/>
          </a:xfrm>
          <a:prstGeom prst="rect">
            <a:avLst/>
          </a:prstGeom>
          <a:solidFill>
            <a:srgbClr val="CED2D3"/>
          </a:solidFill>
        </p:spPr>
        <p:txBody>
          <a:bodyPr vert="horz" wrap="square" lIns="0" tIns="0" rIns="0" bIns="0" rtlCol="0">
            <a:spAutoFit/>
          </a:bodyPr>
          <a:lstStyle/>
          <a:p>
            <a:pPr marL="37465">
              <a:lnSpc>
                <a:spcPts val="1050"/>
              </a:lnSpc>
            </a:pP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Capital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55" noProof="1">
                <a:solidFill>
                  <a:srgbClr val="22373A"/>
                </a:solidFill>
                <a:latin typeface="Arial"/>
                <a:cs typeface="Arial"/>
              </a:rPr>
              <a:t>expenses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savings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359994" y="925677"/>
            <a:ext cx="5039995" cy="337820"/>
          </a:xfrm>
          <a:prstGeom prst="rect">
            <a:avLst/>
          </a:prstGeom>
          <a:solidFill>
            <a:srgbClr val="E4E6E6"/>
          </a:solidFill>
        </p:spPr>
        <p:txBody>
          <a:bodyPr vert="horz" wrap="square" lIns="0" tIns="2540" rIns="0" bIns="0" rtlCol="0">
            <a:spAutoFit/>
          </a:bodyPr>
          <a:lstStyle/>
          <a:p>
            <a:pPr marL="37465">
              <a:lnSpc>
                <a:spcPct val="100000"/>
              </a:lnSpc>
              <a:spcBef>
                <a:spcPts val="20"/>
              </a:spcBef>
            </a:pP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Healthcare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organitzation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rent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resources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pay-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as-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you-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go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basis,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reducing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need</a:t>
            </a:r>
            <a:endParaRPr lang="en-US" sz="900" noProof="1">
              <a:latin typeface="Arial"/>
              <a:cs typeface="Arial"/>
            </a:endParaRPr>
          </a:p>
          <a:p>
            <a:pPr marL="37465">
              <a:lnSpc>
                <a:spcPct val="100000"/>
              </a:lnSpc>
              <a:spcBef>
                <a:spcPts val="17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large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upfront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investments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expensive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hardware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software.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359994" y="1362024"/>
            <a:ext cx="5039995" cy="164465"/>
          </a:xfrm>
          <a:prstGeom prst="rect">
            <a:avLst/>
          </a:prstGeom>
          <a:solidFill>
            <a:srgbClr val="CED2D3"/>
          </a:solidFill>
        </p:spPr>
        <p:txBody>
          <a:bodyPr vert="horz" wrap="square" lIns="0" tIns="0" rIns="0" bIns="0" rtlCol="0">
            <a:spAutoFit/>
          </a:bodyPr>
          <a:lstStyle/>
          <a:p>
            <a:pPr marL="37465">
              <a:lnSpc>
                <a:spcPts val="1050"/>
              </a:lnSpc>
            </a:pP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Improved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 patient</a:t>
            </a:r>
            <a:r>
              <a:rPr lang="en-US" sz="900" b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care</a:t>
            </a:r>
            <a:r>
              <a:rPr lang="en-US" sz="900" b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50" noProof="1">
                <a:solidFill>
                  <a:srgbClr val="22373A"/>
                </a:solidFill>
                <a:latin typeface="Arial"/>
                <a:cs typeface="Arial"/>
              </a:rPr>
              <a:t>decision</a:t>
            </a:r>
            <a:r>
              <a:rPr lang="en-US" sz="900" b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making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359994" y="1526451"/>
            <a:ext cx="5039995" cy="339090"/>
          </a:xfrm>
          <a:prstGeom prst="rect">
            <a:avLst/>
          </a:prstGeom>
          <a:solidFill>
            <a:srgbClr val="E4E6E6"/>
          </a:solidFill>
        </p:spPr>
        <p:txBody>
          <a:bodyPr vert="horz" wrap="square" lIns="0" tIns="3810" rIns="0" bIns="0" rtlCol="0">
            <a:spAutoFit/>
          </a:bodyPr>
          <a:lstStyle/>
          <a:p>
            <a:pPr marL="37465">
              <a:lnSpc>
                <a:spcPct val="100000"/>
              </a:lnSpc>
              <a:spcBef>
                <a:spcPts val="30"/>
              </a:spcBef>
            </a:pP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Healthcare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professionals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store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and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analyze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large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volumes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 data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 build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predictive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endParaRPr lang="en-US" sz="900" noProof="1">
              <a:latin typeface="Arial"/>
              <a:cs typeface="Arial"/>
            </a:endParaRPr>
          </a:p>
          <a:p>
            <a:pPr marL="37465">
              <a:lnSpc>
                <a:spcPct val="100000"/>
              </a:lnSpc>
              <a:spcBef>
                <a:spcPts val="175"/>
              </a:spcBef>
            </a:pP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prescriptive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models,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improving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patient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care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and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decision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making.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359994" y="1964042"/>
            <a:ext cx="5039995" cy="164465"/>
          </a:xfrm>
          <a:prstGeom prst="rect">
            <a:avLst/>
          </a:prstGeom>
          <a:solidFill>
            <a:srgbClr val="CED2D3"/>
          </a:solidFill>
        </p:spPr>
        <p:txBody>
          <a:bodyPr vert="horz" wrap="square" lIns="0" tIns="0" rIns="0" bIns="0" rtlCol="0">
            <a:spAutoFit/>
          </a:bodyPr>
          <a:lstStyle/>
          <a:p>
            <a:pPr marL="37465">
              <a:lnSpc>
                <a:spcPts val="1050"/>
              </a:lnSpc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Better</a:t>
            </a:r>
            <a:r>
              <a:rPr lang="en-US" sz="900" b="1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coordination</a:t>
            </a:r>
            <a:r>
              <a:rPr lang="en-US" sz="900" b="1" spc="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among</a:t>
            </a:r>
            <a:r>
              <a:rPr lang="en-US" sz="900" b="1" spc="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stakeholders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359994" y="2128469"/>
            <a:ext cx="5039995" cy="179705"/>
          </a:xfrm>
          <a:prstGeom prst="rect">
            <a:avLst/>
          </a:prstGeom>
          <a:solidFill>
            <a:srgbClr val="E4E6E6"/>
          </a:solidFill>
        </p:spPr>
        <p:txBody>
          <a:bodyPr vert="horz" wrap="square" lIns="0" tIns="3810" rIns="0" bIns="0" rtlCol="0">
            <a:spAutoFit/>
          </a:bodyPr>
          <a:lstStyle/>
          <a:p>
            <a:pPr marL="37465">
              <a:lnSpc>
                <a:spcPct val="100000"/>
              </a:lnSpc>
              <a:spcBef>
                <a:spcPts val="30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Patients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healthcare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professionals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solidFill>
                  <a:srgbClr val="22373A"/>
                </a:solidFill>
                <a:latin typeface="Arial"/>
                <a:cs typeface="Arial"/>
              </a:rPr>
              <a:t>access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share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more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easily.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990028" y="2430457"/>
            <a:ext cx="3803015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More</a:t>
            </a:r>
            <a:r>
              <a:rPr lang="en-US" sz="900" i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opportunities</a:t>
            </a:r>
            <a:r>
              <a:rPr lang="en-US" sz="900" i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i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i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30" noProof="1">
                <a:solidFill>
                  <a:srgbClr val="22373A"/>
                </a:solidFill>
                <a:latin typeface="Arial"/>
                <a:cs typeface="Arial"/>
              </a:rPr>
              <a:t>healthcare</a:t>
            </a:r>
            <a:r>
              <a:rPr lang="en-US" sz="900" i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sector</a:t>
            </a:r>
            <a:r>
              <a:rPr lang="en-US" sz="900" i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3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i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50" noProof="1">
                <a:solidFill>
                  <a:srgbClr val="22373A"/>
                </a:solidFill>
                <a:latin typeface="Arial"/>
                <a:cs typeface="Arial"/>
              </a:rPr>
              <a:t>discussed</a:t>
            </a:r>
            <a:r>
              <a:rPr lang="en-US" sz="900" i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i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(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  <a:hlinkClick r:id="rId3" action="ppaction://hlinksldjump"/>
              </a:rPr>
              <a:t>Ali</a:t>
            </a:r>
            <a:r>
              <a:rPr lang="en-US" sz="900" i="1" spc="30" noProof="1">
                <a:solidFill>
                  <a:srgbClr val="22373A"/>
                </a:solidFill>
                <a:latin typeface="Arial"/>
                <a:cs typeface="Arial"/>
                <a:hlinkClick r:id="rId3" action="ppaction://hlinksldjump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  <a:hlinkClick r:id="rId3" action="ppaction://hlinksldjump"/>
              </a:rPr>
              <a:t>et</a:t>
            </a:r>
            <a:r>
              <a:rPr lang="en-US" sz="900" i="1" spc="30" noProof="1">
                <a:solidFill>
                  <a:srgbClr val="22373A"/>
                </a:solidFill>
                <a:latin typeface="Arial"/>
                <a:cs typeface="Arial"/>
                <a:hlinkClick r:id="rId3" action="ppaction://hlinksldjump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  <a:hlinkClick r:id="rId3" action="ppaction://hlinksldjump"/>
              </a:rPr>
              <a:t>al.</a:t>
            </a:r>
            <a:r>
              <a:rPr lang="en-US" sz="900" i="1" spc="120" noProof="1">
                <a:solidFill>
                  <a:srgbClr val="22373A"/>
                </a:solidFill>
                <a:latin typeface="Arial"/>
                <a:cs typeface="Arial"/>
                <a:hlinkClick r:id="rId3" action="ppaction://hlinksldjump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  <a:hlinkClick r:id="rId3" action="ppaction://hlinksldjump"/>
              </a:rPr>
              <a:t>2018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).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10" name="object 10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11" name="object 11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2" name="object 12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3" name="object 13"/>
            <p:cNvSpPr/>
            <p:nvPr/>
          </p:nvSpPr>
          <p:spPr>
            <a:xfrm>
              <a:off x="0" y="3234963"/>
              <a:ext cx="4702175" cy="5080"/>
            </a:xfrm>
            <a:custGeom>
              <a:avLst/>
              <a:gdLst/>
              <a:ahLst/>
              <a:cxnLst/>
              <a:rect l="l" t="t" r="r" b="b"/>
              <a:pathLst>
                <a:path w="4702175" h="5080">
                  <a:moveTo>
                    <a:pt x="0" y="5060"/>
                  </a:moveTo>
                  <a:lnTo>
                    <a:pt x="0" y="0"/>
                  </a:lnTo>
                  <a:lnTo>
                    <a:pt x="4702120" y="0"/>
                  </a:lnTo>
                  <a:lnTo>
                    <a:pt x="4702120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61341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10" noProof="1"/>
              <a:t>Use</a:t>
            </a:r>
            <a:r>
              <a:rPr lang="en-US" spc="-35" noProof="1"/>
              <a:t> </a:t>
            </a:r>
            <a:r>
              <a:rPr lang="en-US" spc="-65" noProof="1"/>
              <a:t>Cases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427126" y="711241"/>
            <a:ext cx="4968875" cy="193738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60020" marR="85090" indent="-147955">
              <a:lnSpc>
                <a:spcPct val="116199"/>
              </a:lnSpc>
              <a:spcBef>
                <a:spcPts val="100"/>
              </a:spcBef>
              <a:buFont typeface="Arial"/>
              <a:buChar char="•"/>
              <a:tabLst>
                <a:tab pos="160020" algn="l"/>
              </a:tabLst>
            </a:pPr>
            <a:r>
              <a:rPr lang="en-US" sz="900" b="1" spc="-40" noProof="1">
                <a:solidFill>
                  <a:srgbClr val="22373A"/>
                </a:solidFill>
                <a:latin typeface="Arial"/>
                <a:cs typeface="Arial"/>
              </a:rPr>
              <a:t>Sequence</a:t>
            </a:r>
            <a:r>
              <a:rPr lang="en-US" sz="900" b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Analysis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7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offers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like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Lambda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Amazon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S3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used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to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run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60" noProof="1">
                <a:solidFill>
                  <a:srgbClr val="22373A"/>
                </a:solidFill>
                <a:latin typeface="Arial"/>
                <a:cs typeface="Arial"/>
              </a:rPr>
              <a:t>sequence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analysis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software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like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BLAST.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allows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healthcare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organizations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compare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patient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DNA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65" noProof="1">
                <a:solidFill>
                  <a:srgbClr val="22373A"/>
                </a:solidFill>
                <a:latin typeface="Arial"/>
                <a:cs typeface="Arial"/>
              </a:rPr>
              <a:t>sequences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known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65" noProof="1">
                <a:solidFill>
                  <a:srgbClr val="22373A"/>
                </a:solidFill>
                <a:latin typeface="Arial"/>
                <a:cs typeface="Arial"/>
              </a:rPr>
              <a:t>sequences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identify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genetic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mutations.</a:t>
            </a:r>
            <a:endParaRPr lang="en-US" sz="900" noProof="1">
              <a:latin typeface="Arial"/>
              <a:cs typeface="Arial"/>
            </a:endParaRPr>
          </a:p>
          <a:p>
            <a:pPr marL="160020" marR="117475" indent="-147955" algn="just">
              <a:lnSpc>
                <a:spcPct val="116199"/>
              </a:lnSpc>
              <a:buFont typeface="Arial"/>
              <a:buChar char="•"/>
              <a:tabLst>
                <a:tab pos="160020" algn="l"/>
              </a:tabLst>
            </a:pP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Genomic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Storage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8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Google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Platform (GCP)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provides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solution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for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storing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genomic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data.</a:t>
            </a:r>
            <a:r>
              <a:rPr lang="en-US" sz="900" spc="7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offers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like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Google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Storage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BigQuery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which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used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to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store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analyze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large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volumes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genomic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data.</a:t>
            </a:r>
            <a:endParaRPr lang="en-US" sz="900" noProof="1">
              <a:latin typeface="Arial"/>
              <a:cs typeface="Arial"/>
            </a:endParaRPr>
          </a:p>
          <a:p>
            <a:pPr marL="160020" marR="96520" indent="-147955" algn="just">
              <a:lnSpc>
                <a:spcPct val="116199"/>
              </a:lnSpc>
              <a:buFont typeface="Arial"/>
              <a:buChar char="•"/>
              <a:tabLst>
                <a:tab pos="160020" algn="l"/>
              </a:tabLst>
            </a:pP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Telemedicine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8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Microsoft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Azure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has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service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called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Azure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Communication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that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be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used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build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telemedicine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applications.</a:t>
            </a:r>
            <a:r>
              <a:rPr lang="en-US" sz="900" spc="9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provides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capabilities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video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calling,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chat,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SMS,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enabling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healthcare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providers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consult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patients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remotely.</a:t>
            </a:r>
            <a:endParaRPr lang="en-US" sz="900" noProof="1">
              <a:latin typeface="Arial"/>
              <a:cs typeface="Arial"/>
            </a:endParaRPr>
          </a:p>
          <a:p>
            <a:pPr marL="160020" marR="5080" indent="-147955">
              <a:lnSpc>
                <a:spcPct val="116199"/>
              </a:lnSpc>
              <a:buFont typeface="Arial"/>
              <a:buChar char="•"/>
              <a:tabLst>
                <a:tab pos="160020" algn="l"/>
              </a:tabLst>
            </a:pP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Remote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Patient</a:t>
            </a:r>
            <a:r>
              <a:rPr lang="en-US" sz="900" b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Monitoring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10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IBM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Watson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Health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offers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solutions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remote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patient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monitoring.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0" noProof="1">
                <a:solidFill>
                  <a:srgbClr val="22373A"/>
                </a:solidFill>
                <a:latin typeface="Arial"/>
                <a:cs typeface="Arial"/>
              </a:rPr>
              <a:t>uses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AI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analyze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various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sources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such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electronic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health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records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wearable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devices,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providing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healthcare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professionals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insights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improve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patient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care.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4819650" cy="5080"/>
            </a:xfrm>
            <a:custGeom>
              <a:avLst/>
              <a:gdLst/>
              <a:ahLst/>
              <a:cxnLst/>
              <a:rect l="l" t="t" r="r" b="b"/>
              <a:pathLst>
                <a:path w="4819650" h="5080">
                  <a:moveTo>
                    <a:pt x="0" y="5060"/>
                  </a:moveTo>
                  <a:lnTo>
                    <a:pt x="0" y="0"/>
                  </a:lnTo>
                  <a:lnTo>
                    <a:pt x="4819632" y="0"/>
                  </a:lnTo>
                  <a:lnTo>
                    <a:pt x="4819632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45" noProof="1"/>
              <a:t>Challenges</a:t>
            </a:r>
            <a:r>
              <a:rPr lang="en-US" spc="30" noProof="1"/>
              <a:t> </a:t>
            </a:r>
            <a:r>
              <a:rPr lang="en-US" noProof="1"/>
              <a:t>in</a:t>
            </a:r>
            <a:r>
              <a:rPr lang="en-US" spc="30" noProof="1"/>
              <a:t> </a:t>
            </a:r>
            <a:r>
              <a:rPr lang="en-US" spc="-10" noProof="1"/>
              <a:t>Health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427126" y="950230"/>
            <a:ext cx="4986020" cy="1483548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065" marR="36830">
              <a:lnSpc>
                <a:spcPct val="116199"/>
              </a:lnSpc>
              <a:spcBef>
                <a:spcPts val="100"/>
              </a:spcBef>
              <a:tabLst>
                <a:tab pos="160020" algn="l"/>
              </a:tabLst>
            </a:pP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Among others….</a:t>
            </a:r>
          </a:p>
          <a:p>
            <a:pPr marL="160020" marR="36830" indent="-147955">
              <a:lnSpc>
                <a:spcPct val="116199"/>
              </a:lnSpc>
              <a:spcBef>
                <a:spcPts val="100"/>
              </a:spcBef>
              <a:buFont typeface="Arial"/>
              <a:buChar char="•"/>
              <a:tabLst>
                <a:tab pos="160020" algn="l"/>
              </a:tabLst>
            </a:pPr>
            <a:endParaRPr lang="en-US" sz="900" b="1" spc="-25" noProof="1">
              <a:solidFill>
                <a:srgbClr val="22373A"/>
              </a:solidFill>
              <a:latin typeface="Arial"/>
              <a:cs typeface="Arial"/>
            </a:endParaRPr>
          </a:p>
          <a:p>
            <a:pPr marL="160020" marR="36830" indent="-147955">
              <a:lnSpc>
                <a:spcPct val="116199"/>
              </a:lnSpc>
              <a:spcBef>
                <a:spcPts val="100"/>
              </a:spcBef>
              <a:buFont typeface="Arial"/>
              <a:buChar char="•"/>
              <a:tabLst>
                <a:tab pos="160020" algn="l"/>
              </a:tabLst>
            </a:pP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Security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Privacy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8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Healthcare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organizations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obligated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to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adhere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 stringent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regulations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standards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safeguard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patient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data.</a:t>
            </a:r>
            <a:r>
              <a:rPr lang="en-US" sz="900" spc="10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LOPD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Spain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HIPAA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United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States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mandate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protection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personal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guarantees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digital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rights.</a:t>
            </a:r>
          </a:p>
          <a:p>
            <a:pPr marL="160020" marR="36830" indent="-147955">
              <a:lnSpc>
                <a:spcPct val="116199"/>
              </a:lnSpc>
              <a:spcBef>
                <a:spcPts val="100"/>
              </a:spcBef>
              <a:buFont typeface="Arial"/>
              <a:buChar char="•"/>
              <a:tabLst>
                <a:tab pos="160020" algn="l"/>
              </a:tabLst>
            </a:pPr>
            <a:endParaRPr lang="en-US" sz="900" noProof="1">
              <a:latin typeface="Arial"/>
              <a:cs typeface="Arial"/>
            </a:endParaRPr>
          </a:p>
          <a:p>
            <a:pPr marL="160020" marR="5080" indent="-147955">
              <a:lnSpc>
                <a:spcPct val="116199"/>
              </a:lnSpc>
              <a:buFont typeface="Arial"/>
              <a:buChar char="•"/>
              <a:tabLst>
                <a:tab pos="160020" algn="l"/>
              </a:tabLst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b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Integration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1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Healthcare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organizations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required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integrate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diverse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sources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systems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deliver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comprehensive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care.</a:t>
            </a:r>
            <a:r>
              <a:rPr lang="en-US" sz="900" spc="8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integration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crucial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transforming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isolated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information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units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into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unified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system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knowledge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and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action.</a:t>
            </a:r>
            <a:r>
              <a:rPr lang="en-US" sz="900" spc="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4937760" cy="5080"/>
            </a:xfrm>
            <a:custGeom>
              <a:avLst/>
              <a:gdLst/>
              <a:ahLst/>
              <a:cxnLst/>
              <a:rect l="l" t="t" r="r" b="b"/>
              <a:pathLst>
                <a:path w="4937760" h="5080">
                  <a:moveTo>
                    <a:pt x="0" y="5060"/>
                  </a:moveTo>
                  <a:lnTo>
                    <a:pt x="0" y="0"/>
                  </a:lnTo>
                  <a:lnTo>
                    <a:pt x="4937231" y="0"/>
                  </a:lnTo>
                  <a:lnTo>
                    <a:pt x="4937231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Is</a:t>
            </a:r>
            <a:r>
              <a:rPr lang="en-US" spc="10" noProof="1"/>
              <a:t> </a:t>
            </a:r>
            <a:r>
              <a:rPr lang="en-US" spc="-35" noProof="1"/>
              <a:t>cloud</a:t>
            </a:r>
            <a:r>
              <a:rPr lang="en-US" spc="10" noProof="1"/>
              <a:t> </a:t>
            </a:r>
            <a:r>
              <a:rPr lang="en-US" spc="-35" noProof="1"/>
              <a:t>computing</a:t>
            </a:r>
            <a:r>
              <a:rPr lang="en-US" spc="15" noProof="1"/>
              <a:t> </a:t>
            </a:r>
            <a:r>
              <a:rPr lang="en-US" noProof="1"/>
              <a:t>the</a:t>
            </a:r>
            <a:r>
              <a:rPr lang="en-US" spc="10" noProof="1"/>
              <a:t> </a:t>
            </a:r>
            <a:r>
              <a:rPr lang="en-US" noProof="1"/>
              <a:t>future</a:t>
            </a:r>
            <a:r>
              <a:rPr lang="en-US" spc="15" noProof="1"/>
              <a:t> </a:t>
            </a:r>
            <a:r>
              <a:rPr lang="en-US" noProof="1"/>
              <a:t>of</a:t>
            </a:r>
            <a:r>
              <a:rPr lang="en-US" spc="10" noProof="1"/>
              <a:t> </a:t>
            </a:r>
            <a:r>
              <a:rPr lang="en-US" spc="-10" noProof="1"/>
              <a:t>Health?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630854"/>
            <a:ext cx="5088255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No,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is not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future of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health,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 is the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present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it is an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essential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part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 the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future.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227304" y="897497"/>
            <a:ext cx="2545715" cy="1844675"/>
          </a:xfrm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0"/>
              </a:spcBef>
            </a:pP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is evolving continously</a:t>
            </a:r>
            <a:endParaRPr lang="en-US" sz="900" noProof="1">
              <a:latin typeface="Arial"/>
              <a:cs typeface="Arial"/>
            </a:endParaRPr>
          </a:p>
          <a:p>
            <a:pPr marL="240029" marR="178435" indent="-147955">
              <a:lnSpc>
                <a:spcPct val="116199"/>
              </a:lnSpc>
              <a:spcBef>
                <a:spcPts val="675"/>
              </a:spcBef>
              <a:buFont typeface="Arial"/>
              <a:buChar char="•"/>
              <a:tabLst>
                <a:tab pos="240029" algn="l"/>
              </a:tabLst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IoT</a:t>
            </a:r>
            <a:r>
              <a:rPr lang="en-US" sz="900" b="1" spc="4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22373A"/>
                </a:solidFill>
                <a:latin typeface="Arial"/>
                <a:cs typeface="Arial"/>
              </a:rPr>
              <a:t>devices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1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Sensors,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wearables,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other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devices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collect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transmit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data.</a:t>
            </a:r>
            <a:endParaRPr lang="en-US" sz="900" noProof="1">
              <a:latin typeface="Arial"/>
              <a:cs typeface="Arial"/>
            </a:endParaRPr>
          </a:p>
          <a:p>
            <a:pPr marL="240029" marR="5080" indent="-147955">
              <a:lnSpc>
                <a:spcPct val="116199"/>
              </a:lnSpc>
              <a:buFont typeface="Arial"/>
              <a:buChar char="•"/>
              <a:tabLst>
                <a:tab pos="240029" algn="l"/>
              </a:tabLst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Mobile </a:t>
            </a:r>
            <a:r>
              <a:rPr lang="en-US" sz="900" b="1" spc="-40" noProof="1">
                <a:solidFill>
                  <a:srgbClr val="22373A"/>
                </a:solidFill>
                <a:latin typeface="Arial"/>
                <a:cs typeface="Arial"/>
              </a:rPr>
              <a:t>devices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7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Smartphones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tablets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that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used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solidFill>
                  <a:srgbClr val="22373A"/>
                </a:solidFill>
                <a:latin typeface="Arial"/>
                <a:cs typeface="Arial"/>
              </a:rPr>
              <a:t>access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share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data.</a:t>
            </a:r>
            <a:endParaRPr lang="en-US" sz="900" noProof="1">
              <a:latin typeface="Arial"/>
              <a:cs typeface="Arial"/>
            </a:endParaRPr>
          </a:p>
          <a:p>
            <a:pPr marL="240029" marR="103505" indent="-147955">
              <a:lnSpc>
                <a:spcPct val="116199"/>
              </a:lnSpc>
              <a:buFont typeface="Arial"/>
              <a:buChar char="•"/>
              <a:tabLst>
                <a:tab pos="240029" algn="l"/>
              </a:tabLst>
            </a:pP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Edge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7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Facilitates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real-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time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data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processing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analysis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source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data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generation.</a:t>
            </a:r>
            <a:endParaRPr lang="en-US" sz="900" noProof="1">
              <a:latin typeface="Arial"/>
              <a:cs typeface="Arial"/>
            </a:endParaRPr>
          </a:p>
          <a:p>
            <a:pPr marL="240029" marR="57785" indent="-147955" algn="just">
              <a:lnSpc>
                <a:spcPct val="116199"/>
              </a:lnSpc>
              <a:buFont typeface="Arial"/>
              <a:buChar char="•"/>
              <a:tabLst>
                <a:tab pos="240029" algn="l"/>
              </a:tabLst>
            </a:pP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Fog</a:t>
            </a:r>
            <a:r>
              <a:rPr lang="en-US" sz="900" b="1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Extends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to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edge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network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improve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eﬀiciency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 reduce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latency.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2983318" y="897497"/>
            <a:ext cx="2531110" cy="1525905"/>
          </a:xfrm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16510">
              <a:lnSpc>
                <a:spcPct val="100000"/>
              </a:lnSpc>
              <a:spcBef>
                <a:spcPts val="120"/>
              </a:spcBef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Big</a:t>
            </a:r>
            <a:r>
              <a:rPr lang="en-US" sz="900" b="1" spc="40" noProof="1">
                <a:solidFill>
                  <a:srgbClr val="22373A"/>
                </a:solidFill>
                <a:latin typeface="Arial"/>
                <a:cs typeface="Arial"/>
              </a:rPr>
              <a:t> data </a:t>
            </a:r>
            <a:r>
              <a:rPr lang="en-US" sz="900" spc="315" noProof="1">
                <a:solidFill>
                  <a:srgbClr val="880B57"/>
                </a:solidFill>
                <a:latin typeface="Apple Symbols"/>
                <a:cs typeface="Apple Symbols"/>
              </a:rPr>
              <a:t>⇒</a:t>
            </a:r>
            <a:r>
              <a:rPr lang="en-US" sz="900" spc="-10" noProof="1">
                <a:solidFill>
                  <a:srgbClr val="880B57"/>
                </a:solidFill>
                <a:latin typeface="Apple Symbols"/>
                <a:cs typeface="Apple Symbols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Quality</a:t>
            </a:r>
            <a:endParaRPr lang="en-US" sz="900" noProof="1">
              <a:latin typeface="Arial"/>
              <a:cs typeface="Arial"/>
            </a:endParaRPr>
          </a:p>
          <a:p>
            <a:pPr marL="16510" marR="5080" indent="-4445">
              <a:lnSpc>
                <a:spcPct val="116199"/>
              </a:lnSpc>
              <a:spcBef>
                <a:spcPts val="675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There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 a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growing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demand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high-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quality data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in healthcare.</a:t>
            </a:r>
            <a:r>
              <a:rPr lang="en-US" sz="900" spc="7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 computing can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help healthcare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organizations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manage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analyze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large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volumes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of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improve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patient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care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outcomes.</a:t>
            </a:r>
            <a:r>
              <a:rPr lang="en-US" sz="900" spc="10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But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it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only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about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quantity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,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about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quality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r>
              <a:rPr lang="en-US" sz="900" spc="1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Distributed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Artificial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Intelligence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help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analyze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identify patterns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trends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real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time.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055235" cy="5080"/>
            </a:xfrm>
            <a:custGeom>
              <a:avLst/>
              <a:gdLst/>
              <a:ahLst/>
              <a:cxnLst/>
              <a:rect l="l" t="t" r="r" b="b"/>
              <a:pathLst>
                <a:path w="5055235" h="5080">
                  <a:moveTo>
                    <a:pt x="0" y="5060"/>
                  </a:moveTo>
                  <a:lnTo>
                    <a:pt x="0" y="0"/>
                  </a:lnTo>
                  <a:lnTo>
                    <a:pt x="5054742" y="0"/>
                  </a:lnTo>
                  <a:lnTo>
                    <a:pt x="5054742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614703" y="1375167"/>
            <a:ext cx="706120" cy="19177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lang="en-US" sz="1100" b="1" spc="-65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Conclusion</a:t>
            </a:r>
            <a:endParaRPr lang="en-US" sz="1100" noProof="1">
              <a:latin typeface="Arial"/>
              <a:cs typeface="Arial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1627403" y="1647056"/>
            <a:ext cx="2505710" cy="5080"/>
            <a:chOff x="1627403" y="1647056"/>
            <a:chExt cx="2505710" cy="5080"/>
          </a:xfrm>
        </p:grpSpPr>
        <p:sp>
          <p:nvSpPr>
            <p:cNvPr id="4" name="object 4"/>
            <p:cNvSpPr/>
            <p:nvPr/>
          </p:nvSpPr>
          <p:spPr>
            <a:xfrm>
              <a:off x="1627403" y="1647056"/>
              <a:ext cx="2505710" cy="5080"/>
            </a:xfrm>
            <a:custGeom>
              <a:avLst/>
              <a:gdLst/>
              <a:ahLst/>
              <a:cxnLst/>
              <a:rect l="l" t="t" r="r" b="b"/>
              <a:pathLst>
                <a:path w="2505710" h="5080">
                  <a:moveTo>
                    <a:pt x="0" y="5060"/>
                  </a:moveTo>
                  <a:lnTo>
                    <a:pt x="0" y="0"/>
                  </a:lnTo>
                  <a:lnTo>
                    <a:pt x="2505237" y="0"/>
                  </a:lnTo>
                  <a:lnTo>
                    <a:pt x="250523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1627403" y="1647056"/>
              <a:ext cx="2199005" cy="5080"/>
            </a:xfrm>
            <a:custGeom>
              <a:avLst/>
              <a:gdLst/>
              <a:ahLst/>
              <a:cxnLst/>
              <a:rect l="l" t="t" r="r" b="b"/>
              <a:pathLst>
                <a:path w="2199004" h="5080">
                  <a:moveTo>
                    <a:pt x="0" y="5060"/>
                  </a:moveTo>
                  <a:lnTo>
                    <a:pt x="0" y="0"/>
                  </a:lnTo>
                  <a:lnTo>
                    <a:pt x="2198466" y="0"/>
                  </a:lnTo>
                  <a:lnTo>
                    <a:pt x="2198466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25" noProof="1"/>
              <a:t>Recap:</a:t>
            </a:r>
            <a:r>
              <a:rPr lang="en-US" spc="110" noProof="1"/>
              <a:t> </a:t>
            </a:r>
            <a:r>
              <a:rPr lang="en-US" spc="-30" noProof="1"/>
              <a:t>Cloud</a:t>
            </a:r>
            <a:r>
              <a:rPr lang="en-US" spc="15" noProof="1"/>
              <a:t> </a:t>
            </a:r>
            <a:r>
              <a:rPr lang="en-US" spc="-30" noProof="1"/>
              <a:t>Computing</a:t>
            </a:r>
            <a:r>
              <a:rPr lang="en-US" spc="15" noProof="1"/>
              <a:t> </a:t>
            </a:r>
            <a:r>
              <a:rPr lang="en-US" spc="-40" noProof="1"/>
              <a:t>vs</a:t>
            </a:r>
            <a:r>
              <a:rPr lang="en-US" spc="15" noProof="1"/>
              <a:t> </a:t>
            </a:r>
            <a:r>
              <a:rPr lang="en-US" spc="-20" noProof="1"/>
              <a:t>Traditional</a:t>
            </a:r>
            <a:r>
              <a:rPr lang="en-US" spc="10" noProof="1"/>
              <a:t> </a:t>
            </a:r>
            <a:r>
              <a:rPr lang="en-US" spc="-20" noProof="1"/>
              <a:t>Computing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227304" y="702406"/>
            <a:ext cx="2524125" cy="200025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844"/>
              </a:spcBef>
              <a:buChar char="•"/>
              <a:tabLst>
                <a:tab pos="239395" algn="l"/>
              </a:tabLst>
            </a:pP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Pay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what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you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use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server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space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needed</a:t>
            </a:r>
            <a:endParaRPr lang="en-US" sz="900" noProof="1">
              <a:latin typeface="Arial"/>
              <a:cs typeface="Arial"/>
            </a:endParaRPr>
          </a:p>
          <a:p>
            <a:pPr marL="240029" marR="401320" indent="-147955">
              <a:lnSpc>
                <a:spcPct val="116199"/>
              </a:lnSpc>
              <a:buChar char="•"/>
              <a:tabLst>
                <a:tab pos="240029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expertes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required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hardware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software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maintenance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Disaster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recovery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High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flexibility</a:t>
            </a:r>
            <a:endParaRPr lang="en-US" sz="900" noProof="1">
              <a:latin typeface="Arial"/>
              <a:cs typeface="Arial"/>
            </a:endParaRPr>
          </a:p>
          <a:p>
            <a:pPr marL="235585" indent="-143510">
              <a:lnSpc>
                <a:spcPct val="100000"/>
              </a:lnSpc>
              <a:spcBef>
                <a:spcPts val="175"/>
              </a:spcBef>
              <a:buChar char="•"/>
              <a:tabLst>
                <a:tab pos="235585" algn="l"/>
              </a:tabLst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Automated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software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updates</a:t>
            </a:r>
            <a:endParaRPr lang="en-US" sz="900" noProof="1">
              <a:latin typeface="Arial"/>
              <a:cs typeface="Arial"/>
            </a:endParaRPr>
          </a:p>
          <a:p>
            <a:pPr marL="235585" indent="-143510">
              <a:lnSpc>
                <a:spcPct val="100000"/>
              </a:lnSpc>
              <a:spcBef>
                <a:spcPts val="175"/>
              </a:spcBef>
              <a:buChar char="•"/>
              <a:tabLst>
                <a:tab pos="235585" algn="l"/>
              </a:tabLst>
            </a:pP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Teams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can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collaborate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different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locations</a:t>
            </a:r>
            <a:endParaRPr lang="en-US" sz="900" noProof="1">
              <a:latin typeface="Arial"/>
              <a:cs typeface="Arial"/>
            </a:endParaRPr>
          </a:p>
          <a:p>
            <a:pPr marL="240029" marR="387985" indent="-147955">
              <a:lnSpc>
                <a:spcPct val="116199"/>
              </a:lnSpc>
              <a:buChar char="•"/>
              <a:tabLst>
                <a:tab pos="240029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65" noProof="1">
                <a:solidFill>
                  <a:srgbClr val="22373A"/>
                </a:solidFill>
                <a:latin typeface="Arial"/>
                <a:cs typeface="Arial"/>
              </a:rPr>
              <a:t>accessed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and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shared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from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anywhere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Rapid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implementation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2987294" y="702406"/>
            <a:ext cx="2470785" cy="152209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Traditional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844"/>
              </a:spcBef>
              <a:buChar char="•"/>
              <a:tabLst>
                <a:tab pos="239395" algn="l"/>
              </a:tabLst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Costly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60" noProof="1">
                <a:solidFill>
                  <a:srgbClr val="22373A"/>
                </a:solidFill>
                <a:latin typeface="Arial"/>
                <a:cs typeface="Arial"/>
              </a:rPr>
              <a:t>less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scalable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Space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needed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servers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Hardware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software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team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maintenance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spc="-60" noProof="1">
                <a:solidFill>
                  <a:srgbClr val="22373A"/>
                </a:solidFill>
                <a:latin typeface="Arial"/>
                <a:cs typeface="Arial"/>
              </a:rPr>
              <a:t>Less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flexibility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automated updates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spc="-60" noProof="1">
                <a:solidFill>
                  <a:srgbClr val="22373A"/>
                </a:solidFill>
                <a:latin typeface="Arial"/>
                <a:cs typeface="Arial"/>
              </a:rPr>
              <a:t>Less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collaboration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cannot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be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65" noProof="1">
                <a:solidFill>
                  <a:srgbClr val="22373A"/>
                </a:solidFill>
                <a:latin typeface="Arial"/>
                <a:cs typeface="Arial"/>
              </a:rPr>
              <a:t>accessed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remotely</a:t>
            </a:r>
            <a:endParaRPr lang="en-US" sz="900" noProof="1">
              <a:latin typeface="Arial"/>
              <a:cs typeface="Arial"/>
            </a:endParaRPr>
          </a:p>
          <a:p>
            <a:pPr marL="235585" indent="-143510">
              <a:lnSpc>
                <a:spcPct val="100000"/>
              </a:lnSpc>
              <a:spcBef>
                <a:spcPts val="175"/>
              </a:spcBef>
              <a:buChar char="•"/>
              <a:tabLst>
                <a:tab pos="235585" algn="l"/>
              </a:tabLst>
            </a:pP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Takes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long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time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implementation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172710" cy="5080"/>
            </a:xfrm>
            <a:custGeom>
              <a:avLst/>
              <a:gdLst/>
              <a:ahLst/>
              <a:cxnLst/>
              <a:rect l="l" t="t" r="r" b="b"/>
              <a:pathLst>
                <a:path w="5172710" h="5080">
                  <a:moveTo>
                    <a:pt x="0" y="5060"/>
                  </a:moveTo>
                  <a:lnTo>
                    <a:pt x="0" y="0"/>
                  </a:lnTo>
                  <a:lnTo>
                    <a:pt x="5172341" y="0"/>
                  </a:lnTo>
                  <a:lnTo>
                    <a:pt x="5172341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614703" y="1374341"/>
            <a:ext cx="377825" cy="19177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lang="en-US" sz="1100" b="1" spc="-70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Tasks</a:t>
            </a:r>
            <a:endParaRPr lang="en-US" sz="1100" noProof="1">
              <a:latin typeface="Arial"/>
              <a:cs typeface="Arial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1627403" y="1646231"/>
            <a:ext cx="2505710" cy="5080"/>
            <a:chOff x="1627403" y="1646231"/>
            <a:chExt cx="2505710" cy="5080"/>
          </a:xfrm>
        </p:grpSpPr>
        <p:sp>
          <p:nvSpPr>
            <p:cNvPr id="4" name="object 4"/>
            <p:cNvSpPr/>
            <p:nvPr/>
          </p:nvSpPr>
          <p:spPr>
            <a:xfrm>
              <a:off x="1627403" y="1646231"/>
              <a:ext cx="2505710" cy="5080"/>
            </a:xfrm>
            <a:custGeom>
              <a:avLst/>
              <a:gdLst/>
              <a:ahLst/>
              <a:cxnLst/>
              <a:rect l="l" t="t" r="r" b="b"/>
              <a:pathLst>
                <a:path w="2505710" h="5080">
                  <a:moveTo>
                    <a:pt x="0" y="5060"/>
                  </a:moveTo>
                  <a:lnTo>
                    <a:pt x="0" y="0"/>
                  </a:lnTo>
                  <a:lnTo>
                    <a:pt x="2505237" y="0"/>
                  </a:lnTo>
                  <a:lnTo>
                    <a:pt x="250523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1627403" y="1646231"/>
              <a:ext cx="2249805" cy="5080"/>
            </a:xfrm>
            <a:custGeom>
              <a:avLst/>
              <a:gdLst/>
              <a:ahLst/>
              <a:cxnLst/>
              <a:rect l="l" t="t" r="r" b="b"/>
              <a:pathLst>
                <a:path w="2249804" h="5080">
                  <a:moveTo>
                    <a:pt x="0" y="5060"/>
                  </a:moveTo>
                  <a:lnTo>
                    <a:pt x="0" y="0"/>
                  </a:lnTo>
                  <a:lnTo>
                    <a:pt x="2249614" y="0"/>
                  </a:lnTo>
                  <a:lnTo>
                    <a:pt x="2249614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225615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20" noProof="1"/>
              <a:t>Homework</a:t>
            </a:r>
            <a:r>
              <a:rPr lang="en-US" spc="-5" noProof="1"/>
              <a:t> </a:t>
            </a:r>
            <a:r>
              <a:rPr lang="en-US" noProof="1"/>
              <a:t>-</a:t>
            </a:r>
            <a:r>
              <a:rPr lang="en-US" spc="-5" noProof="1"/>
              <a:t> </a:t>
            </a:r>
            <a:r>
              <a:rPr lang="en-US" spc="-10" noProof="1"/>
              <a:t>Creating</a:t>
            </a:r>
            <a:r>
              <a:rPr lang="en-US" noProof="1"/>
              <a:t> </a:t>
            </a:r>
            <a:r>
              <a:rPr lang="en-US" spc="-10" noProof="1"/>
              <a:t>our</a:t>
            </a:r>
            <a:r>
              <a:rPr lang="en-US" spc="-5" noProof="1"/>
              <a:t> </a:t>
            </a:r>
            <a:r>
              <a:rPr lang="en-US" spc="-30" noProof="1"/>
              <a:t>own</a:t>
            </a:r>
            <a:r>
              <a:rPr lang="en-US" spc="-5" noProof="1"/>
              <a:t> </a:t>
            </a:r>
            <a:r>
              <a:rPr lang="en-US" spc="-25" noProof="1"/>
              <a:t>website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863993" y="1251068"/>
            <a:ext cx="4032250" cy="515620"/>
            <a:chOff x="863993" y="1251068"/>
            <a:chExt cx="4032250" cy="515620"/>
          </a:xfrm>
        </p:grpSpPr>
        <p:sp>
          <p:nvSpPr>
            <p:cNvPr id="4" name="object 4"/>
            <p:cNvSpPr/>
            <p:nvPr/>
          </p:nvSpPr>
          <p:spPr>
            <a:xfrm>
              <a:off x="863993" y="1251068"/>
              <a:ext cx="4032250" cy="515620"/>
            </a:xfrm>
            <a:custGeom>
              <a:avLst/>
              <a:gdLst/>
              <a:ahLst/>
              <a:cxnLst/>
              <a:rect l="l" t="t" r="r" b="b"/>
              <a:pathLst>
                <a:path w="4032250" h="515619">
                  <a:moveTo>
                    <a:pt x="3978067" y="0"/>
                  </a:moveTo>
                  <a:lnTo>
                    <a:pt x="54000" y="0"/>
                  </a:lnTo>
                  <a:lnTo>
                    <a:pt x="32980" y="4243"/>
                  </a:lnTo>
                  <a:lnTo>
                    <a:pt x="15816" y="15816"/>
                  </a:lnTo>
                  <a:lnTo>
                    <a:pt x="4243" y="32980"/>
                  </a:lnTo>
                  <a:lnTo>
                    <a:pt x="0" y="54000"/>
                  </a:lnTo>
                  <a:lnTo>
                    <a:pt x="0" y="461069"/>
                  </a:lnTo>
                  <a:lnTo>
                    <a:pt x="4243" y="482089"/>
                  </a:lnTo>
                  <a:lnTo>
                    <a:pt x="15816" y="499253"/>
                  </a:lnTo>
                  <a:lnTo>
                    <a:pt x="32980" y="510826"/>
                  </a:lnTo>
                  <a:lnTo>
                    <a:pt x="54000" y="515069"/>
                  </a:lnTo>
                  <a:lnTo>
                    <a:pt x="3978067" y="515069"/>
                  </a:lnTo>
                  <a:lnTo>
                    <a:pt x="3999086" y="510826"/>
                  </a:lnTo>
                  <a:lnTo>
                    <a:pt x="4016251" y="499253"/>
                  </a:lnTo>
                  <a:lnTo>
                    <a:pt x="4027823" y="482089"/>
                  </a:lnTo>
                  <a:lnTo>
                    <a:pt x="4032067" y="461069"/>
                  </a:lnTo>
                  <a:lnTo>
                    <a:pt x="4032067" y="54000"/>
                  </a:lnTo>
                  <a:lnTo>
                    <a:pt x="4027823" y="32980"/>
                  </a:lnTo>
                  <a:lnTo>
                    <a:pt x="4016251" y="15816"/>
                  </a:lnTo>
                  <a:lnTo>
                    <a:pt x="3999086" y="4243"/>
                  </a:lnTo>
                  <a:lnTo>
                    <a:pt x="3978067" y="0"/>
                  </a:lnTo>
                  <a:close/>
                </a:path>
              </a:pathLst>
            </a:custGeom>
            <a:solidFill>
              <a:srgbClr val="880C58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881993" y="1269068"/>
              <a:ext cx="3996690" cy="479425"/>
            </a:xfrm>
            <a:custGeom>
              <a:avLst/>
              <a:gdLst/>
              <a:ahLst/>
              <a:cxnLst/>
              <a:rect l="l" t="t" r="r" b="b"/>
              <a:pathLst>
                <a:path w="3996690" h="479425">
                  <a:moveTo>
                    <a:pt x="3960067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443069"/>
                  </a:lnTo>
                  <a:lnTo>
                    <a:pt x="2829" y="457082"/>
                  </a:lnTo>
                  <a:lnTo>
                    <a:pt x="10544" y="468525"/>
                  </a:lnTo>
                  <a:lnTo>
                    <a:pt x="21987" y="476240"/>
                  </a:lnTo>
                  <a:lnTo>
                    <a:pt x="36000" y="479070"/>
                  </a:lnTo>
                  <a:lnTo>
                    <a:pt x="3960067" y="479070"/>
                  </a:lnTo>
                  <a:lnTo>
                    <a:pt x="3974080" y="476240"/>
                  </a:lnTo>
                  <a:lnTo>
                    <a:pt x="3985523" y="468525"/>
                  </a:lnTo>
                  <a:lnTo>
                    <a:pt x="3993238" y="457082"/>
                  </a:lnTo>
                  <a:lnTo>
                    <a:pt x="3996067" y="443069"/>
                  </a:lnTo>
                  <a:lnTo>
                    <a:pt x="3996067" y="36000"/>
                  </a:lnTo>
                  <a:lnTo>
                    <a:pt x="3993238" y="21987"/>
                  </a:lnTo>
                  <a:lnTo>
                    <a:pt x="3985523" y="10544"/>
                  </a:lnTo>
                  <a:lnTo>
                    <a:pt x="3974080" y="2829"/>
                  </a:lnTo>
                  <a:lnTo>
                    <a:pt x="3960067" y="0"/>
                  </a:lnTo>
                  <a:close/>
                </a:path>
              </a:pathLst>
            </a:custGeom>
            <a:solidFill>
              <a:srgbClr val="EAEAEA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6" name="object 6"/>
          <p:cNvSpPr txBox="1"/>
          <p:nvPr/>
        </p:nvSpPr>
        <p:spPr>
          <a:xfrm>
            <a:off x="1148029" y="1008730"/>
            <a:ext cx="3464560" cy="96710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95"/>
              </a:spcBef>
            </a:pP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HandsOnLab01:</a:t>
            </a:r>
            <a:r>
              <a:rPr lang="en-US" sz="900" spc="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Deploying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your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22373A"/>
                </a:solidFill>
                <a:latin typeface="Arial"/>
                <a:cs typeface="Arial"/>
              </a:rPr>
              <a:t>personal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website</a:t>
            </a:r>
            <a:endParaRPr lang="en-US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245"/>
              </a:spcBef>
            </a:pPr>
            <a:endParaRPr lang="en-US" sz="900" noProof="1">
              <a:latin typeface="Arial"/>
              <a:cs typeface="Arial"/>
            </a:endParaRPr>
          </a:p>
          <a:p>
            <a:pPr marL="467995" marR="437515" indent="59690">
              <a:lnSpc>
                <a:spcPct val="116199"/>
              </a:lnSpc>
            </a:pPr>
            <a:r>
              <a:rPr lang="en-US" sz="900" noProof="1">
                <a:latin typeface="Arial"/>
                <a:cs typeface="Arial"/>
              </a:rPr>
              <a:t>The </a:t>
            </a:r>
            <a:r>
              <a:rPr lang="en-US" sz="900" spc="-10" noProof="1">
                <a:latin typeface="Arial"/>
                <a:cs typeface="Arial"/>
              </a:rPr>
              <a:t>goal</a:t>
            </a:r>
            <a:r>
              <a:rPr lang="en-US" sz="900" noProof="1">
                <a:latin typeface="Arial"/>
                <a:cs typeface="Arial"/>
              </a:rPr>
              <a:t> of this </a:t>
            </a:r>
            <a:r>
              <a:rPr lang="en-US" sz="900" spc="-45" noProof="1">
                <a:latin typeface="Arial"/>
                <a:cs typeface="Arial"/>
              </a:rPr>
              <a:t>hands-</a:t>
            </a:r>
            <a:r>
              <a:rPr lang="en-US" sz="900" noProof="1">
                <a:latin typeface="Arial"/>
                <a:cs typeface="Arial"/>
              </a:rPr>
              <a:t>on</a:t>
            </a:r>
            <a:r>
              <a:rPr lang="en-US" sz="900" spc="5" noProof="1">
                <a:latin typeface="Arial"/>
                <a:cs typeface="Arial"/>
              </a:rPr>
              <a:t> </a:t>
            </a:r>
            <a:r>
              <a:rPr lang="en-US" sz="900" noProof="1">
                <a:latin typeface="Arial"/>
                <a:cs typeface="Arial"/>
              </a:rPr>
              <a:t>lab is to </a:t>
            </a:r>
            <a:r>
              <a:rPr lang="en-US" sz="900" spc="-50" noProof="1">
                <a:latin typeface="Arial"/>
                <a:cs typeface="Arial"/>
              </a:rPr>
              <a:t>show</a:t>
            </a:r>
            <a:r>
              <a:rPr lang="en-US" sz="900" spc="5" noProof="1">
                <a:latin typeface="Arial"/>
                <a:cs typeface="Arial"/>
              </a:rPr>
              <a:t> </a:t>
            </a:r>
            <a:r>
              <a:rPr lang="en-US" sz="900" spc="-10" noProof="1">
                <a:latin typeface="Arial"/>
                <a:cs typeface="Arial"/>
              </a:rPr>
              <a:t>you</a:t>
            </a:r>
            <a:r>
              <a:rPr lang="en-US" sz="900" noProof="1">
                <a:latin typeface="Arial"/>
                <a:cs typeface="Arial"/>
              </a:rPr>
              <a:t> </a:t>
            </a:r>
            <a:r>
              <a:rPr lang="en-US" sz="900" spc="-25" noProof="1">
                <a:latin typeface="Arial"/>
                <a:cs typeface="Arial"/>
              </a:rPr>
              <a:t>how</a:t>
            </a:r>
            <a:r>
              <a:rPr lang="en-US" sz="900" noProof="1">
                <a:latin typeface="Arial"/>
                <a:cs typeface="Arial"/>
              </a:rPr>
              <a:t> to</a:t>
            </a:r>
            <a:r>
              <a:rPr lang="en-US" sz="900" spc="-5" noProof="1">
                <a:latin typeface="Arial"/>
                <a:cs typeface="Arial"/>
              </a:rPr>
              <a:t> </a:t>
            </a:r>
            <a:r>
              <a:rPr lang="en-US" sz="900" spc="-30" noProof="1">
                <a:latin typeface="Arial"/>
                <a:cs typeface="Arial"/>
              </a:rPr>
              <a:t>deploy</a:t>
            </a:r>
            <a:r>
              <a:rPr lang="en-US" sz="900" noProof="1">
                <a:latin typeface="Arial"/>
                <a:cs typeface="Arial"/>
              </a:rPr>
              <a:t> a </a:t>
            </a:r>
            <a:r>
              <a:rPr lang="en-US" sz="900" spc="-30" noProof="1">
                <a:latin typeface="Arial"/>
                <a:cs typeface="Arial"/>
              </a:rPr>
              <a:t>personal</a:t>
            </a:r>
            <a:r>
              <a:rPr lang="en-US" sz="900" noProof="1">
                <a:latin typeface="Arial"/>
                <a:cs typeface="Arial"/>
              </a:rPr>
              <a:t> </a:t>
            </a:r>
            <a:r>
              <a:rPr lang="en-US" sz="900" spc="-30" noProof="1">
                <a:latin typeface="Arial"/>
                <a:cs typeface="Arial"/>
              </a:rPr>
              <a:t>website</a:t>
            </a:r>
            <a:r>
              <a:rPr lang="en-US" sz="900" noProof="1">
                <a:latin typeface="Arial"/>
                <a:cs typeface="Arial"/>
              </a:rPr>
              <a:t> </a:t>
            </a:r>
            <a:r>
              <a:rPr lang="en-US" sz="900" spc="-20" noProof="1">
                <a:latin typeface="Arial"/>
                <a:cs typeface="Arial"/>
              </a:rPr>
              <a:t>using</a:t>
            </a:r>
            <a:r>
              <a:rPr lang="en-US" sz="900" spc="-5" noProof="1">
                <a:latin typeface="Arial"/>
                <a:cs typeface="Arial"/>
              </a:rPr>
              <a:t> </a:t>
            </a:r>
            <a:r>
              <a:rPr lang="en-US" sz="900" spc="-10" noProof="1">
                <a:latin typeface="Arial"/>
                <a:cs typeface="Arial"/>
              </a:rPr>
              <a:t>cloud</a:t>
            </a:r>
            <a:r>
              <a:rPr lang="en-US" sz="900" noProof="1">
                <a:latin typeface="Arial"/>
                <a:cs typeface="Arial"/>
              </a:rPr>
              <a:t> </a:t>
            </a:r>
            <a:r>
              <a:rPr lang="en-US" sz="900" spc="-10" noProof="1">
                <a:latin typeface="Arial"/>
                <a:cs typeface="Arial"/>
              </a:rPr>
              <a:t>computing.</a:t>
            </a:r>
            <a:endParaRPr lang="en-US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430"/>
              </a:spcBef>
            </a:pPr>
            <a:endParaRPr lang="en-US" sz="900" noProof="1">
              <a:latin typeface="Arial"/>
              <a:cs typeface="Arial"/>
            </a:endParaRPr>
          </a:p>
          <a:p>
            <a:pPr algn="ctr">
              <a:lnSpc>
                <a:spcPct val="100000"/>
              </a:lnSpc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hands-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lab,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will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need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follow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instructions:</a:t>
            </a:r>
            <a:r>
              <a:rPr lang="en-US" sz="900" spc="1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HOL01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7" name="object 7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8" name="object 8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3234963"/>
              <a:ext cx="5290185" cy="5080"/>
            </a:xfrm>
            <a:custGeom>
              <a:avLst/>
              <a:gdLst/>
              <a:ahLst/>
              <a:cxnLst/>
              <a:rect l="l" t="t" r="r" b="b"/>
              <a:pathLst>
                <a:path w="5290185" h="5080">
                  <a:moveTo>
                    <a:pt x="0" y="5060"/>
                  </a:moveTo>
                  <a:lnTo>
                    <a:pt x="0" y="0"/>
                  </a:lnTo>
                  <a:lnTo>
                    <a:pt x="5289853" y="0"/>
                  </a:lnTo>
                  <a:lnTo>
                    <a:pt x="528985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225615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20" noProof="1"/>
              <a:t>Homework</a:t>
            </a:r>
            <a:r>
              <a:rPr lang="en-US" spc="-5" noProof="1"/>
              <a:t> </a:t>
            </a:r>
            <a:r>
              <a:rPr lang="en-US" noProof="1"/>
              <a:t>-</a:t>
            </a:r>
            <a:r>
              <a:rPr lang="en-US" spc="-5" noProof="1"/>
              <a:t> </a:t>
            </a:r>
            <a:r>
              <a:rPr lang="en-US" spc="-10" noProof="1"/>
              <a:t>Creating</a:t>
            </a:r>
            <a:r>
              <a:rPr lang="en-US" noProof="1"/>
              <a:t> </a:t>
            </a:r>
            <a:r>
              <a:rPr lang="en-US" spc="-10" noProof="1"/>
              <a:t>our</a:t>
            </a:r>
            <a:r>
              <a:rPr lang="en-US" spc="-5" noProof="1"/>
              <a:t> </a:t>
            </a:r>
            <a:r>
              <a:rPr lang="en-US" spc="-30" noProof="1"/>
              <a:t>own</a:t>
            </a:r>
            <a:r>
              <a:rPr lang="en-US" spc="-5" noProof="1"/>
              <a:t> </a:t>
            </a:r>
            <a:r>
              <a:rPr lang="en-US" spc="-25" noProof="1"/>
              <a:t>website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863993" y="1251068"/>
            <a:ext cx="4032250" cy="515620"/>
            <a:chOff x="863993" y="1251068"/>
            <a:chExt cx="4032250" cy="515620"/>
          </a:xfrm>
        </p:grpSpPr>
        <p:sp>
          <p:nvSpPr>
            <p:cNvPr id="4" name="object 4"/>
            <p:cNvSpPr/>
            <p:nvPr/>
          </p:nvSpPr>
          <p:spPr>
            <a:xfrm>
              <a:off x="863993" y="1251068"/>
              <a:ext cx="4032250" cy="515620"/>
            </a:xfrm>
            <a:custGeom>
              <a:avLst/>
              <a:gdLst/>
              <a:ahLst/>
              <a:cxnLst/>
              <a:rect l="l" t="t" r="r" b="b"/>
              <a:pathLst>
                <a:path w="4032250" h="515619">
                  <a:moveTo>
                    <a:pt x="3978067" y="0"/>
                  </a:moveTo>
                  <a:lnTo>
                    <a:pt x="54000" y="0"/>
                  </a:lnTo>
                  <a:lnTo>
                    <a:pt x="32980" y="4243"/>
                  </a:lnTo>
                  <a:lnTo>
                    <a:pt x="15816" y="15816"/>
                  </a:lnTo>
                  <a:lnTo>
                    <a:pt x="4243" y="32980"/>
                  </a:lnTo>
                  <a:lnTo>
                    <a:pt x="0" y="54000"/>
                  </a:lnTo>
                  <a:lnTo>
                    <a:pt x="0" y="461069"/>
                  </a:lnTo>
                  <a:lnTo>
                    <a:pt x="4243" y="482089"/>
                  </a:lnTo>
                  <a:lnTo>
                    <a:pt x="15816" y="499253"/>
                  </a:lnTo>
                  <a:lnTo>
                    <a:pt x="32980" y="510826"/>
                  </a:lnTo>
                  <a:lnTo>
                    <a:pt x="54000" y="515069"/>
                  </a:lnTo>
                  <a:lnTo>
                    <a:pt x="3978067" y="515069"/>
                  </a:lnTo>
                  <a:lnTo>
                    <a:pt x="3999086" y="510826"/>
                  </a:lnTo>
                  <a:lnTo>
                    <a:pt x="4016251" y="499253"/>
                  </a:lnTo>
                  <a:lnTo>
                    <a:pt x="4027823" y="482089"/>
                  </a:lnTo>
                  <a:lnTo>
                    <a:pt x="4032067" y="461069"/>
                  </a:lnTo>
                  <a:lnTo>
                    <a:pt x="4032067" y="54000"/>
                  </a:lnTo>
                  <a:lnTo>
                    <a:pt x="4027823" y="32980"/>
                  </a:lnTo>
                  <a:lnTo>
                    <a:pt x="4016251" y="15816"/>
                  </a:lnTo>
                  <a:lnTo>
                    <a:pt x="3999086" y="4243"/>
                  </a:lnTo>
                  <a:lnTo>
                    <a:pt x="3978067" y="0"/>
                  </a:lnTo>
                  <a:close/>
                </a:path>
              </a:pathLst>
            </a:custGeom>
            <a:solidFill>
              <a:srgbClr val="880C58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881993" y="1269068"/>
              <a:ext cx="3996690" cy="479425"/>
            </a:xfrm>
            <a:custGeom>
              <a:avLst/>
              <a:gdLst/>
              <a:ahLst/>
              <a:cxnLst/>
              <a:rect l="l" t="t" r="r" b="b"/>
              <a:pathLst>
                <a:path w="3996690" h="479425">
                  <a:moveTo>
                    <a:pt x="3960067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443069"/>
                  </a:lnTo>
                  <a:lnTo>
                    <a:pt x="2829" y="457082"/>
                  </a:lnTo>
                  <a:lnTo>
                    <a:pt x="10544" y="468525"/>
                  </a:lnTo>
                  <a:lnTo>
                    <a:pt x="21987" y="476240"/>
                  </a:lnTo>
                  <a:lnTo>
                    <a:pt x="36000" y="479070"/>
                  </a:lnTo>
                  <a:lnTo>
                    <a:pt x="3960067" y="479070"/>
                  </a:lnTo>
                  <a:lnTo>
                    <a:pt x="3974080" y="476240"/>
                  </a:lnTo>
                  <a:lnTo>
                    <a:pt x="3985523" y="468525"/>
                  </a:lnTo>
                  <a:lnTo>
                    <a:pt x="3993238" y="457082"/>
                  </a:lnTo>
                  <a:lnTo>
                    <a:pt x="3996067" y="443069"/>
                  </a:lnTo>
                  <a:lnTo>
                    <a:pt x="3996067" y="36000"/>
                  </a:lnTo>
                  <a:lnTo>
                    <a:pt x="3993238" y="21987"/>
                  </a:lnTo>
                  <a:lnTo>
                    <a:pt x="3985523" y="10544"/>
                  </a:lnTo>
                  <a:lnTo>
                    <a:pt x="3974080" y="2829"/>
                  </a:lnTo>
                  <a:lnTo>
                    <a:pt x="3960067" y="0"/>
                  </a:lnTo>
                  <a:close/>
                </a:path>
              </a:pathLst>
            </a:custGeom>
            <a:solidFill>
              <a:srgbClr val="EAEAEA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6" name="object 6"/>
          <p:cNvSpPr txBox="1"/>
          <p:nvPr/>
        </p:nvSpPr>
        <p:spPr>
          <a:xfrm>
            <a:off x="438137" y="1008730"/>
            <a:ext cx="4883785" cy="136525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95"/>
              </a:spcBef>
            </a:pP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HandsOnLab01:</a:t>
            </a:r>
            <a:r>
              <a:rPr lang="en-US" sz="900" spc="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Deploying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your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22373A"/>
                </a:solidFill>
                <a:latin typeface="Arial"/>
                <a:cs typeface="Arial"/>
              </a:rPr>
              <a:t>personal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website</a:t>
            </a:r>
            <a:endParaRPr lang="en-US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245"/>
              </a:spcBef>
            </a:pPr>
            <a:endParaRPr lang="en-US" sz="900" noProof="1">
              <a:latin typeface="Arial"/>
              <a:cs typeface="Arial"/>
            </a:endParaRPr>
          </a:p>
          <a:p>
            <a:pPr marL="1177925" marR="1147445" indent="59690">
              <a:lnSpc>
                <a:spcPct val="116199"/>
              </a:lnSpc>
            </a:pPr>
            <a:r>
              <a:rPr lang="en-US" sz="900" noProof="1">
                <a:latin typeface="Arial"/>
                <a:cs typeface="Arial"/>
              </a:rPr>
              <a:t>The </a:t>
            </a:r>
            <a:r>
              <a:rPr lang="en-US" sz="900" spc="-10" noProof="1">
                <a:latin typeface="Arial"/>
                <a:cs typeface="Arial"/>
              </a:rPr>
              <a:t>goal</a:t>
            </a:r>
            <a:r>
              <a:rPr lang="en-US" sz="900" noProof="1">
                <a:latin typeface="Arial"/>
                <a:cs typeface="Arial"/>
              </a:rPr>
              <a:t> of this </a:t>
            </a:r>
            <a:r>
              <a:rPr lang="en-US" sz="900" spc="-45" noProof="1">
                <a:latin typeface="Arial"/>
                <a:cs typeface="Arial"/>
              </a:rPr>
              <a:t>hands-</a:t>
            </a:r>
            <a:r>
              <a:rPr lang="en-US" sz="900" noProof="1">
                <a:latin typeface="Arial"/>
                <a:cs typeface="Arial"/>
              </a:rPr>
              <a:t>on</a:t>
            </a:r>
            <a:r>
              <a:rPr lang="en-US" sz="900" spc="5" noProof="1">
                <a:latin typeface="Arial"/>
                <a:cs typeface="Arial"/>
              </a:rPr>
              <a:t> </a:t>
            </a:r>
            <a:r>
              <a:rPr lang="en-US" sz="900" noProof="1">
                <a:latin typeface="Arial"/>
                <a:cs typeface="Arial"/>
              </a:rPr>
              <a:t>lab is to </a:t>
            </a:r>
            <a:r>
              <a:rPr lang="en-US" sz="900" spc="-50" noProof="1">
                <a:latin typeface="Arial"/>
                <a:cs typeface="Arial"/>
              </a:rPr>
              <a:t>show</a:t>
            </a:r>
            <a:r>
              <a:rPr lang="en-US" sz="900" spc="5" noProof="1">
                <a:latin typeface="Arial"/>
                <a:cs typeface="Arial"/>
              </a:rPr>
              <a:t> </a:t>
            </a:r>
            <a:r>
              <a:rPr lang="en-US" sz="900" spc="-10" noProof="1">
                <a:latin typeface="Arial"/>
                <a:cs typeface="Arial"/>
              </a:rPr>
              <a:t>you</a:t>
            </a:r>
            <a:r>
              <a:rPr lang="en-US" sz="900" noProof="1">
                <a:latin typeface="Arial"/>
                <a:cs typeface="Arial"/>
              </a:rPr>
              <a:t> </a:t>
            </a:r>
            <a:r>
              <a:rPr lang="en-US" sz="900" spc="-25" noProof="1">
                <a:latin typeface="Arial"/>
                <a:cs typeface="Arial"/>
              </a:rPr>
              <a:t>how</a:t>
            </a:r>
            <a:r>
              <a:rPr lang="en-US" sz="900" noProof="1">
                <a:latin typeface="Arial"/>
                <a:cs typeface="Arial"/>
              </a:rPr>
              <a:t> to</a:t>
            </a:r>
            <a:r>
              <a:rPr lang="en-US" sz="900" spc="-5" noProof="1">
                <a:latin typeface="Arial"/>
                <a:cs typeface="Arial"/>
              </a:rPr>
              <a:t> </a:t>
            </a:r>
            <a:r>
              <a:rPr lang="en-US" sz="900" spc="-30" noProof="1">
                <a:latin typeface="Arial"/>
                <a:cs typeface="Arial"/>
              </a:rPr>
              <a:t>deploy</a:t>
            </a:r>
            <a:r>
              <a:rPr lang="en-US" sz="900" noProof="1">
                <a:latin typeface="Arial"/>
                <a:cs typeface="Arial"/>
              </a:rPr>
              <a:t> a </a:t>
            </a:r>
            <a:r>
              <a:rPr lang="en-US" sz="900" spc="-30" noProof="1">
                <a:latin typeface="Arial"/>
                <a:cs typeface="Arial"/>
              </a:rPr>
              <a:t>personal</a:t>
            </a:r>
            <a:r>
              <a:rPr lang="en-US" sz="900" noProof="1">
                <a:latin typeface="Arial"/>
                <a:cs typeface="Arial"/>
              </a:rPr>
              <a:t> </a:t>
            </a:r>
            <a:r>
              <a:rPr lang="en-US" sz="900" spc="-30" noProof="1">
                <a:latin typeface="Arial"/>
                <a:cs typeface="Arial"/>
              </a:rPr>
              <a:t>website</a:t>
            </a:r>
            <a:r>
              <a:rPr lang="en-US" sz="900" noProof="1">
                <a:latin typeface="Arial"/>
                <a:cs typeface="Arial"/>
              </a:rPr>
              <a:t> </a:t>
            </a:r>
            <a:r>
              <a:rPr lang="en-US" sz="900" spc="-20" noProof="1">
                <a:latin typeface="Arial"/>
                <a:cs typeface="Arial"/>
              </a:rPr>
              <a:t>using</a:t>
            </a:r>
            <a:r>
              <a:rPr lang="en-US" sz="900" spc="-5" noProof="1">
                <a:latin typeface="Arial"/>
                <a:cs typeface="Arial"/>
              </a:rPr>
              <a:t> </a:t>
            </a:r>
            <a:r>
              <a:rPr lang="en-US" sz="900" spc="-10" noProof="1">
                <a:latin typeface="Arial"/>
                <a:cs typeface="Arial"/>
              </a:rPr>
              <a:t>cloud</a:t>
            </a:r>
            <a:r>
              <a:rPr lang="en-US" sz="900" noProof="1">
                <a:latin typeface="Arial"/>
                <a:cs typeface="Arial"/>
              </a:rPr>
              <a:t> </a:t>
            </a:r>
            <a:r>
              <a:rPr lang="en-US" sz="900" spc="-10" noProof="1">
                <a:latin typeface="Arial"/>
                <a:cs typeface="Arial"/>
              </a:rPr>
              <a:t>computing.</a:t>
            </a:r>
            <a:endParaRPr lang="en-US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430"/>
              </a:spcBef>
            </a:pPr>
            <a:endParaRPr lang="en-US" sz="900" noProof="1">
              <a:latin typeface="Arial"/>
              <a:cs typeface="Arial"/>
            </a:endParaRPr>
          </a:p>
          <a:p>
            <a:pPr algn="ctr">
              <a:lnSpc>
                <a:spcPct val="100000"/>
              </a:lnSpc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hands-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lab,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will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need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follow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instructions:</a:t>
            </a:r>
            <a:r>
              <a:rPr lang="en-US" sz="900" spc="1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HOL01</a:t>
            </a:r>
            <a:endParaRPr lang="en-US" sz="900" noProof="1">
              <a:latin typeface="Arial"/>
              <a:cs typeface="Arial"/>
            </a:endParaRPr>
          </a:p>
          <a:p>
            <a:pPr marL="12700" marR="5080" algn="ctr">
              <a:lnSpc>
                <a:spcPct val="116199"/>
              </a:lnSpc>
              <a:spcBef>
                <a:spcPts val="630"/>
              </a:spcBef>
            </a:pP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b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22373A"/>
                </a:solidFill>
                <a:latin typeface="Arial"/>
                <a:cs typeface="Arial"/>
              </a:rPr>
              <a:t>Fundamentals</a:t>
            </a:r>
            <a:r>
              <a:rPr lang="en-US" sz="900" b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Quiz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10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quiz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will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test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understanding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fundamental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concepts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computing.</a:t>
            </a:r>
            <a:r>
              <a:rPr lang="en-US" sz="900" spc="8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  <a:hlinkClick r:id="rId4"/>
              </a:rPr>
              <a:t>Quiz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7" name="object 7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8" name="object 8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3234963"/>
              <a:ext cx="5290185" cy="5080"/>
            </a:xfrm>
            <a:custGeom>
              <a:avLst/>
              <a:gdLst/>
              <a:ahLst/>
              <a:cxnLst/>
              <a:rect l="l" t="t" r="r" b="b"/>
              <a:pathLst>
                <a:path w="5290185" h="5080">
                  <a:moveTo>
                    <a:pt x="0" y="5060"/>
                  </a:moveTo>
                  <a:lnTo>
                    <a:pt x="0" y="0"/>
                  </a:lnTo>
                  <a:lnTo>
                    <a:pt x="5289853" y="0"/>
                  </a:lnTo>
                  <a:lnTo>
                    <a:pt x="528985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 lang="en-US" noProof="1"/>
          </a:p>
        </p:txBody>
      </p:sp>
      <p:sp>
        <p:nvSpPr>
          <p:cNvPr id="3" name="object 3"/>
          <p:cNvSpPr txBox="1"/>
          <p:nvPr/>
        </p:nvSpPr>
        <p:spPr>
          <a:xfrm>
            <a:off x="98526" y="59834"/>
            <a:ext cx="197548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Is</a:t>
            </a:r>
            <a:r>
              <a:rPr lang="en-US" sz="1000" b="1" spc="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GitHub</a:t>
            </a:r>
            <a:r>
              <a:rPr lang="en-US" sz="1000" b="1" spc="2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a</a:t>
            </a:r>
            <a:r>
              <a:rPr lang="en-US" sz="1000" b="1" spc="2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PaaS,</a:t>
            </a:r>
            <a:r>
              <a:rPr lang="en-US" sz="1000" b="1" spc="2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IaaS,</a:t>
            </a:r>
            <a:r>
              <a:rPr lang="en-US" sz="1000" b="1" spc="2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or</a:t>
            </a:r>
            <a:r>
              <a:rPr lang="en-US" sz="1000" b="1" spc="2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30" noProof="1">
                <a:solidFill>
                  <a:srgbClr val="F9F9F9"/>
                </a:solidFill>
                <a:latin typeface="Arial"/>
                <a:cs typeface="Arial"/>
              </a:rPr>
              <a:t>SaaS?</a:t>
            </a:r>
            <a:endParaRPr lang="en-US" sz="10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468591" y="351405"/>
            <a:ext cx="4822818" cy="2549033"/>
          </a:xfrm>
          <a:prstGeom prst="rect">
            <a:avLst/>
          </a:prstGeom>
        </p:spPr>
      </p:pic>
      <p:sp>
        <p:nvSpPr>
          <p:cNvPr id="5" name="object 5"/>
          <p:cNvSpPr txBox="1"/>
          <p:nvPr/>
        </p:nvSpPr>
        <p:spPr>
          <a:xfrm>
            <a:off x="1856955" y="3034422"/>
            <a:ext cx="2046605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800" b="1" spc="-20" noProof="1">
                <a:solidFill>
                  <a:srgbClr val="22373A"/>
                </a:solidFill>
                <a:latin typeface="Arial"/>
                <a:cs typeface="Arial"/>
              </a:rPr>
              <a:t>Figure</a:t>
            </a:r>
            <a:r>
              <a:rPr lang="en-US" sz="800" b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7:</a:t>
            </a:r>
            <a:r>
              <a:rPr lang="en-US" sz="800" b="1" spc="1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25" noProof="1">
                <a:solidFill>
                  <a:srgbClr val="22373A"/>
                </a:solidFill>
                <a:latin typeface="Arial"/>
                <a:cs typeface="Arial"/>
              </a:rPr>
              <a:t>Some</a:t>
            </a:r>
            <a:r>
              <a:rPr lang="en-US" sz="8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8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8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30" noProof="1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r>
              <a:rPr lang="en-US" sz="8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GitHub</a:t>
            </a:r>
            <a:r>
              <a:rPr lang="en-US" sz="8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offers</a:t>
            </a:r>
            <a:endParaRPr lang="en-US" sz="800" noProof="1">
              <a:latin typeface="Arial"/>
              <a:cs typeface="Arial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407660" cy="5080"/>
            </a:xfrm>
            <a:custGeom>
              <a:avLst/>
              <a:gdLst/>
              <a:ahLst/>
              <a:cxnLst/>
              <a:rect l="l" t="t" r="r" b="b"/>
              <a:pathLst>
                <a:path w="5407660" h="5080">
                  <a:moveTo>
                    <a:pt x="0" y="5060"/>
                  </a:moveTo>
                  <a:lnTo>
                    <a:pt x="0" y="0"/>
                  </a:lnTo>
                  <a:lnTo>
                    <a:pt x="5407452" y="0"/>
                  </a:lnTo>
                  <a:lnTo>
                    <a:pt x="5407452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310F2D-C814-6121-D19E-D949428938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E424BB76-C4AB-FBF4-EC3C-3DA754A5D3E5}"/>
              </a:ext>
            </a:extLst>
          </p:cNvPr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 lang="en-US" noProof="1"/>
          </a:p>
        </p:txBody>
      </p:sp>
      <p:sp>
        <p:nvSpPr>
          <p:cNvPr id="3" name="object 3">
            <a:extLst>
              <a:ext uri="{FF2B5EF4-FFF2-40B4-BE49-F238E27FC236}">
                <a16:creationId xmlns:a16="http://schemas.microsoft.com/office/drawing/2014/main" id="{6DA150C7-A5BD-7213-983B-07407F786CDF}"/>
              </a:ext>
            </a:extLst>
          </p:cNvPr>
          <p:cNvSpPr txBox="1"/>
          <p:nvPr/>
        </p:nvSpPr>
        <p:spPr>
          <a:xfrm>
            <a:off x="98526" y="59834"/>
            <a:ext cx="197548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Is</a:t>
            </a:r>
            <a:r>
              <a:rPr lang="en-US" sz="1000" b="1" spc="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GitHub</a:t>
            </a:r>
            <a:r>
              <a:rPr lang="en-US" sz="1000" b="1" spc="2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a</a:t>
            </a:r>
            <a:r>
              <a:rPr lang="en-US" sz="1000" b="1" spc="2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PaaS,</a:t>
            </a:r>
            <a:r>
              <a:rPr lang="en-US" sz="1000" b="1" spc="2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IaaS,</a:t>
            </a:r>
            <a:r>
              <a:rPr lang="en-US" sz="1000" b="1" spc="2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or</a:t>
            </a:r>
            <a:r>
              <a:rPr lang="en-US" sz="1000" b="1" spc="2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30" noProof="1">
                <a:solidFill>
                  <a:srgbClr val="F9F9F9"/>
                </a:solidFill>
                <a:latin typeface="Arial"/>
                <a:cs typeface="Arial"/>
              </a:rPr>
              <a:t>SaaS?</a:t>
            </a:r>
            <a:endParaRPr lang="en-US" sz="1000" noProof="1">
              <a:latin typeface="Arial"/>
              <a:cs typeface="Arial"/>
            </a:endParaRPr>
          </a:p>
        </p:txBody>
      </p:sp>
      <p:sp>
        <p:nvSpPr>
          <p:cNvPr id="5" name="object 5">
            <a:extLst>
              <a:ext uri="{FF2B5EF4-FFF2-40B4-BE49-F238E27FC236}">
                <a16:creationId xmlns:a16="http://schemas.microsoft.com/office/drawing/2014/main" id="{1DE97240-2AF5-7990-6E72-F37701AF85C8}"/>
              </a:ext>
            </a:extLst>
          </p:cNvPr>
          <p:cNvSpPr txBox="1"/>
          <p:nvPr/>
        </p:nvSpPr>
        <p:spPr>
          <a:xfrm>
            <a:off x="1856955" y="3034422"/>
            <a:ext cx="2046605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800" b="1" spc="-20" noProof="1">
                <a:solidFill>
                  <a:srgbClr val="22373A"/>
                </a:solidFill>
                <a:latin typeface="Arial"/>
                <a:cs typeface="Arial"/>
              </a:rPr>
              <a:t>Figure</a:t>
            </a:r>
            <a:r>
              <a:rPr lang="en-US" sz="800" b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7:</a:t>
            </a:r>
            <a:r>
              <a:rPr lang="en-US" sz="800" b="1" spc="1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25" noProof="1">
                <a:solidFill>
                  <a:srgbClr val="22373A"/>
                </a:solidFill>
                <a:latin typeface="Arial"/>
                <a:cs typeface="Arial"/>
              </a:rPr>
              <a:t>Some</a:t>
            </a:r>
            <a:r>
              <a:rPr lang="en-US" sz="8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8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8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30" noProof="1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r>
              <a:rPr lang="en-US" sz="8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GitHub</a:t>
            </a:r>
            <a:r>
              <a:rPr lang="en-US" sz="8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offers</a:t>
            </a:r>
            <a:endParaRPr lang="en-US" sz="800" noProof="1">
              <a:latin typeface="Arial"/>
              <a:cs typeface="Arial"/>
            </a:endParaRPr>
          </a:p>
        </p:txBody>
      </p:sp>
      <p:grpSp>
        <p:nvGrpSpPr>
          <p:cNvPr id="6" name="object 6">
            <a:extLst>
              <a:ext uri="{FF2B5EF4-FFF2-40B4-BE49-F238E27FC236}">
                <a16:creationId xmlns:a16="http://schemas.microsoft.com/office/drawing/2014/main" id="{54E2A0DC-882B-C89D-8BF8-20610D6CD4C3}"/>
              </a:ext>
            </a:extLst>
          </p:cNvPr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>
              <a:extLst>
                <a:ext uri="{FF2B5EF4-FFF2-40B4-BE49-F238E27FC236}">
                  <a16:creationId xmlns:a16="http://schemas.microsoft.com/office/drawing/2014/main" id="{4C978F6C-5E49-6CB1-46C4-05EB6ED71D63}"/>
                </a:ext>
              </a:extLst>
            </p:cNvPr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>
              <a:extLst>
                <a:ext uri="{FF2B5EF4-FFF2-40B4-BE49-F238E27FC236}">
                  <a16:creationId xmlns:a16="http://schemas.microsoft.com/office/drawing/2014/main" id="{D30C8828-9D70-3EF0-02B9-C7A53409DB85}"/>
                </a:ext>
              </a:extLst>
            </p:cNvPr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>
              <a:extLst>
                <a:ext uri="{FF2B5EF4-FFF2-40B4-BE49-F238E27FC236}">
                  <a16:creationId xmlns:a16="http://schemas.microsoft.com/office/drawing/2014/main" id="{E61DD0E2-A632-8D11-9694-972616C337A6}"/>
                </a:ext>
              </a:extLst>
            </p:cNvPr>
            <p:cNvSpPr/>
            <p:nvPr/>
          </p:nvSpPr>
          <p:spPr>
            <a:xfrm>
              <a:off x="0" y="3234963"/>
              <a:ext cx="5407660" cy="5080"/>
            </a:xfrm>
            <a:custGeom>
              <a:avLst/>
              <a:gdLst/>
              <a:ahLst/>
              <a:cxnLst/>
              <a:rect l="l" t="t" r="r" b="b"/>
              <a:pathLst>
                <a:path w="5407660" h="5080">
                  <a:moveTo>
                    <a:pt x="0" y="5060"/>
                  </a:moveTo>
                  <a:lnTo>
                    <a:pt x="0" y="0"/>
                  </a:lnTo>
                  <a:lnTo>
                    <a:pt x="5407452" y="0"/>
                  </a:lnTo>
                  <a:lnTo>
                    <a:pt x="5407452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10" name="object 3">
            <a:extLst>
              <a:ext uri="{FF2B5EF4-FFF2-40B4-BE49-F238E27FC236}">
                <a16:creationId xmlns:a16="http://schemas.microsoft.com/office/drawing/2014/main" id="{D9996C46-94A3-3ED9-5DC9-7721B600A142}"/>
              </a:ext>
            </a:extLst>
          </p:cNvPr>
          <p:cNvSpPr txBox="1"/>
          <p:nvPr/>
        </p:nvSpPr>
        <p:spPr>
          <a:xfrm>
            <a:off x="427126" y="631825"/>
            <a:ext cx="4986020" cy="200407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60020" marR="36830" indent="-147955">
              <a:lnSpc>
                <a:spcPct val="116199"/>
              </a:lnSpc>
              <a:spcBef>
                <a:spcPts val="100"/>
              </a:spcBef>
              <a:buFont typeface="Arial"/>
              <a:buChar char="•"/>
              <a:tabLst>
                <a:tab pos="160020" algn="l"/>
              </a:tabLst>
            </a:pPr>
            <a:endParaRPr lang="en-US" sz="900" b="1" spc="-25" noProof="1">
              <a:solidFill>
                <a:srgbClr val="22373A"/>
              </a:solidFill>
              <a:latin typeface="Arial"/>
              <a:cs typeface="Arial"/>
            </a:endParaRPr>
          </a:p>
          <a:p>
            <a:pPr marL="160020" marR="36830" indent="-147955">
              <a:lnSpc>
                <a:spcPct val="116199"/>
              </a:lnSpc>
              <a:spcBef>
                <a:spcPts val="100"/>
              </a:spcBef>
              <a:buFont typeface="Arial"/>
              <a:buChar char="•"/>
              <a:tabLst>
                <a:tab pos="160020" algn="l"/>
              </a:tabLst>
            </a:pP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GitHup Repositoris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: A GitHup repository (often called a repo) is basically a storage space on GitHup where you keep all the files and history of a project.</a:t>
            </a:r>
          </a:p>
          <a:p>
            <a:pPr marL="160020" marR="36830" indent="-147955">
              <a:lnSpc>
                <a:spcPct val="116199"/>
              </a:lnSpc>
              <a:spcBef>
                <a:spcPts val="100"/>
              </a:spcBef>
              <a:buFont typeface="Arial"/>
              <a:buChar char="•"/>
              <a:tabLst>
                <a:tab pos="160020" algn="l"/>
              </a:tabLst>
            </a:pPr>
            <a:endParaRPr lang="en-US" sz="900" b="1" spc="-25" noProof="1">
              <a:solidFill>
                <a:srgbClr val="22373A"/>
              </a:solidFill>
              <a:latin typeface="Arial"/>
              <a:cs typeface="Arial"/>
            </a:endParaRPr>
          </a:p>
          <a:p>
            <a:pPr marL="160020" marR="36830" indent="-147955">
              <a:lnSpc>
                <a:spcPct val="116199"/>
              </a:lnSpc>
              <a:spcBef>
                <a:spcPts val="100"/>
              </a:spcBef>
              <a:buFont typeface="Arial"/>
              <a:buChar char="•"/>
              <a:tabLst>
                <a:tab pos="160020" algn="l"/>
              </a:tabLst>
            </a:pP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GitHup Pages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: GitHup pages is a static website hosting platform. You put HTML, CSS, JavaScript, Python … files in a GitHup repo. You can use it for personal websites, project documentation, portfolios, blogs, class notes / course materials, simple static web apps.</a:t>
            </a:r>
          </a:p>
          <a:p>
            <a:pPr marL="12065" marR="36830">
              <a:lnSpc>
                <a:spcPct val="116199"/>
              </a:lnSpc>
              <a:spcBef>
                <a:spcPts val="100"/>
              </a:spcBef>
              <a:tabLst>
                <a:tab pos="160020" algn="l"/>
              </a:tabLst>
            </a:pPr>
            <a:endParaRPr lang="en-US" sz="900" spc="-10" noProof="1">
              <a:solidFill>
                <a:srgbClr val="22373A"/>
              </a:solidFill>
              <a:latin typeface="Arial"/>
              <a:cs typeface="Arial"/>
            </a:endParaRPr>
          </a:p>
          <a:p>
            <a:pPr marL="160020" marR="36830" indent="-147955">
              <a:lnSpc>
                <a:spcPct val="116199"/>
              </a:lnSpc>
              <a:spcBef>
                <a:spcPts val="100"/>
              </a:spcBef>
              <a:buFont typeface="Arial"/>
              <a:buChar char="•"/>
              <a:tabLst>
                <a:tab pos="160020" algn="l"/>
              </a:tabLst>
            </a:pP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GitHup Copilot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: GitHup Copilot is an AI-powered coding assistant created by GitHup + Microsoft + OpenAI. It helps programmers write code faster and with fewere mistakes by suggesting code in real time.</a:t>
            </a:r>
          </a:p>
          <a:p>
            <a:pPr marL="160020" marR="36830" indent="-147955">
              <a:lnSpc>
                <a:spcPct val="116199"/>
              </a:lnSpc>
              <a:spcBef>
                <a:spcPts val="100"/>
              </a:spcBef>
              <a:buFont typeface="Arial"/>
              <a:buChar char="•"/>
              <a:tabLst>
                <a:tab pos="160020" algn="l"/>
              </a:tabLst>
            </a:pPr>
            <a:endParaRPr lang="en-US" sz="900" spc="-10" noProof="1">
              <a:solidFill>
                <a:srgbClr val="22373A"/>
              </a:solidFill>
              <a:latin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027014884"/>
      </p:ext>
    </p:extLst>
  </p:cSld>
  <p:clrMapOvr>
    <a:masterClrMapping/>
  </p:clrMapOvr>
  <p:transition>
    <p:cut/>
  </p:transition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 lang="en-US" noProof="1"/>
          </a:p>
        </p:txBody>
      </p:sp>
      <p:sp>
        <p:nvSpPr>
          <p:cNvPr id="3" name="object 3"/>
          <p:cNvSpPr txBox="1"/>
          <p:nvPr/>
        </p:nvSpPr>
        <p:spPr>
          <a:xfrm>
            <a:off x="98526" y="59834"/>
            <a:ext cx="225425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What</a:t>
            </a:r>
            <a:r>
              <a:rPr lang="en-US" sz="1000" b="1" spc="5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45" noProof="1">
                <a:solidFill>
                  <a:srgbClr val="F9F9F9"/>
                </a:solidFill>
                <a:latin typeface="Arial"/>
                <a:cs typeface="Arial"/>
              </a:rPr>
              <a:t>does</a:t>
            </a:r>
            <a:r>
              <a:rPr lang="en-US" sz="1000" b="1" spc="5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it</a:t>
            </a:r>
            <a:r>
              <a:rPr lang="en-US" sz="1000" b="1" spc="5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10" noProof="1">
                <a:solidFill>
                  <a:srgbClr val="F9F9F9"/>
                </a:solidFill>
                <a:latin typeface="Arial"/>
                <a:cs typeface="Arial"/>
              </a:rPr>
              <a:t>mean</a:t>
            </a:r>
            <a:r>
              <a:rPr lang="en-US" sz="1000" b="1" spc="5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to</a:t>
            </a:r>
            <a:r>
              <a:rPr lang="en-US" sz="1000" b="1" spc="5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25" noProof="1">
                <a:solidFill>
                  <a:srgbClr val="F9F9F9"/>
                </a:solidFill>
                <a:latin typeface="Arial"/>
                <a:cs typeface="Arial"/>
              </a:rPr>
              <a:t>host</a:t>
            </a:r>
            <a:r>
              <a:rPr lang="en-US" sz="1000" b="1" spc="5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a</a:t>
            </a:r>
            <a:r>
              <a:rPr lang="en-US" sz="1000" b="1" spc="5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35" noProof="1">
                <a:solidFill>
                  <a:srgbClr val="F9F9F9"/>
                </a:solidFill>
                <a:latin typeface="Arial"/>
                <a:cs typeface="Arial"/>
              </a:rPr>
              <a:t>website?</a:t>
            </a:r>
            <a:endParaRPr lang="en-US" sz="10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360070" y="351409"/>
            <a:ext cx="5039866" cy="2361018"/>
          </a:xfrm>
          <a:prstGeom prst="rect">
            <a:avLst/>
          </a:prstGeom>
        </p:spPr>
      </p:pic>
      <p:sp>
        <p:nvSpPr>
          <p:cNvPr id="5" name="object 5"/>
          <p:cNvSpPr txBox="1"/>
          <p:nvPr/>
        </p:nvSpPr>
        <p:spPr>
          <a:xfrm>
            <a:off x="1594738" y="2846398"/>
            <a:ext cx="2571115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800" b="1" spc="-20" noProof="1">
                <a:solidFill>
                  <a:srgbClr val="22373A"/>
                </a:solidFill>
                <a:latin typeface="Arial"/>
                <a:cs typeface="Arial"/>
              </a:rPr>
              <a:t>Figure</a:t>
            </a:r>
            <a:r>
              <a:rPr lang="en-US" sz="800" b="1" spc="6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8:</a:t>
            </a:r>
            <a:r>
              <a:rPr lang="en-US" sz="800" b="1" spc="16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What</a:t>
            </a:r>
            <a:r>
              <a:rPr lang="en-US" sz="800" spc="4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30" noProof="1">
                <a:solidFill>
                  <a:srgbClr val="22373A"/>
                </a:solidFill>
                <a:latin typeface="Arial"/>
                <a:cs typeface="Arial"/>
              </a:rPr>
              <a:t>happens</a:t>
            </a:r>
            <a:r>
              <a:rPr lang="en-US" sz="800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when</a:t>
            </a:r>
            <a:r>
              <a:rPr lang="en-US" sz="800" spc="4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I</a:t>
            </a:r>
            <a:r>
              <a:rPr lang="en-US" sz="800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want</a:t>
            </a:r>
            <a:r>
              <a:rPr lang="en-US" sz="800" spc="4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800" spc="4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visit</a:t>
            </a:r>
            <a:r>
              <a:rPr lang="en-US" sz="800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800" spc="4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20" noProof="1">
                <a:solidFill>
                  <a:srgbClr val="22373A"/>
                </a:solidFill>
                <a:latin typeface="Arial"/>
                <a:cs typeface="Arial"/>
              </a:rPr>
              <a:t>website?</a:t>
            </a:r>
            <a:endParaRPr lang="en-US" sz="800" noProof="1">
              <a:latin typeface="Arial"/>
              <a:cs typeface="Arial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525135" cy="5080"/>
            </a:xfrm>
            <a:custGeom>
              <a:avLst/>
              <a:gdLst/>
              <a:ahLst/>
              <a:cxnLst/>
              <a:rect l="l" t="t" r="r" b="b"/>
              <a:pathLst>
                <a:path w="5525135" h="5080">
                  <a:moveTo>
                    <a:pt x="0" y="5060"/>
                  </a:moveTo>
                  <a:lnTo>
                    <a:pt x="0" y="0"/>
                  </a:lnTo>
                  <a:lnTo>
                    <a:pt x="5524963" y="0"/>
                  </a:lnTo>
                  <a:lnTo>
                    <a:pt x="552496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ctrTitle"/>
          </p:nvPr>
        </p:nvSpPr>
        <p:spPr>
          <a:xfrm>
            <a:off x="98526" y="59834"/>
            <a:ext cx="3515360" cy="166071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10" noProof="1"/>
              <a:t>Example. Website</a:t>
            </a:r>
            <a:r>
              <a:rPr lang="en-US" spc="-30" noProof="1"/>
              <a:t> </a:t>
            </a:r>
            <a:r>
              <a:rPr lang="en-US" spc="-35" noProof="1"/>
              <a:t>deployment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1718" y="371520"/>
            <a:ext cx="4881245" cy="150682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GitHub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PaaS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deploy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our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own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website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compare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local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deployment.</a:t>
            </a:r>
            <a:endParaRPr lang="en-US" sz="9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59103" y="613739"/>
            <a:ext cx="3841790" cy="2099234"/>
          </a:xfrm>
          <a:prstGeom prst="rect">
            <a:avLst/>
          </a:prstGeom>
        </p:spPr>
      </p:pic>
      <p:sp>
        <p:nvSpPr>
          <p:cNvPr id="5" name="object 5"/>
          <p:cNvSpPr txBox="1"/>
          <p:nvPr/>
        </p:nvSpPr>
        <p:spPr>
          <a:xfrm>
            <a:off x="1368209" y="2846957"/>
            <a:ext cx="3023870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800" b="1" spc="-20" noProof="1">
                <a:solidFill>
                  <a:srgbClr val="22373A"/>
                </a:solidFill>
                <a:latin typeface="Arial"/>
                <a:cs typeface="Arial"/>
              </a:rPr>
              <a:t>Figure</a:t>
            </a:r>
            <a:r>
              <a:rPr lang="en-US" sz="8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2:</a:t>
            </a:r>
            <a:r>
              <a:rPr lang="en-US" sz="800" b="1" spc="1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Differences</a:t>
            </a:r>
            <a:r>
              <a:rPr lang="en-US" sz="8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20" noProof="1">
                <a:solidFill>
                  <a:srgbClr val="22373A"/>
                </a:solidFill>
                <a:latin typeface="Arial"/>
                <a:cs typeface="Arial"/>
              </a:rPr>
              <a:t>between</a:t>
            </a:r>
            <a:r>
              <a:rPr lang="en-US" sz="8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GitHub</a:t>
            </a:r>
            <a:r>
              <a:rPr lang="en-US" sz="8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40" noProof="1">
                <a:solidFill>
                  <a:srgbClr val="22373A"/>
                </a:solidFill>
                <a:latin typeface="Arial"/>
                <a:cs typeface="Arial"/>
              </a:rPr>
              <a:t>Pages</a:t>
            </a:r>
            <a:r>
              <a:rPr lang="en-US" sz="8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8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local</a:t>
            </a:r>
            <a:r>
              <a:rPr lang="en-US" sz="8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deployment</a:t>
            </a:r>
            <a:endParaRPr lang="en-US" sz="800" noProof="1">
              <a:latin typeface="Arial"/>
              <a:cs typeface="Arial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326390" cy="5080"/>
            </a:xfrm>
            <a:custGeom>
              <a:avLst/>
              <a:gdLst/>
              <a:ahLst/>
              <a:cxnLst/>
              <a:rect l="l" t="t" r="r" b="b"/>
              <a:pathLst>
                <a:path w="326390" h="5080">
                  <a:moveTo>
                    <a:pt x="0" y="5060"/>
                  </a:moveTo>
                  <a:lnTo>
                    <a:pt x="0" y="0"/>
                  </a:lnTo>
                  <a:lnTo>
                    <a:pt x="326078" y="0"/>
                  </a:lnTo>
                  <a:lnTo>
                    <a:pt x="326078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66484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Let’s</a:t>
            </a:r>
            <a:r>
              <a:rPr lang="en-US" spc="-35" noProof="1"/>
              <a:t> recap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227304" y="912248"/>
            <a:ext cx="2463800" cy="157924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my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computer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844"/>
              </a:spcBef>
              <a:buChar char="•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download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repository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install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software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build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website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install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software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serve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website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edit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files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build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website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serve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website</a:t>
            </a:r>
            <a:endParaRPr lang="en-US" sz="900" noProof="1">
              <a:latin typeface="Arial"/>
              <a:cs typeface="Arial"/>
            </a:endParaRPr>
          </a:p>
          <a:p>
            <a:pPr marL="12700" marR="305435">
              <a:lnSpc>
                <a:spcPct val="116199"/>
              </a:lnSpc>
              <a:spcBef>
                <a:spcPts val="450"/>
              </a:spcBef>
            </a:pP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Result?</a:t>
            </a:r>
            <a:r>
              <a:rPr lang="en-US" sz="900" spc="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website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accessible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only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my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computer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only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while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software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running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2987294" y="912248"/>
            <a:ext cx="2398395" cy="110109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b="1" spc="7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GitHub</a:t>
            </a:r>
            <a:r>
              <a:rPr lang="en-US" sz="900" b="1" spc="7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Pages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844"/>
              </a:spcBef>
              <a:buChar char="•"/>
              <a:tabLst>
                <a:tab pos="239395" algn="l"/>
              </a:tabLst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Fork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repository</a:t>
            </a:r>
            <a:endParaRPr lang="en-US" sz="900" noProof="1">
              <a:latin typeface="Arial"/>
              <a:cs typeface="Arial"/>
            </a:endParaRPr>
          </a:p>
          <a:p>
            <a:pPr marL="235585" indent="-143510">
              <a:lnSpc>
                <a:spcPct val="100000"/>
              </a:lnSpc>
              <a:spcBef>
                <a:spcPts val="175"/>
              </a:spcBef>
              <a:buChar char="•"/>
              <a:tabLst>
                <a:tab pos="235585" algn="l"/>
              </a:tabLst>
            </a:pP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Tweak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some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settings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Edit</a:t>
            </a:r>
            <a:r>
              <a:rPr lang="en-US" sz="900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files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Commit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changes</a:t>
            </a:r>
            <a:endParaRPr lang="en-US" sz="900" noProof="1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  <a:spcBef>
                <a:spcPts val="625"/>
              </a:spcBef>
            </a:pP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Result?</a:t>
            </a:r>
            <a:r>
              <a:rPr lang="en-US" sz="900" spc="8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free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website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accessible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anywhere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642610" cy="5080"/>
            </a:xfrm>
            <a:custGeom>
              <a:avLst/>
              <a:gdLst/>
              <a:ahLst/>
              <a:cxnLst/>
              <a:rect l="l" t="t" r="r" b="b"/>
              <a:pathLst>
                <a:path w="5642610" h="5080">
                  <a:moveTo>
                    <a:pt x="0" y="5060"/>
                  </a:moveTo>
                  <a:lnTo>
                    <a:pt x="0" y="0"/>
                  </a:lnTo>
                  <a:lnTo>
                    <a:pt x="5642474" y="0"/>
                  </a:lnTo>
                  <a:lnTo>
                    <a:pt x="5642474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50" noProof="1"/>
              <a:t>References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1164796"/>
            <a:ext cx="5051425" cy="10769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82880" marR="5080" indent="-170815" algn="just">
              <a:lnSpc>
                <a:spcPct val="116199"/>
              </a:lnSpc>
              <a:spcBef>
                <a:spcPts val="10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Ali,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Omar,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Anup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Shrestha,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Jeffrey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Soar,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Samuel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60" noProof="1">
                <a:solidFill>
                  <a:srgbClr val="22373A"/>
                </a:solidFill>
                <a:latin typeface="Arial"/>
                <a:cs typeface="Arial"/>
              </a:rPr>
              <a:t>Fosso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Wamba.</a:t>
            </a:r>
            <a:r>
              <a:rPr lang="en-US" sz="900" spc="7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2018.</a:t>
            </a:r>
            <a:r>
              <a:rPr lang="en-US" sz="900" spc="7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“Cloud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Computing-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Enabled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Healthcare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Opportunities,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Issues,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Applications:</a:t>
            </a:r>
            <a:r>
              <a:rPr lang="en-US" sz="900" spc="6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Systematic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Review.”</a:t>
            </a:r>
            <a:r>
              <a:rPr lang="en-US" sz="900" spc="6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International</a:t>
            </a:r>
            <a:r>
              <a:rPr lang="en-US" sz="900" i="1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Journal</a:t>
            </a:r>
            <a:r>
              <a:rPr lang="en-US" sz="900" i="1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of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Information 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Management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43:</a:t>
            </a:r>
            <a:r>
              <a:rPr lang="en-US" sz="900" spc="8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146–58.</a:t>
            </a:r>
            <a:endParaRPr lang="en-US" sz="900" noProof="1">
              <a:latin typeface="Arial"/>
              <a:cs typeface="Arial"/>
            </a:endParaRPr>
          </a:p>
          <a:p>
            <a:pPr marL="12700" algn="just">
              <a:lnSpc>
                <a:spcPct val="100000"/>
              </a:lnSpc>
              <a:spcBef>
                <a:spcPts val="55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Mell,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Peter,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Tim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Grance,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et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al.</a:t>
            </a:r>
            <a:r>
              <a:rPr lang="en-US" sz="900" spc="1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2011.</a:t>
            </a:r>
            <a:r>
              <a:rPr lang="en-US" sz="900" spc="1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“The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NIST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Definition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Computing.”</a:t>
            </a:r>
            <a:endParaRPr lang="en-US" sz="900" noProof="1">
              <a:latin typeface="Arial"/>
              <a:cs typeface="Arial"/>
            </a:endParaRPr>
          </a:p>
          <a:p>
            <a:pPr marL="182880" marR="88900" indent="-170815" algn="just">
              <a:lnSpc>
                <a:spcPct val="116199"/>
              </a:lnSpc>
              <a:spcBef>
                <a:spcPts val="370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Vilaplana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Mayoral,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Jordi et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al.</a:t>
            </a:r>
            <a:r>
              <a:rPr lang="en-US" sz="900" spc="8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2015.</a:t>
            </a:r>
            <a:r>
              <a:rPr lang="en-US" sz="900" spc="8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0" noProof="1">
                <a:solidFill>
                  <a:srgbClr val="22373A"/>
                </a:solidFill>
                <a:latin typeface="Arial"/>
                <a:cs typeface="Arial"/>
              </a:rPr>
              <a:t>Management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 of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40" noProof="1">
                <a:solidFill>
                  <a:srgbClr val="22373A"/>
                </a:solidFill>
                <a:latin typeface="Arial"/>
                <a:cs typeface="Arial"/>
              </a:rPr>
              <a:t>Systems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Applied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to eHealth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r>
              <a:rPr lang="en-US" sz="900" spc="7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Universitat de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Lleida.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22373A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3502</TotalTime>
  <Words>4272</Words>
  <Application>Microsoft Macintosh PowerPoint</Application>
  <PresentationFormat>Custom</PresentationFormat>
  <Paragraphs>356</Paragraphs>
  <Slides>56</Slides>
  <Notes>46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56</vt:i4>
      </vt:variant>
    </vt:vector>
  </HeadingPairs>
  <TitlesOfParts>
    <vt:vector size="60" baseType="lpstr">
      <vt:lpstr>Apple Symbols</vt:lpstr>
      <vt:lpstr>Aptos</vt:lpstr>
      <vt:lpstr>Arial</vt:lpstr>
      <vt:lpstr>Office Theme</vt:lpstr>
      <vt:lpstr>PowerPoint Presentation</vt:lpstr>
      <vt:lpstr>What is this course about?</vt:lpstr>
      <vt:lpstr>Pre-Course Survey: Who are you?</vt:lpstr>
      <vt:lpstr>PowerPoint Presentation</vt:lpstr>
      <vt:lpstr>What is Cloud Computing?</vt:lpstr>
      <vt:lpstr>What is the idea behind Cloud Computing?</vt:lpstr>
      <vt:lpstr>PowerPoint Presentation</vt:lpstr>
      <vt:lpstr>PowerPoint Presentation</vt:lpstr>
      <vt:lpstr>Which is the cloud computing model?</vt:lpstr>
      <vt:lpstr>Which is the traditional computing model?</vt:lpstr>
      <vt:lpstr>Live in a hotel vs. Own a house</vt:lpstr>
      <vt:lpstr>Case Study: Serving a Personal Website</vt:lpstr>
      <vt:lpstr>Which are the main cloud computing services models?</vt:lpstr>
      <vt:lpstr>Shared Responsibility Model</vt:lpstr>
      <vt:lpstr>Shared Responsibility Model: Pizza as a Service</vt:lpstr>
      <vt:lpstr>Public Cloud</vt:lpstr>
      <vt:lpstr>Private Cloud (On-Premises)</vt:lpstr>
      <vt:lpstr>Hybrid Cloud</vt:lpstr>
      <vt:lpstr>PowerPoint Presentation</vt:lpstr>
      <vt:lpstr>Which is the current situation of Cloud Computing?</vt:lpstr>
      <vt:lpstr>Cloud services everywhere</vt:lpstr>
      <vt:lpstr>Cloud services everywhere</vt:lpstr>
      <vt:lpstr>PowerPoint Presentation</vt:lpstr>
      <vt:lpstr>Capital expenses to operational expenses</vt:lpstr>
      <vt:lpstr>Economies of scale</vt:lpstr>
      <vt:lpstr>Adaptability and scalability</vt:lpstr>
      <vt:lpstr>Deployment speed</vt:lpstr>
      <vt:lpstr>Case Study: Dropbox</vt:lpstr>
      <vt:lpstr>Risks and Challenges of Cloud Computing</vt:lpstr>
      <vt:lpstr>Data security</vt:lpstr>
      <vt:lpstr>Real Cases of Security Breaches</vt:lpstr>
      <vt:lpstr>How to protect your data in the cloud?</vt:lpstr>
      <vt:lpstr>Data compliance</vt:lpstr>
      <vt:lpstr>Dependence</vt:lpstr>
      <vt:lpstr>Other challenges</vt:lpstr>
      <vt:lpstr>Homework</vt:lpstr>
      <vt:lpstr>Case Study: Is Cloud Computing Right for Your Company? (I)</vt:lpstr>
      <vt:lpstr>Case Study: Is Cloud Computing Right for Your Company? (II)</vt:lpstr>
      <vt:lpstr>Case Study: Is Cloud Computing Right for Your Company? (III)</vt:lpstr>
      <vt:lpstr>PowerPoint Presentation</vt:lpstr>
      <vt:lpstr>Why Cloud Computing in Health?</vt:lpstr>
      <vt:lpstr>Which are the opportunities of Cloud Computing in Health?</vt:lpstr>
      <vt:lpstr>Use Cases</vt:lpstr>
      <vt:lpstr>Challenges in Health</vt:lpstr>
      <vt:lpstr>Is cloud computing the future of Health?</vt:lpstr>
      <vt:lpstr>PowerPoint Presentation</vt:lpstr>
      <vt:lpstr>Recap: Cloud Computing vs Traditional Computing</vt:lpstr>
      <vt:lpstr>PowerPoint Presentation</vt:lpstr>
      <vt:lpstr>Homework - Creating our own website</vt:lpstr>
      <vt:lpstr>Homework - Creating our own website</vt:lpstr>
      <vt:lpstr>PowerPoint Presentation</vt:lpstr>
      <vt:lpstr>PowerPoint Presentation</vt:lpstr>
      <vt:lpstr>PowerPoint Presentation</vt:lpstr>
      <vt:lpstr>Example. Website deployment</vt:lpstr>
      <vt:lpstr>Let’s recap</vt:lpstr>
      <vt:lpstr>References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High Performance and Distributed Computing for Big Data - Unit 3: Cloud Computing</dc:title>
  <dc:creator>Ferran Aran Domingo ` `%%%`#`&amp;12_`__~~~ౡ氀猀攀</dc:creator>
  <cp:keywords>Cloud Computing, AWS, Healtcare, Cloud Computing in Healthcare</cp:keywords>
  <cp:lastModifiedBy>Francesc Xavier Solsona Tehas</cp:lastModifiedBy>
  <cp:revision>48</cp:revision>
  <dcterms:created xsi:type="dcterms:W3CDTF">2025-05-19T16:07:57Z</dcterms:created>
  <dcterms:modified xsi:type="dcterms:W3CDTF">2026-04-02T08:38:12Z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2025-02-19T00:00:00Z</vt:filetime>
  </property>
  <property fmtid="{D5CDD505-2E9C-101B-9397-08002B2CF9AE}" pid="3" name="Creator">
    <vt:lpwstr>LaTeX via pandoc</vt:lpwstr>
  </property>
  <property fmtid="{D5CDD505-2E9C-101B-9397-08002B2CF9AE}" pid="4" name="Producer">
    <vt:lpwstr>xdvipdfmx (20240210)</vt:lpwstr>
  </property>
  <property fmtid="{D5CDD505-2E9C-101B-9397-08002B2CF9AE}" pid="5" name="LastSaved">
    <vt:filetime>2025-02-19T00:00:00Z</vt:filetime>
  </property>
</Properties>
</file>