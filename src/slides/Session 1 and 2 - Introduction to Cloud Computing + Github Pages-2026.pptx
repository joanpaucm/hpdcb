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8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1" r:id="rId16"/>
    <p:sldId id="318" r:id="rId17"/>
    <p:sldId id="324" r:id="rId18"/>
    <p:sldId id="330" r:id="rId19"/>
    <p:sldId id="258" r:id="rId20"/>
    <p:sldId id="333" r:id="rId21"/>
    <p:sldId id="424" r:id="rId22"/>
    <p:sldId id="261" r:id="rId23"/>
    <p:sldId id="334" r:id="rId24"/>
    <p:sldId id="339" r:id="rId25"/>
    <p:sldId id="342" r:id="rId26"/>
    <p:sldId id="345" r:id="rId27"/>
    <p:sldId id="348" r:id="rId28"/>
    <p:sldId id="351" r:id="rId29"/>
    <p:sldId id="353" r:id="rId30"/>
    <p:sldId id="359" r:id="rId31"/>
    <p:sldId id="362" r:id="rId32"/>
    <p:sldId id="369" r:id="rId33"/>
    <p:sldId id="371" r:id="rId34"/>
    <p:sldId id="376" r:id="rId35"/>
    <p:sldId id="382" r:id="rId36"/>
    <p:sldId id="383" r:id="rId37"/>
    <p:sldId id="385" r:id="rId38"/>
    <p:sldId id="387" r:id="rId39"/>
    <p:sldId id="390" r:id="rId40"/>
    <p:sldId id="391" r:id="rId41"/>
    <p:sldId id="395" r:id="rId42"/>
    <p:sldId id="399" r:id="rId43"/>
    <p:sldId id="403" r:id="rId44"/>
    <p:sldId id="405" r:id="rId45"/>
    <p:sldId id="413" r:id="rId46"/>
    <p:sldId id="414" r:id="rId47"/>
    <p:sldId id="415" r:id="rId48"/>
    <p:sldId id="416" r:id="rId49"/>
    <p:sldId id="417" r:id="rId50"/>
    <p:sldId id="418" r:id="rId51"/>
    <p:sldId id="419" r:id="rId52"/>
    <p:sldId id="423" r:id="rId53"/>
    <p:sldId id="420" r:id="rId54"/>
    <p:sldId id="259" r:id="rId55"/>
    <p:sldId id="421" r:id="rId56"/>
    <p:sldId id="422" r:id="rId57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43"/>
    <p:restoredTop sz="86415"/>
  </p:normalViewPr>
  <p:slideViewPr>
    <p:cSldViewPr>
      <p:cViewPr varScale="1">
        <p:scale>
          <a:sx n="225" d="100"/>
          <a:sy n="225" d="100"/>
        </p:scale>
        <p:origin x="2760" y="168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1/4/26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99059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841968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rancescsolsonatehas.github.io/HPDCB/session1-2.html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29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hdbc-17705110-mdbs.github.io/HandsOnLabs/hol1.html" TargetMode="External"/><Relationship Id="rId4" Type="http://schemas.openxmlformats.org/officeDocument/2006/relationships/hyperlink" Target="https://pages.github.com/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40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56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56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hol1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hol1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ancescsolsonatehas.github.io/HPDCB/quiz1.html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735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080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987425"/>
            <a:ext cx="13779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10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3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6B6125F0-FF73-7599-69F5-F686AB982E26}"/>
              </a:ext>
            </a:extLst>
          </p:cNvPr>
          <p:cNvSpPr txBox="1"/>
          <p:nvPr/>
        </p:nvSpPr>
        <p:spPr>
          <a:xfrm>
            <a:off x="368300" y="1303954"/>
            <a:ext cx="28404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1000" dirty="0">
                <a:hlinkClick r:id="rId4"/>
              </a:rPr>
              <a:t>Session 1 &amp; 2 - Introduction to Cloud Computing 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0" noProof="1"/>
              <a:t> </a:t>
            </a:r>
            <a:r>
              <a:rPr lang="en-US" spc="-10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course</a:t>
            </a:r>
            <a:r>
              <a:rPr lang="en-US" spc="20" noProof="1"/>
              <a:t> </a:t>
            </a:r>
            <a:r>
              <a:rPr lang="en-US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US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306494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computers 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Pre-</a:t>
            </a:r>
            <a:r>
              <a:rPr lang="en-US" spc="-20" noProof="1"/>
              <a:t>Course</a:t>
            </a:r>
            <a:r>
              <a:rPr lang="en-US" noProof="1"/>
              <a:t> </a:t>
            </a:r>
            <a:r>
              <a:rPr lang="en-US" spc="-30" noProof="1"/>
              <a:t>Survey:</a:t>
            </a:r>
            <a:r>
              <a:rPr lang="en-US" spc="100" noProof="1"/>
              <a:t> </a:t>
            </a:r>
            <a:r>
              <a:rPr lang="en-US" noProof="1"/>
              <a:t>Who</a:t>
            </a:r>
            <a:r>
              <a:rPr lang="en-US" spc="5" noProof="1"/>
              <a:t> </a:t>
            </a:r>
            <a:r>
              <a:rPr lang="en-US" noProof="1"/>
              <a:t>are</a:t>
            </a:r>
            <a:r>
              <a:rPr lang="en-US" spc="5" noProof="1"/>
              <a:t> </a:t>
            </a:r>
            <a:r>
              <a:rPr lang="en-US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US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40" noProof="1"/>
              <a:t> </a:t>
            </a:r>
            <a:r>
              <a:rPr lang="en-US" spc="-25" noProof="1"/>
              <a:t>is</a:t>
            </a:r>
            <a:r>
              <a:rPr lang="en-US" spc="40" noProof="1"/>
              <a:t> </a:t>
            </a:r>
            <a:r>
              <a:rPr lang="en-US" spc="-30" noProof="1"/>
              <a:t>Cloud</a:t>
            </a:r>
            <a:r>
              <a:rPr lang="en-US" spc="40" noProof="1"/>
              <a:t> </a:t>
            </a:r>
            <a:r>
              <a:rPr lang="en-US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US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centers,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idea</a:t>
            </a:r>
            <a:r>
              <a:rPr lang="en-US" spc="20" noProof="1"/>
              <a:t> </a:t>
            </a:r>
            <a:r>
              <a:rPr lang="en-US" spc="-30" noProof="1"/>
              <a:t>behind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25" noProof="1"/>
              <a:t> </a:t>
            </a:r>
            <a:r>
              <a:rPr lang="en-US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b="1" spc="-25" noProof="1">
                <a:latin typeface="Arial"/>
                <a:cs typeface="Arial"/>
              </a:rPr>
              <a:t>Cloud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computing</a:t>
            </a:r>
            <a:r>
              <a:rPr lang="en-US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US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40" noProof="1"/>
              <a:t>companies</a:t>
            </a:r>
            <a:r>
              <a:rPr lang="en-US" spc="20" noProof="1"/>
              <a:t>/users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5" noProof="1"/>
              <a:t>consume</a:t>
            </a:r>
            <a:r>
              <a:rPr lang="en-US" spc="15" noProof="1"/>
              <a:t> </a:t>
            </a:r>
            <a:r>
              <a:rPr lang="en-US" spc="-50" noProof="1"/>
              <a:t>a</a:t>
            </a:r>
            <a:r>
              <a:rPr lang="en-US" spc="-10" noProof="1"/>
              <a:t> compute</a:t>
            </a:r>
            <a:r>
              <a:rPr lang="en-US" spc="-5" noProof="1"/>
              <a:t> </a:t>
            </a:r>
            <a:r>
              <a:rPr lang="en-US" spc="-35" noProof="1"/>
              <a:t>resource,</a:t>
            </a:r>
            <a:r>
              <a:rPr lang="en-US" spc="-5" noProof="1"/>
              <a:t> </a:t>
            </a:r>
            <a:r>
              <a:rPr lang="en-US" spc="-30" noProof="1"/>
              <a:t>such</a:t>
            </a:r>
            <a:r>
              <a:rPr lang="en-US" noProof="1"/>
              <a:t> </a:t>
            </a:r>
            <a:r>
              <a:rPr lang="en-US" spc="-45" noProof="1"/>
              <a:t>as</a:t>
            </a:r>
            <a:r>
              <a:rPr lang="en-US" spc="-5" noProof="1"/>
              <a:t> </a:t>
            </a:r>
            <a:r>
              <a:rPr lang="en-US" noProof="1"/>
              <a:t>a virtual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noProof="1"/>
              <a:t> </a:t>
            </a:r>
            <a:r>
              <a:rPr lang="en-US" spc="-10" noProof="1"/>
              <a:t>(VM), </a:t>
            </a:r>
            <a:r>
              <a:rPr lang="en-US" spc="-30" noProof="1"/>
              <a:t>storage,</a:t>
            </a:r>
            <a:r>
              <a:rPr lang="en-US" spc="30" noProof="1"/>
              <a:t> </a:t>
            </a:r>
            <a:r>
              <a:rPr lang="en-US" noProof="1"/>
              <a:t>or</a:t>
            </a:r>
            <a:r>
              <a:rPr lang="en-US" spc="35" noProof="1"/>
              <a:t> </a:t>
            </a:r>
            <a:r>
              <a:rPr lang="en-US" noProof="1"/>
              <a:t>an</a:t>
            </a:r>
            <a:r>
              <a:rPr lang="en-US" spc="35" noProof="1"/>
              <a:t> </a:t>
            </a:r>
            <a:r>
              <a:rPr lang="en-US" spc="-10" noProof="1"/>
              <a:t>application,</a:t>
            </a:r>
            <a:r>
              <a:rPr lang="en-US" spc="30" noProof="1"/>
              <a:t> </a:t>
            </a:r>
            <a:r>
              <a:rPr lang="en-US" spc="-45" noProof="1"/>
              <a:t>as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35" noProof="1"/>
              <a:t>                        </a:t>
            </a:r>
            <a:r>
              <a:rPr lang="en-US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5" noProof="1"/>
              <a:t> </a:t>
            </a:r>
            <a:r>
              <a:rPr lang="en-US" noProof="1"/>
              <a:t>rather</a:t>
            </a:r>
            <a:r>
              <a:rPr lang="en-US" spc="5" noProof="1"/>
              <a:t> </a:t>
            </a:r>
            <a:r>
              <a:rPr lang="en-US" noProof="1"/>
              <a:t>than</a:t>
            </a:r>
            <a:r>
              <a:rPr lang="en-US" spc="5" noProof="1"/>
              <a:t> </a:t>
            </a:r>
            <a:r>
              <a:rPr lang="en-US" spc="-20" noProof="1"/>
              <a:t>having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noProof="1"/>
              <a:t>build </a:t>
            </a:r>
            <a:r>
              <a:rPr lang="en-US" spc="-10" noProof="1"/>
              <a:t>and</a:t>
            </a:r>
            <a:r>
              <a:rPr lang="en-US" spc="5" noProof="1"/>
              <a:t> </a:t>
            </a:r>
            <a:r>
              <a:rPr lang="en-US" spc="-10" noProof="1"/>
              <a:t>maintain computing</a:t>
            </a:r>
            <a:r>
              <a:rPr lang="en-US" spc="10" noProof="1"/>
              <a:t> </a:t>
            </a:r>
            <a:r>
              <a:rPr lang="en-US" spc="-10" noProof="1"/>
              <a:t>infrastructures</a:t>
            </a:r>
            <a:r>
              <a:rPr lang="en-US" spc="10" noProof="1"/>
              <a:t> </a:t>
            </a:r>
            <a:r>
              <a:rPr lang="en-US" spc="-35" noProof="1"/>
              <a:t>in-</a:t>
            </a:r>
            <a:r>
              <a:rPr lang="en-US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traditional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phisical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underestimates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system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slow,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60" noProof="1">
                <a:latin typeface="Arial"/>
                <a:cs typeface="Arial"/>
              </a:rPr>
              <a:t>users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unhappy.</a:t>
            </a:r>
            <a:r>
              <a:rPr lang="en-US" sz="900" spc="15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overestimates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the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it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lot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of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unused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resources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waste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money.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Live</a:t>
            </a:r>
            <a:r>
              <a:rPr lang="en-US" noProof="1"/>
              <a:t> 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hotel</a:t>
            </a:r>
            <a:r>
              <a:rPr lang="en-US" spc="5" noProof="1"/>
              <a:t> </a:t>
            </a:r>
            <a:r>
              <a:rPr lang="en-US" spc="-20" noProof="1"/>
              <a:t>vs.</a:t>
            </a:r>
            <a:r>
              <a:rPr lang="en-US" spc="5" noProof="1"/>
              <a:t> </a:t>
            </a:r>
            <a:r>
              <a:rPr lang="en-US" noProof="1"/>
              <a:t>Own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US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cloud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computing,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pay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for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what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use,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and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do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need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worry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about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0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maintenance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of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5" noProof="1"/>
              <a:t> </a:t>
            </a:r>
            <a:r>
              <a:rPr lang="en-US" spc="-10" noProof="1"/>
              <a:t>Study:</a:t>
            </a:r>
            <a:r>
              <a:rPr lang="en-US" spc="105" noProof="1"/>
              <a:t> </a:t>
            </a:r>
            <a:r>
              <a:rPr lang="en-US" spc="-35" noProof="1"/>
              <a:t>Serving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35" noProof="1"/>
              <a:t>Personal</a:t>
            </a:r>
            <a:r>
              <a:rPr lang="en-US" spc="5" noProof="1"/>
              <a:t> </a:t>
            </a:r>
            <a:r>
              <a:rPr lang="en-US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US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 are the</a:t>
            </a:r>
            <a:r>
              <a:rPr lang="en-US" spc="5" noProof="1"/>
              <a:t> </a:t>
            </a:r>
            <a:r>
              <a:rPr lang="en-US" spc="-10" noProof="1"/>
              <a:t>main</a:t>
            </a:r>
            <a:r>
              <a:rPr lang="en-US" noProof="1"/>
              <a:t> </a:t>
            </a:r>
            <a:r>
              <a:rPr lang="en-US" spc="-35" noProof="1"/>
              <a:t>cloud</a:t>
            </a:r>
            <a:r>
              <a:rPr lang="en-US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noProof="1"/>
              <a:t> </a:t>
            </a:r>
            <a:r>
              <a:rPr lang="en-US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112396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On-Premises: </a:t>
            </a:r>
            <a:r>
              <a:rPr lang="en-US" sz="900" noProof="1"/>
              <a:t>refers to software and hardware that is physically located within your own building or data center, rather than being hosted by a provider like 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893493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922905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20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15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noProof="1"/>
              <a:t>Model:</a:t>
            </a:r>
            <a:r>
              <a:rPr lang="en-US" spc="120" noProof="1"/>
              <a:t> </a:t>
            </a:r>
            <a:r>
              <a:rPr lang="en-US" noProof="1"/>
              <a:t>Pizza</a:t>
            </a:r>
            <a:r>
              <a:rPr lang="en-US" spc="20" noProof="1"/>
              <a:t> </a:t>
            </a:r>
            <a:r>
              <a:rPr lang="en-US" spc="-25" noProof="1"/>
              <a:t>as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Service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813594"/>
            <a:ext cx="498602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7175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like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ordering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355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SaaS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restaurant.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99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arrives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preparaing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drinks.</a:t>
            </a:r>
            <a:endParaRPr lang="en-US" sz="900" noProof="1">
              <a:latin typeface="Arial"/>
              <a:cs typeface="Arial"/>
            </a:endParaRPr>
          </a:p>
          <a:p>
            <a:pPr marL="160020" marR="21590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IaaS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bake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yourself.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dinning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table,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electricity,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oven.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box.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remises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scratch.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ingredients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preparing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too.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880870" cy="5080"/>
            </a:xfrm>
            <a:custGeom>
              <a:avLst/>
              <a:gdLst/>
              <a:ahLst/>
              <a:cxnLst/>
              <a:rect l="l" t="t" r="r" b="b"/>
              <a:pathLst>
                <a:path w="1880870" h="5080">
                  <a:moveTo>
                    <a:pt x="0" y="5060"/>
                  </a:moveTo>
                  <a:lnTo>
                    <a:pt x="0" y="0"/>
                  </a:lnTo>
                  <a:lnTo>
                    <a:pt x="1880795" y="0"/>
                  </a:lnTo>
                  <a:lnTo>
                    <a:pt x="18807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Public</a:t>
            </a:r>
            <a:r>
              <a:rPr lang="en-US" spc="-35" noProof="1"/>
              <a:t> </a:t>
            </a:r>
            <a:r>
              <a:rPr lang="en-US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0233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900" noProof="1"/>
              <a:t>A </a:t>
            </a:r>
            <a:r>
              <a:rPr lang="en-US" sz="900" b="1" noProof="1"/>
              <a:t>public cloud </a:t>
            </a:r>
            <a:r>
              <a:rPr lang="en-US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/>
              <a:t>pay‑per‑use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25" noProof="1"/>
              <a:t>(On-</a:t>
            </a:r>
            <a:r>
              <a:rPr lang="en-US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Hybrid</a:t>
            </a:r>
            <a:r>
              <a:rPr lang="en-US" spc="15" noProof="1"/>
              <a:t> </a:t>
            </a:r>
            <a:r>
              <a:rPr lang="en-US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2936774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Public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Private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Hybrid Cloud Models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7900" y="494665"/>
            <a:ext cx="3505200" cy="21844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205010" y="2841625"/>
            <a:ext cx="31045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grow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paradigms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804" cy="5080"/>
            </a:xfrm>
            <a:custGeom>
              <a:avLst/>
              <a:gdLst/>
              <a:ahLst/>
              <a:cxnLst/>
              <a:rect l="l" t="t" r="r" b="b"/>
              <a:pathLst>
                <a:path w="217804" h="5080">
                  <a:moveTo>
                    <a:pt x="0" y="5060"/>
                  </a:moveTo>
                  <a:lnTo>
                    <a:pt x="0" y="0"/>
                  </a:lnTo>
                  <a:lnTo>
                    <a:pt x="217356" y="0"/>
                  </a:lnTo>
                  <a:lnTo>
                    <a:pt x="2173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current</a:t>
            </a:r>
            <a:r>
              <a:rPr lang="en-US" spc="5" noProof="1"/>
              <a:t> </a:t>
            </a:r>
            <a:r>
              <a:rPr lang="en-US" spc="-20" noProof="1"/>
              <a:t>situation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0" y="631825"/>
            <a:ext cx="5760084" cy="25721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computing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2027.</a:t>
            </a: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1500505" marR="5080" indent="-148844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It </a:t>
            </a:r>
            <a:r>
              <a:rPr lang="en-US" sz="2400" b="1" spc="-40" noProof="1">
                <a:solidFill>
                  <a:srgbClr val="EB811B"/>
                </a:solidFill>
                <a:latin typeface="Arial"/>
                <a:cs typeface="Arial"/>
              </a:rPr>
              <a:t>grows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US" sz="24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US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Capital</a:t>
            </a:r>
            <a:r>
              <a:rPr lang="en-US" spc="45" noProof="1"/>
              <a:t> </a:t>
            </a:r>
            <a:r>
              <a:rPr lang="en-US" spc="-55" noProof="1"/>
              <a:t>expenses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spc="-25" noProof="1"/>
              <a:t>operational</a:t>
            </a:r>
            <a:r>
              <a:rPr lang="en-US" spc="50" noProof="1"/>
              <a:t> </a:t>
            </a:r>
            <a:r>
              <a:rPr lang="en-US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5" noProof="1"/>
              <a:t>Economies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Adaptability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Deployment</a:t>
            </a:r>
            <a:r>
              <a:rPr lang="en-US" spc="45" noProof="1"/>
              <a:t> </a:t>
            </a:r>
            <a:r>
              <a:rPr lang="en-US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US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5" noProof="1"/>
              <a:t> </a:t>
            </a:r>
            <a:r>
              <a:rPr lang="en-US" spc="-30" noProof="1"/>
              <a:t>Dropbox</a:t>
            </a:r>
            <a:endParaRPr lang="en-US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 </a:t>
            </a:r>
            <a:endParaRPr lang="en-US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US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4">
            <a:extLst>
              <a:ext uri="{FF2B5EF4-FFF2-40B4-BE49-F238E27FC236}">
                <a16:creationId xmlns:a16="http://schemas.microsoft.com/office/drawing/2014/main" id="{4F5519C6-C707-B746-D702-E190A0DAD823}"/>
              </a:ext>
            </a:extLst>
          </p:cNvPr>
          <p:cNvSpPr txBox="1"/>
          <p:nvPr/>
        </p:nvSpPr>
        <p:spPr>
          <a:xfrm>
            <a:off x="257746" y="217424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Disadvantage: </a:t>
            </a:r>
            <a:r>
              <a:rPr lang="en-US" sz="900" b="1" spc="-25" noProof="1">
                <a:solidFill>
                  <a:schemeClr val="tx1"/>
                </a:solidFill>
                <a:latin typeface="Arial"/>
                <a:cs typeface="Arial"/>
              </a:rPr>
              <a:t>Elevated Cost </a:t>
            </a:r>
            <a:endParaRPr lang="en-US" sz="900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US" sz="1100" spc="-50" noProof="1">
                <a:solidFill>
                  <a:srgbClr val="22373A"/>
                </a:solidFill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US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US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 and yours,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Real </a:t>
            </a:r>
            <a:r>
              <a:rPr lang="en-US" spc="-60" noProof="1"/>
              <a:t>Cases</a:t>
            </a:r>
            <a:r>
              <a:rPr lang="en-US" spc="5" noProof="1"/>
              <a:t> </a:t>
            </a:r>
            <a:r>
              <a:rPr lang="en-US" noProof="1"/>
              <a:t>of </a:t>
            </a:r>
            <a:r>
              <a:rPr lang="en-US" spc="-30" noProof="1"/>
              <a:t>Security</a:t>
            </a:r>
            <a:r>
              <a:rPr lang="en-US" spc="5" noProof="1"/>
              <a:t> </a:t>
            </a:r>
            <a:r>
              <a:rPr lang="en-US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protect</a:t>
            </a:r>
            <a:r>
              <a:rPr lang="en-US" spc="25" noProof="1"/>
              <a:t> </a:t>
            </a:r>
            <a:r>
              <a:rPr lang="en-US" spc="-35" noProof="1"/>
              <a:t>your</a:t>
            </a:r>
            <a:r>
              <a:rPr lang="en-US" spc="30" noProof="1"/>
              <a:t> </a:t>
            </a:r>
            <a:r>
              <a:rPr lang="en-US" noProof="1"/>
              <a:t>data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US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US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US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Dependence</a:t>
            </a:r>
            <a:endParaRPr lang="en-US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US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Other</a:t>
            </a:r>
            <a:r>
              <a:rPr lang="en-US" spc="30" noProof="1"/>
              <a:t> </a:t>
            </a:r>
            <a:r>
              <a:rPr lang="en-US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US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US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SLAs,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US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US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 want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US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US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Now,</a:t>
            </a:r>
            <a:r>
              <a:rPr lang="en-US" spc="10" noProof="1"/>
              <a:t> </a:t>
            </a:r>
            <a:r>
              <a:rPr lang="en-US" spc="-30" noProof="1"/>
              <a:t>consider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small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5" noProof="1"/>
              <a:t> </a:t>
            </a:r>
            <a:r>
              <a:rPr lang="en-US" b="1" spc="50" noProof="1">
                <a:latin typeface="Arial"/>
                <a:cs typeface="Arial"/>
              </a:rPr>
              <a:t>Y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55" noProof="1"/>
              <a:t>needs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noProof="1"/>
              <a:t>digitalize</a:t>
            </a:r>
            <a:r>
              <a:rPr lang="en-US" spc="15" noProof="1"/>
              <a:t> </a:t>
            </a:r>
            <a:r>
              <a:rPr lang="en-US" noProof="1"/>
              <a:t>its</a:t>
            </a:r>
            <a:r>
              <a:rPr lang="en-US" spc="10" noProof="1"/>
              <a:t> </a:t>
            </a:r>
            <a:r>
              <a:rPr lang="en-US" spc="-50" noProof="1"/>
              <a:t>business</a:t>
            </a:r>
            <a:r>
              <a:rPr lang="en-US" spc="15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spc="-35" noProof="1"/>
              <a:t>reduce</a:t>
            </a:r>
            <a:r>
              <a:rPr lang="en-US" spc="10" noProof="1"/>
              <a:t> </a:t>
            </a:r>
            <a:r>
              <a:rPr lang="en-US" spc="-30" noProof="1"/>
              <a:t>costs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10" noProof="1"/>
              <a:t>compete </a:t>
            </a:r>
            <a:r>
              <a:rPr lang="en-US" spc="-20" noProof="1"/>
              <a:t>effectively</a:t>
            </a:r>
            <a:r>
              <a:rPr lang="en-US" spc="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market.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25" noProof="1"/>
              <a:t>also</a:t>
            </a:r>
            <a:r>
              <a:rPr lang="en-US" spc="10" noProof="1"/>
              <a:t> </a:t>
            </a:r>
            <a:r>
              <a:rPr lang="en-US" spc="-30" noProof="1"/>
              <a:t>considering</a:t>
            </a:r>
            <a:r>
              <a:rPr lang="en-US" spc="10" noProof="1"/>
              <a:t> </a:t>
            </a:r>
            <a:r>
              <a:rPr lang="en-US" spc="-10" noProof="1"/>
              <a:t>whether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adopt</a:t>
            </a:r>
            <a:r>
              <a:rPr lang="en-US" spc="10" noProof="1"/>
              <a:t> </a:t>
            </a:r>
            <a:r>
              <a:rPr lang="en-US" spc="-10" noProof="1"/>
              <a:t>cloud</a:t>
            </a:r>
            <a:r>
              <a:rPr lang="en-US" spc="10" noProof="1"/>
              <a:t> </a:t>
            </a:r>
            <a:r>
              <a:rPr lang="en-US" spc="-10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or </a:t>
            </a:r>
            <a:r>
              <a:rPr lang="en-US" noProof="1"/>
              <a:t>traditional</a:t>
            </a:r>
            <a:r>
              <a:rPr lang="en-US" spc="55" noProof="1"/>
              <a:t> </a:t>
            </a:r>
            <a:r>
              <a:rPr lang="en-US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decision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depends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specific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65" noProof="1">
                <a:latin typeface="Arial"/>
                <a:cs typeface="Arial"/>
              </a:rPr>
              <a:t>needs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resources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company.</a:t>
            </a:r>
            <a:r>
              <a:rPr lang="en-US" i="1" spc="9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has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a</a:t>
            </a:r>
            <a:r>
              <a:rPr lang="en-US" i="1" spc="-10" noProof="1">
                <a:latin typeface="Arial"/>
                <a:cs typeface="Arial"/>
              </a:rPr>
              <a:t> significant</a:t>
            </a:r>
            <a:r>
              <a:rPr lang="en-US" i="1" noProof="1">
                <a:latin typeface="Arial"/>
                <a:cs typeface="Arial"/>
              </a:rPr>
              <a:t> amount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data,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traditional infrastructure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might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more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suitable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due</a:t>
            </a:r>
            <a:r>
              <a:rPr lang="en-US" i="1" noProof="1">
                <a:latin typeface="Arial"/>
                <a:cs typeface="Arial"/>
              </a:rPr>
              <a:t> to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the </a:t>
            </a:r>
            <a:r>
              <a:rPr lang="en-US" i="1" spc="-40" noProof="1">
                <a:latin typeface="Arial"/>
                <a:cs typeface="Arial"/>
              </a:rPr>
              <a:t>increased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control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over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security.</a:t>
            </a:r>
            <a:r>
              <a:rPr lang="en-US" i="1" spc="10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However,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values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flexibility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scalability,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 computing</a:t>
            </a:r>
            <a:r>
              <a:rPr lang="en-US" i="1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could</a:t>
            </a:r>
            <a:r>
              <a:rPr lang="en-US" i="1" noProof="1">
                <a:latin typeface="Arial"/>
                <a:cs typeface="Arial"/>
              </a:rPr>
              <a:t> 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 better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US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US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30" noProof="1"/>
              <a:t>Computing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US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US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US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noProof="1"/>
              <a:t>are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5" noProof="1"/>
              <a:t>opportunities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Use</a:t>
            </a:r>
            <a:r>
              <a:rPr lang="en-US" spc="-35" noProof="1"/>
              <a:t> </a:t>
            </a:r>
            <a:r>
              <a:rPr lang="en-US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US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Challenges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4835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10" noProof="1"/>
              <a:t> </a:t>
            </a:r>
            <a:r>
              <a:rPr lang="en-US" spc="-35" noProof="1"/>
              <a:t>computing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future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US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US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Recap:</a:t>
            </a:r>
            <a:r>
              <a:rPr lang="en-US" spc="1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5" noProof="1"/>
              <a:t> </a:t>
            </a:r>
            <a:r>
              <a:rPr lang="en-US" spc="-40" noProof="1"/>
              <a:t>vs</a:t>
            </a:r>
            <a:r>
              <a:rPr lang="en-US" spc="15" noProof="1"/>
              <a:t> </a:t>
            </a:r>
            <a:r>
              <a:rPr lang="en-US" spc="-20" noProof="1"/>
              <a:t>Traditional</a:t>
            </a:r>
            <a:r>
              <a:rPr lang="en-US" spc="10" noProof="1"/>
              <a:t> </a:t>
            </a:r>
            <a:r>
              <a:rPr lang="en-US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US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US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48029" y="1008730"/>
            <a:ext cx="3464560" cy="967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67995" marR="43751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1365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  <a:p>
            <a:pPr marL="12700" marR="5080" algn="ctr">
              <a:lnSpc>
                <a:spcPct val="116199"/>
              </a:lnSpc>
              <a:spcBef>
                <a:spcPts val="63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Fundamentals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understanding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concepts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computing.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Quiz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8526" y="59834"/>
            <a:ext cx="351536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Example. Website</a:t>
            </a:r>
            <a:r>
              <a:rPr lang="en-US" spc="-30" noProof="1"/>
              <a:t> </a:t>
            </a:r>
            <a:r>
              <a:rPr lang="en-US" spc="-35" noProof="1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compare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</a:t>
            </a:r>
            <a:r>
              <a:rPr lang="en-US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US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US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3489</TotalTime>
  <Words>4269</Words>
  <Application>Microsoft Macintosh PowerPoint</Application>
  <PresentationFormat>Custom</PresentationFormat>
  <Paragraphs>356</Paragraphs>
  <Slides>56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Shared Responsibility Model: Pizza as a Service</vt:lpstr>
      <vt:lpstr>Public Cloud</vt:lpstr>
      <vt:lpstr>Private Cloud (On-Premises)</vt:lpstr>
      <vt:lpstr>Hybrid Cloud</vt:lpstr>
      <vt:lpstr>PowerPoint Presentation</vt:lpstr>
      <vt:lpstr>Which is the current situation of Cloud Computing?</vt:lpstr>
      <vt:lpstr>Cloud services everywhere</vt:lpstr>
      <vt:lpstr>Cloud services everywhere</vt:lpstr>
      <vt:lpstr>PowerPoint Presentation</vt:lpstr>
      <vt:lpstr>Capital expenses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Dependence</vt:lpstr>
      <vt:lpstr>Other challenges</vt:lpstr>
      <vt:lpstr>Homework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Homework - Creating our own website</vt:lpstr>
      <vt:lpstr>PowerPoint Presentation</vt:lpstr>
      <vt:lpstr>PowerPoint Presentation</vt:lpstr>
      <vt:lpstr>PowerPoint Presentation</vt:lpstr>
      <vt:lpstr>Example. Website deployment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47</cp:revision>
  <dcterms:created xsi:type="dcterms:W3CDTF">2025-05-19T16:07:57Z</dcterms:created>
  <dcterms:modified xsi:type="dcterms:W3CDTF">2026-04-02T08:24:25Z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