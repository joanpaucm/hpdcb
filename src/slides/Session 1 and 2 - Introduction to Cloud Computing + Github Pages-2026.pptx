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5"/>
  </p:notesMasterIdLst>
  <p:sldIdLst>
    <p:sldId id="256" r:id="rId2"/>
    <p:sldId id="260" r:id="rId3"/>
    <p:sldId id="267" r:id="rId4"/>
    <p:sldId id="268" r:id="rId5"/>
    <p:sldId id="270" r:id="rId6"/>
    <p:sldId id="272" r:id="rId7"/>
    <p:sldId id="274" r:id="rId8"/>
    <p:sldId id="275" r:id="rId9"/>
    <p:sldId id="281" r:id="rId10"/>
    <p:sldId id="289" r:id="rId11"/>
    <p:sldId id="294" r:id="rId12"/>
    <p:sldId id="298" r:id="rId13"/>
    <p:sldId id="303" r:id="rId14"/>
    <p:sldId id="306" r:id="rId15"/>
    <p:sldId id="318" r:id="rId16"/>
    <p:sldId id="324" r:id="rId17"/>
    <p:sldId id="330" r:id="rId18"/>
    <p:sldId id="333" r:id="rId19"/>
    <p:sldId id="424" r:id="rId20"/>
    <p:sldId id="261" r:id="rId21"/>
    <p:sldId id="334" r:id="rId22"/>
    <p:sldId id="339" r:id="rId23"/>
    <p:sldId id="342" r:id="rId24"/>
    <p:sldId id="345" r:id="rId25"/>
    <p:sldId id="348" r:id="rId26"/>
    <p:sldId id="351" r:id="rId27"/>
    <p:sldId id="353" r:id="rId28"/>
    <p:sldId id="359" r:id="rId29"/>
    <p:sldId id="362" r:id="rId30"/>
    <p:sldId id="369" r:id="rId31"/>
    <p:sldId id="371" r:id="rId32"/>
    <p:sldId id="383" r:id="rId33"/>
    <p:sldId id="376" r:id="rId34"/>
    <p:sldId id="382" r:id="rId35"/>
    <p:sldId id="385" r:id="rId36"/>
    <p:sldId id="387" r:id="rId37"/>
    <p:sldId id="390" r:id="rId38"/>
    <p:sldId id="391" r:id="rId39"/>
    <p:sldId id="395" r:id="rId40"/>
    <p:sldId id="399" r:id="rId41"/>
    <p:sldId id="403" r:id="rId42"/>
    <p:sldId id="405" r:id="rId43"/>
    <p:sldId id="413" r:id="rId44"/>
    <p:sldId id="414" r:id="rId45"/>
    <p:sldId id="415" r:id="rId46"/>
    <p:sldId id="416" r:id="rId47"/>
    <p:sldId id="418" r:id="rId48"/>
    <p:sldId id="419" r:id="rId49"/>
    <p:sldId id="423" r:id="rId50"/>
    <p:sldId id="420" r:id="rId51"/>
    <p:sldId id="259" r:id="rId52"/>
    <p:sldId id="421" r:id="rId53"/>
    <p:sldId id="422" r:id="rId54"/>
  </p:sldIdLst>
  <p:sldSz cx="5765800" cy="3244850"/>
  <p:notesSz cx="5765800" cy="32448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FCA0C83-5135-9444-B36B-52282EA983D6}" v="10" dt="2026-02-16T11:35:39.478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229"/>
    <p:restoredTop sz="86464"/>
  </p:normalViewPr>
  <p:slideViewPr>
    <p:cSldViewPr>
      <p:cViewPr varScale="1">
        <p:scale>
          <a:sx n="183" d="100"/>
          <a:sy n="183" d="100"/>
        </p:scale>
        <p:origin x="952" y="184"/>
      </p:cViewPr>
      <p:guideLst>
        <p:guide orient="horz" pos="2880"/>
        <p:guide pos="2160"/>
      </p:guideLst>
    </p:cSldViewPr>
  </p:slideViewPr>
  <p:outlineViewPr>
    <p:cViewPr>
      <p:scale>
        <a:sx n="33" d="100"/>
        <a:sy n="33" d="100"/>
      </p:scale>
      <p:origin x="0" y="-3904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microsoft.com/office/2015/10/relationships/revisionInfo" Target="revisionInfo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ancesc Xavier Solsona Tehas" userId="1f95e2c3-a25c-4efc-a37b-de93ab79e53c" providerId="ADAL" clId="{C51773D9-DD29-5A84-A509-762D3F3EA38B}"/>
    <pc:docChg chg="undo custSel addSld delSld modSld">
      <pc:chgData name="Francesc Xavier Solsona Tehas" userId="1f95e2c3-a25c-4efc-a37b-de93ab79e53c" providerId="ADAL" clId="{C51773D9-DD29-5A84-A509-762D3F3EA38B}" dt="2026-02-16T11:34:06.366" v="1237" actId="2696"/>
      <pc:docMkLst>
        <pc:docMk/>
      </pc:docMkLst>
      <pc:sldChg chg="modSp mod">
        <pc:chgData name="Francesc Xavier Solsona Tehas" userId="1f95e2c3-a25c-4efc-a37b-de93ab79e53c" providerId="ADAL" clId="{C51773D9-DD29-5A84-A509-762D3F3EA38B}" dt="2026-02-14T10:46:14.809" v="1140" actId="14100"/>
        <pc:sldMkLst>
          <pc:docMk/>
          <pc:sldMk cId="0" sldId="256"/>
        </pc:sldMkLst>
        <pc:spChg chg="mod">
          <ac:chgData name="Francesc Xavier Solsona Tehas" userId="1f95e2c3-a25c-4efc-a37b-de93ab79e53c" providerId="ADAL" clId="{C51773D9-DD29-5A84-A509-762D3F3EA38B}" dt="2026-02-14T10:46:14.809" v="1140" actId="14100"/>
          <ac:spMkLst>
            <pc:docMk/>
            <pc:sldMk cId="0" sldId="256"/>
            <ac:spMk id="6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7:53:41.656" v="38" actId="20577"/>
        <pc:sldMkLst>
          <pc:docMk/>
          <pc:sldMk cId="0" sldId="260"/>
        </pc:sldMkLst>
        <pc:spChg chg="mod">
          <ac:chgData name="Francesc Xavier Solsona Tehas" userId="1f95e2c3-a25c-4efc-a37b-de93ab79e53c" providerId="ADAL" clId="{C51773D9-DD29-5A84-A509-762D3F3EA38B}" dt="2026-02-13T17:53:41.656" v="38" actId="20577"/>
          <ac:spMkLst>
            <pc:docMk/>
            <pc:sldMk cId="0" sldId="260"/>
            <ac:spMk id="9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7:56:15.957" v="93" actId="20577"/>
        <pc:sldMkLst>
          <pc:docMk/>
          <pc:sldMk cId="0" sldId="265"/>
        </pc:sldMkLst>
        <pc:spChg chg="mod">
          <ac:chgData name="Francesc Xavier Solsona Tehas" userId="1f95e2c3-a25c-4efc-a37b-de93ab79e53c" providerId="ADAL" clId="{C51773D9-DD29-5A84-A509-762D3F3EA38B}" dt="2026-02-13T17:56:15.957" v="93" actId="20577"/>
          <ac:spMkLst>
            <pc:docMk/>
            <pc:sldMk cId="0" sldId="265"/>
            <ac:spMk id="2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26:14.011" v="169" actId="255"/>
        <pc:sldMkLst>
          <pc:docMk/>
          <pc:sldMk cId="0" sldId="272"/>
        </pc:sldMkLst>
        <pc:spChg chg="mod">
          <ac:chgData name="Francesc Xavier Solsona Tehas" userId="1f95e2c3-a25c-4efc-a37b-de93ab79e53c" providerId="ADAL" clId="{C51773D9-DD29-5A84-A509-762D3F3EA38B}" dt="2026-02-13T18:26:14.011" v="169" actId="255"/>
          <ac:spMkLst>
            <pc:docMk/>
            <pc:sldMk cId="0" sldId="272"/>
            <ac:spMk id="4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28:19.707" v="187" actId="20577"/>
        <pc:sldMkLst>
          <pc:docMk/>
          <pc:sldMk cId="0" sldId="281"/>
        </pc:sldMkLst>
        <pc:spChg chg="mod">
          <ac:chgData name="Francesc Xavier Solsona Tehas" userId="1f95e2c3-a25c-4efc-a37b-de93ab79e53c" providerId="ADAL" clId="{C51773D9-DD29-5A84-A509-762D3F3EA38B}" dt="2026-02-13T18:28:19.707" v="187" actId="20577"/>
          <ac:spMkLst>
            <pc:docMk/>
            <pc:sldMk cId="0" sldId="281"/>
            <ac:spMk id="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6T11:20:16.953" v="1163" actId="20577"/>
        <pc:sldMkLst>
          <pc:docMk/>
          <pc:sldMk cId="0" sldId="289"/>
        </pc:sldMkLst>
        <pc:spChg chg="mod">
          <ac:chgData name="Francesc Xavier Solsona Tehas" userId="1f95e2c3-a25c-4efc-a37b-de93ab79e53c" providerId="ADAL" clId="{C51773D9-DD29-5A84-A509-762D3F3EA38B}" dt="2026-02-16T11:20:16.953" v="1163" actId="20577"/>
          <ac:spMkLst>
            <pc:docMk/>
            <pc:sldMk cId="0" sldId="289"/>
            <ac:spMk id="6" creationId="{00000000-0000-0000-0000-000000000000}"/>
          </ac:spMkLst>
        </pc:spChg>
      </pc:sldChg>
      <pc:sldChg chg="addSp delSp mod modNotesTx">
        <pc:chgData name="Francesc Xavier Solsona Tehas" userId="1f95e2c3-a25c-4efc-a37b-de93ab79e53c" providerId="ADAL" clId="{C51773D9-DD29-5A84-A509-762D3F3EA38B}" dt="2026-02-16T11:24:17.418" v="1199" actId="478"/>
        <pc:sldMkLst>
          <pc:docMk/>
          <pc:sldMk cId="0" sldId="306"/>
        </pc:sldMkLst>
        <pc:spChg chg="add del">
          <ac:chgData name="Francesc Xavier Solsona Tehas" userId="1f95e2c3-a25c-4efc-a37b-de93ab79e53c" providerId="ADAL" clId="{C51773D9-DD29-5A84-A509-762D3F3EA38B}" dt="2026-02-16T11:24:17.418" v="1199" actId="478"/>
          <ac:spMkLst>
            <pc:docMk/>
            <pc:sldMk cId="0" sldId="306"/>
            <ac:spMk id="4" creationId="{00000000-0000-0000-0000-000000000000}"/>
          </ac:spMkLst>
        </pc:spChg>
      </pc:sldChg>
      <pc:sldChg chg="modSp mod modNotesTx">
        <pc:chgData name="Francesc Xavier Solsona Tehas" userId="1f95e2c3-a25c-4efc-a37b-de93ab79e53c" providerId="ADAL" clId="{C51773D9-DD29-5A84-A509-762D3F3EA38B}" dt="2026-02-16T11:31:37.708" v="1226" actId="20577"/>
        <pc:sldMkLst>
          <pc:docMk/>
          <pc:sldMk cId="0" sldId="333"/>
        </pc:sldMkLst>
        <pc:spChg chg="mod">
          <ac:chgData name="Francesc Xavier Solsona Tehas" userId="1f95e2c3-a25c-4efc-a37b-de93ab79e53c" providerId="ADAL" clId="{C51773D9-DD29-5A84-A509-762D3F3EA38B}" dt="2026-02-16T11:30:41.892" v="1223" actId="20577"/>
          <ac:spMkLst>
            <pc:docMk/>
            <pc:sldMk cId="0" sldId="333"/>
            <ac:spMk id="3" creationId="{00000000-0000-0000-0000-000000000000}"/>
          </ac:spMkLst>
        </pc:spChg>
      </pc:sldChg>
      <pc:sldChg chg="delSp modSp mod">
        <pc:chgData name="Francesc Xavier Solsona Tehas" userId="1f95e2c3-a25c-4efc-a37b-de93ab79e53c" providerId="ADAL" clId="{C51773D9-DD29-5A84-A509-762D3F3EA38B}" dt="2026-02-16T11:33:33.723" v="1236" actId="14100"/>
        <pc:sldMkLst>
          <pc:docMk/>
          <pc:sldMk cId="0" sldId="351"/>
        </pc:sldMkLst>
        <pc:spChg chg="mod">
          <ac:chgData name="Francesc Xavier Solsona Tehas" userId="1f95e2c3-a25c-4efc-a37b-de93ab79e53c" providerId="ADAL" clId="{C51773D9-DD29-5A84-A509-762D3F3EA38B}" dt="2026-02-16T11:33:01.986" v="1228" actId="1076"/>
          <ac:spMkLst>
            <pc:docMk/>
            <pc:sldMk cId="0" sldId="351"/>
            <ac:spMk id="3" creationId="{00000000-0000-0000-0000-000000000000}"/>
          </ac:spMkLst>
        </pc:spChg>
        <pc:spChg chg="mod">
          <ac:chgData name="Francesc Xavier Solsona Tehas" userId="1f95e2c3-a25c-4efc-a37b-de93ab79e53c" providerId="ADAL" clId="{C51773D9-DD29-5A84-A509-762D3F3EA38B}" dt="2026-02-16T11:33:33.723" v="1236" actId="14100"/>
          <ac:spMkLst>
            <pc:docMk/>
            <pc:sldMk cId="0" sldId="351"/>
            <ac:spMk id="4" creationId="{00000000-0000-0000-0000-000000000000}"/>
          </ac:spMkLst>
        </pc:spChg>
        <pc:spChg chg="mod">
          <ac:chgData name="Francesc Xavier Solsona Tehas" userId="1f95e2c3-a25c-4efc-a37b-de93ab79e53c" providerId="ADAL" clId="{C51773D9-DD29-5A84-A509-762D3F3EA38B}" dt="2026-02-16T11:33:27.218" v="1235" actId="20577"/>
          <ac:spMkLst>
            <pc:docMk/>
            <pc:sldMk cId="0" sldId="351"/>
            <ac:spMk id="5" creationId="{00000000-0000-0000-0000-000000000000}"/>
          </ac:spMkLst>
        </pc:spChg>
        <pc:spChg chg="del">
          <ac:chgData name="Francesc Xavier Solsona Tehas" userId="1f95e2c3-a25c-4efc-a37b-de93ab79e53c" providerId="ADAL" clId="{C51773D9-DD29-5A84-A509-762D3F3EA38B}" dt="2026-02-16T11:33:07.612" v="1230" actId="478"/>
          <ac:spMkLst>
            <pc:docMk/>
            <pc:sldMk cId="0" sldId="351"/>
            <ac:spMk id="6" creationId="{00000000-0000-0000-0000-000000000000}"/>
          </ac:spMkLst>
        </pc:spChg>
        <pc:spChg chg="del mod">
          <ac:chgData name="Francesc Xavier Solsona Tehas" userId="1f95e2c3-a25c-4efc-a37b-de93ab79e53c" providerId="ADAL" clId="{C51773D9-DD29-5A84-A509-762D3F3EA38B}" dt="2026-02-16T11:33:09.773" v="1231" actId="478"/>
          <ac:spMkLst>
            <pc:docMk/>
            <pc:sldMk cId="0" sldId="351"/>
            <ac:spMk id="7" creationId="{00000000-0000-0000-0000-000000000000}"/>
          </ac:spMkLst>
        </pc:spChg>
      </pc:sldChg>
      <pc:sldChg chg="add del">
        <pc:chgData name="Francesc Xavier Solsona Tehas" userId="1f95e2c3-a25c-4efc-a37b-de93ab79e53c" providerId="ADAL" clId="{C51773D9-DD29-5A84-A509-762D3F3EA38B}" dt="2026-02-16T11:34:06.366" v="1237" actId="2696"/>
        <pc:sldMkLst>
          <pc:docMk/>
          <pc:sldMk cId="0" sldId="352"/>
        </pc:sldMkLst>
      </pc:sldChg>
      <pc:sldChg chg="modSp mod">
        <pc:chgData name="Francesc Xavier Solsona Tehas" userId="1f95e2c3-a25c-4efc-a37b-de93ab79e53c" providerId="ADAL" clId="{C51773D9-DD29-5A84-A509-762D3F3EA38B}" dt="2026-02-13T19:00:33.578" v="381" actId="20577"/>
        <pc:sldMkLst>
          <pc:docMk/>
          <pc:sldMk cId="0" sldId="376"/>
        </pc:sldMkLst>
        <pc:spChg chg="mod">
          <ac:chgData name="Francesc Xavier Solsona Tehas" userId="1f95e2c3-a25c-4efc-a37b-de93ab79e53c" providerId="ADAL" clId="{C51773D9-DD29-5A84-A509-762D3F3EA38B}" dt="2026-02-13T19:00:33.578" v="381" actId="20577"/>
          <ac:spMkLst>
            <pc:docMk/>
            <pc:sldMk cId="0" sldId="376"/>
            <ac:spMk id="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40:44.509" v="276" actId="20577"/>
        <pc:sldMkLst>
          <pc:docMk/>
          <pc:sldMk cId="0" sldId="387"/>
        </pc:sldMkLst>
        <pc:spChg chg="mod">
          <ac:chgData name="Francesc Xavier Solsona Tehas" userId="1f95e2c3-a25c-4efc-a37b-de93ab79e53c" providerId="ADAL" clId="{C51773D9-DD29-5A84-A509-762D3F3EA38B}" dt="2026-02-13T18:40:44.509" v="276" actId="20577"/>
          <ac:spMkLst>
            <pc:docMk/>
            <pc:sldMk cId="0" sldId="387"/>
            <ac:spMk id="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56:39.417" v="374" actId="5793"/>
        <pc:sldMkLst>
          <pc:docMk/>
          <pc:sldMk cId="0" sldId="405"/>
        </pc:sldMkLst>
        <pc:spChg chg="mod">
          <ac:chgData name="Francesc Xavier Solsona Tehas" userId="1f95e2c3-a25c-4efc-a37b-de93ab79e53c" providerId="ADAL" clId="{C51773D9-DD29-5A84-A509-762D3F3EA38B}" dt="2026-02-13T18:56:39.417" v="374" actId="5793"/>
          <ac:spMkLst>
            <pc:docMk/>
            <pc:sldMk cId="0" sldId="405"/>
            <ac:spMk id="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54:45.034" v="346" actId="1076"/>
        <pc:sldMkLst>
          <pc:docMk/>
          <pc:sldMk cId="0" sldId="413"/>
        </pc:sldMkLst>
        <pc:spChg chg="mod">
          <ac:chgData name="Francesc Xavier Solsona Tehas" userId="1f95e2c3-a25c-4efc-a37b-de93ab79e53c" providerId="ADAL" clId="{C51773D9-DD29-5A84-A509-762D3F3EA38B}" dt="2026-02-13T18:54:45.034" v="346" actId="1076"/>
          <ac:spMkLst>
            <pc:docMk/>
            <pc:sldMk cId="0" sldId="413"/>
            <ac:spMk id="4" creationId="{00000000-0000-0000-0000-000000000000}"/>
          </ac:spMkLst>
        </pc:spChg>
        <pc:spChg chg="mod">
          <ac:chgData name="Francesc Xavier Solsona Tehas" userId="1f95e2c3-a25c-4efc-a37b-de93ab79e53c" providerId="ADAL" clId="{C51773D9-DD29-5A84-A509-762D3F3EA38B}" dt="2026-02-13T18:54:21.868" v="332" actId="20577"/>
          <ac:spMkLst>
            <pc:docMk/>
            <pc:sldMk cId="0" sldId="413"/>
            <ac:spMk id="5" creationId="{00000000-0000-0000-0000-000000000000}"/>
          </ac:spMkLst>
        </pc:spChg>
      </pc:sldChg>
      <pc:sldChg chg="addSp delSp modSp add mod">
        <pc:chgData name="Francesc Xavier Solsona Tehas" userId="1f95e2c3-a25c-4efc-a37b-de93ab79e53c" providerId="ADAL" clId="{C51773D9-DD29-5A84-A509-762D3F3EA38B}" dt="2026-02-13T19:24:34.837" v="1116" actId="1035"/>
        <pc:sldMkLst>
          <pc:docMk/>
          <pc:sldMk cId="2027014884" sldId="423"/>
        </pc:sldMkLst>
        <pc:spChg chg="add mod">
          <ac:chgData name="Francesc Xavier Solsona Tehas" userId="1f95e2c3-a25c-4efc-a37b-de93ab79e53c" providerId="ADAL" clId="{C51773D9-DD29-5A84-A509-762D3F3EA38B}" dt="2026-02-13T19:24:34.837" v="1116" actId="1035"/>
          <ac:spMkLst>
            <pc:docMk/>
            <pc:sldMk cId="2027014884" sldId="423"/>
            <ac:spMk id="10" creationId="{D9996C46-94A3-3ED9-5DC9-7721B600A142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265488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25BBCA-A755-494C-A608-EE676ACA215F}" type="datetimeFigureOut">
              <a:rPr lang="es-ES" smtClean="0"/>
              <a:t>15/4/26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1911350" y="406400"/>
            <a:ext cx="1943100" cy="10937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576263" y="1562100"/>
            <a:ext cx="4613275" cy="12779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265488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1CD6B7A-CA3A-4846-96EB-222948338FB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847254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176669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725698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237932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333349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833681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2701351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940650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978124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129399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1816867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err="1">
                <a:solidFill>
                  <a:srgbClr val="0070C0"/>
                </a:solidFill>
              </a:rPr>
              <a:t>Runtime</a:t>
            </a:r>
            <a:r>
              <a:rPr lang="es-ES"/>
              <a:t>: </a:t>
            </a:r>
            <a:r>
              <a:rPr lang="es-ES" err="1"/>
              <a:t>environtment</a:t>
            </a:r>
            <a:r>
              <a:rPr lang="es-ES"/>
              <a:t> </a:t>
            </a:r>
            <a:r>
              <a:rPr lang="es-ES" err="1"/>
              <a:t>of</a:t>
            </a:r>
            <a:r>
              <a:rPr lang="es-ES"/>
              <a:t> </a:t>
            </a:r>
            <a:r>
              <a:rPr lang="es-ES" err="1"/>
              <a:t>the</a:t>
            </a:r>
            <a:r>
              <a:rPr lang="es-ES"/>
              <a:t> apps: </a:t>
            </a:r>
            <a:r>
              <a:rPr lang="en-GB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Java Runtime Environment (JRE) .NET runtime Python interpreters Application frameworks (Node.js, Ruby, etc.)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5171081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7269886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4538812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8010754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>
                <a:solidFill>
                  <a:srgbClr val="EB811B"/>
                </a:solidFill>
                <a:latin typeface="Arial"/>
                <a:cs typeface="Arial"/>
              </a:rPr>
              <a:t>CAGR: </a:t>
            </a:r>
            <a:r>
              <a:rPr lang="es-E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Compound</a:t>
            </a:r>
            <a:r>
              <a:rPr lang="es-E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Annual</a:t>
            </a:r>
            <a:r>
              <a:rPr lang="es-E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Growth</a:t>
            </a:r>
            <a:r>
              <a:rPr lang="es-E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Rate</a:t>
            </a:r>
            <a:endParaRPr lang="es-ES" sz="1200" b="0" i="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5859761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4422703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7668154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6144967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1739437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2216094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3609721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485242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4851617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2220013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2033179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7314169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7225000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8068635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6836312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2229716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7274628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4524820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6066698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9318129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4536417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49100765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8233432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7243999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14715722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ES"/>
              <a:t>PaaS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1108290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41851922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18617370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7192543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002270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8526" y="59834"/>
            <a:ext cx="3515360" cy="17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347294" y="1824239"/>
            <a:ext cx="1904364" cy="37718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4/15/26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4/15/26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288290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2969387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4/15/26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4/15/26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4/15/26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8526" y="59834"/>
            <a:ext cx="3766820" cy="17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227304" y="630854"/>
            <a:ext cx="5208270" cy="21113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1960372" y="3017710"/>
            <a:ext cx="1845056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288290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4/15/26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4151376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rancesc.solsona@udl.cat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francescsolsonatehas.github.io/HPDCB/session1-2.html" TargetMode="Externa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forms.office.com/e/ZTY3MEiPJb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" Target="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slide" Target="slide5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slide" Target="slide21.xml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slide" Target="slide27.xm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ignup" TargetMode="Externa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francescsolsonatehas.github.io/HPDCB/hol1.html" TargetMode="External"/><Relationship Id="rId4" Type="http://schemas.openxmlformats.org/officeDocument/2006/relationships/hyperlink" Target="https://pages.github.com/" TargetMode="Externa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slide" Target="slide38.xm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slide" Target="slide53.xm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slide" Target="slide53.xm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slide" Target="slide44.xml"/><Relationship Id="rId1" Type="http://schemas.openxmlformats.org/officeDocument/2006/relationships/slideLayout" Target="../slideLayouts/slideLayout5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slide" Target="slide46.xml"/><Relationship Id="rId1" Type="http://schemas.openxmlformats.org/officeDocument/2006/relationships/slideLayout" Target="../slideLayouts/slideLayout5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francescsolsonatehas.github.io/HPDCB/hol1.html" TargetMode="External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5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5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5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16783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347294" y="708025"/>
            <a:ext cx="379984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40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Distributed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Big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endParaRPr lang="en-US" sz="11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47294" y="987425"/>
            <a:ext cx="3145206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noProof="1">
                <a:solidFill>
                  <a:srgbClr val="22373A"/>
                </a:solidFill>
                <a:latin typeface="Arial"/>
                <a:cs typeface="Arial"/>
              </a:rPr>
              <a:t>Unit</a:t>
            </a:r>
            <a:r>
              <a:rPr lang="en-US" sz="10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noProof="1">
                <a:solidFill>
                  <a:srgbClr val="22373A"/>
                </a:solidFill>
                <a:latin typeface="Arial"/>
                <a:cs typeface="Arial"/>
              </a:rPr>
              <a:t>3:</a:t>
            </a:r>
            <a:r>
              <a:rPr lang="en-US" sz="10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noProof="1"/>
              <a:t>Cloud Systems and Big Data Management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359994" y="1599698"/>
            <a:ext cx="5040630" cy="5080"/>
          </a:xfrm>
          <a:custGeom>
            <a:avLst/>
            <a:gdLst/>
            <a:ahLst/>
            <a:cxnLst/>
            <a:rect l="l" t="t" r="r" b="b"/>
            <a:pathLst>
              <a:path w="5040630" h="5080">
                <a:moveTo>
                  <a:pt x="0" y="5060"/>
                </a:moveTo>
                <a:lnTo>
                  <a:pt x="0" y="0"/>
                </a:lnTo>
                <a:lnTo>
                  <a:pt x="5040064" y="0"/>
                </a:lnTo>
                <a:lnTo>
                  <a:pt x="5040064" y="5060"/>
                </a:lnTo>
                <a:lnTo>
                  <a:pt x="0" y="5060"/>
                </a:lnTo>
                <a:close/>
              </a:path>
            </a:pathLst>
          </a:custGeom>
          <a:solidFill>
            <a:srgbClr val="EB811B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6" name="object 6"/>
          <p:cNvSpPr txBox="1">
            <a:spLocks noGrp="1"/>
          </p:cNvSpPr>
          <p:nvPr>
            <p:ph type="subTitle" idx="4"/>
          </p:nvPr>
        </p:nvSpPr>
        <p:spPr>
          <a:xfrm>
            <a:off x="347294" y="1828356"/>
            <a:ext cx="2459406" cy="3763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spc="-10" noProof="1"/>
              <a:t>Francesc Solsona Tehas </a:t>
            </a:r>
            <a:r>
              <a:rPr lang="en-US" sz="800" spc="-20" noProof="1">
                <a:hlinkClick r:id="rId3"/>
              </a:rPr>
              <a:t>francesc.solsona@udl.cat</a:t>
            </a:r>
            <a:endParaRPr lang="en-US" sz="800" noProof="1"/>
          </a:p>
          <a:p>
            <a:pPr>
              <a:lnSpc>
                <a:spcPct val="100000"/>
              </a:lnSpc>
              <a:spcBef>
                <a:spcPts val="170"/>
              </a:spcBef>
            </a:pPr>
            <a:endParaRPr lang="en-US" sz="800" noProof="1"/>
          </a:p>
          <a:p>
            <a:pPr marL="12700">
              <a:lnSpc>
                <a:spcPct val="100000"/>
              </a:lnSpc>
            </a:pPr>
            <a:r>
              <a:rPr lang="en-US" sz="600" noProof="1"/>
              <a:t>Universitat</a:t>
            </a:r>
            <a:r>
              <a:rPr lang="en-US" sz="600" spc="20" noProof="1"/>
              <a:t> </a:t>
            </a:r>
            <a:r>
              <a:rPr lang="en-US" sz="600" noProof="1"/>
              <a:t>Rovira</a:t>
            </a:r>
            <a:r>
              <a:rPr lang="en-US" sz="600" spc="25" noProof="1"/>
              <a:t> </a:t>
            </a:r>
            <a:r>
              <a:rPr lang="en-US" sz="600" noProof="1"/>
              <a:t>i</a:t>
            </a:r>
            <a:r>
              <a:rPr lang="en-US" sz="600" spc="25" noProof="1"/>
              <a:t> </a:t>
            </a:r>
            <a:r>
              <a:rPr lang="en-US" sz="600" noProof="1"/>
              <a:t>Virgili</a:t>
            </a:r>
            <a:r>
              <a:rPr lang="en-US" sz="600" spc="25" noProof="1"/>
              <a:t> </a:t>
            </a:r>
            <a:r>
              <a:rPr lang="en-US" sz="600" noProof="1"/>
              <a:t>and</a:t>
            </a:r>
            <a:r>
              <a:rPr lang="en-US" sz="600" spc="25" noProof="1"/>
              <a:t> </a:t>
            </a:r>
            <a:r>
              <a:rPr lang="en-US" sz="600" noProof="1"/>
              <a:t>Universitat</a:t>
            </a:r>
            <a:r>
              <a:rPr lang="en-US" sz="600" spc="20" noProof="1"/>
              <a:t> </a:t>
            </a:r>
            <a:r>
              <a:rPr lang="en-US" sz="600" noProof="1"/>
              <a:t>de</a:t>
            </a:r>
            <a:r>
              <a:rPr lang="en-US" sz="600" spc="25" noProof="1"/>
              <a:t> </a:t>
            </a:r>
            <a:r>
              <a:rPr lang="en-US" sz="600" spc="-10" noProof="1"/>
              <a:t>Lleida</a:t>
            </a:r>
            <a:endParaRPr lang="en-US" sz="600" noProof="1"/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118110" cy="5080"/>
            </a:xfrm>
            <a:custGeom>
              <a:avLst/>
              <a:gdLst/>
              <a:ahLst/>
              <a:cxnLst/>
              <a:rect l="l" t="t" r="r" b="b"/>
              <a:pathLst>
                <a:path w="118110" h="5080">
                  <a:moveTo>
                    <a:pt x="0" y="5060"/>
                  </a:moveTo>
                  <a:lnTo>
                    <a:pt x="0" y="0"/>
                  </a:lnTo>
                  <a:lnTo>
                    <a:pt x="117511" y="0"/>
                  </a:lnTo>
                  <a:lnTo>
                    <a:pt x="11751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1" name="object 4">
            <a:extLst>
              <a:ext uri="{FF2B5EF4-FFF2-40B4-BE49-F238E27FC236}">
                <a16:creationId xmlns:a16="http://schemas.microsoft.com/office/drawing/2014/main" id="{6B6125F0-FF73-7599-69F5-F686AB982E26}"/>
              </a:ext>
            </a:extLst>
          </p:cNvPr>
          <p:cNvSpPr txBox="1"/>
          <p:nvPr/>
        </p:nvSpPr>
        <p:spPr>
          <a:xfrm>
            <a:off x="368300" y="1303954"/>
            <a:ext cx="365760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noProof="1">
                <a:hlinkClick r:id="rId4"/>
              </a:rPr>
              <a:t>Session 1 &amp; 2 - Introduction to Cloud Computing </a:t>
            </a:r>
            <a:r>
              <a:rPr lang="en-US" sz="1000" u="sng" noProof="1">
                <a:hlinkClick r:id="rId4"/>
              </a:rPr>
              <a:t>+ Github Pages</a:t>
            </a:r>
            <a:r>
              <a:rPr lang="en-US" sz="1000" noProof="1">
                <a:hlinkClick r:id="rId4"/>
              </a:rPr>
              <a:t> </a:t>
            </a:r>
            <a:endParaRPr lang="en-US" sz="1000" noProof="1">
              <a:latin typeface="Arial"/>
              <a:cs typeface="Arial"/>
            </a:endParaRPr>
          </a:p>
        </p:txBody>
      </p:sp>
    </p:spTree>
  </p:cSld>
  <p:clrMapOvr>
    <a:masterClrMapping/>
  </p:clrMapOvr>
  <p:transition>
    <p:cut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20" noProof="1"/>
              <a:t> </a:t>
            </a:r>
            <a:r>
              <a:rPr lang="en-US" spc="-25" noProof="1"/>
              <a:t>is</a:t>
            </a:r>
            <a:r>
              <a:rPr lang="en-US" spc="20" noProof="1"/>
              <a:t> </a:t>
            </a:r>
            <a:r>
              <a:rPr lang="en-US" spc="-10" noProof="1"/>
              <a:t>this</a:t>
            </a:r>
            <a:r>
              <a:rPr lang="en-US" spc="25" noProof="1"/>
              <a:t> </a:t>
            </a:r>
            <a:r>
              <a:rPr lang="en-US" spc="-50" noProof="1"/>
              <a:t>course</a:t>
            </a:r>
            <a:r>
              <a:rPr lang="en-US" spc="20" noProof="1"/>
              <a:t> </a:t>
            </a:r>
            <a:r>
              <a:rPr lang="en-US" spc="-20" noProof="1"/>
              <a:t>about?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316291" y="708515"/>
            <a:ext cx="312801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Distributed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for Big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947115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High</a:t>
            </a:r>
            <a:r>
              <a:rPr lang="en-US" sz="900" b="1" spc="-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Performance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111542"/>
            <a:ext cx="5039995" cy="33782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Refers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supercomputers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parallel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processing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techniques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solve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complex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computational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problems.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59994" y="1547761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Distributed</a:t>
            </a:r>
            <a:r>
              <a:rPr lang="en-US" sz="900" b="1" spc="-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Computing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59994" y="1712188"/>
            <a:ext cx="5039995" cy="33782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254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2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concept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means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multiple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computers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interconnected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communicate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each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achieve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goal.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59994" y="2148535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Big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59994" y="2312962"/>
            <a:ext cx="5039995" cy="280846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3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leads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complex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diﬀicult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process by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common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 resources.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235585" cy="5080"/>
            </a:xfrm>
            <a:custGeom>
              <a:avLst/>
              <a:gdLst/>
              <a:ahLst/>
              <a:cxnLst/>
              <a:rect l="l" t="t" r="r" b="b"/>
              <a:pathLst>
                <a:path w="235585" h="5080">
                  <a:moveTo>
                    <a:pt x="0" y="5060"/>
                  </a:moveTo>
                  <a:lnTo>
                    <a:pt x="0" y="0"/>
                  </a:lnTo>
                  <a:lnTo>
                    <a:pt x="235110" y="0"/>
                  </a:lnTo>
                  <a:lnTo>
                    <a:pt x="23511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5964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Pre-</a:t>
            </a:r>
            <a:r>
              <a:rPr lang="en-US" spc="-20" noProof="1"/>
              <a:t>Course</a:t>
            </a:r>
            <a:r>
              <a:rPr lang="en-US" noProof="1"/>
              <a:t> </a:t>
            </a:r>
            <a:r>
              <a:rPr lang="en-US" spc="-30" noProof="1"/>
              <a:t>Survey:</a:t>
            </a:r>
            <a:r>
              <a:rPr lang="en-US" spc="100" noProof="1"/>
              <a:t> </a:t>
            </a:r>
            <a:r>
              <a:rPr lang="en-US" noProof="1"/>
              <a:t>Who</a:t>
            </a:r>
            <a:r>
              <a:rPr lang="en-US" spc="5" noProof="1"/>
              <a:t> </a:t>
            </a:r>
            <a:r>
              <a:rPr lang="en-US" noProof="1"/>
              <a:t>are</a:t>
            </a:r>
            <a:r>
              <a:rPr lang="en-US" spc="5" noProof="1"/>
              <a:t> </a:t>
            </a:r>
            <a:r>
              <a:rPr lang="en-US" spc="-50" noProof="1"/>
              <a:t>you?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1308789"/>
            <a:ext cx="3763645" cy="742950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Char char="•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familiar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with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technology?</a:t>
            </a:r>
            <a:endParaRPr lang="en-US" sz="900" noProof="1">
              <a:latin typeface="Arial"/>
              <a:cs typeface="Arial"/>
            </a:endParaRPr>
          </a:p>
          <a:p>
            <a:pPr marL="154305" indent="-141605">
              <a:lnSpc>
                <a:spcPct val="100000"/>
              </a:lnSpc>
              <a:spcBef>
                <a:spcPts val="175"/>
              </a:spcBef>
              <a:buChar char="•"/>
              <a:tabLst>
                <a:tab pos="15430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What 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background,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why did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enrol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Master’s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degree?</a:t>
            </a:r>
            <a:endParaRPr lang="en-US" sz="900" noProof="1">
              <a:latin typeface="Arial"/>
              <a:cs typeface="Arial"/>
            </a:endParaRPr>
          </a:p>
          <a:p>
            <a:pPr marL="154305" indent="-141605">
              <a:lnSpc>
                <a:spcPct val="100000"/>
              </a:lnSpc>
              <a:spcBef>
                <a:spcPts val="175"/>
              </a:spcBef>
              <a:buChar char="•"/>
              <a:tabLst>
                <a:tab pos="15430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does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mean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you?</a:t>
            </a:r>
            <a:endParaRPr lang="en-US" sz="900" noProof="1">
              <a:latin typeface="Arial"/>
              <a:cs typeface="Arial"/>
            </a:endParaRPr>
          </a:p>
          <a:p>
            <a:pPr marL="1621155">
              <a:lnSpc>
                <a:spcPct val="100000"/>
              </a:lnSpc>
              <a:spcBef>
                <a:spcPts val="800"/>
              </a:spcBef>
            </a:pP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Pre-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Course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Survey: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Who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you?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70534" cy="5080"/>
            </a:xfrm>
            <a:custGeom>
              <a:avLst/>
              <a:gdLst/>
              <a:ahLst/>
              <a:cxnLst/>
              <a:rect l="l" t="t" r="r" b="b"/>
              <a:pathLst>
                <a:path w="470534" h="5080">
                  <a:moveTo>
                    <a:pt x="0" y="5060"/>
                  </a:moveTo>
                  <a:lnTo>
                    <a:pt x="0" y="0"/>
                  </a:lnTo>
                  <a:lnTo>
                    <a:pt x="470220" y="0"/>
                  </a:lnTo>
                  <a:lnTo>
                    <a:pt x="47022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4341"/>
            <a:ext cx="80581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2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Introduction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6231"/>
            <a:ext cx="2505710" cy="5080"/>
            <a:chOff x="1627403" y="1646231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6231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6231"/>
              <a:ext cx="205104" cy="5080"/>
            </a:xfrm>
            <a:custGeom>
              <a:avLst/>
              <a:gdLst/>
              <a:ahLst/>
              <a:cxnLst/>
              <a:rect l="l" t="t" r="r" b="b"/>
              <a:pathLst>
                <a:path w="205105" h="5080">
                  <a:moveTo>
                    <a:pt x="0" y="5060"/>
                  </a:moveTo>
                  <a:lnTo>
                    <a:pt x="0" y="0"/>
                  </a:lnTo>
                  <a:lnTo>
                    <a:pt x="204513" y="0"/>
                  </a:lnTo>
                  <a:lnTo>
                    <a:pt x="20451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40" noProof="1"/>
              <a:t> </a:t>
            </a:r>
            <a:r>
              <a:rPr lang="en-US" spc="-25" noProof="1"/>
              <a:t>is</a:t>
            </a:r>
            <a:r>
              <a:rPr lang="en-US" spc="40" noProof="1"/>
              <a:t> </a:t>
            </a:r>
            <a:r>
              <a:rPr lang="en-US" spc="-30" noProof="1"/>
              <a:t>Cloud</a:t>
            </a:r>
            <a:r>
              <a:rPr lang="en-US" spc="40" noProof="1"/>
              <a:t> </a:t>
            </a:r>
            <a:r>
              <a:rPr lang="en-US" spc="-35" noProof="1"/>
              <a:t>Computing?</a:t>
            </a:r>
          </a:p>
        </p:txBody>
      </p:sp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40004" y="485821"/>
            <a:ext cx="2520032" cy="1846710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577710" y="2466516"/>
            <a:ext cx="184467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1:</a:t>
            </a:r>
            <a:r>
              <a:rPr lang="en-US" sz="800" b="1" spc="1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Overview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endParaRPr lang="en-US" sz="8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982747" y="457359"/>
            <a:ext cx="2550160" cy="249047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7145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Definition</a:t>
            </a:r>
            <a:endParaRPr lang="en-US" sz="900" noProof="1">
              <a:latin typeface="Arial"/>
              <a:cs typeface="Arial"/>
            </a:endParaRPr>
          </a:p>
          <a:p>
            <a:pPr marL="12700" marR="5080" indent="4445">
              <a:lnSpc>
                <a:spcPct val="116199"/>
              </a:lnSpc>
              <a:spcBef>
                <a:spcPts val="67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refers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on-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demand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delivery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including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servers,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storage,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databases,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 software,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analytics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more,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)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pay-per-use</a:t>
            </a:r>
            <a:r>
              <a:rPr lang="en-US" sz="900" b="1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pricing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Mell,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Grance,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et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al.</a:t>
            </a:r>
            <a:r>
              <a:rPr lang="en-US" sz="900" spc="145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2011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).</a:t>
            </a:r>
            <a:endParaRPr lang="en-US" sz="900" noProof="1">
              <a:latin typeface="Arial"/>
              <a:cs typeface="Arial"/>
            </a:endParaRPr>
          </a:p>
          <a:p>
            <a:pPr marL="17145">
              <a:lnSpc>
                <a:spcPct val="100000"/>
              </a:lnSpc>
              <a:spcBef>
                <a:spcPts val="85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Vision</a:t>
            </a:r>
            <a:endParaRPr lang="en-US" sz="900" noProof="1">
              <a:latin typeface="Arial"/>
              <a:cs typeface="Arial"/>
            </a:endParaRPr>
          </a:p>
          <a:p>
            <a:pPr marL="17145" marR="17145">
              <a:lnSpc>
                <a:spcPct val="116199"/>
              </a:lnSpc>
              <a:spcBef>
                <a:spcPts val="67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EB811B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EB811B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EB811B"/>
                </a:solidFill>
                <a:latin typeface="Arial"/>
                <a:cs typeface="Arial"/>
              </a:rPr>
              <a:t>these</a:t>
            </a:r>
            <a:r>
              <a:rPr lang="en-US" sz="900" spc="1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EB811B"/>
                </a:solidFill>
                <a:latin typeface="Arial"/>
                <a:cs typeface="Arial"/>
              </a:rPr>
              <a:t>services </a:t>
            </a:r>
            <a:r>
              <a:rPr lang="en-US" sz="900" spc="-10" noProof="1">
                <a:solidFill>
                  <a:srgbClr val="EB811B"/>
                </a:solidFill>
                <a:latin typeface="Arial"/>
                <a:cs typeface="Arial"/>
              </a:rPr>
              <a:t>remotely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 from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EB811B"/>
                </a:solidFill>
                <a:latin typeface="Arial"/>
                <a:cs typeface="Arial"/>
              </a:rPr>
              <a:t>any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location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with an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EB811B"/>
                </a:solidFill>
                <a:latin typeface="Arial"/>
                <a:cs typeface="Arial"/>
              </a:rPr>
              <a:t>internet </a:t>
            </a:r>
            <a:r>
              <a:rPr lang="en-US" sz="900" spc="-20" noProof="1">
                <a:solidFill>
                  <a:srgbClr val="EB811B"/>
                </a:solidFill>
                <a:latin typeface="Arial"/>
                <a:cs typeface="Arial"/>
              </a:rPr>
              <a:t>connection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Rather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owning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maintaining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own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infrastructure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,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anything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service provider.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88010" cy="5080"/>
            </a:xfrm>
            <a:custGeom>
              <a:avLst/>
              <a:gdLst/>
              <a:ahLst/>
              <a:cxnLst/>
              <a:rect l="l" t="t" r="r" b="b"/>
              <a:pathLst>
                <a:path w="588010" h="5080">
                  <a:moveTo>
                    <a:pt x="0" y="5060"/>
                  </a:moveTo>
                  <a:lnTo>
                    <a:pt x="0" y="0"/>
                  </a:lnTo>
                  <a:lnTo>
                    <a:pt x="587731" y="0"/>
                  </a:lnTo>
                  <a:lnTo>
                    <a:pt x="58773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20" noProof="1"/>
              <a:t> </a:t>
            </a:r>
            <a:r>
              <a:rPr lang="en-US" spc="-25" noProof="1"/>
              <a:t>is</a:t>
            </a:r>
            <a:r>
              <a:rPr lang="en-US" spc="25" noProof="1"/>
              <a:t> </a:t>
            </a:r>
            <a:r>
              <a:rPr lang="en-US" noProof="1"/>
              <a:t>the</a:t>
            </a:r>
            <a:r>
              <a:rPr lang="en-US" spc="25" noProof="1"/>
              <a:t> </a:t>
            </a:r>
            <a:r>
              <a:rPr lang="en-US" spc="-10" noProof="1"/>
              <a:t>idea</a:t>
            </a:r>
            <a:r>
              <a:rPr lang="en-US" spc="20" noProof="1"/>
              <a:t> </a:t>
            </a:r>
            <a:r>
              <a:rPr lang="en-US" spc="-30" noProof="1"/>
              <a:t>behind</a:t>
            </a:r>
            <a:r>
              <a:rPr lang="en-US" spc="25" noProof="1"/>
              <a:t> </a:t>
            </a:r>
            <a:r>
              <a:rPr lang="en-US" spc="-30" noProof="1"/>
              <a:t>Cloud</a:t>
            </a:r>
            <a:r>
              <a:rPr lang="en-US" spc="25" noProof="1"/>
              <a:t> </a:t>
            </a:r>
            <a:r>
              <a:rPr lang="en-US" spc="-30" noProof="1"/>
              <a:t>Computing?</a:t>
            </a:r>
          </a:p>
        </p:txBody>
      </p:sp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08063" y="700754"/>
            <a:ext cx="2015876" cy="2015876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body" idx="1"/>
          </p:nvPr>
        </p:nvSpPr>
        <p:spPr>
          <a:xfrm>
            <a:off x="227304" y="708025"/>
            <a:ext cx="5208270" cy="2250796"/>
          </a:xfrm>
          <a:prstGeom prst="rect">
            <a:avLst/>
          </a:prstGeom>
        </p:spPr>
        <p:txBody>
          <a:bodyPr vert="horz" wrap="square" lIns="0" tIns="66154" rIns="0" bIns="0" rtlCol="0">
            <a:spAutoFit/>
          </a:bodyPr>
          <a:lstStyle/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r>
              <a:rPr lang="en-US" b="1" spc="-25" noProof="1">
                <a:latin typeface="Arial"/>
                <a:cs typeface="Arial"/>
              </a:rPr>
              <a:t>Cloud</a:t>
            </a:r>
            <a:r>
              <a:rPr lang="en-US" b="1" spc="30" noProof="1">
                <a:latin typeface="Arial"/>
                <a:cs typeface="Arial"/>
              </a:rPr>
              <a:t> </a:t>
            </a:r>
            <a:r>
              <a:rPr lang="en-US" b="1" spc="-30" noProof="1">
                <a:latin typeface="Arial"/>
                <a:cs typeface="Arial"/>
              </a:rPr>
              <a:t>computing</a:t>
            </a:r>
            <a:r>
              <a:rPr lang="en-US" b="1" spc="15" noProof="1">
                <a:latin typeface="Arial"/>
                <a:cs typeface="Arial"/>
              </a:rPr>
              <a:t> </a:t>
            </a:r>
          </a:p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endParaRPr lang="en-US" b="1" spc="15" noProof="1">
              <a:latin typeface="Arial"/>
              <a:cs typeface="Arial"/>
            </a:endParaRPr>
          </a:p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r>
              <a:rPr lang="en-US" spc="-45" noProof="1"/>
              <a:t>Enables</a:t>
            </a:r>
            <a:r>
              <a:rPr lang="en-US" spc="15" noProof="1"/>
              <a:t> </a:t>
            </a:r>
            <a:r>
              <a:rPr lang="en-US" spc="-40" noProof="1"/>
              <a:t>companies</a:t>
            </a:r>
            <a:r>
              <a:rPr lang="en-US" spc="20" noProof="1"/>
              <a:t>/users </a:t>
            </a:r>
            <a:r>
              <a:rPr lang="en-US" noProof="1"/>
              <a:t>to</a:t>
            </a:r>
            <a:r>
              <a:rPr lang="en-US" spc="15" noProof="1"/>
              <a:t> </a:t>
            </a:r>
            <a:r>
              <a:rPr lang="en-US" spc="-45" noProof="1"/>
              <a:t>consume</a:t>
            </a:r>
            <a:r>
              <a:rPr lang="en-US" spc="15" noProof="1"/>
              <a:t> </a:t>
            </a:r>
            <a:r>
              <a:rPr lang="en-US" spc="-50" noProof="1"/>
              <a:t>a</a:t>
            </a:r>
            <a:r>
              <a:rPr lang="en-US" spc="-10" noProof="1"/>
              <a:t> compute</a:t>
            </a:r>
            <a:r>
              <a:rPr lang="en-US" spc="-5" noProof="1"/>
              <a:t> </a:t>
            </a:r>
            <a:r>
              <a:rPr lang="en-US" spc="-35" noProof="1"/>
              <a:t>resource,</a:t>
            </a:r>
            <a:r>
              <a:rPr lang="en-US" spc="-5" noProof="1"/>
              <a:t> </a:t>
            </a:r>
            <a:r>
              <a:rPr lang="en-US" spc="-30" noProof="1"/>
              <a:t>such</a:t>
            </a:r>
            <a:r>
              <a:rPr lang="en-US" noProof="1"/>
              <a:t> </a:t>
            </a:r>
            <a:r>
              <a:rPr lang="en-US" spc="-45" noProof="1"/>
              <a:t>as</a:t>
            </a:r>
            <a:r>
              <a:rPr lang="en-US" spc="-5" noProof="1"/>
              <a:t> </a:t>
            </a:r>
            <a:r>
              <a:rPr lang="en-US" noProof="1"/>
              <a:t>a virtual</a:t>
            </a:r>
            <a:r>
              <a:rPr lang="en-US" spc="-5" noProof="1"/>
              <a:t> </a:t>
            </a:r>
            <a:r>
              <a:rPr lang="en-US" spc="-25" noProof="1"/>
              <a:t>machine</a:t>
            </a:r>
            <a:r>
              <a:rPr lang="en-US" noProof="1"/>
              <a:t> </a:t>
            </a:r>
            <a:r>
              <a:rPr lang="en-US" spc="-10" noProof="1"/>
              <a:t>(VM), </a:t>
            </a:r>
            <a:r>
              <a:rPr lang="en-US" spc="-30" noProof="1"/>
              <a:t>storage,</a:t>
            </a:r>
            <a:r>
              <a:rPr lang="en-US" spc="30" noProof="1"/>
              <a:t> </a:t>
            </a:r>
            <a:r>
              <a:rPr lang="en-US" noProof="1"/>
              <a:t>or</a:t>
            </a:r>
            <a:r>
              <a:rPr lang="en-US" spc="35" noProof="1"/>
              <a:t> </a:t>
            </a:r>
            <a:r>
              <a:rPr lang="en-US" noProof="1"/>
              <a:t>an</a:t>
            </a:r>
            <a:r>
              <a:rPr lang="en-US" spc="35" noProof="1"/>
              <a:t> </a:t>
            </a:r>
            <a:r>
              <a:rPr lang="en-US" spc="-10" noProof="1"/>
              <a:t>application,</a:t>
            </a:r>
            <a:r>
              <a:rPr lang="en-US" spc="30" noProof="1"/>
              <a:t> </a:t>
            </a:r>
            <a:r>
              <a:rPr lang="en-US" spc="-45" noProof="1"/>
              <a:t>as</a:t>
            </a:r>
            <a:r>
              <a:rPr lang="en-US" spc="35" noProof="1"/>
              <a:t> </a:t>
            </a:r>
            <a:r>
              <a:rPr lang="en-US" noProof="1"/>
              <a:t>a</a:t>
            </a:r>
            <a:r>
              <a:rPr lang="en-US" spc="35" noProof="1"/>
              <a:t> </a:t>
            </a:r>
            <a:r>
              <a:rPr lang="en-US" noProof="1"/>
              <a:t>utility</a:t>
            </a:r>
          </a:p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r>
              <a:rPr lang="en-US" spc="35" noProof="1"/>
              <a:t>                        </a:t>
            </a:r>
            <a:r>
              <a:rPr lang="en-US" sz="4000" spc="315" noProof="1">
                <a:solidFill>
                  <a:srgbClr val="880B57"/>
                </a:solidFill>
                <a:latin typeface="Apple Symbols"/>
                <a:cs typeface="Apple Symbols"/>
              </a:rPr>
              <a:t>⇒</a:t>
            </a:r>
          </a:p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r>
              <a:rPr lang="en-US" noProof="1"/>
              <a:t>rather</a:t>
            </a:r>
            <a:r>
              <a:rPr lang="en-US" spc="5" noProof="1"/>
              <a:t> </a:t>
            </a:r>
            <a:r>
              <a:rPr lang="en-US" noProof="1"/>
              <a:t>than</a:t>
            </a:r>
            <a:r>
              <a:rPr lang="en-US" spc="5" noProof="1"/>
              <a:t> </a:t>
            </a:r>
            <a:r>
              <a:rPr lang="en-US" spc="-20" noProof="1"/>
              <a:t>having</a:t>
            </a:r>
            <a:r>
              <a:rPr lang="en-US" noProof="1"/>
              <a:t> to</a:t>
            </a:r>
            <a:r>
              <a:rPr lang="en-US" spc="5" noProof="1"/>
              <a:t> </a:t>
            </a:r>
            <a:r>
              <a:rPr lang="en-US" noProof="1"/>
              <a:t>build </a:t>
            </a:r>
            <a:r>
              <a:rPr lang="en-US" spc="-10" noProof="1"/>
              <a:t>and</a:t>
            </a:r>
            <a:r>
              <a:rPr lang="en-US" spc="5" noProof="1"/>
              <a:t> </a:t>
            </a:r>
            <a:r>
              <a:rPr lang="en-US" spc="-10" noProof="1"/>
              <a:t>maintain computing</a:t>
            </a:r>
            <a:r>
              <a:rPr lang="en-US" spc="10" noProof="1"/>
              <a:t> </a:t>
            </a:r>
            <a:r>
              <a:rPr lang="en-US" spc="-10" noProof="1"/>
              <a:t>infrastructures</a:t>
            </a:r>
            <a:r>
              <a:rPr lang="en-US" spc="10" noProof="1"/>
              <a:t> </a:t>
            </a:r>
            <a:r>
              <a:rPr lang="en-US" spc="-35" noProof="1"/>
              <a:t>in-</a:t>
            </a:r>
            <a:r>
              <a:rPr lang="en-US" spc="-10" noProof="1"/>
              <a:t>house.</a:t>
            </a:r>
          </a:p>
        </p:txBody>
      </p:sp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705485" cy="5080"/>
            </a:xfrm>
            <a:custGeom>
              <a:avLst/>
              <a:gdLst/>
              <a:ahLst/>
              <a:cxnLst/>
              <a:rect l="l" t="t" r="r" b="b"/>
              <a:pathLst>
                <a:path w="705485" h="5080">
                  <a:moveTo>
                    <a:pt x="0" y="5060"/>
                  </a:moveTo>
                  <a:lnTo>
                    <a:pt x="0" y="0"/>
                  </a:lnTo>
                  <a:lnTo>
                    <a:pt x="705331" y="0"/>
                  </a:lnTo>
                  <a:lnTo>
                    <a:pt x="70533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A5A41AFA-813C-EBA5-80B5-A99E0DBC3E13}"/>
              </a:ext>
            </a:extLst>
          </p:cNvPr>
          <p:cNvSpPr txBox="1"/>
          <p:nvPr/>
        </p:nvSpPr>
        <p:spPr>
          <a:xfrm>
            <a:off x="55841" y="110984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noProof="1"/>
          </a:p>
        </p:txBody>
      </p:sp>
    </p:spTree>
  </p:cSld>
  <p:clrMapOvr>
    <a:masterClrMapping/>
  </p:clrMapOvr>
  <p:transition>
    <p:cut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36461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Demystifying</a:t>
            </a:r>
            <a:r>
              <a:rPr lang="en-US" sz="1000" b="1" spc="6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6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cloud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9994" y="866188"/>
            <a:ext cx="5040019" cy="1420014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803107" y="2420174"/>
            <a:ext cx="215392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2:</a:t>
            </a:r>
            <a:r>
              <a:rPr lang="en-US" sz="800" b="1" spc="1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happens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watch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Netflix?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822960" cy="5080"/>
            </a:xfrm>
            <a:custGeom>
              <a:avLst/>
              <a:gdLst/>
              <a:ahLst/>
              <a:cxnLst/>
              <a:rect l="l" t="t" r="r" b="b"/>
              <a:pathLst>
                <a:path w="822960" h="5080">
                  <a:moveTo>
                    <a:pt x="0" y="5060"/>
                  </a:moveTo>
                  <a:lnTo>
                    <a:pt x="0" y="0"/>
                  </a:lnTo>
                  <a:lnTo>
                    <a:pt x="822842" y="0"/>
                  </a:lnTo>
                  <a:lnTo>
                    <a:pt x="82284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36461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Demystifying</a:t>
            </a:r>
            <a:r>
              <a:rPr lang="en-US" sz="1000" b="1" spc="6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6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cloud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25309" y="351408"/>
            <a:ext cx="4509379" cy="2548941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793328" y="3034320"/>
            <a:ext cx="217360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3:</a:t>
            </a:r>
            <a:r>
              <a:rPr lang="en-US" sz="800" b="1" spc="1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happens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send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email?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941069" cy="5080"/>
            </a:xfrm>
            <a:custGeom>
              <a:avLst/>
              <a:gdLst/>
              <a:ahLst/>
              <a:cxnLst/>
              <a:rect l="l" t="t" r="r" b="b"/>
              <a:pathLst>
                <a:path w="941069" h="5080">
                  <a:moveTo>
                    <a:pt x="0" y="5060"/>
                  </a:moveTo>
                  <a:lnTo>
                    <a:pt x="0" y="0"/>
                  </a:lnTo>
                  <a:lnTo>
                    <a:pt x="940441" y="0"/>
                  </a:lnTo>
                  <a:lnTo>
                    <a:pt x="94044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Which</a:t>
            </a:r>
            <a:r>
              <a:rPr lang="en-US" spc="5" noProof="1"/>
              <a:t> </a:t>
            </a:r>
            <a:r>
              <a:rPr lang="en-US" spc="-25" noProof="1"/>
              <a:t>is</a:t>
            </a:r>
            <a:r>
              <a:rPr lang="en-US" spc="5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35" noProof="1"/>
              <a:t>cloud</a:t>
            </a:r>
            <a:r>
              <a:rPr lang="en-US" spc="5" noProof="1"/>
              <a:t> </a:t>
            </a:r>
            <a:r>
              <a:rPr lang="en-US" spc="-35" noProof="1"/>
              <a:t>computing</a:t>
            </a:r>
            <a:r>
              <a:rPr lang="en-US" spc="5" noProof="1"/>
              <a:t> </a:t>
            </a:r>
            <a:r>
              <a:rPr lang="en-US" spc="-30" noProof="1"/>
              <a:t>model?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950230"/>
            <a:ext cx="5066030" cy="18165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45720">
              <a:lnSpc>
                <a:spcPct val="116199"/>
              </a:lnSpc>
              <a:spcBef>
                <a:spcPts val="100"/>
              </a:spcBef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model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enabling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convenient,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on-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demand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shared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pool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of configurable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(e.g.,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networks,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servers,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services)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rapidly</a:t>
            </a:r>
            <a:r>
              <a:rPr lang="en-US" sz="900" spc="1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EB811B"/>
                </a:solidFill>
                <a:latin typeface="Arial"/>
                <a:cs typeface="Arial"/>
              </a:rPr>
              <a:t>provisioned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EB811B"/>
                </a:solidFill>
                <a:latin typeface="Arial"/>
                <a:cs typeface="Arial"/>
              </a:rPr>
              <a:t>released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minimal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effort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interaction.</a:t>
            </a:r>
          </a:p>
          <a:p>
            <a:pPr marL="12700" marR="45720">
              <a:lnSpc>
                <a:spcPct val="116199"/>
              </a:lnSpc>
              <a:spcBef>
                <a:spcPts val="100"/>
              </a:spcBef>
            </a:pPr>
            <a:endParaRPr lang="en-US" sz="900" spc="-10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2700" marR="45720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Properties: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Flexible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scalable.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you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change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is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easy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upgrade.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hardware.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800"/>
              </a:spcBef>
            </a:pP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computing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elastic,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allowing</a:t>
            </a:r>
            <a:r>
              <a:rPr lang="en-US" sz="900" b="1" spc="-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organizations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scale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60" noProof="1">
                <a:solidFill>
                  <a:srgbClr val="EB811B"/>
                </a:solidFill>
                <a:latin typeface="Arial"/>
                <a:cs typeface="Arial"/>
              </a:rPr>
              <a:t>resources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EB811B"/>
                </a:solidFill>
                <a:latin typeface="Arial"/>
                <a:cs typeface="Arial"/>
              </a:rPr>
              <a:t>based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on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demand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eﬀiciently.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1058545" cy="5080"/>
            </a:xfrm>
            <a:custGeom>
              <a:avLst/>
              <a:gdLst/>
              <a:ahLst/>
              <a:cxnLst/>
              <a:rect l="l" t="t" r="r" b="b"/>
              <a:pathLst>
                <a:path w="1058545" h="5080">
                  <a:moveTo>
                    <a:pt x="0" y="5060"/>
                  </a:moveTo>
                  <a:lnTo>
                    <a:pt x="0" y="0"/>
                  </a:lnTo>
                  <a:lnTo>
                    <a:pt x="1057952" y="0"/>
                  </a:lnTo>
                  <a:lnTo>
                    <a:pt x="105795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51333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Which</a:t>
            </a:r>
            <a:r>
              <a:rPr lang="en-US" spc="5" noProof="1"/>
              <a:t> </a:t>
            </a:r>
            <a:r>
              <a:rPr lang="en-US" spc="-25" noProof="1"/>
              <a:t>is</a:t>
            </a:r>
            <a:r>
              <a:rPr lang="en-US" spc="10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10" noProof="1"/>
              <a:t>traditional</a:t>
            </a:r>
            <a:r>
              <a:rPr lang="en-US" spc="5" noProof="1"/>
              <a:t> </a:t>
            </a:r>
            <a:r>
              <a:rPr lang="en-US" spc="-35" noProof="1"/>
              <a:t>computing</a:t>
            </a:r>
            <a:r>
              <a:rPr lang="en-US" spc="10" noProof="1"/>
              <a:t> </a:t>
            </a:r>
            <a:r>
              <a:rPr lang="en-US" spc="-25" noProof="1"/>
              <a:t>model?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1888994"/>
            <a:ext cx="4032250" cy="674370"/>
            <a:chOff x="863993" y="1888994"/>
            <a:chExt cx="4032250" cy="674370"/>
          </a:xfrm>
        </p:grpSpPr>
        <p:sp>
          <p:nvSpPr>
            <p:cNvPr id="4" name="object 4"/>
            <p:cNvSpPr/>
            <p:nvPr/>
          </p:nvSpPr>
          <p:spPr>
            <a:xfrm>
              <a:off x="863993" y="1888994"/>
              <a:ext cx="4032250" cy="674370"/>
            </a:xfrm>
            <a:custGeom>
              <a:avLst/>
              <a:gdLst/>
              <a:ahLst/>
              <a:cxnLst/>
              <a:rect l="l" t="t" r="r" b="b"/>
              <a:pathLst>
                <a:path w="4032250" h="674369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620284"/>
                  </a:lnTo>
                  <a:lnTo>
                    <a:pt x="4243" y="641303"/>
                  </a:lnTo>
                  <a:lnTo>
                    <a:pt x="15816" y="658468"/>
                  </a:lnTo>
                  <a:lnTo>
                    <a:pt x="32980" y="670040"/>
                  </a:lnTo>
                  <a:lnTo>
                    <a:pt x="54000" y="674284"/>
                  </a:lnTo>
                  <a:lnTo>
                    <a:pt x="3978067" y="674284"/>
                  </a:lnTo>
                  <a:lnTo>
                    <a:pt x="3999086" y="670040"/>
                  </a:lnTo>
                  <a:lnTo>
                    <a:pt x="4016251" y="658468"/>
                  </a:lnTo>
                  <a:lnTo>
                    <a:pt x="4027823" y="641303"/>
                  </a:lnTo>
                  <a:lnTo>
                    <a:pt x="4032067" y="620284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1906994"/>
              <a:ext cx="3996690" cy="638810"/>
            </a:xfrm>
            <a:custGeom>
              <a:avLst/>
              <a:gdLst/>
              <a:ahLst/>
              <a:cxnLst/>
              <a:rect l="l" t="t" r="r" b="b"/>
              <a:pathLst>
                <a:path w="3996690" h="638810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02284"/>
                  </a:lnTo>
                  <a:lnTo>
                    <a:pt x="2829" y="616297"/>
                  </a:lnTo>
                  <a:lnTo>
                    <a:pt x="10544" y="627740"/>
                  </a:lnTo>
                  <a:lnTo>
                    <a:pt x="21987" y="635455"/>
                  </a:lnTo>
                  <a:lnTo>
                    <a:pt x="36000" y="638284"/>
                  </a:lnTo>
                  <a:lnTo>
                    <a:pt x="3960067" y="638284"/>
                  </a:lnTo>
                  <a:lnTo>
                    <a:pt x="3974080" y="635455"/>
                  </a:lnTo>
                  <a:lnTo>
                    <a:pt x="3985523" y="627740"/>
                  </a:lnTo>
                  <a:lnTo>
                    <a:pt x="3993238" y="616297"/>
                  </a:lnTo>
                  <a:lnTo>
                    <a:pt x="3996067" y="602284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7294" y="588483"/>
            <a:ext cx="5026025" cy="220637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traditional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must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them 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EB811B"/>
                </a:solidFill>
                <a:latin typeface="Arial"/>
                <a:cs typeface="Arial"/>
              </a:rPr>
              <a:t>user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 is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EB811B"/>
                </a:solidFill>
                <a:latin typeface="Arial"/>
                <a:cs typeface="Arial"/>
              </a:rPr>
              <a:t>responsible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EB811B"/>
                </a:solidFill>
                <a:latin typeface="Arial"/>
                <a:cs typeface="Arial"/>
              </a:rPr>
              <a:t>maintenance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and </a:t>
            </a:r>
            <a:r>
              <a:rPr lang="en-US" sz="900" spc="-20" noProof="1">
                <a:solidFill>
                  <a:srgbClr val="EB811B"/>
                </a:solidFill>
                <a:latin typeface="Arial"/>
                <a:cs typeface="Arial"/>
              </a:rPr>
              <a:t>security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EB811B"/>
                </a:solidFill>
                <a:latin typeface="Arial"/>
                <a:cs typeface="Arial"/>
              </a:rPr>
              <a:t>software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and </a:t>
            </a:r>
            <a:r>
              <a:rPr lang="en-US" sz="900" spc="-10" noProof="1">
                <a:solidFill>
                  <a:srgbClr val="EB811B"/>
                </a:solidFill>
                <a:latin typeface="Arial"/>
                <a:cs typeface="Arial"/>
              </a:rPr>
              <a:t>hardware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space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servers.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team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experts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maintain.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physical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policies.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Long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procurement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process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(purchase,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install,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maintain).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prediction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theoretical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maximum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load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peak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system.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4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946150" marR="882650" algn="ctr">
              <a:lnSpc>
                <a:spcPct val="116199"/>
              </a:lnSpc>
            </a:pPr>
            <a:r>
              <a:rPr lang="en-US" sz="900" noProof="1">
                <a:latin typeface="Arial"/>
                <a:cs typeface="Arial"/>
              </a:rPr>
              <a:t>If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company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underestimates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20" noProof="1">
                <a:latin typeface="Arial"/>
                <a:cs typeface="Arial"/>
              </a:rPr>
              <a:t>peak,</a:t>
            </a:r>
            <a:r>
              <a:rPr lang="en-US" sz="900" spc="2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35" noProof="1">
                <a:latin typeface="Arial"/>
                <a:cs typeface="Arial"/>
              </a:rPr>
              <a:t>system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will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be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20" noProof="1">
                <a:latin typeface="Arial"/>
                <a:cs typeface="Arial"/>
              </a:rPr>
              <a:t>slow, </a:t>
            </a:r>
            <a:r>
              <a:rPr lang="en-US" sz="900" spc="-10" noProof="1">
                <a:latin typeface="Arial"/>
                <a:cs typeface="Arial"/>
              </a:rPr>
              <a:t>and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60" noProof="1">
                <a:latin typeface="Arial"/>
                <a:cs typeface="Arial"/>
              </a:rPr>
              <a:t>users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will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be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25" noProof="1">
                <a:latin typeface="Arial"/>
                <a:cs typeface="Arial"/>
              </a:rPr>
              <a:t>unhappy.</a:t>
            </a:r>
            <a:r>
              <a:rPr lang="en-US" sz="900" spc="15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If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company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35" noProof="1">
                <a:latin typeface="Arial"/>
                <a:cs typeface="Arial"/>
              </a:rPr>
              <a:t>overestimates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spc="-25" noProof="1">
                <a:latin typeface="Arial"/>
                <a:cs typeface="Arial"/>
              </a:rPr>
              <a:t>the </a:t>
            </a:r>
            <a:r>
              <a:rPr lang="en-US" sz="900" spc="-20" noProof="1">
                <a:latin typeface="Arial"/>
                <a:cs typeface="Arial"/>
              </a:rPr>
              <a:t>peak,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it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will</a:t>
            </a:r>
            <a:r>
              <a:rPr lang="en-US" sz="900" spc="30" noProof="1">
                <a:latin typeface="Arial"/>
                <a:cs typeface="Arial"/>
              </a:rPr>
              <a:t> </a:t>
            </a:r>
            <a:r>
              <a:rPr lang="en-US" sz="900" spc="-45" noProof="1">
                <a:latin typeface="Arial"/>
                <a:cs typeface="Arial"/>
              </a:rPr>
              <a:t>have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a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lot</a:t>
            </a:r>
            <a:r>
              <a:rPr lang="en-US" sz="900" spc="3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of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spc="-40" noProof="1">
                <a:latin typeface="Arial"/>
                <a:cs typeface="Arial"/>
              </a:rPr>
              <a:t>unused</a:t>
            </a:r>
            <a:r>
              <a:rPr lang="en-US" sz="900" spc="30" noProof="1">
                <a:latin typeface="Arial"/>
                <a:cs typeface="Arial"/>
              </a:rPr>
              <a:t> </a:t>
            </a:r>
            <a:r>
              <a:rPr lang="en-US" sz="900" spc="-50" noProof="1">
                <a:latin typeface="Arial"/>
                <a:cs typeface="Arial"/>
              </a:rPr>
              <a:t>resources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and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waste</a:t>
            </a:r>
            <a:r>
              <a:rPr lang="en-US" sz="900" spc="30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money.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2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40005" algn="ctr">
              <a:lnSpc>
                <a:spcPct val="100000"/>
              </a:lnSpc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happens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if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need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change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or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upgrade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hardware?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1176020" cy="5080"/>
            </a:xfrm>
            <a:custGeom>
              <a:avLst/>
              <a:gdLst/>
              <a:ahLst/>
              <a:cxnLst/>
              <a:rect l="l" t="t" r="r" b="b"/>
              <a:pathLst>
                <a:path w="1176020" h="5080">
                  <a:moveTo>
                    <a:pt x="0" y="5060"/>
                  </a:moveTo>
                  <a:lnTo>
                    <a:pt x="0" y="0"/>
                  </a:lnTo>
                  <a:lnTo>
                    <a:pt x="1175552" y="0"/>
                  </a:lnTo>
                  <a:lnTo>
                    <a:pt x="117555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859914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Live</a:t>
            </a:r>
            <a:r>
              <a:rPr lang="en-US" noProof="1"/>
              <a:t> in</a:t>
            </a:r>
            <a:r>
              <a:rPr lang="en-US" spc="5" noProof="1"/>
              <a:t> </a:t>
            </a:r>
            <a:r>
              <a:rPr lang="en-US" noProof="1"/>
              <a:t>a</a:t>
            </a:r>
            <a:r>
              <a:rPr lang="en-US" spc="5" noProof="1"/>
              <a:t> </a:t>
            </a:r>
            <a:r>
              <a:rPr lang="en-US" noProof="1"/>
              <a:t>hotel</a:t>
            </a:r>
            <a:r>
              <a:rPr lang="en-US" spc="5" noProof="1"/>
              <a:t> </a:t>
            </a:r>
            <a:r>
              <a:rPr lang="en-US" spc="-20" noProof="1"/>
              <a:t>vs.</a:t>
            </a:r>
            <a:r>
              <a:rPr lang="en-US" spc="5" noProof="1"/>
              <a:t> </a:t>
            </a:r>
            <a:r>
              <a:rPr lang="en-US" noProof="1"/>
              <a:t>Own</a:t>
            </a:r>
            <a:r>
              <a:rPr lang="en-US" spc="5" noProof="1"/>
              <a:t> </a:t>
            </a:r>
            <a:r>
              <a:rPr lang="en-US" noProof="1"/>
              <a:t>a</a:t>
            </a:r>
            <a:r>
              <a:rPr lang="en-US" spc="5" noProof="1"/>
              <a:t> </a:t>
            </a:r>
            <a:r>
              <a:rPr lang="en-US" spc="-45" noProof="1"/>
              <a:t>house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1947256"/>
            <a:ext cx="4032250" cy="514984"/>
            <a:chOff x="863993" y="1947256"/>
            <a:chExt cx="4032250" cy="514984"/>
          </a:xfrm>
        </p:grpSpPr>
        <p:sp>
          <p:nvSpPr>
            <p:cNvPr id="4" name="object 4"/>
            <p:cNvSpPr/>
            <p:nvPr/>
          </p:nvSpPr>
          <p:spPr>
            <a:xfrm>
              <a:off x="863993" y="1947256"/>
              <a:ext cx="4032250" cy="514984"/>
            </a:xfrm>
            <a:custGeom>
              <a:avLst/>
              <a:gdLst/>
              <a:ahLst/>
              <a:cxnLst/>
              <a:rect l="l" t="t" r="r" b="b"/>
              <a:pathLst>
                <a:path w="4032250" h="514985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460955"/>
                  </a:lnTo>
                  <a:lnTo>
                    <a:pt x="4243" y="481975"/>
                  </a:lnTo>
                  <a:lnTo>
                    <a:pt x="15816" y="499139"/>
                  </a:lnTo>
                  <a:lnTo>
                    <a:pt x="32980" y="510712"/>
                  </a:lnTo>
                  <a:lnTo>
                    <a:pt x="54000" y="514955"/>
                  </a:lnTo>
                  <a:lnTo>
                    <a:pt x="3978067" y="514955"/>
                  </a:lnTo>
                  <a:lnTo>
                    <a:pt x="3999086" y="510712"/>
                  </a:lnTo>
                  <a:lnTo>
                    <a:pt x="4016251" y="499139"/>
                  </a:lnTo>
                  <a:lnTo>
                    <a:pt x="4027823" y="481975"/>
                  </a:lnTo>
                  <a:lnTo>
                    <a:pt x="4032067" y="460955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1965256"/>
              <a:ext cx="3996690" cy="479425"/>
            </a:xfrm>
            <a:custGeom>
              <a:avLst/>
              <a:gdLst/>
              <a:ahLst/>
              <a:cxnLst/>
              <a:rect l="l" t="t" r="r" b="b"/>
              <a:pathLst>
                <a:path w="3996690" h="479425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42955"/>
                  </a:lnTo>
                  <a:lnTo>
                    <a:pt x="2829" y="456968"/>
                  </a:lnTo>
                  <a:lnTo>
                    <a:pt x="10544" y="468411"/>
                  </a:lnTo>
                  <a:lnTo>
                    <a:pt x="21987" y="476127"/>
                  </a:lnTo>
                  <a:lnTo>
                    <a:pt x="36000" y="478956"/>
                  </a:lnTo>
                  <a:lnTo>
                    <a:pt x="3960067" y="478956"/>
                  </a:lnTo>
                  <a:lnTo>
                    <a:pt x="3974080" y="476127"/>
                  </a:lnTo>
                  <a:lnTo>
                    <a:pt x="3985523" y="468411"/>
                  </a:lnTo>
                  <a:lnTo>
                    <a:pt x="3993238" y="456968"/>
                  </a:lnTo>
                  <a:lnTo>
                    <a:pt x="3996067" y="442955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427126" y="908273"/>
            <a:ext cx="4935855" cy="14401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R="21590" algn="ctr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difference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between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living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in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hotel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owning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house?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hotel,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5" noProof="1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lang="en-US" sz="900" b="1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b="1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5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do not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5" noProof="1">
                <a:solidFill>
                  <a:srgbClr val="22373A"/>
                </a:solidFill>
                <a:latin typeface="Arial"/>
                <a:cs typeface="Arial"/>
              </a:rPr>
              <a:t>worry</a:t>
            </a:r>
            <a:r>
              <a:rPr lang="en-US" sz="900" b="1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0" noProof="1">
                <a:solidFill>
                  <a:srgbClr val="22373A"/>
                </a:solidFill>
                <a:latin typeface="Arial"/>
                <a:cs typeface="Arial"/>
              </a:rPr>
              <a:t>maintenance</a:t>
            </a:r>
            <a:r>
              <a:rPr lang="en-US" sz="900" b="1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building.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house,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5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5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40" noProof="1">
                <a:solidFill>
                  <a:srgbClr val="22373A"/>
                </a:solidFill>
                <a:latin typeface="Arial"/>
                <a:cs typeface="Arial"/>
              </a:rPr>
              <a:t>house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5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b="1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10" noProof="1">
                <a:solidFill>
                  <a:srgbClr val="22373A"/>
                </a:solidFill>
                <a:latin typeface="Arial"/>
                <a:cs typeface="Arial"/>
              </a:rPr>
              <a:t>maintain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5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R="21590" algn="ctr">
              <a:lnSpc>
                <a:spcPct val="100000"/>
              </a:lnSpc>
              <a:spcBef>
                <a:spcPts val="805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difference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between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traditional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computing?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4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931544" marR="953135" indent="-635" algn="ctr">
              <a:lnSpc>
                <a:spcPct val="116199"/>
              </a:lnSpc>
            </a:pPr>
            <a:r>
              <a:rPr lang="en-US" sz="900" b="1" noProof="1">
                <a:latin typeface="Arial"/>
                <a:cs typeface="Arial"/>
              </a:rPr>
              <a:t>In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35" noProof="1">
                <a:latin typeface="Arial"/>
                <a:cs typeface="Arial"/>
              </a:rPr>
              <a:t>cloud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25" noProof="1">
                <a:latin typeface="Arial"/>
                <a:cs typeface="Arial"/>
              </a:rPr>
              <a:t>computing,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50" noProof="1">
                <a:latin typeface="Arial"/>
                <a:cs typeface="Arial"/>
              </a:rPr>
              <a:t>you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40" noProof="1">
                <a:latin typeface="Arial"/>
                <a:cs typeface="Arial"/>
              </a:rPr>
              <a:t>pay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10" noProof="1">
                <a:latin typeface="Arial"/>
                <a:cs typeface="Arial"/>
              </a:rPr>
              <a:t>for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what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50" noProof="1">
                <a:latin typeface="Arial"/>
                <a:cs typeface="Arial"/>
              </a:rPr>
              <a:t>you</a:t>
            </a:r>
            <a:r>
              <a:rPr lang="en-US" sz="900" b="1" noProof="1">
                <a:latin typeface="Arial"/>
                <a:cs typeface="Arial"/>
              </a:rPr>
              <a:t> </a:t>
            </a:r>
            <a:r>
              <a:rPr lang="en-US" sz="900" b="1" spc="-40" noProof="1">
                <a:latin typeface="Arial"/>
                <a:cs typeface="Arial"/>
              </a:rPr>
              <a:t>use,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20" noProof="1">
                <a:latin typeface="Arial"/>
                <a:cs typeface="Arial"/>
              </a:rPr>
              <a:t>and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50" noProof="1">
                <a:latin typeface="Arial"/>
                <a:cs typeface="Arial"/>
              </a:rPr>
              <a:t>you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25" noProof="1">
                <a:latin typeface="Arial"/>
                <a:cs typeface="Arial"/>
              </a:rPr>
              <a:t>do </a:t>
            </a:r>
            <a:r>
              <a:rPr lang="en-US" sz="900" b="1" noProof="1">
                <a:latin typeface="Arial"/>
                <a:cs typeface="Arial"/>
              </a:rPr>
              <a:t>not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spc="-30" noProof="1">
                <a:latin typeface="Arial"/>
                <a:cs typeface="Arial"/>
              </a:rPr>
              <a:t>need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to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spc="-45" noProof="1">
                <a:latin typeface="Arial"/>
                <a:cs typeface="Arial"/>
              </a:rPr>
              <a:t>worry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about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the</a:t>
            </a:r>
            <a:r>
              <a:rPr lang="en-US" sz="900" b="1" spc="10" noProof="1">
                <a:latin typeface="Arial"/>
                <a:cs typeface="Arial"/>
              </a:rPr>
              <a:t> </a:t>
            </a:r>
            <a:r>
              <a:rPr lang="en-US" sz="900" b="1" spc="-30" noProof="1">
                <a:latin typeface="Arial"/>
                <a:cs typeface="Arial"/>
              </a:rPr>
              <a:t>maintenance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of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the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spc="-35" noProof="1">
                <a:latin typeface="Arial"/>
                <a:cs typeface="Arial"/>
              </a:rPr>
              <a:t>hardware.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1293495" cy="5080"/>
            </a:xfrm>
            <a:custGeom>
              <a:avLst/>
              <a:gdLst/>
              <a:ahLst/>
              <a:cxnLst/>
              <a:rect l="l" t="t" r="r" b="b"/>
              <a:pathLst>
                <a:path w="1293495" h="5080">
                  <a:moveTo>
                    <a:pt x="0" y="5060"/>
                  </a:moveTo>
                  <a:lnTo>
                    <a:pt x="0" y="0"/>
                  </a:lnTo>
                  <a:lnTo>
                    <a:pt x="1293063" y="0"/>
                  </a:lnTo>
                  <a:lnTo>
                    <a:pt x="129306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36537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Case</a:t>
            </a:r>
            <a:r>
              <a:rPr lang="en-US" spc="5" noProof="1"/>
              <a:t> </a:t>
            </a:r>
            <a:r>
              <a:rPr lang="en-US" spc="-10" noProof="1"/>
              <a:t>Study:</a:t>
            </a:r>
            <a:r>
              <a:rPr lang="en-US" spc="105" noProof="1"/>
              <a:t> </a:t>
            </a:r>
            <a:r>
              <a:rPr lang="en-US" spc="-35" noProof="1"/>
              <a:t>Serving</a:t>
            </a:r>
            <a:r>
              <a:rPr lang="en-US" spc="10" noProof="1"/>
              <a:t> </a:t>
            </a:r>
            <a:r>
              <a:rPr lang="en-US" noProof="1"/>
              <a:t>a</a:t>
            </a:r>
            <a:r>
              <a:rPr lang="en-US" spc="10" noProof="1"/>
              <a:t> </a:t>
            </a:r>
            <a:r>
              <a:rPr lang="en-US" spc="-35" noProof="1"/>
              <a:t>Personal</a:t>
            </a:r>
            <a:r>
              <a:rPr lang="en-US" spc="5" noProof="1"/>
              <a:t> </a:t>
            </a:r>
            <a:r>
              <a:rPr lang="en-US" spc="-10" noProof="1"/>
              <a:t>Website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089972"/>
            <a:ext cx="5063490" cy="11982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9525" algn="ctr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Which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are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steps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serve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personal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website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in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traditional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computing?</a:t>
            </a:r>
            <a:endParaRPr lang="en-US" sz="900" noProof="1">
              <a:latin typeface="Arial"/>
              <a:cs typeface="Arial"/>
            </a:endParaRPr>
          </a:p>
          <a:p>
            <a:pPr marL="16510" marR="5080" indent="-4445">
              <a:lnSpc>
                <a:spcPct val="116199"/>
              </a:lnSpc>
              <a:spcBef>
                <a:spcPts val="625"/>
              </a:spcBef>
            </a:pP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to buy a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server,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install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operating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system,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install the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server,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the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server,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upload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website.</a:t>
            </a:r>
            <a:endParaRPr lang="en-US" sz="900" noProof="1">
              <a:latin typeface="Arial"/>
              <a:cs typeface="Arial"/>
            </a:endParaRPr>
          </a:p>
          <a:p>
            <a:pPr marL="9525" algn="ctr">
              <a:lnSpc>
                <a:spcPct val="100000"/>
              </a:lnSpc>
              <a:spcBef>
                <a:spcPts val="805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advantatge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using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computing?</a:t>
            </a:r>
            <a:endParaRPr lang="en-US" sz="900" noProof="1">
              <a:latin typeface="Arial"/>
              <a:cs typeface="Arial"/>
            </a:endParaRPr>
          </a:p>
          <a:p>
            <a:pPr marL="16510" marR="297815" indent="-4445">
              <a:lnSpc>
                <a:spcPct val="116199"/>
              </a:lnSpc>
              <a:spcBef>
                <a:spcPts val="625"/>
              </a:spcBef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does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not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buy the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server,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(cloud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responsibility),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upload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(user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responsibility).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1410970" cy="5080"/>
            </a:xfrm>
            <a:custGeom>
              <a:avLst/>
              <a:gdLst/>
              <a:ahLst/>
              <a:cxnLst/>
              <a:rect l="l" t="t" r="r" b="b"/>
              <a:pathLst>
                <a:path w="1410970" h="5080">
                  <a:moveTo>
                    <a:pt x="0" y="5060"/>
                  </a:moveTo>
                  <a:lnTo>
                    <a:pt x="0" y="0"/>
                  </a:lnTo>
                  <a:lnTo>
                    <a:pt x="1410662" y="0"/>
                  </a:lnTo>
                  <a:lnTo>
                    <a:pt x="141066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18262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Which are the</a:t>
            </a:r>
            <a:r>
              <a:rPr lang="en-US" spc="5" noProof="1"/>
              <a:t> </a:t>
            </a:r>
            <a:r>
              <a:rPr lang="en-US" spc="-10" noProof="1"/>
              <a:t>main</a:t>
            </a:r>
            <a:r>
              <a:rPr lang="en-US" noProof="1"/>
              <a:t> </a:t>
            </a:r>
            <a:r>
              <a:rPr lang="en-US" spc="-35" noProof="1"/>
              <a:t>cloud</a:t>
            </a:r>
            <a:r>
              <a:rPr lang="en-US" noProof="1"/>
              <a:t> </a:t>
            </a:r>
            <a:r>
              <a:rPr lang="en-US" spc="-35" noProof="1"/>
              <a:t>computing</a:t>
            </a:r>
            <a:r>
              <a:rPr lang="en-US" spc="5" noProof="1"/>
              <a:t> </a:t>
            </a:r>
            <a:r>
              <a:rPr lang="en-US" spc="-55" noProof="1"/>
              <a:t>services</a:t>
            </a:r>
            <a:r>
              <a:rPr lang="en-US" noProof="1"/>
              <a:t> </a:t>
            </a:r>
            <a:r>
              <a:rPr lang="en-US" spc="-35" noProof="1"/>
              <a:t>models?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578272"/>
            <a:ext cx="4949190" cy="1123962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Infrastructure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(IaaS)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virtualized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endParaRPr lang="en-US" sz="900" noProof="1">
              <a:latin typeface="Arial"/>
              <a:cs typeface="Arial"/>
            </a:endParaRPr>
          </a:p>
          <a:p>
            <a:pPr marL="160020" marR="24384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Platform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(PaaS)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platform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allowing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customers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develop,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without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complexity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maintaining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infrastructure.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(SaaS)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subscription basis.</a:t>
            </a: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On-Premises: </a:t>
            </a:r>
            <a:r>
              <a:rPr lang="en-US" sz="900" noProof="1"/>
              <a:t>refers to software and hardware that is physically located within your own building or data center, rather than being hosted by a provider like AWS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60184" y="1893493"/>
            <a:ext cx="5039641" cy="795732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131910" y="2922905"/>
            <a:ext cx="149669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4:</a:t>
            </a:r>
            <a:r>
              <a:rPr lang="en-US" sz="800" b="1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Models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1528445" cy="5080"/>
            </a:xfrm>
            <a:custGeom>
              <a:avLst/>
              <a:gdLst/>
              <a:ahLst/>
              <a:cxnLst/>
              <a:rect l="l" t="t" r="r" b="b"/>
              <a:pathLst>
                <a:path w="1528445" h="5080">
                  <a:moveTo>
                    <a:pt x="0" y="5060"/>
                  </a:moveTo>
                  <a:lnTo>
                    <a:pt x="0" y="0"/>
                  </a:lnTo>
                  <a:lnTo>
                    <a:pt x="1528173" y="0"/>
                  </a:lnTo>
                  <a:lnTo>
                    <a:pt x="15281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Shared</a:t>
            </a:r>
            <a:r>
              <a:rPr lang="en-US" spc="20" noProof="1"/>
              <a:t> </a:t>
            </a:r>
            <a:r>
              <a:rPr lang="en-US" spc="-45" noProof="1"/>
              <a:t>Responsibility</a:t>
            </a:r>
            <a:r>
              <a:rPr lang="en-US" spc="20" noProof="1"/>
              <a:t> </a:t>
            </a:r>
            <a:r>
              <a:rPr lang="en-US" spc="-20" noProof="1"/>
              <a:t>Model</a:t>
            </a:r>
          </a:p>
        </p:txBody>
      </p:sp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04950" y="351412"/>
            <a:ext cx="3750119" cy="2399115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440956" y="2840269"/>
            <a:ext cx="487870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736725" marR="5080" indent="-1724660">
              <a:lnSpc>
                <a:spcPct val="116199"/>
              </a:lnSpc>
              <a:spcBef>
                <a:spcPts val="100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1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shared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responsibility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model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outlines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where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provider’s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role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responsibility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ends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customer’s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begins.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763395" cy="5080"/>
            </a:xfrm>
            <a:custGeom>
              <a:avLst/>
              <a:gdLst/>
              <a:ahLst/>
              <a:cxnLst/>
              <a:rect l="l" t="t" r="r" b="b"/>
              <a:pathLst>
                <a:path w="1763395" h="5080">
                  <a:moveTo>
                    <a:pt x="0" y="5060"/>
                  </a:moveTo>
                  <a:lnTo>
                    <a:pt x="0" y="0"/>
                  </a:lnTo>
                  <a:lnTo>
                    <a:pt x="1763284" y="0"/>
                  </a:lnTo>
                  <a:lnTo>
                    <a:pt x="176328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Public</a:t>
            </a:r>
            <a:r>
              <a:rPr lang="en-US" spc="-35" noProof="1"/>
              <a:t> </a:t>
            </a:r>
            <a:r>
              <a:rPr lang="en-US" spc="-40" noProof="1"/>
              <a:t>Cloud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069800"/>
            <a:ext cx="4794250" cy="102335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sz="900" noProof="1"/>
              <a:t>A </a:t>
            </a:r>
            <a:r>
              <a:rPr lang="en-US" sz="900" b="1" noProof="1"/>
              <a:t>public cloud </a:t>
            </a:r>
            <a:r>
              <a:rPr lang="en-US" sz="900" noProof="1"/>
              <a:t>provides computing services over the public Internet, offered by third‑party providers and available to anyone on a pay‑per‑use basis.</a:t>
            </a:r>
          </a:p>
          <a:p>
            <a:pPr marL="243204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43204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Type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available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general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own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infrastructure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/>
              <a:t>pay‑per‑use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basis.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Highly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scalable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flexible,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wide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range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available.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Popular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affordability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scalability.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116455" cy="5080"/>
            </a:xfrm>
            <a:custGeom>
              <a:avLst/>
              <a:gdLst/>
              <a:ahLst/>
              <a:cxnLst/>
              <a:rect l="l" t="t" r="r" b="b"/>
              <a:pathLst>
                <a:path w="2116455" h="5080">
                  <a:moveTo>
                    <a:pt x="0" y="5060"/>
                  </a:moveTo>
                  <a:lnTo>
                    <a:pt x="0" y="0"/>
                  </a:lnTo>
                  <a:lnTo>
                    <a:pt x="2115905" y="0"/>
                  </a:lnTo>
                  <a:lnTo>
                    <a:pt x="211590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70561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Private</a:t>
            </a:r>
            <a:r>
              <a:rPr lang="en-US" spc="30" noProof="1"/>
              <a:t> </a:t>
            </a:r>
            <a:r>
              <a:rPr lang="en-US" spc="-30" noProof="1"/>
              <a:t>Cloud</a:t>
            </a:r>
            <a:r>
              <a:rPr lang="en-US" spc="30" noProof="1"/>
              <a:t> </a:t>
            </a:r>
            <a:r>
              <a:rPr lang="en-US" spc="-25" noProof="1"/>
              <a:t>(On-</a:t>
            </a:r>
            <a:r>
              <a:rPr lang="en-US" spc="-10" noProof="1"/>
              <a:t>Premises)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069749"/>
            <a:ext cx="4983480" cy="12204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refers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model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provisioned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IT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infrastructure for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dedicated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organization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Type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exclusively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organization.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greater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control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customization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infrastructure.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hosted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on-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premises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third-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party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provider.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enhanced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popular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finance,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government,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healthcare.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expensive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than public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but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greater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control 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flexibility.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233930" cy="5080"/>
            </a:xfrm>
            <a:custGeom>
              <a:avLst/>
              <a:gdLst/>
              <a:ahLst/>
              <a:cxnLst/>
              <a:rect l="l" t="t" r="r" b="b"/>
              <a:pathLst>
                <a:path w="2233930" h="5080">
                  <a:moveTo>
                    <a:pt x="0" y="5060"/>
                  </a:moveTo>
                  <a:lnTo>
                    <a:pt x="0" y="0"/>
                  </a:lnTo>
                  <a:lnTo>
                    <a:pt x="2233505" y="0"/>
                  </a:lnTo>
                  <a:lnTo>
                    <a:pt x="223350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78613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Hybrid</a:t>
            </a:r>
            <a:r>
              <a:rPr lang="en-US" spc="15" noProof="1"/>
              <a:t> </a:t>
            </a:r>
            <a:r>
              <a:rPr lang="en-US" spc="-35" noProof="1"/>
              <a:t>Cloud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990082"/>
            <a:ext cx="5066030" cy="1379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Hybrid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computing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environment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combines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cloud and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private cloud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allowing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shared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them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Combines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resources.</a:t>
            </a:r>
            <a:endParaRPr lang="en-US" sz="900" noProof="1">
              <a:latin typeface="Arial"/>
              <a:cs typeface="Arial"/>
            </a:endParaRPr>
          </a:p>
          <a:p>
            <a:pPr marL="240029" marR="38100" indent="-147955">
              <a:lnSpc>
                <a:spcPct val="116199"/>
              </a:lnSpc>
              <a:buChar char="•"/>
              <a:tabLst>
                <a:tab pos="240029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cost-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effectiveness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scalability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of public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while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maintaining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control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sensitive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greater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agility,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optimize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costs.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Complex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manage,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careful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planning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coordination.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Balances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benefits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expertise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manage.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351405" cy="5080"/>
            </a:xfrm>
            <a:custGeom>
              <a:avLst/>
              <a:gdLst/>
              <a:ahLst/>
              <a:cxnLst/>
              <a:rect l="l" t="t" r="r" b="b"/>
              <a:pathLst>
                <a:path w="2351405" h="5080">
                  <a:moveTo>
                    <a:pt x="0" y="5060"/>
                  </a:moveTo>
                  <a:lnTo>
                    <a:pt x="0" y="0"/>
                  </a:lnTo>
                  <a:lnTo>
                    <a:pt x="2351016" y="0"/>
                  </a:lnTo>
                  <a:lnTo>
                    <a:pt x="235101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Which</a:t>
            </a:r>
            <a:r>
              <a:rPr lang="en-US" spc="5" noProof="1"/>
              <a:t> </a:t>
            </a:r>
            <a:r>
              <a:rPr lang="en-US" spc="-25" noProof="1"/>
              <a:t>is</a:t>
            </a:r>
            <a:r>
              <a:rPr lang="en-US" spc="5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20" noProof="1"/>
              <a:t>current</a:t>
            </a:r>
            <a:r>
              <a:rPr lang="en-US" spc="5" noProof="1"/>
              <a:t> </a:t>
            </a:r>
            <a:r>
              <a:rPr lang="en-US" spc="-20" noProof="1"/>
              <a:t>situation</a:t>
            </a:r>
            <a:r>
              <a:rPr lang="en-US" spc="10" noProof="1"/>
              <a:t> </a:t>
            </a:r>
            <a:r>
              <a:rPr lang="en-US" noProof="1"/>
              <a:t>of</a:t>
            </a:r>
            <a:r>
              <a:rPr lang="en-US" spc="5" noProof="1"/>
              <a:t> </a:t>
            </a:r>
            <a:r>
              <a:rPr lang="en-US" spc="-30" noProof="1"/>
              <a:t>Cloud</a:t>
            </a:r>
            <a:r>
              <a:rPr lang="en-US" spc="5" noProof="1"/>
              <a:t> </a:t>
            </a:r>
            <a:r>
              <a:rPr lang="en-US" spc="-30" noProof="1"/>
              <a:t>Computing?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0" y="631825"/>
            <a:ext cx="5760084" cy="257211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4965" marR="5080" indent="-342900">
              <a:lnSpc>
                <a:spcPct val="116199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24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30" noProof="1">
                <a:solidFill>
                  <a:srgbClr val="EB811B"/>
                </a:solidFill>
                <a:latin typeface="Arial"/>
                <a:cs typeface="Arial"/>
              </a:rPr>
              <a:t>global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30" noProof="1">
                <a:solidFill>
                  <a:srgbClr val="EB811B"/>
                </a:solidFill>
                <a:latin typeface="Arial"/>
                <a:cs typeface="Arial"/>
              </a:rPr>
              <a:t>computing </a:t>
            </a:r>
            <a:r>
              <a:rPr lang="en-US" sz="2400" b="1" spc="-10" noProof="1">
                <a:solidFill>
                  <a:srgbClr val="EB811B"/>
                </a:solidFill>
                <a:latin typeface="Arial"/>
                <a:cs typeface="Arial"/>
              </a:rPr>
              <a:t>market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25" noProof="1">
                <a:solidFill>
                  <a:srgbClr val="EB811B"/>
                </a:solidFill>
                <a:latin typeface="Arial"/>
                <a:cs typeface="Arial"/>
              </a:rPr>
              <a:t>expected</a:t>
            </a:r>
            <a:r>
              <a:rPr lang="en-US" sz="24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30" noProof="1">
                <a:solidFill>
                  <a:srgbClr val="EB811B"/>
                </a:solidFill>
                <a:latin typeface="Arial"/>
                <a:cs typeface="Arial"/>
              </a:rPr>
              <a:t>reach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$1.35</a:t>
            </a:r>
            <a:r>
              <a:rPr lang="en-US" sz="24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25" noProof="1">
                <a:solidFill>
                  <a:srgbClr val="EB811B"/>
                </a:solidFill>
                <a:latin typeface="Arial"/>
                <a:cs typeface="Arial"/>
              </a:rPr>
              <a:t>trillion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20" noProof="1">
                <a:solidFill>
                  <a:srgbClr val="EB811B"/>
                </a:solidFill>
                <a:latin typeface="Arial"/>
                <a:cs typeface="Arial"/>
              </a:rPr>
              <a:t>by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2027.</a:t>
            </a:r>
            <a:endParaRPr lang="en-US" sz="2400" b="1" spc="30" noProof="1">
              <a:solidFill>
                <a:srgbClr val="EB811B"/>
              </a:solidFill>
              <a:latin typeface="Arial"/>
              <a:cs typeface="Arial"/>
            </a:endParaRPr>
          </a:p>
          <a:p>
            <a:pPr marL="1500505" marR="5080" indent="-1488440">
              <a:lnSpc>
                <a:spcPct val="116199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endParaRPr lang="en-US" sz="2400" b="1" spc="30" noProof="1">
              <a:solidFill>
                <a:srgbClr val="EB811B"/>
              </a:solidFill>
              <a:latin typeface="Arial"/>
              <a:cs typeface="Arial"/>
            </a:endParaRPr>
          </a:p>
          <a:p>
            <a:pPr marL="354965" marR="5080" indent="-342900">
              <a:lnSpc>
                <a:spcPct val="116199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It </a:t>
            </a:r>
            <a:r>
              <a:rPr lang="en-US" sz="2400" b="1" spc="-40" noProof="1">
                <a:solidFill>
                  <a:srgbClr val="EB811B"/>
                </a:solidFill>
                <a:latin typeface="Arial"/>
                <a:cs typeface="Arial"/>
              </a:rPr>
              <a:t>grows</a:t>
            </a:r>
            <a:r>
              <a:rPr lang="en-US" sz="24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at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50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 CAGR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2400" b="1" spc="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17.5%</a:t>
            </a:r>
            <a:r>
              <a:rPr lang="en-US" sz="2400" b="1" spc="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from</a:t>
            </a:r>
            <a:r>
              <a:rPr lang="en-US" sz="2400" b="1" spc="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2020</a:t>
            </a:r>
            <a:r>
              <a:rPr lang="en-US" sz="2400" b="1" spc="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2400" b="1" spc="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10" noProof="1">
                <a:solidFill>
                  <a:srgbClr val="EB811B"/>
                </a:solidFill>
                <a:latin typeface="Arial"/>
                <a:cs typeface="Arial"/>
              </a:rPr>
              <a:t>2025.</a:t>
            </a:r>
            <a:endParaRPr lang="en-US" sz="24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2468880" cy="5080"/>
            </a:xfrm>
            <a:custGeom>
              <a:avLst/>
              <a:gdLst/>
              <a:ahLst/>
              <a:cxnLst/>
              <a:rect l="l" t="t" r="r" b="b"/>
              <a:pathLst>
                <a:path w="2468880" h="5080">
                  <a:moveTo>
                    <a:pt x="0" y="5060"/>
                  </a:moveTo>
                  <a:lnTo>
                    <a:pt x="0" y="0"/>
                  </a:lnTo>
                  <a:lnTo>
                    <a:pt x="2468615" y="0"/>
                  </a:lnTo>
                  <a:lnTo>
                    <a:pt x="246861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Cloud</a:t>
            </a:r>
            <a:r>
              <a:rPr lang="en-US" spc="5" noProof="1"/>
              <a:t> </a:t>
            </a:r>
            <a:r>
              <a:rPr lang="en-US" spc="-55" noProof="1"/>
              <a:t>services</a:t>
            </a:r>
            <a:r>
              <a:rPr lang="en-US" spc="10" noProof="1"/>
              <a:t> </a:t>
            </a:r>
            <a:r>
              <a:rPr lang="en-US" spc="-35" noProof="1"/>
              <a:t>everywhere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394503"/>
            <a:ext cx="502602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go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beyond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just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hosting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websites.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Examples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include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GitHub,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Netflix,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iCloud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many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more.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33335" y="796640"/>
            <a:ext cx="3293343" cy="1799366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141283" y="2729977"/>
            <a:ext cx="147764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3:</a:t>
            </a:r>
            <a:r>
              <a:rPr lang="en-US" sz="800" b="1" spc="114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Popular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434975" cy="5080"/>
            </a:xfrm>
            <a:custGeom>
              <a:avLst/>
              <a:gdLst/>
              <a:ahLst/>
              <a:cxnLst/>
              <a:rect l="l" t="t" r="r" b="b"/>
              <a:pathLst>
                <a:path w="434975" h="5080">
                  <a:moveTo>
                    <a:pt x="0" y="5060"/>
                  </a:moveTo>
                  <a:lnTo>
                    <a:pt x="0" y="0"/>
                  </a:lnTo>
                  <a:lnTo>
                    <a:pt x="434712" y="0"/>
                  </a:lnTo>
                  <a:lnTo>
                    <a:pt x="43471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Cloud</a:t>
            </a:r>
            <a:r>
              <a:rPr lang="en-US" spc="5" noProof="1"/>
              <a:t> </a:t>
            </a:r>
            <a:r>
              <a:rPr lang="en-US" spc="-55" noProof="1"/>
              <a:t>services</a:t>
            </a:r>
            <a:r>
              <a:rPr lang="en-US" spc="10" noProof="1"/>
              <a:t> </a:t>
            </a:r>
            <a:r>
              <a:rPr lang="en-US" spc="-35" noProof="1"/>
              <a:t>everywhere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380965"/>
            <a:ext cx="506920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3810">
              <a:lnSpc>
                <a:spcPct val="116199"/>
              </a:lnSpc>
              <a:spcBef>
                <a:spcPts val="100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Beyond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major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Azure,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Google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Platform (GCP),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Amazon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(AWS).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21055" y="810204"/>
            <a:ext cx="4317896" cy="1799341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150338" y="2743516"/>
            <a:ext cx="145986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4:</a:t>
            </a:r>
            <a:r>
              <a:rPr lang="en-US" sz="800" b="1" spc="1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Major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43560" cy="5080"/>
            </a:xfrm>
            <a:custGeom>
              <a:avLst/>
              <a:gdLst/>
              <a:ahLst/>
              <a:cxnLst/>
              <a:rect l="l" t="t" r="r" b="b"/>
              <a:pathLst>
                <a:path w="543560" h="5080">
                  <a:moveTo>
                    <a:pt x="0" y="5060"/>
                  </a:moveTo>
                  <a:lnTo>
                    <a:pt x="0" y="0"/>
                  </a:lnTo>
                  <a:lnTo>
                    <a:pt x="543434" y="0"/>
                  </a:lnTo>
                  <a:lnTo>
                    <a:pt x="54343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167"/>
            <a:ext cx="2088514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4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Advantages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of</a:t>
            </a:r>
            <a:r>
              <a:rPr lang="en-US" sz="1100" b="1" spc="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Cloud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Computing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056"/>
            <a:ext cx="2505710" cy="5080"/>
            <a:chOff x="1627403" y="1647056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056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056"/>
              <a:ext cx="1073785" cy="5080"/>
            </a:xfrm>
            <a:custGeom>
              <a:avLst/>
              <a:gdLst/>
              <a:ahLst/>
              <a:cxnLst/>
              <a:rect l="l" t="t" r="r" b="b"/>
              <a:pathLst>
                <a:path w="1073785" h="5080">
                  <a:moveTo>
                    <a:pt x="0" y="5060"/>
                  </a:moveTo>
                  <a:lnTo>
                    <a:pt x="0" y="0"/>
                  </a:lnTo>
                  <a:lnTo>
                    <a:pt x="1073678" y="0"/>
                  </a:lnTo>
                  <a:lnTo>
                    <a:pt x="107367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76682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Capital</a:t>
            </a:r>
            <a:r>
              <a:rPr lang="en-US" spc="45" noProof="1"/>
              <a:t> </a:t>
            </a:r>
            <a:r>
              <a:rPr lang="en-US" spc="-55" noProof="1"/>
              <a:t>expenses</a:t>
            </a:r>
            <a:r>
              <a:rPr lang="en-US" spc="45" noProof="1"/>
              <a:t> </a:t>
            </a:r>
            <a:r>
              <a:rPr lang="en-US" noProof="1"/>
              <a:t>to</a:t>
            </a:r>
            <a:r>
              <a:rPr lang="en-US" spc="45" noProof="1"/>
              <a:t> </a:t>
            </a:r>
            <a:r>
              <a:rPr lang="en-US" spc="-25" noProof="1"/>
              <a:t>operational</a:t>
            </a:r>
            <a:r>
              <a:rPr lang="en-US" spc="50" noProof="1"/>
              <a:t> </a:t>
            </a:r>
            <a:r>
              <a:rPr lang="en-US" spc="-55" noProof="1"/>
              <a:t>expenses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655844"/>
            <a:ext cx="5005070" cy="7429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15494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capital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expenses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(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CapEx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)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building 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maintaining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centers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converted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operational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expenses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OpEx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)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resources.</a:t>
            </a:r>
            <a:endParaRPr lang="en-US" sz="900" noProof="1">
              <a:latin typeface="Arial"/>
              <a:cs typeface="Arial"/>
            </a:endParaRPr>
          </a:p>
          <a:p>
            <a:pPr marL="16510" marR="5080">
              <a:lnSpc>
                <a:spcPct val="116199"/>
              </a:lnSpc>
              <a:spcBef>
                <a:spcPts val="625"/>
              </a:spcBef>
            </a:pPr>
            <a:r>
              <a:rPr lang="en-US" sz="900" spc="315" noProof="1">
                <a:solidFill>
                  <a:srgbClr val="880B57"/>
                </a:solidFill>
                <a:latin typeface="Apple Symbols"/>
                <a:cs typeface="Apple Symbols"/>
              </a:rPr>
              <a:t>⇒</a:t>
            </a:r>
            <a:r>
              <a:rPr lang="en-US" sz="900" spc="-35" noProof="1">
                <a:solidFill>
                  <a:srgbClr val="880B57"/>
                </a:solidFill>
                <a:latin typeface="Apple Symbols"/>
                <a:cs typeface="Apple Symbols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shift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reduces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investments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hardware,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predictable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manageable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cost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structure.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474762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13AF3C"/>
                </a:solidFill>
                <a:latin typeface="Arial"/>
                <a:cs typeface="Arial"/>
              </a:rPr>
              <a:t>Example:</a:t>
            </a:r>
            <a:r>
              <a:rPr lang="en-US" sz="900" b="1" spc="13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13AF3C"/>
                </a:solidFill>
                <a:latin typeface="Arial"/>
                <a:cs typeface="Arial"/>
              </a:rPr>
              <a:t>Hotel</a:t>
            </a:r>
            <a:r>
              <a:rPr lang="en-US" sz="900" b="1" spc="4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Analogy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639188"/>
            <a:ext cx="5039995" cy="33909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hotel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instead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buying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house.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invest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building,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room.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59994" y="2076780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Be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aware!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59994" y="2241206"/>
            <a:ext cx="5039995" cy="178435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254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2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expensive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house.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2057831" y="2542052"/>
            <a:ext cx="164465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only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pay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for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use.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0" name="object 10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2586355" cy="5080"/>
            </a:xfrm>
            <a:custGeom>
              <a:avLst/>
              <a:gdLst/>
              <a:ahLst/>
              <a:cxnLst/>
              <a:rect l="l" t="t" r="r" b="b"/>
              <a:pathLst>
                <a:path w="2586355" h="5080">
                  <a:moveTo>
                    <a:pt x="0" y="5060"/>
                  </a:moveTo>
                  <a:lnTo>
                    <a:pt x="0" y="0"/>
                  </a:lnTo>
                  <a:lnTo>
                    <a:pt x="2586126" y="0"/>
                  </a:lnTo>
                  <a:lnTo>
                    <a:pt x="258612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12268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55" noProof="1"/>
              <a:t>Economies</a:t>
            </a:r>
            <a:r>
              <a:rPr lang="en-US" spc="25" noProof="1"/>
              <a:t> </a:t>
            </a:r>
            <a:r>
              <a:rPr lang="en-US" noProof="1"/>
              <a:t>of</a:t>
            </a:r>
            <a:r>
              <a:rPr lang="en-US" spc="30" noProof="1"/>
              <a:t> </a:t>
            </a:r>
            <a:r>
              <a:rPr lang="en-US" spc="-40" noProof="1"/>
              <a:t>scale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007100"/>
            <a:ext cx="4888865" cy="48096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benefit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economies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scale,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offer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lower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prices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individual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achieve.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because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larger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scale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587030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13AF3C"/>
                </a:solidFill>
                <a:latin typeface="Arial"/>
                <a:cs typeface="Arial"/>
              </a:rPr>
              <a:t>Example:</a:t>
            </a:r>
            <a:r>
              <a:rPr lang="en-US" sz="900" b="1" spc="13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13AF3C"/>
                </a:solidFill>
                <a:latin typeface="Arial"/>
                <a:cs typeface="Arial"/>
              </a:rPr>
              <a:t>Hotel</a:t>
            </a:r>
            <a:r>
              <a:rPr lang="en-US" sz="900" b="1" spc="4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Analogy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751456"/>
            <a:ext cx="5039995" cy="316865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3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hotel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food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cleaning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products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bulk,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obtain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better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prices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individual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achieve.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504609" y="2190681"/>
            <a:ext cx="475107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Aggregated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demand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from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multiple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companies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can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create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a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more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eﬀicient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use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of </a:t>
            </a:r>
            <a:r>
              <a:rPr lang="en-US" sz="900" b="1" spc="-60" noProof="1">
                <a:solidFill>
                  <a:srgbClr val="EB811B"/>
                </a:solidFill>
                <a:latin typeface="Arial"/>
                <a:cs typeface="Arial"/>
              </a:rPr>
              <a:t>resources.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2703830" cy="5080"/>
            </a:xfrm>
            <a:custGeom>
              <a:avLst/>
              <a:gdLst/>
              <a:ahLst/>
              <a:cxnLst/>
              <a:rect l="l" t="t" r="r" b="b"/>
              <a:pathLst>
                <a:path w="2703830" h="5080">
                  <a:moveTo>
                    <a:pt x="0" y="5060"/>
                  </a:moveTo>
                  <a:lnTo>
                    <a:pt x="0" y="0"/>
                  </a:lnTo>
                  <a:lnTo>
                    <a:pt x="2703726" y="0"/>
                  </a:lnTo>
                  <a:lnTo>
                    <a:pt x="270372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Adaptability</a:t>
            </a:r>
            <a:r>
              <a:rPr lang="en-US" noProof="1"/>
              <a:t> </a:t>
            </a:r>
            <a:r>
              <a:rPr lang="en-US" spc="-10" noProof="1"/>
              <a:t>and</a:t>
            </a:r>
            <a:r>
              <a:rPr lang="en-US" noProof="1"/>
              <a:t> </a:t>
            </a:r>
            <a:r>
              <a:rPr lang="en-US" spc="-35" noProof="1"/>
              <a:t>scalability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075756"/>
            <a:ext cx="5067300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scale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down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needed.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stop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guessing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their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infrastructure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scale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down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business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changes.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496377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13AF3C"/>
                </a:solidFill>
                <a:latin typeface="Arial"/>
                <a:cs typeface="Arial"/>
              </a:rPr>
              <a:t>Example:</a:t>
            </a:r>
            <a:r>
              <a:rPr lang="en-US" sz="900" b="1" spc="13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13AF3C"/>
                </a:solidFill>
                <a:latin typeface="Arial"/>
                <a:cs typeface="Arial"/>
              </a:rPr>
              <a:t>Hotel</a:t>
            </a:r>
            <a:r>
              <a:rPr lang="en-US" sz="900" b="1" spc="4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Analogy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660804"/>
            <a:ext cx="5039995" cy="33909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want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suite,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suite.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want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Each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need.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rooms?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rooms.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534985" y="2122126"/>
            <a:ext cx="2690495" cy="150682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can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scale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up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or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down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as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your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65" noProof="1">
                <a:solidFill>
                  <a:srgbClr val="EB811B"/>
                </a:solidFill>
                <a:latin typeface="Arial"/>
                <a:cs typeface="Arial"/>
              </a:rPr>
              <a:t>business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needed.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2821305" cy="5080"/>
            </a:xfrm>
            <a:custGeom>
              <a:avLst/>
              <a:gdLst/>
              <a:ahLst/>
              <a:cxnLst/>
              <a:rect l="l" t="t" r="r" b="b"/>
              <a:pathLst>
                <a:path w="2821305" h="5080">
                  <a:moveTo>
                    <a:pt x="0" y="5060"/>
                  </a:moveTo>
                  <a:lnTo>
                    <a:pt x="0" y="0"/>
                  </a:lnTo>
                  <a:lnTo>
                    <a:pt x="2821237" y="0"/>
                  </a:lnTo>
                  <a:lnTo>
                    <a:pt x="2821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0947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Deployment</a:t>
            </a:r>
            <a:r>
              <a:rPr lang="en-US" spc="45" noProof="1"/>
              <a:t> </a:t>
            </a:r>
            <a:r>
              <a:rPr lang="en-US" spc="-45" noProof="1"/>
              <a:t>speed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075642"/>
            <a:ext cx="4879340" cy="503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demand,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vast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amounts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computing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provisioned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minutes.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gives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businesses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taking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pressure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capacity planning.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655584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13AF3C"/>
                </a:solidFill>
                <a:latin typeface="Arial"/>
                <a:cs typeface="Arial"/>
              </a:rPr>
              <a:t>Example:</a:t>
            </a:r>
            <a:r>
              <a:rPr lang="en-US" sz="900" b="1" spc="13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13AF3C"/>
                </a:solidFill>
                <a:latin typeface="Arial"/>
                <a:cs typeface="Arial"/>
              </a:rPr>
              <a:t>Hotel</a:t>
            </a:r>
            <a:r>
              <a:rPr lang="en-US" sz="900" b="1" spc="4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Analogy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820011"/>
            <a:ext cx="5039995" cy="179705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30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rent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room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minutes.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long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does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take 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 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house?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982393" y="2122126"/>
            <a:ext cx="179578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-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can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get </a:t>
            </a:r>
            <a:r>
              <a:rPr lang="en-US" sz="900" b="1" spc="-55" noProof="1">
                <a:solidFill>
                  <a:srgbClr val="EB811B"/>
                </a:solidFill>
                <a:latin typeface="Arial"/>
                <a:cs typeface="Arial"/>
              </a:rPr>
              <a:t>resources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in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minutes.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2939415" cy="5080"/>
            </a:xfrm>
            <a:custGeom>
              <a:avLst/>
              <a:gdLst/>
              <a:ahLst/>
              <a:cxnLst/>
              <a:rect l="l" t="t" r="r" b="b"/>
              <a:pathLst>
                <a:path w="2939415" h="5080">
                  <a:moveTo>
                    <a:pt x="0" y="5060"/>
                  </a:moveTo>
                  <a:lnTo>
                    <a:pt x="0" y="0"/>
                  </a:lnTo>
                  <a:lnTo>
                    <a:pt x="2938836" y="0"/>
                  </a:lnTo>
                  <a:lnTo>
                    <a:pt x="293883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76682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Case</a:t>
            </a:r>
            <a:r>
              <a:rPr lang="en-US" spc="-5" noProof="1"/>
              <a:t> </a:t>
            </a:r>
            <a:r>
              <a:rPr lang="en-US" spc="-10" noProof="1"/>
              <a:t>Study:</a:t>
            </a:r>
            <a:r>
              <a:rPr lang="en-US" spc="95" noProof="1"/>
              <a:t> </a:t>
            </a:r>
            <a:r>
              <a:rPr lang="en-US" spc="-30" noProof="1"/>
              <a:t>Dropbox</a:t>
            </a:r>
            <a:endParaRPr lang="en-US" spc="-35" noProof="1"/>
          </a:p>
        </p:txBody>
      </p:sp>
      <p:sp>
        <p:nvSpPr>
          <p:cNvPr id="3" name="object 3"/>
          <p:cNvSpPr txBox="1"/>
          <p:nvPr/>
        </p:nvSpPr>
        <p:spPr>
          <a:xfrm>
            <a:off x="347294" y="397945"/>
            <a:ext cx="4902200" cy="6629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b="1" spc="-10" noProof="1">
                <a:solidFill>
                  <a:srgbClr val="0070C0"/>
                </a:solidFill>
                <a:latin typeface="Arial"/>
                <a:cs typeface="Arial"/>
              </a:rPr>
              <a:t>Dropbox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hosting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synchronization,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software.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particular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computers,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Dropbox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then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synchronizes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appears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same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(with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same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contents)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regardless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which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device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view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it. 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40004" y="1209878"/>
            <a:ext cx="5081296" cy="132024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Dropbox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using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Public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40004" y="1374305"/>
            <a:ext cx="5081296" cy="727187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508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4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early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stages,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Dropbox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leveraged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AWS’s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storage.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decision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offered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Dropbox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ability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to: </a:t>
            </a:r>
            <a:endParaRPr lang="en-US" sz="900" noProof="1">
              <a:latin typeface="Arial"/>
              <a:cs typeface="Arial"/>
            </a:endParaRPr>
          </a:p>
          <a:p>
            <a:pPr marL="227329" marR="26034" indent="-147955">
              <a:lnSpc>
                <a:spcPct val="116199"/>
              </a:lnSpc>
              <a:spcBef>
                <a:spcPts val="445"/>
              </a:spcBef>
              <a:buClr>
                <a:srgbClr val="EB811B"/>
              </a:buClr>
              <a:buChar char="•"/>
              <a:tabLst>
                <a:tab pos="227329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Rapidly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scale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capacity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demand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increased.</a:t>
            </a:r>
            <a:endParaRPr lang="en-US" sz="900" noProof="1">
              <a:latin typeface="Arial"/>
              <a:cs typeface="Arial"/>
            </a:endParaRPr>
          </a:p>
          <a:p>
            <a:pPr marL="222885" marR="388620" indent="-143510">
              <a:lnSpc>
                <a:spcPct val="116199"/>
              </a:lnSpc>
              <a:spcBef>
                <a:spcPts val="450"/>
              </a:spcBef>
              <a:buClr>
                <a:srgbClr val="EB811B"/>
              </a:buClr>
              <a:buChar char="•"/>
              <a:tabLst>
                <a:tab pos="227329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Achieve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swift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production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deployment,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enhancing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market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responsiveness.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9" name="object 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3056890" cy="5080"/>
            </a:xfrm>
            <a:custGeom>
              <a:avLst/>
              <a:gdLst/>
              <a:ahLst/>
              <a:cxnLst/>
              <a:rect l="l" t="t" r="r" b="b"/>
              <a:pathLst>
                <a:path w="3056890" h="5080">
                  <a:moveTo>
                    <a:pt x="0" y="5060"/>
                  </a:moveTo>
                  <a:lnTo>
                    <a:pt x="0" y="0"/>
                  </a:lnTo>
                  <a:lnTo>
                    <a:pt x="3056347" y="0"/>
                  </a:lnTo>
                  <a:lnTo>
                    <a:pt x="305634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4">
            <a:extLst>
              <a:ext uri="{FF2B5EF4-FFF2-40B4-BE49-F238E27FC236}">
                <a16:creationId xmlns:a16="http://schemas.microsoft.com/office/drawing/2014/main" id="{4F5519C6-C707-B746-D702-E190A0DAD823}"/>
              </a:ext>
            </a:extLst>
          </p:cNvPr>
          <p:cNvSpPr txBox="1"/>
          <p:nvPr/>
        </p:nvSpPr>
        <p:spPr>
          <a:xfrm>
            <a:off x="257746" y="2174248"/>
            <a:ext cx="5081296" cy="132024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Disadvantage: </a:t>
            </a:r>
            <a:r>
              <a:rPr lang="en-US" sz="900" b="1" spc="-25" noProof="1">
                <a:solidFill>
                  <a:schemeClr val="tx1"/>
                </a:solidFill>
                <a:latin typeface="Arial"/>
                <a:cs typeface="Arial"/>
              </a:rPr>
              <a:t>Elevated Cost </a:t>
            </a:r>
            <a:endParaRPr lang="en-US" sz="900" noProof="1">
              <a:solidFill>
                <a:schemeClr val="tx1"/>
              </a:solidFill>
              <a:latin typeface="Arial"/>
              <a:cs typeface="Arial"/>
            </a:endParaRPr>
          </a:p>
        </p:txBody>
      </p:sp>
    </p:spTree>
  </p:cSld>
  <p:clrMapOvr>
    <a:masterClrMapping/>
  </p:clrMapOvr>
  <p:transition>
    <p:cut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614703" y="1257691"/>
            <a:ext cx="1940560" cy="4038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2799"/>
              </a:lnSpc>
              <a:spcBef>
                <a:spcPts val="100"/>
              </a:spcBef>
            </a:pPr>
            <a:r>
              <a:rPr lang="en-US" sz="1100" spc="-70" noProof="1">
                <a:solidFill>
                  <a:srgbClr val="22373A"/>
                </a:solidFill>
                <a:hlinkClick r:id="rId3" action="ppaction://hlinksldjump"/>
              </a:rPr>
              <a:t>Risks</a:t>
            </a:r>
            <a:r>
              <a:rPr lang="en-US" sz="1100" spc="15" noProof="1">
                <a:solidFill>
                  <a:srgbClr val="22373A"/>
                </a:solidFill>
                <a:hlinkClick r:id="rId3" action="ppaction://hlinksldjump"/>
              </a:rPr>
              <a:t> </a:t>
            </a:r>
            <a:r>
              <a:rPr lang="en-US" sz="1100" spc="-20" noProof="1">
                <a:solidFill>
                  <a:srgbClr val="22373A"/>
                </a:solidFill>
                <a:hlinkClick r:id="rId3" action="ppaction://hlinksldjump"/>
              </a:rPr>
              <a:t>and</a:t>
            </a:r>
            <a:r>
              <a:rPr lang="en-US" sz="1100" spc="20" noProof="1">
                <a:solidFill>
                  <a:srgbClr val="22373A"/>
                </a:solidFill>
                <a:hlinkClick r:id="rId3" action="ppaction://hlinksldjump"/>
              </a:rPr>
              <a:t> </a:t>
            </a:r>
            <a:r>
              <a:rPr lang="en-US" sz="1100" spc="-55" noProof="1">
                <a:solidFill>
                  <a:srgbClr val="22373A"/>
                </a:solidFill>
                <a:hlinkClick r:id="rId3" action="ppaction://hlinksldjump"/>
              </a:rPr>
              <a:t>Challenges</a:t>
            </a:r>
            <a:r>
              <a:rPr lang="en-US" sz="1100" spc="15" noProof="1">
                <a:solidFill>
                  <a:srgbClr val="22373A"/>
                </a:solidFill>
                <a:hlinkClick r:id="rId3" action="ppaction://hlinksldjump"/>
              </a:rPr>
              <a:t> </a:t>
            </a:r>
            <a:r>
              <a:rPr lang="en-US" sz="1100" noProof="1">
                <a:solidFill>
                  <a:srgbClr val="22373A"/>
                </a:solidFill>
                <a:hlinkClick r:id="rId3" action="ppaction://hlinksldjump"/>
              </a:rPr>
              <a:t>of</a:t>
            </a:r>
            <a:r>
              <a:rPr lang="en-US" sz="1100" spc="20" noProof="1">
                <a:solidFill>
                  <a:srgbClr val="22373A"/>
                </a:solidFill>
                <a:hlinkClick r:id="rId3" action="ppaction://hlinksldjump"/>
              </a:rPr>
              <a:t> </a:t>
            </a:r>
            <a:r>
              <a:rPr lang="en-US" sz="1100" spc="-50" noProof="1">
                <a:solidFill>
                  <a:srgbClr val="22373A"/>
                </a:solidFill>
                <a:hlinkClick r:id="rId3" action="ppaction://hlinksldjump"/>
              </a:rPr>
              <a:t>Cloud</a:t>
            </a:r>
            <a:r>
              <a:rPr lang="en-US" sz="1100" spc="-50" noProof="1">
                <a:solidFill>
                  <a:srgbClr val="22373A"/>
                </a:solidFill>
              </a:rPr>
              <a:t> </a:t>
            </a:r>
            <a:r>
              <a:rPr lang="en-US" sz="1100" spc="-10" noProof="1">
                <a:solidFill>
                  <a:srgbClr val="22373A"/>
                </a:solidFill>
                <a:hlinkClick r:id="rId3" action="ppaction://hlinksldjump"/>
              </a:rPr>
              <a:t>Computing</a:t>
            </a:r>
            <a:endParaRPr lang="en-US" sz="1100" noProof="1"/>
          </a:p>
        </p:txBody>
      </p:sp>
      <p:grpSp>
        <p:nvGrpSpPr>
          <p:cNvPr id="4" name="object 4"/>
          <p:cNvGrpSpPr/>
          <p:nvPr/>
        </p:nvGrpSpPr>
        <p:grpSpPr>
          <a:xfrm>
            <a:off x="1627403" y="1741633"/>
            <a:ext cx="2505710" cy="5080"/>
            <a:chOff x="1627403" y="1741633"/>
            <a:chExt cx="2505710" cy="5080"/>
          </a:xfrm>
        </p:grpSpPr>
        <p:sp>
          <p:nvSpPr>
            <p:cNvPr id="5" name="object 5"/>
            <p:cNvSpPr/>
            <p:nvPr/>
          </p:nvSpPr>
          <p:spPr>
            <a:xfrm>
              <a:off x="1627403" y="1741633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1627403" y="1741633"/>
              <a:ext cx="1380490" cy="5080"/>
            </a:xfrm>
            <a:custGeom>
              <a:avLst/>
              <a:gdLst/>
              <a:ahLst/>
              <a:cxnLst/>
              <a:rect l="l" t="t" r="r" b="b"/>
              <a:pathLst>
                <a:path w="1380489" h="5080">
                  <a:moveTo>
                    <a:pt x="0" y="5060"/>
                  </a:moveTo>
                  <a:lnTo>
                    <a:pt x="0" y="0"/>
                  </a:lnTo>
                  <a:lnTo>
                    <a:pt x="1380449" y="0"/>
                  </a:lnTo>
                  <a:lnTo>
                    <a:pt x="138044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Data</a:t>
            </a:r>
            <a:r>
              <a:rPr lang="en-US" spc="145" noProof="1"/>
              <a:t> </a:t>
            </a:r>
            <a:r>
              <a:rPr lang="en-US" spc="-40" noProof="1"/>
              <a:t>security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950306"/>
            <a:ext cx="5005705" cy="14598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106045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invest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heavily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security,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but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breaches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happen.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immune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threats,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must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carefully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measures.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breaches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compliance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Misconfiguration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Insider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threats</a:t>
            </a:r>
            <a:endParaRPr lang="en-US" sz="900" noProof="1">
              <a:latin typeface="Arial"/>
              <a:cs typeface="Arial"/>
            </a:endParaRPr>
          </a:p>
          <a:p>
            <a:pPr marL="2185035" marR="5080" indent="-2112645">
              <a:lnSpc>
                <a:spcPct val="116199"/>
              </a:lnSpc>
              <a:spcBef>
                <a:spcPts val="625"/>
              </a:spcBef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need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be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aware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security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EB811B"/>
                </a:solidFill>
                <a:latin typeface="Arial"/>
                <a:cs typeface="Arial"/>
              </a:rPr>
              <a:t>measures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your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provider and yours,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it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shared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responsibility.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291840" cy="5080"/>
            </a:xfrm>
            <a:custGeom>
              <a:avLst/>
              <a:gdLst/>
              <a:ahLst/>
              <a:cxnLst/>
              <a:rect l="l" t="t" r="r" b="b"/>
              <a:pathLst>
                <a:path w="3291840" h="5080">
                  <a:moveTo>
                    <a:pt x="0" y="5060"/>
                  </a:moveTo>
                  <a:lnTo>
                    <a:pt x="0" y="0"/>
                  </a:lnTo>
                  <a:lnTo>
                    <a:pt x="3291458" y="0"/>
                  </a:lnTo>
                  <a:lnTo>
                    <a:pt x="329145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Real </a:t>
            </a:r>
            <a:r>
              <a:rPr lang="en-US" spc="-60" noProof="1"/>
              <a:t>Cases</a:t>
            </a:r>
            <a:r>
              <a:rPr lang="en-US" spc="5" noProof="1"/>
              <a:t> </a:t>
            </a:r>
            <a:r>
              <a:rPr lang="en-US" noProof="1"/>
              <a:t>of </a:t>
            </a:r>
            <a:r>
              <a:rPr lang="en-US" spc="-30" noProof="1"/>
              <a:t>Security</a:t>
            </a:r>
            <a:r>
              <a:rPr lang="en-US" spc="5" noProof="1"/>
              <a:t> </a:t>
            </a:r>
            <a:r>
              <a:rPr lang="en-US" spc="-35" noProof="1"/>
              <a:t>Breaches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950306"/>
            <a:ext cx="4930140" cy="14598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3670" marR="5080" indent="-141605">
              <a:lnSpc>
                <a:spcPct val="116199"/>
              </a:lnSpc>
              <a:spcBef>
                <a:spcPts val="100"/>
              </a:spcBef>
              <a:buChar char="•"/>
              <a:tabLst>
                <a:tab pos="160020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WannaCry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ransomware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attack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2017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affected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200,000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computers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150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countries, 	including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UK’s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National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(NHS).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attack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encrypted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computers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	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demanded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ransom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unlock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it.</a:t>
            </a:r>
            <a:endParaRPr lang="en-US" sz="900" noProof="1">
              <a:latin typeface="Arial"/>
              <a:cs typeface="Arial"/>
            </a:endParaRPr>
          </a:p>
          <a:p>
            <a:pPr marL="160020" marR="233045" indent="-147955">
              <a:lnSpc>
                <a:spcPct val="116199"/>
              </a:lnSpc>
              <a:buChar char="•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2021,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Universitat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Autònoma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Barcelona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(UAB)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suffered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breach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exposed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information of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students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staff.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breach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occurred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hacker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gained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unauthorized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university’s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stole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sensitive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US" sz="900" noProof="1">
              <a:latin typeface="Arial"/>
              <a:cs typeface="Arial"/>
            </a:endParaRPr>
          </a:p>
          <a:p>
            <a:pPr marL="160020" marR="354965" indent="-147955">
              <a:lnSpc>
                <a:spcPct val="116199"/>
              </a:lnSpc>
              <a:buChar char="•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2023,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Clinic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Barcelona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Hospital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suffered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breach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exposed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personal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information of million 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patients.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breach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occurred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subcontractor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accidentally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uploaded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without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proper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measures.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409315" cy="5080"/>
            </a:xfrm>
            <a:custGeom>
              <a:avLst/>
              <a:gdLst/>
              <a:ahLst/>
              <a:cxnLst/>
              <a:rect l="l" t="t" r="r" b="b"/>
              <a:pathLst>
                <a:path w="3409315" h="5080">
                  <a:moveTo>
                    <a:pt x="0" y="5060"/>
                  </a:moveTo>
                  <a:lnTo>
                    <a:pt x="0" y="0"/>
                  </a:lnTo>
                  <a:lnTo>
                    <a:pt x="3409057" y="0"/>
                  </a:lnTo>
                  <a:lnTo>
                    <a:pt x="340905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How</a:t>
            </a:r>
            <a:r>
              <a:rPr lang="en-US" spc="25" noProof="1"/>
              <a:t> </a:t>
            </a:r>
            <a:r>
              <a:rPr lang="en-US" noProof="1"/>
              <a:t>to</a:t>
            </a:r>
            <a:r>
              <a:rPr lang="en-US" spc="30" noProof="1"/>
              <a:t> </a:t>
            </a:r>
            <a:r>
              <a:rPr lang="en-US" spc="-10" noProof="1"/>
              <a:t>protect</a:t>
            </a:r>
            <a:r>
              <a:rPr lang="en-US" spc="25" noProof="1"/>
              <a:t> </a:t>
            </a:r>
            <a:r>
              <a:rPr lang="en-US" spc="-35" noProof="1"/>
              <a:t>your</a:t>
            </a:r>
            <a:r>
              <a:rPr lang="en-US" spc="30" noProof="1"/>
              <a:t> </a:t>
            </a:r>
            <a:r>
              <a:rPr lang="en-US" noProof="1"/>
              <a:t>data</a:t>
            </a:r>
            <a:r>
              <a:rPr lang="en-US" spc="25" noProof="1"/>
              <a:t> </a:t>
            </a:r>
            <a:r>
              <a:rPr lang="en-US" noProof="1"/>
              <a:t>in</a:t>
            </a:r>
            <a:r>
              <a:rPr lang="en-US" spc="30" noProof="1"/>
              <a:t> </a:t>
            </a:r>
            <a:r>
              <a:rPr lang="en-US" noProof="1"/>
              <a:t>the</a:t>
            </a:r>
            <a:r>
              <a:rPr lang="en-US" spc="25" noProof="1"/>
              <a:t> </a:t>
            </a:r>
            <a:r>
              <a:rPr lang="en-US" spc="-45" noProof="1"/>
              <a:t>cloud?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950230"/>
            <a:ext cx="4977130" cy="145986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encryption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Encrypt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rest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transit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protect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unauthorized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access.</a:t>
            </a:r>
            <a:endParaRPr lang="en-US" sz="900" noProof="1">
              <a:latin typeface="Arial"/>
              <a:cs typeface="Arial"/>
            </a:endParaRPr>
          </a:p>
          <a:p>
            <a:pPr marL="160020" marR="762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6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control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Implement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strong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controls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ensure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authorized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access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backup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Regularly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back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ensure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recovered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event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loss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corruption.</a:t>
            </a:r>
            <a:endParaRPr lang="en-US" sz="900" noProof="1">
              <a:latin typeface="Arial"/>
              <a:cs typeface="Arial"/>
            </a:endParaRPr>
          </a:p>
          <a:p>
            <a:pPr marL="160020" marR="9525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monitoring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Monitor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threats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respond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incidents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manner.</a:t>
            </a:r>
            <a:endParaRPr lang="en-US" sz="900" noProof="1">
              <a:latin typeface="Arial"/>
              <a:cs typeface="Arial"/>
            </a:endParaRPr>
          </a:p>
          <a:p>
            <a:pPr marL="160020" marR="385445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Compliance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14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Ensure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comply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relevant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standards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regulations.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644265" cy="5080"/>
            </a:xfrm>
            <a:custGeom>
              <a:avLst/>
              <a:gdLst/>
              <a:ahLst/>
              <a:cxnLst/>
              <a:rect l="l" t="t" r="r" b="b"/>
              <a:pathLst>
                <a:path w="3644265" h="5080">
                  <a:moveTo>
                    <a:pt x="0" y="5060"/>
                  </a:moveTo>
                  <a:lnTo>
                    <a:pt x="0" y="0"/>
                  </a:lnTo>
                  <a:lnTo>
                    <a:pt x="3644167" y="0"/>
                  </a:lnTo>
                  <a:lnTo>
                    <a:pt x="364416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Data</a:t>
            </a:r>
            <a:r>
              <a:rPr lang="en-US" spc="145" noProof="1"/>
              <a:t> </a:t>
            </a:r>
            <a:r>
              <a:rPr lang="en-US" spc="-45" noProof="1"/>
              <a:t>compliance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308738"/>
            <a:ext cx="5044440" cy="7429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Regulatory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compliance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critical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consideration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process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sensitive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cloud.</a:t>
            </a:r>
            <a:r>
              <a:rPr lang="en-US" sz="900" spc="1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ensure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comply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relevant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security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standards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regulations,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such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GDPR,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HIPAA,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PCI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DSS.</a:t>
            </a:r>
            <a:endParaRPr lang="en-US" sz="900" noProof="1">
              <a:latin typeface="Arial"/>
              <a:cs typeface="Arial"/>
            </a:endParaRPr>
          </a:p>
          <a:p>
            <a:pPr marL="294005">
              <a:lnSpc>
                <a:spcPct val="100000"/>
              </a:lnSpc>
              <a:spcBef>
                <a:spcPts val="800"/>
              </a:spcBef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need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be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aware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data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compliance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regulations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that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apply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your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business.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761740" cy="5080"/>
            </a:xfrm>
            <a:custGeom>
              <a:avLst/>
              <a:gdLst/>
              <a:ahLst/>
              <a:cxnLst/>
              <a:rect l="l" t="t" r="r" b="b"/>
              <a:pathLst>
                <a:path w="3761740" h="5080">
                  <a:moveTo>
                    <a:pt x="0" y="5060"/>
                  </a:moveTo>
                  <a:lnTo>
                    <a:pt x="0" y="0"/>
                  </a:lnTo>
                  <a:lnTo>
                    <a:pt x="3761679" y="0"/>
                  </a:lnTo>
                  <a:lnTo>
                    <a:pt x="376167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Homework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33590" y="1507874"/>
            <a:ext cx="4893310" cy="344170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2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You must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GitHub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account.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Next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week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endParaRPr lang="en-US" sz="900" noProof="1">
              <a:latin typeface="Arial"/>
              <a:cs typeface="Arial"/>
            </a:endParaRPr>
          </a:p>
          <a:p>
            <a:pPr marL="22860" algn="ctr">
              <a:lnSpc>
                <a:spcPct val="100000"/>
              </a:lnSpc>
              <a:spcBef>
                <a:spcPts val="17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GitHub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Pages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Take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look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the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lab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descripton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want.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114800" cy="5080"/>
            </a:xfrm>
            <a:custGeom>
              <a:avLst/>
              <a:gdLst/>
              <a:ahLst/>
              <a:cxnLst/>
              <a:rect l="l" t="t" r="r" b="b"/>
              <a:pathLst>
                <a:path w="4114800" h="5080">
                  <a:moveTo>
                    <a:pt x="0" y="5060"/>
                  </a:moveTo>
                  <a:lnTo>
                    <a:pt x="0" y="0"/>
                  </a:lnTo>
                  <a:lnTo>
                    <a:pt x="4114300" y="0"/>
                  </a:lnTo>
                  <a:lnTo>
                    <a:pt x="411430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76682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0" noProof="1"/>
              <a:t>Dependence</a:t>
            </a:r>
            <a:endParaRPr lang="en-US" spc="-25" noProof="1"/>
          </a:p>
        </p:txBody>
      </p:sp>
      <p:sp>
        <p:nvSpPr>
          <p:cNvPr id="3" name="object 3"/>
          <p:cNvSpPr txBox="1"/>
          <p:nvPr/>
        </p:nvSpPr>
        <p:spPr>
          <a:xfrm>
            <a:off x="343319" y="476774"/>
            <a:ext cx="5042535" cy="225452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467359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EB811B"/>
                </a:solidFill>
                <a:latin typeface="Arial"/>
                <a:cs typeface="Arial"/>
              </a:rPr>
              <a:t>proprietary</a:t>
            </a:r>
            <a:r>
              <a:rPr lang="en-US" sz="900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EB811B"/>
                </a:solidFill>
                <a:latin typeface="Arial"/>
                <a:cs typeface="Arial"/>
              </a:rPr>
              <a:t>technology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make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diﬀicult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migrate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providers.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result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vendor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dependence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are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dependent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needs.</a:t>
            </a:r>
          </a:p>
          <a:p>
            <a:pPr marL="16510" marR="467359">
              <a:lnSpc>
                <a:spcPct val="116199"/>
              </a:lnSpc>
              <a:spcBef>
                <a:spcPts val="10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41300" marR="266700" indent="-145415" algn="just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241300" algn="l"/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	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Limited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choice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Customers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limited 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ability 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choose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different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vendors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solutions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better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meet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evolving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better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value.</a:t>
            </a:r>
          </a:p>
          <a:p>
            <a:pPr marL="241300" marR="266700" indent="-145415" algn="just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241300" algn="l"/>
                <a:tab pos="243204" algn="l"/>
              </a:tabLst>
            </a:pPr>
            <a:endParaRPr lang="en-US" sz="900" noProof="1">
              <a:latin typeface="Arial"/>
              <a:cs typeface="Arial"/>
            </a:endParaRPr>
          </a:p>
          <a:p>
            <a:pPr marL="243840" marR="187325" indent="-147955" algn="just">
              <a:lnSpc>
                <a:spcPct val="116199"/>
              </a:lnSpc>
              <a:buFont typeface="Arial"/>
              <a:buChar char="•"/>
              <a:tabLst>
                <a:tab pos="243840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Higher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switching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costs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Customers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may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face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costs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complexity when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migrating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their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vendor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on-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premises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environment.</a:t>
            </a:r>
          </a:p>
          <a:p>
            <a:pPr marL="243840" marR="187325" indent="-147955" algn="just">
              <a:lnSpc>
                <a:spcPct val="116199"/>
              </a:lnSpc>
              <a:buFont typeface="Arial"/>
              <a:buChar char="•"/>
              <a:tabLst>
                <a:tab pos="243840" algn="l"/>
              </a:tabLst>
            </a:pPr>
            <a:endParaRPr lang="en-US" sz="900" noProof="1">
              <a:latin typeface="Arial"/>
              <a:cs typeface="Arial"/>
            </a:endParaRPr>
          </a:p>
          <a:p>
            <a:pPr marL="243840" marR="270510" indent="-147955" algn="just">
              <a:lnSpc>
                <a:spcPct val="116199"/>
              </a:lnSpc>
              <a:buFont typeface="Arial"/>
              <a:buChar char="•"/>
              <a:tabLst>
                <a:tab pos="24384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interoperability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Customers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face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challenges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ensuring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interoperability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portability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across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platforms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environments,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hinder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ability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integrate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share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systems.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879215" cy="5080"/>
            </a:xfrm>
            <a:custGeom>
              <a:avLst/>
              <a:gdLst/>
              <a:ahLst/>
              <a:cxnLst/>
              <a:rect l="l" t="t" r="r" b="b"/>
              <a:pathLst>
                <a:path w="3879215" h="5080">
                  <a:moveTo>
                    <a:pt x="0" y="5060"/>
                  </a:moveTo>
                  <a:lnTo>
                    <a:pt x="0" y="0"/>
                  </a:lnTo>
                  <a:lnTo>
                    <a:pt x="3879190" y="0"/>
                  </a:lnTo>
                  <a:lnTo>
                    <a:pt x="387919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Other</a:t>
            </a:r>
            <a:r>
              <a:rPr lang="en-US" spc="30" noProof="1"/>
              <a:t> </a:t>
            </a:r>
            <a:r>
              <a:rPr lang="en-US" spc="-50" noProof="1"/>
              <a:t>challenges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591747"/>
            <a:ext cx="4988560" cy="21767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0020" marR="241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affected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factors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such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latency,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bandwidth,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location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centers.</a:t>
            </a:r>
            <a:endParaRPr lang="en-US" sz="900" noProof="1">
              <a:latin typeface="Arial"/>
              <a:cs typeface="Arial"/>
            </a:endParaRPr>
          </a:p>
          <a:p>
            <a:pPr marL="160020" marR="240029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Cost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costs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spiral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control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properly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managed,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leading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unexpected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expenses.</a:t>
            </a:r>
            <a:endParaRPr lang="en-US" sz="900" noProof="1">
              <a:latin typeface="Arial"/>
              <a:cs typeface="Arial"/>
            </a:endParaRPr>
          </a:p>
          <a:p>
            <a:pPr marL="160020" marR="46609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level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agreements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(SLAs)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not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meet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 Quality of Service requirement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leading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downtime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issues.</a:t>
            </a:r>
            <a:endParaRPr lang="en-US" sz="900" noProof="1">
              <a:latin typeface="Arial"/>
              <a:cs typeface="Arial"/>
            </a:endParaRPr>
          </a:p>
          <a:p>
            <a:pPr marL="160020" marR="235585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Integrity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Ensuring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integrity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data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protecting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against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unauthorized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changes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tampering.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Real-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processing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optimized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real-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processing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analysis,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impact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require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latency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throughput.</a:t>
            </a:r>
            <a:endParaRPr lang="en-US" sz="900" noProof="1">
              <a:latin typeface="Arial"/>
              <a:cs typeface="Arial"/>
            </a:endParaRPr>
          </a:p>
          <a:p>
            <a:pPr marL="1007744" marR="203200" indent="-879475">
              <a:lnSpc>
                <a:spcPct val="116199"/>
              </a:lnSpc>
              <a:spcBef>
                <a:spcPts val="625"/>
              </a:spcBef>
            </a:pP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computing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not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without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its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EB811B"/>
                </a:solidFill>
                <a:latin typeface="Arial"/>
                <a:cs typeface="Arial"/>
              </a:rPr>
              <a:t>risks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challenges,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companies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need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to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carefully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manage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these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ensure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60" noProof="1">
                <a:solidFill>
                  <a:srgbClr val="EB811B"/>
                </a:solidFill>
                <a:latin typeface="Arial"/>
                <a:cs typeface="Arial"/>
              </a:rPr>
              <a:t>successful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deployment.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997325" cy="5080"/>
            </a:xfrm>
            <a:custGeom>
              <a:avLst/>
              <a:gdLst/>
              <a:ahLst/>
              <a:cxnLst/>
              <a:rect l="l" t="t" r="r" b="b"/>
              <a:pathLst>
                <a:path w="3997325" h="5080">
                  <a:moveTo>
                    <a:pt x="0" y="5060"/>
                  </a:moveTo>
                  <a:lnTo>
                    <a:pt x="0" y="0"/>
                  </a:lnTo>
                  <a:lnTo>
                    <a:pt x="3996789" y="0"/>
                  </a:lnTo>
                  <a:lnTo>
                    <a:pt x="399678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Case</a:t>
            </a:r>
            <a:r>
              <a:rPr lang="en-US" spc="-5" noProof="1"/>
              <a:t> </a:t>
            </a:r>
            <a:r>
              <a:rPr lang="en-US" spc="-10" noProof="1"/>
              <a:t>Study:</a:t>
            </a:r>
            <a:r>
              <a:rPr lang="en-US" spc="90" noProof="1"/>
              <a:t> </a:t>
            </a:r>
            <a:r>
              <a:rPr lang="en-US" noProof="1"/>
              <a:t>Is</a:t>
            </a:r>
            <a:r>
              <a:rPr lang="en-US" spc="-5" noProof="1"/>
              <a:t> </a:t>
            </a:r>
            <a:r>
              <a:rPr lang="en-US" spc="-30" noProof="1"/>
              <a:t>Cloud</a:t>
            </a:r>
            <a:r>
              <a:rPr lang="en-US" noProof="1"/>
              <a:t> </a:t>
            </a:r>
            <a:r>
              <a:rPr lang="en-US" spc="-30" noProof="1"/>
              <a:t>Computing</a:t>
            </a:r>
            <a:r>
              <a:rPr lang="en-US" spc="-5" noProof="1"/>
              <a:t> </a:t>
            </a:r>
            <a:r>
              <a:rPr lang="en-US" noProof="1"/>
              <a:t>Right for</a:t>
            </a:r>
            <a:r>
              <a:rPr lang="en-US" spc="-5" noProof="1"/>
              <a:t> </a:t>
            </a:r>
            <a:r>
              <a:rPr lang="en-US" spc="-20" noProof="1"/>
              <a:t>Your</a:t>
            </a:r>
            <a:r>
              <a:rPr lang="en-US" noProof="1"/>
              <a:t> </a:t>
            </a:r>
            <a:r>
              <a:rPr lang="en-US" spc="-40" noProof="1"/>
              <a:t>Company?</a:t>
            </a:r>
            <a:r>
              <a:rPr lang="en-US" spc="85" noProof="1"/>
              <a:t> </a:t>
            </a:r>
            <a:r>
              <a:rPr lang="en-US" spc="50" noProof="1"/>
              <a:t>(I)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149391"/>
            <a:ext cx="5069840" cy="10610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 algn="ctr">
              <a:lnSpc>
                <a:spcPct val="116199"/>
              </a:lnSpc>
              <a:spcBef>
                <a:spcPts val="100"/>
              </a:spcBef>
            </a:pP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Consider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startup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X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competitive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market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reduce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costs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market.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considering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whether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adopt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traditional infrastructure?</a:t>
            </a:r>
            <a:endParaRPr lang="en-US" sz="900" noProof="1">
              <a:latin typeface="Arial"/>
              <a:cs typeface="Arial"/>
            </a:endParaRPr>
          </a:p>
          <a:p>
            <a:pPr marL="16510" marR="65405" indent="-4445">
              <a:lnSpc>
                <a:spcPct val="116199"/>
              </a:lnSpc>
              <a:spcBef>
                <a:spcPts val="625"/>
              </a:spcBef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leverage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reduce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costs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 time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market,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while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also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benefiting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scalability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resources.</a:t>
            </a:r>
            <a:r>
              <a:rPr lang="en-US" sz="900" i="1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instance,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0" noProof="1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900" b="1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b="1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b="1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10" noProof="1">
                <a:solidFill>
                  <a:srgbClr val="22373A"/>
                </a:solidFill>
                <a:latin typeface="Arial"/>
                <a:cs typeface="Arial"/>
              </a:rPr>
              <a:t>(AWS)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pay-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as-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you-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model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startups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use.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232275" cy="5080"/>
            </a:xfrm>
            <a:custGeom>
              <a:avLst/>
              <a:gdLst/>
              <a:ahLst/>
              <a:cxnLst/>
              <a:rect l="l" t="t" r="r" b="b"/>
              <a:pathLst>
                <a:path w="4232275" h="5080">
                  <a:moveTo>
                    <a:pt x="0" y="5060"/>
                  </a:moveTo>
                  <a:lnTo>
                    <a:pt x="0" y="0"/>
                  </a:lnTo>
                  <a:lnTo>
                    <a:pt x="4231899" y="0"/>
                  </a:lnTo>
                  <a:lnTo>
                    <a:pt x="423189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Case</a:t>
            </a:r>
            <a:r>
              <a:rPr lang="en-US" spc="-5" noProof="1"/>
              <a:t> </a:t>
            </a:r>
            <a:r>
              <a:rPr lang="en-US" spc="-10" noProof="1"/>
              <a:t>Study:</a:t>
            </a:r>
            <a:r>
              <a:rPr lang="en-US" spc="90" noProof="1"/>
              <a:t> </a:t>
            </a:r>
            <a:r>
              <a:rPr lang="en-US" noProof="1"/>
              <a:t>Is</a:t>
            </a:r>
            <a:r>
              <a:rPr lang="en-US" spc="-5" noProof="1"/>
              <a:t> </a:t>
            </a:r>
            <a:r>
              <a:rPr lang="en-US" spc="-30" noProof="1"/>
              <a:t>Cloud</a:t>
            </a:r>
            <a:r>
              <a:rPr lang="en-US" noProof="1"/>
              <a:t> </a:t>
            </a:r>
            <a:r>
              <a:rPr lang="en-US" spc="-30" noProof="1"/>
              <a:t>Computing</a:t>
            </a:r>
            <a:r>
              <a:rPr lang="en-US" spc="-5" noProof="1"/>
              <a:t> </a:t>
            </a:r>
            <a:r>
              <a:rPr lang="en-US" noProof="1"/>
              <a:t>Right for</a:t>
            </a:r>
            <a:r>
              <a:rPr lang="en-US" spc="-5" noProof="1"/>
              <a:t> </a:t>
            </a:r>
            <a:r>
              <a:rPr lang="en-US" spc="-20" noProof="1"/>
              <a:t>Your</a:t>
            </a:r>
            <a:r>
              <a:rPr lang="en-US" noProof="1"/>
              <a:t> </a:t>
            </a:r>
            <a:r>
              <a:rPr lang="en-US" spc="-40" noProof="1"/>
              <a:t>Company?</a:t>
            </a:r>
            <a:r>
              <a:rPr lang="en-US" spc="85" noProof="1"/>
              <a:t> </a:t>
            </a:r>
            <a:r>
              <a:rPr lang="en-US" spc="55" noProof="1"/>
              <a:t>(II)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xfrm>
            <a:off x="227304" y="630854"/>
            <a:ext cx="5208270" cy="1643831"/>
          </a:xfrm>
          <a:prstGeom prst="rect">
            <a:avLst/>
          </a:prstGeom>
        </p:spPr>
        <p:txBody>
          <a:bodyPr vert="horz" wrap="square" lIns="0" tIns="451595" rIns="0" bIns="0" rtlCol="0">
            <a:spAutoFit/>
          </a:bodyPr>
          <a:lstStyle/>
          <a:p>
            <a:pPr marL="109855" marR="5080" algn="ctr">
              <a:lnSpc>
                <a:spcPct val="116199"/>
              </a:lnSpc>
              <a:spcBef>
                <a:spcPts val="100"/>
              </a:spcBef>
            </a:pPr>
            <a:r>
              <a:rPr lang="en-US" noProof="1"/>
              <a:t>Now,</a:t>
            </a:r>
            <a:r>
              <a:rPr lang="en-US" spc="10" noProof="1"/>
              <a:t> </a:t>
            </a:r>
            <a:r>
              <a:rPr lang="en-US" spc="-30" noProof="1"/>
              <a:t>consider</a:t>
            </a:r>
            <a:r>
              <a:rPr lang="en-US" spc="15" noProof="1"/>
              <a:t> </a:t>
            </a:r>
            <a:r>
              <a:rPr lang="en-US" noProof="1"/>
              <a:t>a</a:t>
            </a:r>
            <a:r>
              <a:rPr lang="en-US" spc="15" noProof="1"/>
              <a:t> </a:t>
            </a:r>
            <a:r>
              <a:rPr lang="en-US" spc="-10" noProof="1"/>
              <a:t>small</a:t>
            </a:r>
            <a:r>
              <a:rPr lang="en-US" spc="10" noProof="1"/>
              <a:t> </a:t>
            </a:r>
            <a:r>
              <a:rPr lang="en-US" spc="-30" noProof="1"/>
              <a:t>company</a:t>
            </a:r>
            <a:r>
              <a:rPr lang="en-US" spc="15" noProof="1"/>
              <a:t> </a:t>
            </a:r>
            <a:r>
              <a:rPr lang="en-US" b="1" spc="50" noProof="1">
                <a:latin typeface="Arial"/>
                <a:cs typeface="Arial"/>
              </a:rPr>
              <a:t>Y</a:t>
            </a:r>
            <a:r>
              <a:rPr lang="en-US" b="1" spc="15" noProof="1">
                <a:latin typeface="Arial"/>
                <a:cs typeface="Arial"/>
              </a:rPr>
              <a:t> </a:t>
            </a:r>
            <a:r>
              <a:rPr lang="en-US" noProof="1"/>
              <a:t>that</a:t>
            </a:r>
            <a:r>
              <a:rPr lang="en-US" spc="10" noProof="1"/>
              <a:t> </a:t>
            </a:r>
            <a:r>
              <a:rPr lang="en-US" spc="-55" noProof="1"/>
              <a:t>needs</a:t>
            </a:r>
            <a:r>
              <a:rPr lang="en-US" spc="15" noProof="1"/>
              <a:t> </a:t>
            </a:r>
            <a:r>
              <a:rPr lang="en-US" noProof="1"/>
              <a:t>to</a:t>
            </a:r>
            <a:r>
              <a:rPr lang="en-US" spc="15" noProof="1"/>
              <a:t> </a:t>
            </a:r>
            <a:r>
              <a:rPr lang="en-US" noProof="1"/>
              <a:t>digitalize</a:t>
            </a:r>
            <a:r>
              <a:rPr lang="en-US" spc="15" noProof="1"/>
              <a:t> </a:t>
            </a:r>
            <a:r>
              <a:rPr lang="en-US" noProof="1"/>
              <a:t>its</a:t>
            </a:r>
            <a:r>
              <a:rPr lang="en-US" spc="10" noProof="1"/>
              <a:t> </a:t>
            </a:r>
            <a:r>
              <a:rPr lang="en-US" spc="-50" noProof="1"/>
              <a:t>business</a:t>
            </a:r>
            <a:r>
              <a:rPr lang="en-US" spc="15" noProof="1"/>
              <a:t> </a:t>
            </a:r>
            <a:r>
              <a:rPr lang="en-US" noProof="1"/>
              <a:t>and</a:t>
            </a:r>
            <a:r>
              <a:rPr lang="en-US" spc="15" noProof="1"/>
              <a:t> </a:t>
            </a:r>
            <a:r>
              <a:rPr lang="en-US" spc="-35" noProof="1"/>
              <a:t>reduce</a:t>
            </a:r>
            <a:r>
              <a:rPr lang="en-US" spc="10" noProof="1"/>
              <a:t> </a:t>
            </a:r>
            <a:r>
              <a:rPr lang="en-US" spc="-30" noProof="1"/>
              <a:t>costs</a:t>
            </a:r>
            <a:r>
              <a:rPr lang="en-US" spc="15" noProof="1"/>
              <a:t> </a:t>
            </a:r>
            <a:r>
              <a:rPr lang="en-US" noProof="1"/>
              <a:t>to</a:t>
            </a:r>
            <a:r>
              <a:rPr lang="en-US" spc="15" noProof="1"/>
              <a:t> </a:t>
            </a:r>
            <a:r>
              <a:rPr lang="en-US" spc="-10" noProof="1"/>
              <a:t>compete </a:t>
            </a:r>
            <a:r>
              <a:rPr lang="en-US" spc="-20" noProof="1"/>
              <a:t>effectively</a:t>
            </a:r>
            <a:r>
              <a:rPr lang="en-US" spc="5" noProof="1"/>
              <a:t> </a:t>
            </a:r>
            <a:r>
              <a:rPr lang="en-US" noProof="1"/>
              <a:t>in</a:t>
            </a:r>
            <a:r>
              <a:rPr lang="en-US" spc="10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10" noProof="1"/>
              <a:t>market.</a:t>
            </a:r>
            <a:r>
              <a:rPr lang="en-US" spc="95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30" noProof="1"/>
              <a:t>company</a:t>
            </a:r>
            <a:r>
              <a:rPr lang="en-US" spc="10" noProof="1"/>
              <a:t> </a:t>
            </a:r>
            <a:r>
              <a:rPr lang="en-US" noProof="1"/>
              <a:t>is</a:t>
            </a:r>
            <a:r>
              <a:rPr lang="en-US" spc="10" noProof="1"/>
              <a:t> </a:t>
            </a:r>
            <a:r>
              <a:rPr lang="en-US" spc="-25" noProof="1"/>
              <a:t>also</a:t>
            </a:r>
            <a:r>
              <a:rPr lang="en-US" spc="10" noProof="1"/>
              <a:t> </a:t>
            </a:r>
            <a:r>
              <a:rPr lang="en-US" spc="-30" noProof="1"/>
              <a:t>considering</a:t>
            </a:r>
            <a:r>
              <a:rPr lang="en-US" spc="10" noProof="1"/>
              <a:t> </a:t>
            </a:r>
            <a:r>
              <a:rPr lang="en-US" spc="-10" noProof="1"/>
              <a:t>whether</a:t>
            </a:r>
            <a:r>
              <a:rPr lang="en-US" spc="10" noProof="1"/>
              <a:t> </a:t>
            </a:r>
            <a:r>
              <a:rPr lang="en-US" noProof="1"/>
              <a:t>to</a:t>
            </a:r>
            <a:r>
              <a:rPr lang="en-US" spc="10" noProof="1"/>
              <a:t> </a:t>
            </a:r>
            <a:r>
              <a:rPr lang="en-US" noProof="1"/>
              <a:t>adopt</a:t>
            </a:r>
            <a:r>
              <a:rPr lang="en-US" spc="10" noProof="1"/>
              <a:t> </a:t>
            </a:r>
            <a:r>
              <a:rPr lang="en-US" spc="-10" noProof="1"/>
              <a:t>cloud</a:t>
            </a:r>
            <a:r>
              <a:rPr lang="en-US" spc="10" noProof="1"/>
              <a:t> </a:t>
            </a:r>
            <a:r>
              <a:rPr lang="en-US" spc="-10" noProof="1"/>
              <a:t>computing</a:t>
            </a:r>
            <a:r>
              <a:rPr lang="en-US" spc="10" noProof="1"/>
              <a:t> </a:t>
            </a:r>
            <a:r>
              <a:rPr lang="en-US" spc="-25" noProof="1"/>
              <a:t>or </a:t>
            </a:r>
            <a:r>
              <a:rPr lang="en-US" noProof="1"/>
              <a:t>traditional</a:t>
            </a:r>
            <a:r>
              <a:rPr lang="en-US" spc="55" noProof="1"/>
              <a:t> </a:t>
            </a:r>
            <a:r>
              <a:rPr lang="en-US" spc="-10" noProof="1"/>
              <a:t>infrastructure.</a:t>
            </a:r>
          </a:p>
          <a:p>
            <a:pPr marL="132080" marR="76200" indent="-4445">
              <a:lnSpc>
                <a:spcPct val="116199"/>
              </a:lnSpc>
              <a:spcBef>
                <a:spcPts val="625"/>
              </a:spcBef>
            </a:pP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30" noProof="1">
                <a:latin typeface="Arial"/>
                <a:cs typeface="Arial"/>
              </a:rPr>
              <a:t>decision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45" noProof="1">
                <a:latin typeface="Arial"/>
                <a:cs typeface="Arial"/>
              </a:rPr>
              <a:t>depends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on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20" noProof="1">
                <a:latin typeface="Arial"/>
                <a:cs typeface="Arial"/>
              </a:rPr>
              <a:t>specific</a:t>
            </a:r>
            <a:r>
              <a:rPr lang="en-US" i="1" spc="15" noProof="1">
                <a:latin typeface="Arial"/>
                <a:cs typeface="Arial"/>
              </a:rPr>
              <a:t> </a:t>
            </a:r>
            <a:r>
              <a:rPr lang="en-US" i="1" spc="-65" noProof="1">
                <a:latin typeface="Arial"/>
                <a:cs typeface="Arial"/>
              </a:rPr>
              <a:t>needs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and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50" noProof="1">
                <a:latin typeface="Arial"/>
                <a:cs typeface="Arial"/>
              </a:rPr>
              <a:t>resources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of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15" noProof="1">
                <a:latin typeface="Arial"/>
                <a:cs typeface="Arial"/>
              </a:rPr>
              <a:t> </a:t>
            </a:r>
            <a:r>
              <a:rPr lang="en-US" i="1" spc="-30" noProof="1">
                <a:latin typeface="Arial"/>
                <a:cs typeface="Arial"/>
              </a:rPr>
              <a:t>company.</a:t>
            </a:r>
            <a:r>
              <a:rPr lang="en-US" i="1" spc="9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If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30" noProof="1">
                <a:latin typeface="Arial"/>
                <a:cs typeface="Arial"/>
              </a:rPr>
              <a:t>company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45" noProof="1">
                <a:latin typeface="Arial"/>
                <a:cs typeface="Arial"/>
              </a:rPr>
              <a:t>has</a:t>
            </a:r>
            <a:r>
              <a:rPr lang="en-US" i="1" spc="15" noProof="1">
                <a:latin typeface="Arial"/>
                <a:cs typeface="Arial"/>
              </a:rPr>
              <a:t> </a:t>
            </a:r>
            <a:r>
              <a:rPr lang="en-US" i="1" spc="-50" noProof="1">
                <a:latin typeface="Arial"/>
                <a:cs typeface="Arial"/>
              </a:rPr>
              <a:t>a</a:t>
            </a:r>
            <a:r>
              <a:rPr lang="en-US" i="1" spc="-10" noProof="1">
                <a:latin typeface="Arial"/>
                <a:cs typeface="Arial"/>
              </a:rPr>
              <a:t> significant</a:t>
            </a:r>
            <a:r>
              <a:rPr lang="en-US" i="1" noProof="1">
                <a:latin typeface="Arial"/>
                <a:cs typeface="Arial"/>
              </a:rPr>
              <a:t> amount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of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data,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a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traditional infrastructure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might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be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spc="-25" noProof="1">
                <a:latin typeface="Arial"/>
                <a:cs typeface="Arial"/>
              </a:rPr>
              <a:t>more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spc="-10" noProof="1">
                <a:latin typeface="Arial"/>
                <a:cs typeface="Arial"/>
              </a:rPr>
              <a:t>suitable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spc="-20" noProof="1">
                <a:latin typeface="Arial"/>
                <a:cs typeface="Arial"/>
              </a:rPr>
              <a:t>due</a:t>
            </a:r>
            <a:r>
              <a:rPr lang="en-US" i="1" noProof="1">
                <a:latin typeface="Arial"/>
                <a:cs typeface="Arial"/>
              </a:rPr>
              <a:t> to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spc="-25" noProof="1">
                <a:latin typeface="Arial"/>
                <a:cs typeface="Arial"/>
              </a:rPr>
              <a:t>the </a:t>
            </a:r>
            <a:r>
              <a:rPr lang="en-US" i="1" spc="-40" noProof="1">
                <a:latin typeface="Arial"/>
                <a:cs typeface="Arial"/>
              </a:rPr>
              <a:t>increased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control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10" noProof="1">
                <a:latin typeface="Arial"/>
                <a:cs typeface="Arial"/>
              </a:rPr>
              <a:t>over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data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25" noProof="1">
                <a:latin typeface="Arial"/>
                <a:cs typeface="Arial"/>
              </a:rPr>
              <a:t>security.</a:t>
            </a:r>
            <a:r>
              <a:rPr lang="en-US" i="1" spc="100" noProof="1">
                <a:latin typeface="Arial"/>
                <a:cs typeface="Arial"/>
              </a:rPr>
              <a:t> </a:t>
            </a:r>
            <a:r>
              <a:rPr lang="en-US" i="1" spc="-35" noProof="1">
                <a:latin typeface="Arial"/>
                <a:cs typeface="Arial"/>
              </a:rPr>
              <a:t>However,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if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30" noProof="1">
                <a:latin typeface="Arial"/>
                <a:cs typeface="Arial"/>
              </a:rPr>
              <a:t>company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35" noProof="1">
                <a:latin typeface="Arial"/>
                <a:cs typeface="Arial"/>
              </a:rPr>
              <a:t>values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flexibility</a:t>
            </a:r>
            <a:r>
              <a:rPr lang="en-US" i="1" spc="1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and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20" noProof="1">
                <a:latin typeface="Arial"/>
                <a:cs typeface="Arial"/>
              </a:rPr>
              <a:t>scalability,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10" noProof="1">
                <a:latin typeface="Arial"/>
                <a:cs typeface="Arial"/>
              </a:rPr>
              <a:t>cloud computing</a:t>
            </a:r>
            <a:r>
              <a:rPr lang="en-US" i="1" noProof="1">
                <a:latin typeface="Arial"/>
                <a:cs typeface="Arial"/>
              </a:rPr>
              <a:t> </a:t>
            </a:r>
            <a:r>
              <a:rPr lang="en-US" i="1" spc="-10" noProof="1">
                <a:latin typeface="Arial"/>
                <a:cs typeface="Arial"/>
              </a:rPr>
              <a:t>could</a:t>
            </a:r>
            <a:r>
              <a:rPr lang="en-US" i="1" noProof="1">
                <a:latin typeface="Arial"/>
                <a:cs typeface="Arial"/>
              </a:rPr>
              <a:t> be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a better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spc="-10" noProof="1">
                <a:latin typeface="Arial"/>
                <a:cs typeface="Arial"/>
              </a:rPr>
              <a:t>choice.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349750" cy="5080"/>
            </a:xfrm>
            <a:custGeom>
              <a:avLst/>
              <a:gdLst/>
              <a:ahLst/>
              <a:cxnLst/>
              <a:rect l="l" t="t" r="r" b="b"/>
              <a:pathLst>
                <a:path w="4349750" h="5080">
                  <a:moveTo>
                    <a:pt x="0" y="5060"/>
                  </a:moveTo>
                  <a:lnTo>
                    <a:pt x="0" y="0"/>
                  </a:lnTo>
                  <a:lnTo>
                    <a:pt x="4349411" y="0"/>
                  </a:lnTo>
                  <a:lnTo>
                    <a:pt x="434941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Case</a:t>
            </a:r>
            <a:r>
              <a:rPr lang="en-US" spc="-5" noProof="1"/>
              <a:t> </a:t>
            </a:r>
            <a:r>
              <a:rPr lang="en-US" spc="-10" noProof="1"/>
              <a:t>Study:</a:t>
            </a:r>
            <a:r>
              <a:rPr lang="en-US" spc="90" noProof="1"/>
              <a:t> </a:t>
            </a:r>
            <a:r>
              <a:rPr lang="en-US" noProof="1"/>
              <a:t>Is</a:t>
            </a:r>
            <a:r>
              <a:rPr lang="en-US" spc="-5" noProof="1"/>
              <a:t> </a:t>
            </a:r>
            <a:r>
              <a:rPr lang="en-US" spc="-30" noProof="1"/>
              <a:t>Cloud</a:t>
            </a:r>
            <a:r>
              <a:rPr lang="en-US" noProof="1"/>
              <a:t> </a:t>
            </a:r>
            <a:r>
              <a:rPr lang="en-US" spc="-30" noProof="1"/>
              <a:t>Computing</a:t>
            </a:r>
            <a:r>
              <a:rPr lang="en-US" spc="-5" noProof="1"/>
              <a:t> </a:t>
            </a:r>
            <a:r>
              <a:rPr lang="en-US" noProof="1"/>
              <a:t>Right for</a:t>
            </a:r>
            <a:r>
              <a:rPr lang="en-US" spc="-5" noProof="1"/>
              <a:t> </a:t>
            </a:r>
            <a:r>
              <a:rPr lang="en-US" spc="-20" noProof="1"/>
              <a:t>Your</a:t>
            </a:r>
            <a:r>
              <a:rPr lang="en-US" noProof="1"/>
              <a:t> </a:t>
            </a:r>
            <a:r>
              <a:rPr lang="en-US" spc="-40" noProof="1"/>
              <a:t>Company?</a:t>
            </a:r>
            <a:r>
              <a:rPr lang="en-US" spc="85" noProof="1"/>
              <a:t> </a:t>
            </a:r>
            <a:r>
              <a:rPr lang="en-US" spc="65" noProof="1"/>
              <a:t>(III)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580685"/>
            <a:ext cx="5017135" cy="10610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74165" marR="5080" indent="-1505585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Fast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forward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 few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years,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50" noProof="1">
                <a:solidFill>
                  <a:srgbClr val="22373A"/>
                </a:solidFill>
                <a:latin typeface="Arial"/>
                <a:cs typeface="Arial"/>
              </a:rPr>
              <a:t>X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achieved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remarkable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success.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grown significantly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evolved.</a:t>
            </a:r>
            <a:endParaRPr lang="en-US" sz="900" noProof="1">
              <a:latin typeface="Arial"/>
              <a:cs typeface="Arial"/>
            </a:endParaRPr>
          </a:p>
          <a:p>
            <a:pPr marL="16510" marR="40640" indent="-4445">
              <a:lnSpc>
                <a:spcPct val="116199"/>
              </a:lnSpc>
              <a:spcBef>
                <a:spcPts val="625"/>
              </a:spcBef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cost of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public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increases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the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grows,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but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now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afford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invest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i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cloud.</a:t>
            </a:r>
            <a:r>
              <a:rPr lang="en-US" sz="900" i="1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i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point,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hybrid</a:t>
            </a:r>
            <a:r>
              <a:rPr lang="en-US" sz="900" i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solution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help</a:t>
            </a:r>
            <a:r>
              <a:rPr lang="en-US" sz="900" i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balance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between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advantages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private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clouds.</a:t>
            </a:r>
            <a:r>
              <a:rPr lang="en-US" sz="900" i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For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example,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10" noProof="1">
                <a:solidFill>
                  <a:srgbClr val="22373A"/>
                </a:solidFill>
                <a:latin typeface="Arial"/>
                <a:cs typeface="Arial"/>
              </a:rPr>
              <a:t>Microsoft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10" noProof="1">
                <a:solidFill>
                  <a:srgbClr val="22373A"/>
                </a:solidFill>
                <a:latin typeface="Arial"/>
                <a:cs typeface="Arial"/>
              </a:rPr>
              <a:t>Azure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hybrid cloud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solutions</a:t>
            </a:r>
            <a:r>
              <a:rPr lang="en-US" sz="9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combine</a:t>
            </a:r>
            <a:r>
              <a:rPr lang="en-US" sz="9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best</a:t>
            </a:r>
            <a:r>
              <a:rPr lang="en-US" sz="9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both</a:t>
            </a:r>
            <a:r>
              <a:rPr lang="en-US" sz="900" i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worlds.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696046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Take</a:t>
            </a:r>
            <a:r>
              <a:rPr lang="en-US" sz="900" b="1" spc="-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Home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Message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860473"/>
            <a:ext cx="5039995" cy="65786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30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There’s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one-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size-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fits-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answer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comes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choosing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Traditional</a:t>
            </a:r>
            <a:endParaRPr lang="en-US" sz="900" noProof="1">
              <a:latin typeface="Arial"/>
              <a:cs typeface="Arial"/>
            </a:endParaRPr>
          </a:p>
          <a:p>
            <a:pPr marL="37465" marR="113030">
              <a:lnSpc>
                <a:spcPct val="116199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infrastructure.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optimal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solution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hinges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specific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thorough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costs,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benefits,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potential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risks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associated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each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option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crucial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making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informed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decision.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4467225" cy="5080"/>
            </a:xfrm>
            <a:custGeom>
              <a:avLst/>
              <a:gdLst/>
              <a:ahLst/>
              <a:cxnLst/>
              <a:rect l="l" t="t" r="r" b="b"/>
              <a:pathLst>
                <a:path w="4467225" h="5080">
                  <a:moveTo>
                    <a:pt x="0" y="5060"/>
                  </a:moveTo>
                  <a:lnTo>
                    <a:pt x="0" y="0"/>
                  </a:lnTo>
                  <a:lnTo>
                    <a:pt x="4467010" y="0"/>
                  </a:lnTo>
                  <a:lnTo>
                    <a:pt x="446701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167"/>
            <a:ext cx="177292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35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Cloud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Computing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in </a:t>
            </a:r>
            <a:r>
              <a:rPr lang="en-US" sz="1100" b="1" spc="-1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Health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056"/>
            <a:ext cx="2505710" cy="5080"/>
            <a:chOff x="1627403" y="1647056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056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056"/>
              <a:ext cx="1943100" cy="5080"/>
            </a:xfrm>
            <a:custGeom>
              <a:avLst/>
              <a:gdLst/>
              <a:ahLst/>
              <a:cxnLst/>
              <a:rect l="l" t="t" r="r" b="b"/>
              <a:pathLst>
                <a:path w="1943100" h="5080">
                  <a:moveTo>
                    <a:pt x="0" y="5060"/>
                  </a:moveTo>
                  <a:lnTo>
                    <a:pt x="0" y="0"/>
                  </a:lnTo>
                  <a:lnTo>
                    <a:pt x="1942843" y="0"/>
                  </a:lnTo>
                  <a:lnTo>
                    <a:pt x="194284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Why</a:t>
            </a:r>
            <a:r>
              <a:rPr lang="en-US" spc="25" noProof="1"/>
              <a:t> </a:t>
            </a:r>
            <a:r>
              <a:rPr lang="en-US" spc="-30" noProof="1"/>
              <a:t>Cloud</a:t>
            </a:r>
            <a:r>
              <a:rPr lang="en-US" spc="30" noProof="1"/>
              <a:t> </a:t>
            </a:r>
            <a:r>
              <a:rPr lang="en-US" spc="-30" noProof="1"/>
              <a:t>Computing</a:t>
            </a:r>
            <a:r>
              <a:rPr lang="en-US" spc="30" noProof="1"/>
              <a:t> </a:t>
            </a:r>
            <a:r>
              <a:rPr lang="en-US" noProof="1"/>
              <a:t>in</a:t>
            </a:r>
            <a:r>
              <a:rPr lang="en-US" spc="25" noProof="1"/>
              <a:t> </a:t>
            </a:r>
            <a:r>
              <a:rPr lang="en-US" spc="-10" noProof="1"/>
              <a:t>Health?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830735"/>
            <a:ext cx="4892040" cy="16986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0029" marR="508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240029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Big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volumes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including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records,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medical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images,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information.</a:t>
            </a:r>
            <a:endParaRPr lang="en-US" sz="900" noProof="1">
              <a:latin typeface="Arial"/>
              <a:cs typeface="Arial"/>
            </a:endParaRPr>
          </a:p>
          <a:p>
            <a:pPr marL="240029" marR="10160" indent="-147955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Interoperability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Share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data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across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different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platforms,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improving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communication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collaboration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among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providers.</a:t>
            </a:r>
            <a:endParaRPr lang="en-US" sz="900" noProof="1">
              <a:latin typeface="Arial"/>
              <a:cs typeface="Arial"/>
            </a:endParaRPr>
          </a:p>
          <a:p>
            <a:pPr marL="240029" marR="119380" indent="-147955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Digital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Transformation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Adopt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technologies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such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telemedicine,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remote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monitoring,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mobile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apps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electronic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records.</a:t>
            </a:r>
            <a:endParaRPr lang="en-US" sz="900" noProof="1">
              <a:latin typeface="Arial"/>
              <a:cs typeface="Arial"/>
            </a:endParaRPr>
          </a:p>
          <a:p>
            <a:pPr marL="12700" marR="15875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his PhD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thesis,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Applied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eHealth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Vilaplana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Mayoral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et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al.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2015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)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conducts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comprehensive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adoption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healthcare sector.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implemented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various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cloud-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based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tools for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telemedicine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remote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patient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monitoring,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highlighting their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transformative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impact 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delivery.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584700" cy="5080"/>
            </a:xfrm>
            <a:custGeom>
              <a:avLst/>
              <a:gdLst/>
              <a:ahLst/>
              <a:cxnLst/>
              <a:rect l="l" t="t" r="r" b="b"/>
              <a:pathLst>
                <a:path w="4584700" h="5080">
                  <a:moveTo>
                    <a:pt x="0" y="5060"/>
                  </a:moveTo>
                  <a:lnTo>
                    <a:pt x="0" y="0"/>
                  </a:lnTo>
                  <a:lnTo>
                    <a:pt x="4584521" y="0"/>
                  </a:lnTo>
                  <a:lnTo>
                    <a:pt x="458452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Which</a:t>
            </a:r>
            <a:r>
              <a:rPr lang="en-US" spc="10" noProof="1"/>
              <a:t> </a:t>
            </a:r>
            <a:r>
              <a:rPr lang="en-US" noProof="1"/>
              <a:t>are</a:t>
            </a:r>
            <a:r>
              <a:rPr lang="en-US" spc="10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spc="-35" noProof="1"/>
              <a:t>opportunities</a:t>
            </a:r>
            <a:r>
              <a:rPr lang="en-US" spc="10" noProof="1"/>
              <a:t> </a:t>
            </a:r>
            <a:r>
              <a:rPr lang="en-US" noProof="1"/>
              <a:t>of</a:t>
            </a:r>
            <a:r>
              <a:rPr lang="en-US" spc="10" noProof="1"/>
              <a:t> </a:t>
            </a:r>
            <a:r>
              <a:rPr lang="en-US" spc="-30" noProof="1"/>
              <a:t>Cloud</a:t>
            </a:r>
            <a:r>
              <a:rPr lang="en-US" spc="15" noProof="1"/>
              <a:t> </a:t>
            </a:r>
            <a:r>
              <a:rPr lang="en-US" spc="-30" noProof="1"/>
              <a:t>Computing</a:t>
            </a:r>
            <a:r>
              <a:rPr lang="en-US" spc="10" noProof="1"/>
              <a:t> </a:t>
            </a:r>
            <a:r>
              <a:rPr lang="en-US" noProof="1"/>
              <a:t>in</a:t>
            </a:r>
            <a:r>
              <a:rPr lang="en-US" spc="10" noProof="1"/>
              <a:t> </a:t>
            </a:r>
            <a:r>
              <a:rPr lang="en-US" spc="-10" noProof="1"/>
              <a:t>Health?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994" y="761263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Capital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5" noProof="1">
                <a:solidFill>
                  <a:srgbClr val="22373A"/>
                </a:solidFill>
                <a:latin typeface="Arial"/>
                <a:cs typeface="Arial"/>
              </a:rPr>
              <a:t>expenses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savings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925677"/>
            <a:ext cx="5039995" cy="33782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254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20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organitzation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pay-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as-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you-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basis,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reducing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upfront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investments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expensive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software.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362024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Improved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patient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care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decision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making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59994" y="1526451"/>
            <a:ext cx="5039995" cy="33909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professionals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volumes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data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build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predictive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prescriptive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models,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improving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patient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decision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making.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59994" y="1964042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Better</a:t>
            </a:r>
            <a:r>
              <a:rPr lang="en-US" sz="900" b="1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coordination</a:t>
            </a:r>
            <a:r>
              <a:rPr lang="en-US" sz="900" b="1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among</a:t>
            </a:r>
            <a:r>
              <a:rPr lang="en-US" sz="900" b="1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stakeholders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59994" y="2128469"/>
            <a:ext cx="5039995" cy="179705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Patients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professionals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share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easily.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990028" y="2430457"/>
            <a:ext cx="380301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opportunities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sector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discussed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Ali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et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al.</a:t>
            </a:r>
            <a:r>
              <a:rPr lang="en-US" sz="900" i="1" spc="12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2018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).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4702175" cy="5080"/>
            </a:xfrm>
            <a:custGeom>
              <a:avLst/>
              <a:gdLst/>
              <a:ahLst/>
              <a:cxnLst/>
              <a:rect l="l" t="t" r="r" b="b"/>
              <a:pathLst>
                <a:path w="4702175" h="5080">
                  <a:moveTo>
                    <a:pt x="0" y="5060"/>
                  </a:moveTo>
                  <a:lnTo>
                    <a:pt x="0" y="0"/>
                  </a:lnTo>
                  <a:lnTo>
                    <a:pt x="4702120" y="0"/>
                  </a:lnTo>
                  <a:lnTo>
                    <a:pt x="470212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61341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Use</a:t>
            </a:r>
            <a:r>
              <a:rPr lang="en-US" spc="-35" noProof="1"/>
              <a:t> </a:t>
            </a:r>
            <a:r>
              <a:rPr lang="en-US" spc="-65" noProof="1"/>
              <a:t>Cases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711241"/>
            <a:ext cx="4968875" cy="19373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0020" marR="8509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Sequence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Lambda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sequence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BLAST.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organizations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compare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DNA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sequences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known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sequences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identify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genetic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mutations.</a:t>
            </a:r>
            <a:endParaRPr lang="en-US" sz="900" noProof="1">
              <a:latin typeface="Arial"/>
              <a:cs typeface="Arial"/>
            </a:endParaRPr>
          </a:p>
          <a:p>
            <a:pPr marL="160020" marR="117475" indent="-147955" algn="just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Genomic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Google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Platform (GCP)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solution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storing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genomic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Google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BigQuery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volumes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genomic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US" sz="900" noProof="1">
              <a:latin typeface="Arial"/>
              <a:cs typeface="Arial"/>
            </a:endParaRPr>
          </a:p>
          <a:p>
            <a:pPr marL="160020" marR="96520" indent="-147955" algn="just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Telemedicine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Microsoft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Azure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called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Azure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Communication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that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be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telemedicine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applications.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capabilities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video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calling,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chat,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SMS,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enabling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consult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patients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remotely.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Remote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Monitoring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IBM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Watson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solutions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remote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monitoring.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0" noProof="1">
                <a:solidFill>
                  <a:srgbClr val="22373A"/>
                </a:solidFill>
                <a:latin typeface="Arial"/>
                <a:cs typeface="Arial"/>
              </a:rPr>
              <a:t>uses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AI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various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sources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such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electronic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records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wearable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devices,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providing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professionals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insights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improve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care.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819650" cy="5080"/>
            </a:xfrm>
            <a:custGeom>
              <a:avLst/>
              <a:gdLst/>
              <a:ahLst/>
              <a:cxnLst/>
              <a:rect l="l" t="t" r="r" b="b"/>
              <a:pathLst>
                <a:path w="4819650" h="5080">
                  <a:moveTo>
                    <a:pt x="0" y="5060"/>
                  </a:moveTo>
                  <a:lnTo>
                    <a:pt x="0" y="0"/>
                  </a:lnTo>
                  <a:lnTo>
                    <a:pt x="4819632" y="0"/>
                  </a:lnTo>
                  <a:lnTo>
                    <a:pt x="481963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5" noProof="1"/>
              <a:t>Challenges</a:t>
            </a:r>
            <a:r>
              <a:rPr lang="en-US" spc="30" noProof="1"/>
              <a:t> </a:t>
            </a:r>
            <a:r>
              <a:rPr lang="en-US" noProof="1"/>
              <a:t>in</a:t>
            </a:r>
            <a:r>
              <a:rPr lang="en-US" spc="30" noProof="1"/>
              <a:t> </a:t>
            </a:r>
            <a:r>
              <a:rPr lang="en-US" spc="-10" noProof="1"/>
              <a:t>Health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950230"/>
            <a:ext cx="4986020" cy="148354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065" marR="36830">
              <a:lnSpc>
                <a:spcPct val="116199"/>
              </a:lnSpc>
              <a:spcBef>
                <a:spcPts val="100"/>
              </a:spcBef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Among others….</a:t>
            </a: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n-US" sz="900" b="1" spc="-25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Privacy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organizations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obligated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adhere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stringent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regulations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standards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safeguard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LOPD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Spain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HIPAA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United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States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mandate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protection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guarantees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digital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rights.</a:t>
            </a: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Integration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organizations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required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integrate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diverse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sources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deliver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comprehensive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care.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integration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crucial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transforming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isolated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information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units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unified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system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knowledge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action.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937760" cy="5080"/>
            </a:xfrm>
            <a:custGeom>
              <a:avLst/>
              <a:gdLst/>
              <a:ahLst/>
              <a:cxnLst/>
              <a:rect l="l" t="t" r="r" b="b"/>
              <a:pathLst>
                <a:path w="4937760" h="5080">
                  <a:moveTo>
                    <a:pt x="0" y="5060"/>
                  </a:moveTo>
                  <a:lnTo>
                    <a:pt x="0" y="0"/>
                  </a:lnTo>
                  <a:lnTo>
                    <a:pt x="4937231" y="0"/>
                  </a:lnTo>
                  <a:lnTo>
                    <a:pt x="493723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Is</a:t>
            </a:r>
            <a:r>
              <a:rPr lang="en-US" spc="10" noProof="1"/>
              <a:t> </a:t>
            </a:r>
            <a:r>
              <a:rPr lang="en-US" spc="-35" noProof="1"/>
              <a:t>cloud</a:t>
            </a:r>
            <a:r>
              <a:rPr lang="en-US" spc="10" noProof="1"/>
              <a:t> </a:t>
            </a:r>
            <a:r>
              <a:rPr lang="en-US" spc="-35" noProof="1"/>
              <a:t>computing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noProof="1"/>
              <a:t>future</a:t>
            </a:r>
            <a:r>
              <a:rPr lang="en-US" spc="15" noProof="1"/>
              <a:t> </a:t>
            </a:r>
            <a:r>
              <a:rPr lang="en-US" noProof="1"/>
              <a:t>of</a:t>
            </a:r>
            <a:r>
              <a:rPr lang="en-US" spc="10" noProof="1"/>
              <a:t> </a:t>
            </a:r>
            <a:r>
              <a:rPr lang="en-US" spc="-10" noProof="1"/>
              <a:t>Health?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630854"/>
            <a:ext cx="508825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No,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 not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future of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health,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 is the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present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it is an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essential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part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future.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27304" y="897497"/>
            <a:ext cx="2545715" cy="184467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is evolving continously</a:t>
            </a:r>
            <a:endParaRPr lang="en-US" sz="900" noProof="1">
              <a:latin typeface="Arial"/>
              <a:cs typeface="Arial"/>
            </a:endParaRPr>
          </a:p>
          <a:p>
            <a:pPr marL="240029" marR="178435" indent="-147955">
              <a:lnSpc>
                <a:spcPct val="116199"/>
              </a:lnSpc>
              <a:spcBef>
                <a:spcPts val="675"/>
              </a:spcBef>
              <a:buFont typeface="Arial"/>
              <a:buChar char="•"/>
              <a:tabLst>
                <a:tab pos="240029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IoT</a:t>
            </a:r>
            <a:r>
              <a:rPr lang="en-US" sz="900" b="1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Sensors,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wearables,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other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collect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transmit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US" sz="900" noProof="1">
              <a:latin typeface="Arial"/>
              <a:cs typeface="Arial"/>
            </a:endParaRPr>
          </a:p>
          <a:p>
            <a:pPr marL="240029" marR="5080" indent="-147955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Mobile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Smartphones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tablets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that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share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US" sz="900" noProof="1">
              <a:latin typeface="Arial"/>
              <a:cs typeface="Arial"/>
            </a:endParaRPr>
          </a:p>
          <a:p>
            <a:pPr marL="240029" marR="103505" indent="-147955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Edge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Facilitates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real-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processing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source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generation.</a:t>
            </a:r>
            <a:endParaRPr lang="en-US" sz="900" noProof="1">
              <a:latin typeface="Arial"/>
              <a:cs typeface="Arial"/>
            </a:endParaRPr>
          </a:p>
          <a:p>
            <a:pPr marL="240029" marR="57785" indent="-147955" algn="just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Fog</a:t>
            </a:r>
            <a:r>
              <a:rPr lang="en-US" sz="900" b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Extends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edge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improve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eﬀiciency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reduce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latency.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983318" y="897497"/>
            <a:ext cx="2531110" cy="152590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120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Big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data </a:t>
            </a:r>
            <a:r>
              <a:rPr lang="en-US" sz="900" spc="315" noProof="1">
                <a:solidFill>
                  <a:srgbClr val="880B57"/>
                </a:solidFill>
                <a:latin typeface="Apple Symbols"/>
                <a:cs typeface="Apple Symbols"/>
              </a:rPr>
              <a:t>⇒</a:t>
            </a:r>
            <a:r>
              <a:rPr lang="en-US" sz="900" spc="-10" noProof="1">
                <a:solidFill>
                  <a:srgbClr val="880B57"/>
                </a:solidFill>
                <a:latin typeface="Apple Symbols"/>
                <a:cs typeface="Apple Symbols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Quality</a:t>
            </a:r>
            <a:endParaRPr lang="en-US" sz="900" noProof="1">
              <a:latin typeface="Arial"/>
              <a:cs typeface="Arial"/>
            </a:endParaRPr>
          </a:p>
          <a:p>
            <a:pPr marL="16510" marR="5080" indent="-4445">
              <a:lnSpc>
                <a:spcPct val="116199"/>
              </a:lnSpc>
              <a:spcBef>
                <a:spcPts val="67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 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growing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demand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high-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quality data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 healthcare.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 computing 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help healthcare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organizations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volumes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improve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care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outcomes.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quantity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about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quality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Distributed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Artificial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Intelligence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help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identify patterns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trends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real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time.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055235" cy="5080"/>
            </a:xfrm>
            <a:custGeom>
              <a:avLst/>
              <a:gdLst/>
              <a:ahLst/>
              <a:cxnLst/>
              <a:rect l="l" t="t" r="r" b="b"/>
              <a:pathLst>
                <a:path w="5055235" h="5080">
                  <a:moveTo>
                    <a:pt x="0" y="5060"/>
                  </a:moveTo>
                  <a:lnTo>
                    <a:pt x="0" y="0"/>
                  </a:lnTo>
                  <a:lnTo>
                    <a:pt x="5054742" y="0"/>
                  </a:lnTo>
                  <a:lnTo>
                    <a:pt x="505474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167"/>
            <a:ext cx="70612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6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Conclusion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056"/>
            <a:ext cx="2505710" cy="5080"/>
            <a:chOff x="1627403" y="1647056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056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056"/>
              <a:ext cx="2199005" cy="5080"/>
            </a:xfrm>
            <a:custGeom>
              <a:avLst/>
              <a:gdLst/>
              <a:ahLst/>
              <a:cxnLst/>
              <a:rect l="l" t="t" r="r" b="b"/>
              <a:pathLst>
                <a:path w="2199004" h="5080">
                  <a:moveTo>
                    <a:pt x="0" y="5060"/>
                  </a:moveTo>
                  <a:lnTo>
                    <a:pt x="0" y="0"/>
                  </a:lnTo>
                  <a:lnTo>
                    <a:pt x="2198466" y="0"/>
                  </a:lnTo>
                  <a:lnTo>
                    <a:pt x="219846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Recap:</a:t>
            </a:r>
            <a:r>
              <a:rPr lang="en-US" spc="110" noProof="1"/>
              <a:t> </a:t>
            </a:r>
            <a:r>
              <a:rPr lang="en-US" spc="-30" noProof="1"/>
              <a:t>Cloud</a:t>
            </a:r>
            <a:r>
              <a:rPr lang="en-US" spc="15" noProof="1"/>
              <a:t> </a:t>
            </a:r>
            <a:r>
              <a:rPr lang="en-US" spc="-30" noProof="1"/>
              <a:t>Computing</a:t>
            </a:r>
            <a:r>
              <a:rPr lang="en-US" spc="15" noProof="1"/>
              <a:t> </a:t>
            </a:r>
            <a:r>
              <a:rPr lang="en-US" spc="-40" noProof="1"/>
              <a:t>vs</a:t>
            </a:r>
            <a:r>
              <a:rPr lang="en-US" spc="15" noProof="1"/>
              <a:t> </a:t>
            </a:r>
            <a:r>
              <a:rPr lang="en-US" spc="-20" noProof="1"/>
              <a:t>Traditional</a:t>
            </a:r>
            <a:r>
              <a:rPr lang="en-US" spc="10" noProof="1"/>
              <a:t> </a:t>
            </a:r>
            <a:r>
              <a:rPr lang="en-US" spc="-20" noProof="1"/>
              <a:t>Computing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27304" y="702406"/>
            <a:ext cx="2524125" cy="20002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Char char="•"/>
              <a:tabLst>
                <a:tab pos="239395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you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space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needed</a:t>
            </a:r>
            <a:endParaRPr lang="en-US" sz="900" noProof="1">
              <a:latin typeface="Arial"/>
              <a:cs typeface="Arial"/>
            </a:endParaRPr>
          </a:p>
          <a:p>
            <a:pPr marL="240029" marR="401320" indent="-147955">
              <a:lnSpc>
                <a:spcPct val="116199"/>
              </a:lnSpc>
              <a:buChar char="•"/>
              <a:tabLst>
                <a:tab pos="240029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expertes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required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maintenance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Disaster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recovery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558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Automated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updates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558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Teams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collaborate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locations</a:t>
            </a:r>
            <a:endParaRPr lang="en-US" sz="900" noProof="1">
              <a:latin typeface="Arial"/>
              <a:cs typeface="Arial"/>
            </a:endParaRPr>
          </a:p>
          <a:p>
            <a:pPr marL="240029" marR="387985" indent="-147955">
              <a:lnSpc>
                <a:spcPct val="116199"/>
              </a:lnSpc>
              <a:buChar char="•"/>
              <a:tabLst>
                <a:tab pos="240029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accessed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shared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from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anywhere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Rapid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implementation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987294" y="702406"/>
            <a:ext cx="2470785" cy="152209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Traditional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Costly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less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scalable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Space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servers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team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maintenance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Less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automated updates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Less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collaboration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cannot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accessed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remotely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5585" algn="l"/>
              </a:tabLst>
            </a:pP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Takes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long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implementation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172710" cy="5080"/>
            </a:xfrm>
            <a:custGeom>
              <a:avLst/>
              <a:gdLst/>
              <a:ahLst/>
              <a:cxnLst/>
              <a:rect l="l" t="t" r="r" b="b"/>
              <a:pathLst>
                <a:path w="5172710" h="5080">
                  <a:moveTo>
                    <a:pt x="0" y="5060"/>
                  </a:moveTo>
                  <a:lnTo>
                    <a:pt x="0" y="0"/>
                  </a:lnTo>
                  <a:lnTo>
                    <a:pt x="5172341" y="0"/>
                  </a:lnTo>
                  <a:lnTo>
                    <a:pt x="517234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4341"/>
            <a:ext cx="37782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7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Tasks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6231"/>
            <a:ext cx="2505710" cy="5080"/>
            <a:chOff x="1627403" y="1646231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6231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6231"/>
              <a:ext cx="2249805" cy="5080"/>
            </a:xfrm>
            <a:custGeom>
              <a:avLst/>
              <a:gdLst/>
              <a:ahLst/>
              <a:cxnLst/>
              <a:rect l="l" t="t" r="r" b="b"/>
              <a:pathLst>
                <a:path w="2249804" h="5080">
                  <a:moveTo>
                    <a:pt x="0" y="5060"/>
                  </a:moveTo>
                  <a:lnTo>
                    <a:pt x="0" y="0"/>
                  </a:lnTo>
                  <a:lnTo>
                    <a:pt x="2249614" y="0"/>
                  </a:lnTo>
                  <a:lnTo>
                    <a:pt x="224961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25615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Homework</a:t>
            </a:r>
            <a:r>
              <a:rPr lang="en-US" spc="-5" noProof="1"/>
              <a:t> </a:t>
            </a:r>
            <a:r>
              <a:rPr lang="en-US" noProof="1"/>
              <a:t>-</a:t>
            </a:r>
            <a:r>
              <a:rPr lang="en-US" spc="-5" noProof="1"/>
              <a:t> </a:t>
            </a:r>
            <a:r>
              <a:rPr lang="en-US" spc="-10" noProof="1"/>
              <a:t>Creating</a:t>
            </a:r>
            <a:r>
              <a:rPr lang="en-US" noProof="1"/>
              <a:t> </a:t>
            </a:r>
            <a:r>
              <a:rPr lang="en-US" spc="-10" noProof="1"/>
              <a:t>our</a:t>
            </a:r>
            <a:r>
              <a:rPr lang="en-US" spc="-5" noProof="1"/>
              <a:t> </a:t>
            </a:r>
            <a:r>
              <a:rPr lang="en-US" spc="-30" noProof="1"/>
              <a:t>own</a:t>
            </a:r>
            <a:r>
              <a:rPr lang="en-US" spc="-5" noProof="1"/>
              <a:t> </a:t>
            </a:r>
            <a:r>
              <a:rPr lang="en-US" spc="-25" noProof="1"/>
              <a:t>website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1251068"/>
            <a:ext cx="4032250" cy="515620"/>
            <a:chOff x="863993" y="1251068"/>
            <a:chExt cx="4032250" cy="515620"/>
          </a:xfrm>
        </p:grpSpPr>
        <p:sp>
          <p:nvSpPr>
            <p:cNvPr id="4" name="object 4"/>
            <p:cNvSpPr/>
            <p:nvPr/>
          </p:nvSpPr>
          <p:spPr>
            <a:xfrm>
              <a:off x="863993" y="1251068"/>
              <a:ext cx="4032250" cy="515620"/>
            </a:xfrm>
            <a:custGeom>
              <a:avLst/>
              <a:gdLst/>
              <a:ahLst/>
              <a:cxnLst/>
              <a:rect l="l" t="t" r="r" b="b"/>
              <a:pathLst>
                <a:path w="4032250" h="515619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461069"/>
                  </a:lnTo>
                  <a:lnTo>
                    <a:pt x="4243" y="482089"/>
                  </a:lnTo>
                  <a:lnTo>
                    <a:pt x="15816" y="499253"/>
                  </a:lnTo>
                  <a:lnTo>
                    <a:pt x="32980" y="510826"/>
                  </a:lnTo>
                  <a:lnTo>
                    <a:pt x="54000" y="515069"/>
                  </a:lnTo>
                  <a:lnTo>
                    <a:pt x="3978067" y="515069"/>
                  </a:lnTo>
                  <a:lnTo>
                    <a:pt x="3999086" y="510826"/>
                  </a:lnTo>
                  <a:lnTo>
                    <a:pt x="4016251" y="499253"/>
                  </a:lnTo>
                  <a:lnTo>
                    <a:pt x="4027823" y="482089"/>
                  </a:lnTo>
                  <a:lnTo>
                    <a:pt x="4032067" y="461069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1269068"/>
              <a:ext cx="3996690" cy="479425"/>
            </a:xfrm>
            <a:custGeom>
              <a:avLst/>
              <a:gdLst/>
              <a:ahLst/>
              <a:cxnLst/>
              <a:rect l="l" t="t" r="r" b="b"/>
              <a:pathLst>
                <a:path w="3996690" h="479425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43069"/>
                  </a:lnTo>
                  <a:lnTo>
                    <a:pt x="2829" y="457082"/>
                  </a:lnTo>
                  <a:lnTo>
                    <a:pt x="10544" y="468525"/>
                  </a:lnTo>
                  <a:lnTo>
                    <a:pt x="21987" y="476240"/>
                  </a:lnTo>
                  <a:lnTo>
                    <a:pt x="36000" y="479070"/>
                  </a:lnTo>
                  <a:lnTo>
                    <a:pt x="3960067" y="479070"/>
                  </a:lnTo>
                  <a:lnTo>
                    <a:pt x="3974080" y="476240"/>
                  </a:lnTo>
                  <a:lnTo>
                    <a:pt x="3985523" y="468525"/>
                  </a:lnTo>
                  <a:lnTo>
                    <a:pt x="3993238" y="457082"/>
                  </a:lnTo>
                  <a:lnTo>
                    <a:pt x="3996067" y="443069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438137" y="1008730"/>
            <a:ext cx="4883785" cy="96449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5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HandsOnLab01: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Deploying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4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1177925" marR="1147445" indent="59690">
              <a:lnSpc>
                <a:spcPct val="116199"/>
              </a:lnSpc>
            </a:pPr>
            <a:r>
              <a:rPr lang="en-US" sz="900" noProof="1">
                <a:latin typeface="Arial"/>
                <a:cs typeface="Arial"/>
              </a:rPr>
              <a:t>The </a:t>
            </a:r>
            <a:r>
              <a:rPr lang="en-US" sz="900" spc="-10" noProof="1">
                <a:latin typeface="Arial"/>
                <a:cs typeface="Arial"/>
              </a:rPr>
              <a:t>goal</a:t>
            </a:r>
            <a:r>
              <a:rPr lang="en-US" sz="900" noProof="1">
                <a:latin typeface="Arial"/>
                <a:cs typeface="Arial"/>
              </a:rPr>
              <a:t> of this </a:t>
            </a:r>
            <a:r>
              <a:rPr lang="en-US" sz="900" spc="-45" noProof="1">
                <a:latin typeface="Arial"/>
                <a:cs typeface="Arial"/>
              </a:rPr>
              <a:t>hands-</a:t>
            </a:r>
            <a:r>
              <a:rPr lang="en-US" sz="900" noProof="1">
                <a:latin typeface="Arial"/>
                <a:cs typeface="Arial"/>
              </a:rPr>
              <a:t>on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lab is to </a:t>
            </a:r>
            <a:r>
              <a:rPr lang="en-US" sz="900" spc="-50" noProof="1">
                <a:latin typeface="Arial"/>
                <a:cs typeface="Arial"/>
              </a:rPr>
              <a:t>show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you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25" noProof="1">
                <a:latin typeface="Arial"/>
                <a:cs typeface="Arial"/>
              </a:rPr>
              <a:t>how</a:t>
            </a:r>
            <a:r>
              <a:rPr lang="en-US" sz="900" noProof="1">
                <a:latin typeface="Arial"/>
                <a:cs typeface="Arial"/>
              </a:rPr>
              <a:t> to</a:t>
            </a:r>
            <a:r>
              <a:rPr lang="en-US" sz="900" spc="-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deploy</a:t>
            </a:r>
            <a:r>
              <a:rPr lang="en-US" sz="900" noProof="1">
                <a:latin typeface="Arial"/>
                <a:cs typeface="Arial"/>
              </a:rPr>
              <a:t> a </a:t>
            </a:r>
            <a:r>
              <a:rPr lang="en-US" sz="900" spc="-30" noProof="1">
                <a:latin typeface="Arial"/>
                <a:cs typeface="Arial"/>
              </a:rPr>
              <a:t>personal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website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20" noProof="1">
                <a:latin typeface="Arial"/>
                <a:cs typeface="Arial"/>
              </a:rPr>
              <a:t>using</a:t>
            </a:r>
            <a:r>
              <a:rPr lang="en-US" sz="900" spc="-5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cloud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computing.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30"/>
              </a:spcBef>
            </a:pPr>
            <a:endParaRPr lang="en-US" sz="900" noProof="1">
              <a:latin typeface="Arial"/>
              <a:cs typeface="Arial"/>
            </a:endParaRPr>
          </a:p>
          <a:p>
            <a:pPr algn="ctr">
              <a:lnSpc>
                <a:spcPct val="100000"/>
              </a:lnSpc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hands-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lab,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follow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instructions: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HOL01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290185" cy="5080"/>
            </a:xfrm>
            <a:custGeom>
              <a:avLst/>
              <a:gdLst/>
              <a:ahLst/>
              <a:cxnLst/>
              <a:rect l="l" t="t" r="r" b="b"/>
              <a:pathLst>
                <a:path w="5290185" h="5080">
                  <a:moveTo>
                    <a:pt x="0" y="5060"/>
                  </a:moveTo>
                  <a:lnTo>
                    <a:pt x="0" y="0"/>
                  </a:lnTo>
                  <a:lnTo>
                    <a:pt x="5289853" y="0"/>
                  </a:lnTo>
                  <a:lnTo>
                    <a:pt x="528985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97548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GitHub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PaaS,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IaaS,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or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SaaS?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68591" y="351405"/>
            <a:ext cx="4822818" cy="2549033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856955" y="3034422"/>
            <a:ext cx="204660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7:</a:t>
            </a:r>
            <a:r>
              <a:rPr lang="en-US" sz="800" b="1" spc="1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407660" cy="5080"/>
            </a:xfrm>
            <a:custGeom>
              <a:avLst/>
              <a:gdLst/>
              <a:ahLst/>
              <a:cxnLst/>
              <a:rect l="l" t="t" r="r" b="b"/>
              <a:pathLst>
                <a:path w="5407660" h="5080">
                  <a:moveTo>
                    <a:pt x="0" y="5060"/>
                  </a:moveTo>
                  <a:lnTo>
                    <a:pt x="0" y="0"/>
                  </a:lnTo>
                  <a:lnTo>
                    <a:pt x="5407452" y="0"/>
                  </a:lnTo>
                  <a:lnTo>
                    <a:pt x="540745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310F2D-C814-6121-D19E-D949428938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E424BB76-C4AB-FBF4-EC3C-3DA754A5D3E5}"/>
              </a:ext>
            </a:extLst>
          </p:cNvPr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6DA150C7-A5BD-7213-983B-07407F786CDF}"/>
              </a:ext>
            </a:extLst>
          </p:cNvPr>
          <p:cNvSpPr txBox="1"/>
          <p:nvPr/>
        </p:nvSpPr>
        <p:spPr>
          <a:xfrm>
            <a:off x="98526" y="59834"/>
            <a:ext cx="197548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GitHub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PaaS,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IaaS,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or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SaaS?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1DE97240-2AF5-7990-6E72-F37701AF85C8}"/>
              </a:ext>
            </a:extLst>
          </p:cNvPr>
          <p:cNvSpPr txBox="1"/>
          <p:nvPr/>
        </p:nvSpPr>
        <p:spPr>
          <a:xfrm>
            <a:off x="1856955" y="3034422"/>
            <a:ext cx="204660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7:</a:t>
            </a:r>
            <a:r>
              <a:rPr lang="en-US" sz="800" b="1" spc="1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>
            <a:extLst>
              <a:ext uri="{FF2B5EF4-FFF2-40B4-BE49-F238E27FC236}">
                <a16:creationId xmlns:a16="http://schemas.microsoft.com/office/drawing/2014/main" id="{54E2A0DC-882B-C89D-8BF8-20610D6CD4C3}"/>
              </a:ext>
            </a:extLst>
          </p:cNvPr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>
              <a:extLst>
                <a:ext uri="{FF2B5EF4-FFF2-40B4-BE49-F238E27FC236}">
                  <a16:creationId xmlns:a16="http://schemas.microsoft.com/office/drawing/2014/main" id="{4C978F6C-5E49-6CB1-46C4-05EB6ED71D63}"/>
                </a:ext>
              </a:extLst>
            </p:cNvPr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>
              <a:extLst>
                <a:ext uri="{FF2B5EF4-FFF2-40B4-BE49-F238E27FC236}">
                  <a16:creationId xmlns:a16="http://schemas.microsoft.com/office/drawing/2014/main" id="{D30C8828-9D70-3EF0-02B9-C7A53409DB85}"/>
                </a:ext>
              </a:extLst>
            </p:cNvPr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>
              <a:extLst>
                <a:ext uri="{FF2B5EF4-FFF2-40B4-BE49-F238E27FC236}">
                  <a16:creationId xmlns:a16="http://schemas.microsoft.com/office/drawing/2014/main" id="{E61DD0E2-A632-8D11-9694-972616C337A6}"/>
                </a:ext>
              </a:extLst>
            </p:cNvPr>
            <p:cNvSpPr/>
            <p:nvPr/>
          </p:nvSpPr>
          <p:spPr>
            <a:xfrm>
              <a:off x="0" y="3234963"/>
              <a:ext cx="5407660" cy="5080"/>
            </a:xfrm>
            <a:custGeom>
              <a:avLst/>
              <a:gdLst/>
              <a:ahLst/>
              <a:cxnLst/>
              <a:rect l="l" t="t" r="r" b="b"/>
              <a:pathLst>
                <a:path w="5407660" h="5080">
                  <a:moveTo>
                    <a:pt x="0" y="5060"/>
                  </a:moveTo>
                  <a:lnTo>
                    <a:pt x="0" y="0"/>
                  </a:lnTo>
                  <a:lnTo>
                    <a:pt x="5407452" y="0"/>
                  </a:lnTo>
                  <a:lnTo>
                    <a:pt x="540745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0" name="object 3">
            <a:extLst>
              <a:ext uri="{FF2B5EF4-FFF2-40B4-BE49-F238E27FC236}">
                <a16:creationId xmlns:a16="http://schemas.microsoft.com/office/drawing/2014/main" id="{D9996C46-94A3-3ED9-5DC9-7721B600A142}"/>
              </a:ext>
            </a:extLst>
          </p:cNvPr>
          <p:cNvSpPr txBox="1"/>
          <p:nvPr/>
        </p:nvSpPr>
        <p:spPr>
          <a:xfrm>
            <a:off x="427126" y="631825"/>
            <a:ext cx="4986020" cy="20040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n-US" sz="900" b="1" spc="-25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GitHup Repositoris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 A GitHup repository (often called a repo) is basically a storage space on GitHup where you keep all the files and history of a project.</a:t>
            </a: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n-US" sz="900" b="1" spc="-25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GitHup Pages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 GitHup pages is a static website hosting platform. You put HTML, CSS, JavaScript, Python … files in a GitHup repo. You can use it for personal websites, project documentation, portfolios, blogs, class notes / course materials, simple static web apps.</a:t>
            </a:r>
          </a:p>
          <a:p>
            <a:pPr marL="12065" marR="36830">
              <a:lnSpc>
                <a:spcPct val="116199"/>
              </a:lnSpc>
              <a:spcBef>
                <a:spcPts val="100"/>
              </a:spcBef>
              <a:tabLst>
                <a:tab pos="160020" algn="l"/>
              </a:tabLst>
            </a:pPr>
            <a:endParaRPr lang="en-US" sz="900" spc="-10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GitHup Copilot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 GitHup Copilot is an AI-powered coding assistant created by GitHup + Microsoft + OpenAI. It helps programmers write code faster and with fewere mistakes by suggesting code in real time.</a:t>
            </a: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n-US" sz="900" spc="-10" noProof="1">
              <a:solidFill>
                <a:srgbClr val="22373A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27014884"/>
      </p:ext>
    </p:extLst>
  </p:cSld>
  <p:clrMapOvr>
    <a:masterClrMapping/>
  </p:clrMapOvr>
  <p:transition>
    <p:cut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25425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What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45" noProof="1">
                <a:solidFill>
                  <a:srgbClr val="F9F9F9"/>
                </a:solidFill>
                <a:latin typeface="Arial"/>
                <a:cs typeface="Arial"/>
              </a:rPr>
              <a:t>does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it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mean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to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host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website?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60070" y="351409"/>
            <a:ext cx="5039866" cy="2361018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594738" y="2846398"/>
            <a:ext cx="257111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8:</a:t>
            </a:r>
            <a:r>
              <a:rPr lang="en-US" sz="800" b="1" spc="1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happens</a:t>
            </a:r>
            <a:r>
              <a:rPr lang="en-US" sz="8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8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want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visit</a:t>
            </a:r>
            <a:r>
              <a:rPr lang="en-US" sz="8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website?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525135" cy="5080"/>
            </a:xfrm>
            <a:custGeom>
              <a:avLst/>
              <a:gdLst/>
              <a:ahLst/>
              <a:cxnLst/>
              <a:rect l="l" t="t" r="r" b="b"/>
              <a:pathLst>
                <a:path w="5525135" h="5080">
                  <a:moveTo>
                    <a:pt x="0" y="5060"/>
                  </a:moveTo>
                  <a:lnTo>
                    <a:pt x="0" y="0"/>
                  </a:lnTo>
                  <a:lnTo>
                    <a:pt x="5524963" y="0"/>
                  </a:lnTo>
                  <a:lnTo>
                    <a:pt x="552496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xfrm>
            <a:off x="98526" y="59834"/>
            <a:ext cx="351536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Example. Website</a:t>
            </a:r>
            <a:r>
              <a:rPr lang="en-US" spc="-30" noProof="1"/>
              <a:t> </a:t>
            </a:r>
            <a:r>
              <a:rPr lang="en-US" spc="-35" noProof="1"/>
              <a:t>deployment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1718" y="371520"/>
            <a:ext cx="4881245" cy="150682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PaaS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deploy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own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compare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deployment.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59103" y="613739"/>
            <a:ext cx="3841790" cy="2099234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368209" y="2846957"/>
            <a:ext cx="302387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2:</a:t>
            </a:r>
            <a:r>
              <a:rPr lang="en-US" sz="800" b="1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Differences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40" noProof="1">
                <a:solidFill>
                  <a:srgbClr val="22373A"/>
                </a:solidFill>
                <a:latin typeface="Arial"/>
                <a:cs typeface="Arial"/>
              </a:rPr>
              <a:t>Pages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deployment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326390" cy="5080"/>
            </a:xfrm>
            <a:custGeom>
              <a:avLst/>
              <a:gdLst/>
              <a:ahLst/>
              <a:cxnLst/>
              <a:rect l="l" t="t" r="r" b="b"/>
              <a:pathLst>
                <a:path w="326390" h="5080">
                  <a:moveTo>
                    <a:pt x="0" y="5060"/>
                  </a:moveTo>
                  <a:lnTo>
                    <a:pt x="0" y="0"/>
                  </a:lnTo>
                  <a:lnTo>
                    <a:pt x="326078" y="0"/>
                  </a:lnTo>
                  <a:lnTo>
                    <a:pt x="32607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66484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Let’s</a:t>
            </a:r>
            <a:r>
              <a:rPr lang="en-US" spc="-35" noProof="1"/>
              <a:t> recap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27304" y="912248"/>
            <a:ext cx="2463800" cy="15792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download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repository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edit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 marL="12700" marR="305435">
              <a:lnSpc>
                <a:spcPct val="116199"/>
              </a:lnSpc>
              <a:spcBef>
                <a:spcPts val="450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Result?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accessible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my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while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987294" y="912248"/>
            <a:ext cx="2398395" cy="110109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b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lang="en-US" sz="900" b="1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Pages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Fork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repository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5585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Tweak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settings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Edit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Commit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changes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625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Result?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free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accessible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anywhere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642610" cy="5080"/>
            </a:xfrm>
            <a:custGeom>
              <a:avLst/>
              <a:gdLst/>
              <a:ahLst/>
              <a:cxnLst/>
              <a:rect l="l" t="t" r="r" b="b"/>
              <a:pathLst>
                <a:path w="5642610" h="5080">
                  <a:moveTo>
                    <a:pt x="0" y="5060"/>
                  </a:moveTo>
                  <a:lnTo>
                    <a:pt x="0" y="0"/>
                  </a:lnTo>
                  <a:lnTo>
                    <a:pt x="5642474" y="0"/>
                  </a:lnTo>
                  <a:lnTo>
                    <a:pt x="564247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50" noProof="1"/>
              <a:t>References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164796"/>
            <a:ext cx="5051425" cy="10769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2880" marR="5080" indent="-170815" algn="just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Ali,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Omar,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Anup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Shrestha,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Jeffrey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Soar,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Samuel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Fosso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Wamba.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2018.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“Cloud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Computing-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Enabled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Opportunities,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Issues,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Applications:</a:t>
            </a:r>
            <a:r>
              <a:rPr lang="en-US" sz="9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Systematic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Review.”</a:t>
            </a:r>
            <a:r>
              <a:rPr lang="en-US" sz="9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International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Journal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Information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43: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146–58.</a:t>
            </a:r>
            <a:endParaRPr lang="en-US" sz="900" noProof="1">
              <a:latin typeface="Arial"/>
              <a:cs typeface="Arial"/>
            </a:endParaRPr>
          </a:p>
          <a:p>
            <a:pPr marL="12700" algn="just">
              <a:lnSpc>
                <a:spcPct val="100000"/>
              </a:lnSpc>
              <a:spcBef>
                <a:spcPts val="55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Mell,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Peter,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Grance,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al.</a:t>
            </a:r>
            <a:r>
              <a:rPr lang="en-US" sz="9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2011.</a:t>
            </a:r>
            <a:r>
              <a:rPr lang="en-US" sz="900" spc="1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“The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NIST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Definition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Computing.”</a:t>
            </a:r>
            <a:endParaRPr lang="en-US" sz="900" noProof="1">
              <a:latin typeface="Arial"/>
              <a:cs typeface="Arial"/>
            </a:endParaRPr>
          </a:p>
          <a:p>
            <a:pPr marL="182880" marR="88900" indent="-170815" algn="just">
              <a:lnSpc>
                <a:spcPct val="116199"/>
              </a:lnSpc>
              <a:spcBef>
                <a:spcPts val="37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Vilaplana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Mayoral,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Jordi et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2015.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of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Applied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 eHealth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Universitat de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Lleida.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22373A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5858</TotalTime>
  <Words>4037</Words>
  <Application>Microsoft Macintosh PowerPoint</Application>
  <PresentationFormat>Custom</PresentationFormat>
  <Paragraphs>338</Paragraphs>
  <Slides>53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53</vt:i4>
      </vt:variant>
    </vt:vector>
  </HeadingPairs>
  <TitlesOfParts>
    <vt:vector size="57" baseType="lpstr">
      <vt:lpstr>Apple Symbols</vt:lpstr>
      <vt:lpstr>Aptos</vt:lpstr>
      <vt:lpstr>Arial</vt:lpstr>
      <vt:lpstr>Office Theme</vt:lpstr>
      <vt:lpstr>PowerPoint Presentation</vt:lpstr>
      <vt:lpstr>What is this course about?</vt:lpstr>
      <vt:lpstr>Pre-Course Survey: Who are you?</vt:lpstr>
      <vt:lpstr>PowerPoint Presentation</vt:lpstr>
      <vt:lpstr>What is Cloud Computing?</vt:lpstr>
      <vt:lpstr>What is the idea behind Cloud Computing?</vt:lpstr>
      <vt:lpstr>PowerPoint Presentation</vt:lpstr>
      <vt:lpstr>PowerPoint Presentation</vt:lpstr>
      <vt:lpstr>Which is the cloud computing model?</vt:lpstr>
      <vt:lpstr>Which is the traditional computing model?</vt:lpstr>
      <vt:lpstr>Live in a hotel vs. Own a house</vt:lpstr>
      <vt:lpstr>Case Study: Serving a Personal Website</vt:lpstr>
      <vt:lpstr>Which are the main cloud computing services models?</vt:lpstr>
      <vt:lpstr>Shared Responsibility Model</vt:lpstr>
      <vt:lpstr>Public Cloud</vt:lpstr>
      <vt:lpstr>Private Cloud (On-Premises)</vt:lpstr>
      <vt:lpstr>Hybrid Cloud</vt:lpstr>
      <vt:lpstr>Which is the current situation of Cloud Computing?</vt:lpstr>
      <vt:lpstr>Cloud services everywhere</vt:lpstr>
      <vt:lpstr>Cloud services everywhere</vt:lpstr>
      <vt:lpstr>PowerPoint Presentation</vt:lpstr>
      <vt:lpstr>Capital expenses to operational expenses</vt:lpstr>
      <vt:lpstr>Economies of scale</vt:lpstr>
      <vt:lpstr>Adaptability and scalability</vt:lpstr>
      <vt:lpstr>Deployment speed</vt:lpstr>
      <vt:lpstr>Case Study: Dropbox</vt:lpstr>
      <vt:lpstr>Risks and Challenges of Cloud Computing</vt:lpstr>
      <vt:lpstr>Data security</vt:lpstr>
      <vt:lpstr>Real Cases of Security Breaches</vt:lpstr>
      <vt:lpstr>How to protect your data in the cloud?</vt:lpstr>
      <vt:lpstr>Data compliance</vt:lpstr>
      <vt:lpstr>Homework</vt:lpstr>
      <vt:lpstr>Dependence</vt:lpstr>
      <vt:lpstr>Other challenges</vt:lpstr>
      <vt:lpstr>Case Study: Is Cloud Computing Right for Your Company? (I)</vt:lpstr>
      <vt:lpstr>Case Study: Is Cloud Computing Right for Your Company? (II)</vt:lpstr>
      <vt:lpstr>Case Study: Is Cloud Computing Right for Your Company? (III)</vt:lpstr>
      <vt:lpstr>PowerPoint Presentation</vt:lpstr>
      <vt:lpstr>Why Cloud Computing in Health?</vt:lpstr>
      <vt:lpstr>Which are the opportunities of Cloud Computing in Health?</vt:lpstr>
      <vt:lpstr>Use Cases</vt:lpstr>
      <vt:lpstr>Challenges in Health</vt:lpstr>
      <vt:lpstr>Is cloud computing the future of Health?</vt:lpstr>
      <vt:lpstr>PowerPoint Presentation</vt:lpstr>
      <vt:lpstr>Recap: Cloud Computing vs Traditional Computing</vt:lpstr>
      <vt:lpstr>PowerPoint Presentation</vt:lpstr>
      <vt:lpstr>Homework - Creating our own website</vt:lpstr>
      <vt:lpstr>PowerPoint Presentation</vt:lpstr>
      <vt:lpstr>PowerPoint Presentation</vt:lpstr>
      <vt:lpstr>PowerPoint Presentation</vt:lpstr>
      <vt:lpstr>Example. Website deployment</vt:lpstr>
      <vt:lpstr>Let’s recap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High Performance and Distributed Computing for Big Data - Unit 3: Cloud Computing</dc:title>
  <dc:creator>Ferran Aran Domingo ` `%%%`#`&amp;12_`__~~~ౡ氀猀攀</dc:creator>
  <cp:keywords>Cloud Computing, AWS, Healtcare, Cloud Computing in Healthcare</cp:keywords>
  <cp:lastModifiedBy>Francesc Xavier Solsona Tehas</cp:lastModifiedBy>
  <cp:revision>79</cp:revision>
  <dcterms:created xsi:type="dcterms:W3CDTF">2025-05-19T16:07:57Z</dcterms:created>
  <dcterms:modified xsi:type="dcterms:W3CDTF">2026-04-15T09:27:09Z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2025-02-19T00:00:00Z</vt:filetime>
  </property>
  <property fmtid="{D5CDD505-2E9C-101B-9397-08002B2CF9AE}" pid="3" name="Creator">
    <vt:lpwstr>LaTeX via pandoc</vt:lpwstr>
  </property>
  <property fmtid="{D5CDD505-2E9C-101B-9397-08002B2CF9AE}" pid="4" name="Producer">
    <vt:lpwstr>xdvipdfmx (20240210)</vt:lpwstr>
  </property>
  <property fmtid="{D5CDD505-2E9C-101B-9397-08002B2CF9AE}" pid="5" name="LastSaved">
    <vt:filetime>2025-02-19T00:00:00Z</vt:filetime>
  </property>
</Properties>
</file>