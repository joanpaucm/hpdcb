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2" r:id="rId3"/>
    <p:sldId id="263" r:id="rId4"/>
    <p:sldId id="264" r:id="rId5"/>
    <p:sldId id="268" r:id="rId6"/>
    <p:sldId id="271" r:id="rId7"/>
    <p:sldId id="273" r:id="rId8"/>
    <p:sldId id="274" r:id="rId9"/>
    <p:sldId id="275" r:id="rId10"/>
    <p:sldId id="276" r:id="rId11"/>
    <p:sldId id="279" r:id="rId12"/>
    <p:sldId id="282" r:id="rId13"/>
    <p:sldId id="283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1" r:id="rId37"/>
    <p:sldId id="310" r:id="rId38"/>
    <p:sldId id="312" r:id="rId39"/>
    <p:sldId id="315" r:id="rId40"/>
    <p:sldId id="316" r:id="rId41"/>
    <p:sldId id="317" r:id="rId42"/>
    <p:sldId id="318" r:id="rId43"/>
    <p:sldId id="319" r:id="rId44"/>
    <p:sldId id="320" r:id="rId45"/>
    <p:sldId id="321" r:id="rId46"/>
    <p:sldId id="322" r:id="rId47"/>
    <p:sldId id="323" r:id="rId48"/>
    <p:sldId id="324" r:id="rId49"/>
    <p:sldId id="325" r:id="rId50"/>
    <p:sldId id="326" r:id="rId51"/>
    <p:sldId id="327" r:id="rId52"/>
    <p:sldId id="328" r:id="rId53"/>
    <p:sldId id="329" r:id="rId54"/>
    <p:sldId id="330" r:id="rId55"/>
    <p:sldId id="333" r:id="rId56"/>
    <p:sldId id="336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585"/>
  </p:normalViewPr>
  <p:slideViewPr>
    <p:cSldViewPr>
      <p:cViewPr varScale="1">
        <p:scale>
          <a:sx n="202" d="100"/>
          <a:sy n="202" d="100"/>
        </p:scale>
        <p:origin x="82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5934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5546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892851"/>
            <a:ext cx="16287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50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90CA936B-5C45-2987-25C0-8E389B91997C}"/>
              </a:ext>
            </a:extLst>
          </p:cNvPr>
          <p:cNvSpPr txBox="1"/>
          <p:nvPr/>
        </p:nvSpPr>
        <p:spPr>
          <a:xfrm>
            <a:off x="347293" y="1226764"/>
            <a:ext cx="2459407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u="sng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Session 3 - Introduction to AWS + EC2</a:t>
            </a:r>
            <a:endParaRPr lang="en-US" sz="10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15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5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0374" y="613747"/>
            <a:ext cx="2099251" cy="209925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846970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20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45" dirty="0"/>
              <a:t>Services:</a:t>
            </a:r>
            <a:r>
              <a:rPr lang="en-US" spc="120" dirty="0"/>
              <a:t> </a:t>
            </a:r>
            <a:r>
              <a:rPr lang="en-US" spc="-25" dirty="0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dirty="0"/>
              <a:t>When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20" dirty="0"/>
              <a:t>connect</a:t>
            </a:r>
            <a:r>
              <a:rPr lang="en-US" spc="-5" dirty="0"/>
              <a:t> </a:t>
            </a:r>
            <a:r>
              <a:rPr lang="en-US" dirty="0"/>
              <a:t>to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spc="-20" dirty="0"/>
              <a:t>remote</a:t>
            </a:r>
            <a:r>
              <a:rPr lang="en-US" spc="-5" dirty="0"/>
              <a:t> </a:t>
            </a:r>
            <a:r>
              <a:rPr lang="en-US" spc="-25" dirty="0"/>
              <a:t>machine</a:t>
            </a:r>
            <a:r>
              <a:rPr lang="en-US" spc="-5" dirty="0"/>
              <a:t> </a:t>
            </a:r>
            <a:r>
              <a:rPr lang="en-US" dirty="0"/>
              <a:t>through</a:t>
            </a:r>
            <a:r>
              <a:rPr lang="en-US" spc="-5" dirty="0"/>
              <a:t> </a:t>
            </a:r>
            <a:r>
              <a:rPr lang="en-US" spc="-25" dirty="0"/>
              <a:t>SSH,</a:t>
            </a:r>
            <a:r>
              <a:rPr lang="en-US" spc="-5" dirty="0"/>
              <a:t>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30" dirty="0"/>
              <a:t>are</a:t>
            </a:r>
            <a:r>
              <a:rPr lang="en-US" spc="-5" dirty="0"/>
              <a:t> </a:t>
            </a:r>
            <a:r>
              <a:rPr lang="en-US" spc="-30" dirty="0"/>
              <a:t>essentially</a:t>
            </a:r>
            <a:r>
              <a:rPr lang="en-US" spc="-5" dirty="0"/>
              <a:t> </a:t>
            </a:r>
            <a:r>
              <a:rPr lang="en-US" spc="-25" dirty="0"/>
              <a:t>opening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b="1" spc="-10" dirty="0">
                <a:latin typeface="Arial"/>
                <a:cs typeface="Arial"/>
              </a:rPr>
              <a:t>remote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25" dirty="0"/>
              <a:t>on </a:t>
            </a:r>
            <a:r>
              <a:rPr lang="en-US" dirty="0"/>
              <a:t>that</a:t>
            </a:r>
            <a:r>
              <a:rPr lang="en-US" spc="120" dirty="0"/>
              <a:t> </a:t>
            </a:r>
            <a:r>
              <a:rPr lang="en-US" spc="-10" dirty="0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dirty="0"/>
              <a:t>SSH</a:t>
            </a:r>
            <a:r>
              <a:rPr lang="en-US" spc="5" dirty="0"/>
              <a:t> </a:t>
            </a:r>
            <a:r>
              <a:rPr lang="en-US" spc="-30" dirty="0"/>
              <a:t>works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b="1" spc="-35" dirty="0">
                <a:latin typeface="Arial"/>
                <a:cs typeface="Arial"/>
              </a:rPr>
              <a:t>public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private</a:t>
            </a:r>
            <a:r>
              <a:rPr lang="en-US" b="1" spc="20" dirty="0">
                <a:latin typeface="Arial"/>
                <a:cs typeface="Arial"/>
              </a:rPr>
              <a:t> </a:t>
            </a:r>
            <a:r>
              <a:rPr lang="en-US" b="1" spc="-60" dirty="0">
                <a:latin typeface="Arial"/>
                <a:cs typeface="Arial"/>
              </a:rPr>
              <a:t>keys</a:t>
            </a:r>
            <a:r>
              <a:rPr lang="en-US" b="1" spc="10" dirty="0">
                <a:latin typeface="Arial"/>
                <a:cs typeface="Arial"/>
              </a:rPr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5" dirty="0"/>
              <a:t>establish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spc="-50" dirty="0"/>
              <a:t>secure</a:t>
            </a:r>
            <a:r>
              <a:rPr lang="en-US" spc="5" dirty="0"/>
              <a:t> </a:t>
            </a:r>
            <a:r>
              <a:rPr lang="en-US" spc="-10" dirty="0"/>
              <a:t>connection.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20" dirty="0"/>
              <a:t>eliminates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50" dirty="0"/>
              <a:t>need</a:t>
            </a:r>
            <a:r>
              <a:rPr lang="en-US" spc="5" dirty="0"/>
              <a:t> </a:t>
            </a:r>
            <a:r>
              <a:rPr lang="en-US" spc="-25" dirty="0"/>
              <a:t>for </a:t>
            </a:r>
            <a:r>
              <a:rPr lang="en-US" spc="-65" dirty="0"/>
              <a:t>password-</a:t>
            </a:r>
            <a:r>
              <a:rPr lang="en-US" spc="-30" dirty="0"/>
              <a:t>based</a:t>
            </a:r>
            <a:r>
              <a:rPr lang="en-US" spc="60" dirty="0"/>
              <a:t> </a:t>
            </a:r>
            <a:r>
              <a:rPr lang="en-US" spc="-10" dirty="0"/>
              <a:t>authentication,</a:t>
            </a:r>
            <a:r>
              <a:rPr lang="en-US" spc="65" dirty="0"/>
              <a:t> </a:t>
            </a:r>
            <a:r>
              <a:rPr lang="en-US" spc="-35" dirty="0"/>
              <a:t>enhancing</a:t>
            </a:r>
            <a:r>
              <a:rPr lang="en-US" spc="65" dirty="0"/>
              <a:t> </a:t>
            </a:r>
            <a:r>
              <a:rPr lang="en-US" spc="-10" dirty="0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 </a:t>
            </a: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95" dirty="0"/>
              <a:t> </a:t>
            </a:r>
            <a:r>
              <a:rPr lang="en-US" spc="-10" dirty="0"/>
              <a:t>We</a:t>
            </a:r>
            <a:r>
              <a:rPr lang="en-US" spc="15" dirty="0"/>
              <a:t> </a:t>
            </a:r>
            <a:r>
              <a:rPr lang="en-US" spc="-30" dirty="0"/>
              <a:t>are</a:t>
            </a:r>
            <a:r>
              <a:rPr lang="en-US" spc="15" dirty="0"/>
              <a:t> </a:t>
            </a:r>
            <a:r>
              <a:rPr lang="en-US" spc="-10" dirty="0"/>
              <a:t>going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55" dirty="0"/>
              <a:t>share</a:t>
            </a:r>
            <a:r>
              <a:rPr lang="en-US" spc="10" dirty="0"/>
              <a:t> </a:t>
            </a:r>
            <a:r>
              <a:rPr lang="en-US" dirty="0"/>
              <a:t>this</a:t>
            </a:r>
            <a:r>
              <a:rPr lang="en-US" spc="15" dirty="0"/>
              <a:t> </a:t>
            </a:r>
            <a:r>
              <a:rPr lang="en-US" dirty="0"/>
              <a:t>with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10" dirty="0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60" dirty="0"/>
              <a:t> </a:t>
            </a:r>
            <a:r>
              <a:rPr lang="en-US" dirty="0"/>
              <a:t>This</a:t>
            </a:r>
            <a:r>
              <a:rPr lang="en-US" spc="-15" dirty="0"/>
              <a:t> </a:t>
            </a:r>
            <a:r>
              <a:rPr lang="en-US" spc="-25" dirty="0"/>
              <a:t>one</a:t>
            </a:r>
            <a:r>
              <a:rPr lang="en-US" spc="-15" dirty="0"/>
              <a:t> </a:t>
            </a:r>
            <a:r>
              <a:rPr lang="en-US" dirty="0"/>
              <a:t>is</a:t>
            </a:r>
            <a:r>
              <a:rPr lang="en-US" spc="-20" dirty="0"/>
              <a:t> </a:t>
            </a:r>
            <a:r>
              <a:rPr lang="en-US" dirty="0"/>
              <a:t>kept</a:t>
            </a:r>
            <a:r>
              <a:rPr lang="en-US" spc="-15" dirty="0"/>
              <a:t> </a:t>
            </a:r>
            <a:r>
              <a:rPr lang="en-US" spc="-25" dirty="0"/>
              <a:t>secret</a:t>
            </a:r>
            <a:r>
              <a:rPr lang="en-US" spc="-15" dirty="0"/>
              <a:t> </a:t>
            </a:r>
            <a:r>
              <a:rPr lang="en-US" dirty="0"/>
              <a:t>on</a:t>
            </a:r>
            <a:r>
              <a:rPr lang="en-US" spc="-20" dirty="0"/>
              <a:t> </a:t>
            </a:r>
            <a:r>
              <a:rPr lang="en-US" dirty="0"/>
              <a:t>our</a:t>
            </a:r>
            <a:r>
              <a:rPr lang="en-US" spc="-15" dirty="0"/>
              <a:t> </a:t>
            </a:r>
            <a:r>
              <a:rPr lang="en-US" dirty="0"/>
              <a:t>local</a:t>
            </a:r>
            <a:r>
              <a:rPr lang="en-US" spc="-15" dirty="0"/>
              <a:t> </a:t>
            </a:r>
            <a:r>
              <a:rPr lang="en-US" spc="-10" dirty="0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dirty="0">
                <a:latin typeface="Arial"/>
                <a:cs typeface="Arial"/>
              </a:rPr>
              <a:t>Key-</a:t>
            </a:r>
            <a:r>
              <a:rPr lang="en-US" b="1" spc="-10" dirty="0">
                <a:latin typeface="Arial"/>
                <a:cs typeface="Arial"/>
              </a:rPr>
              <a:t>Based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dirty="0"/>
              <a:t>When</a:t>
            </a:r>
            <a:r>
              <a:rPr lang="en-US" spc="5" dirty="0"/>
              <a:t> </a:t>
            </a:r>
            <a:r>
              <a:rPr lang="en-US" spc="-40" dirty="0"/>
              <a:t>we</a:t>
            </a:r>
            <a:r>
              <a:rPr lang="en-US" spc="5" dirty="0"/>
              <a:t> </a:t>
            </a:r>
            <a:r>
              <a:rPr lang="en-US" spc="-20" dirty="0"/>
              <a:t>connect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spc="-20" dirty="0"/>
              <a:t>using</a:t>
            </a:r>
            <a:r>
              <a:rPr lang="en-US" spc="5" dirty="0"/>
              <a:t> </a:t>
            </a:r>
            <a:r>
              <a:rPr lang="en-US" spc="-25" dirty="0"/>
              <a:t>SSH,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dirty="0"/>
              <a:t>(the</a:t>
            </a:r>
            <a:r>
              <a:rPr lang="en-US" spc="5" dirty="0"/>
              <a:t> </a:t>
            </a:r>
            <a:r>
              <a:rPr lang="en-US" spc="-25" dirty="0"/>
              <a:t>EC2</a:t>
            </a:r>
            <a:r>
              <a:rPr lang="en-US" spc="5" dirty="0"/>
              <a:t> </a:t>
            </a:r>
            <a:r>
              <a:rPr lang="en-US" spc="-10" dirty="0"/>
              <a:t>machine)</a:t>
            </a:r>
            <a:r>
              <a:rPr lang="en-US" spc="5" dirty="0"/>
              <a:t> </a:t>
            </a:r>
            <a:r>
              <a:rPr lang="en-US" spc="-40" dirty="0"/>
              <a:t>checks</a:t>
            </a:r>
            <a:r>
              <a:rPr lang="en-US" spc="5" dirty="0"/>
              <a:t> </a:t>
            </a:r>
            <a:r>
              <a:rPr lang="en-US" dirty="0"/>
              <a:t>if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dirty="0"/>
              <a:t>public</a:t>
            </a:r>
            <a:r>
              <a:rPr lang="en-US" spc="5" dirty="0"/>
              <a:t> </a:t>
            </a:r>
            <a:r>
              <a:rPr lang="en-US" spc="-25" dirty="0"/>
              <a:t>key </a:t>
            </a:r>
            <a:r>
              <a:rPr lang="en-US" spc="-30" dirty="0"/>
              <a:t>matches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private</a:t>
            </a:r>
            <a:r>
              <a:rPr lang="en-US" spc="10" dirty="0"/>
              <a:t> </a:t>
            </a:r>
            <a:r>
              <a:rPr lang="en-US" spc="-30" dirty="0"/>
              <a:t>key.</a:t>
            </a:r>
            <a:r>
              <a:rPr lang="en-US" spc="95" dirty="0"/>
              <a:t> </a:t>
            </a:r>
            <a:r>
              <a:rPr lang="en-US" dirty="0"/>
              <a:t>If</a:t>
            </a:r>
            <a:r>
              <a:rPr lang="en-US" spc="10" dirty="0"/>
              <a:t> </a:t>
            </a:r>
            <a:r>
              <a:rPr lang="en-US" dirty="0"/>
              <a:t>they</a:t>
            </a:r>
            <a:r>
              <a:rPr lang="en-US" spc="10" dirty="0"/>
              <a:t> </a:t>
            </a:r>
            <a:r>
              <a:rPr lang="en-US" dirty="0"/>
              <a:t>match,</a:t>
            </a:r>
            <a:r>
              <a:rPr lang="en-US" spc="10" dirty="0"/>
              <a:t> </a:t>
            </a:r>
            <a:r>
              <a:rPr lang="en-US" spc="-75" dirty="0"/>
              <a:t>access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spc="-10" dirty="0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951809"/>
            <a:ext cx="4915535" cy="1460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Watching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endParaRPr lang="en-US" sz="900" dirty="0">
              <a:latin typeface="Arial"/>
              <a:cs typeface="Arial"/>
            </a:endParaRPr>
          </a:p>
          <a:p>
            <a:pPr marL="13335" marR="5080" indent="-1270">
              <a:lnSpc>
                <a:spcPct val="116199"/>
              </a:lnSpc>
              <a:spcBef>
                <a:spcPts val="67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client)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request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YouTube’s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server)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stream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video.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86191" y="2420174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95705" cy="5080"/>
            </a:xfrm>
            <a:custGeom>
              <a:avLst/>
              <a:gdLst/>
              <a:ahLst/>
              <a:cxnLst/>
              <a:rect l="l" t="t" r="r" b="b"/>
              <a:pathLst>
                <a:path w="1195705" h="5080">
                  <a:moveTo>
                    <a:pt x="0" y="5060"/>
                  </a:moveTo>
                  <a:lnTo>
                    <a:pt x="0" y="0"/>
                  </a:lnTo>
                  <a:lnTo>
                    <a:pt x="1195503" y="0"/>
                  </a:lnTo>
                  <a:lnTo>
                    <a:pt x="11955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8541" y="596950"/>
            <a:ext cx="3182925" cy="17991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27339" y="2530092"/>
            <a:ext cx="230568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 model when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sending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emails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304290" cy="5080"/>
            </a:xfrm>
            <a:custGeom>
              <a:avLst/>
              <a:gdLst/>
              <a:ahLst/>
              <a:cxnLst/>
              <a:rect l="l" t="t" r="r" b="b"/>
              <a:pathLst>
                <a:path w="1304290" h="5080">
                  <a:moveTo>
                    <a:pt x="0" y="5060"/>
                  </a:moveTo>
                  <a:lnTo>
                    <a:pt x="0" y="0"/>
                  </a:lnTo>
                  <a:lnTo>
                    <a:pt x="1304137" y="0"/>
                  </a:lnTo>
                  <a:lnTo>
                    <a:pt x="1304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211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Analogy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rooms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reception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(SSH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restaurant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lounge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dirty="0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0.0.0.0/0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30" dirty="0"/>
              <a:t> </a:t>
            </a:r>
            <a:r>
              <a:rPr lang="en-US" spc="-65" dirty="0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dirty="0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5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0" dirty="0"/>
              <a:t>Cloud</a:t>
            </a:r>
            <a:r>
              <a:rPr lang="en-US" spc="10" dirty="0"/>
              <a:t> </a:t>
            </a:r>
            <a:r>
              <a:rPr lang="en-US" spc="-30" dirty="0"/>
              <a:t>Foundation</a:t>
            </a:r>
            <a:r>
              <a:rPr lang="en-US" spc="5" dirty="0"/>
              <a:t> </a:t>
            </a:r>
            <a:r>
              <a:rPr lang="en-US" spc="-35" dirty="0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All the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spc="-30" dirty="0"/>
              <a:t>are</a:t>
            </a:r>
            <a:r>
              <a:rPr lang="en-US" spc="5" dirty="0"/>
              <a:t> </a:t>
            </a:r>
            <a:r>
              <a:rPr lang="en-US" dirty="0"/>
              <a:t>invited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0" dirty="0"/>
              <a:t>complete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b="1" spc="-30" dirty="0">
                <a:solidFill>
                  <a:srgbClr val="0070C0"/>
                </a:solidFill>
              </a:rPr>
              <a:t>AWS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10" dirty="0">
                <a:solidFill>
                  <a:srgbClr val="0070C0"/>
                </a:solidFill>
              </a:rPr>
              <a:t>Cloud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25" dirty="0">
                <a:solidFill>
                  <a:srgbClr val="0070C0"/>
                </a:solidFill>
              </a:rPr>
              <a:t>Foundations</a:t>
            </a:r>
            <a:r>
              <a:rPr lang="en-US" dirty="0"/>
              <a:t> </a:t>
            </a:r>
            <a:r>
              <a:rPr lang="en-US" spc="-30" dirty="0"/>
              <a:t>course.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/>
              <a:t>available</a:t>
            </a:r>
            <a:r>
              <a:rPr lang="en-US" spc="5" dirty="0"/>
              <a:t> </a:t>
            </a:r>
            <a:r>
              <a:rPr lang="en-US" spc="-25" dirty="0"/>
              <a:t>in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25" dirty="0"/>
              <a:t>Educate</a:t>
            </a:r>
            <a:r>
              <a:rPr lang="en-US" spc="10" dirty="0"/>
              <a:t> </a:t>
            </a:r>
            <a:r>
              <a:rPr lang="en-US" dirty="0"/>
              <a:t>platform</a:t>
            </a:r>
            <a:r>
              <a:rPr lang="en-US" spc="10" dirty="0"/>
              <a:t> </a:t>
            </a:r>
            <a:r>
              <a:rPr lang="en-US" dirty="0"/>
              <a:t>and</a:t>
            </a:r>
            <a:r>
              <a:rPr lang="en-US" spc="10" dirty="0"/>
              <a:t> </a:t>
            </a:r>
            <a:r>
              <a:rPr lang="en-US" dirty="0"/>
              <a:t>it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dirty="0"/>
              <a:t>great</a:t>
            </a:r>
            <a:r>
              <a:rPr lang="en-US" spc="5" dirty="0"/>
              <a:t> </a:t>
            </a:r>
            <a:r>
              <a:rPr lang="en-US" dirty="0"/>
              <a:t>introduction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40" dirty="0"/>
              <a:t>services.</a:t>
            </a:r>
            <a:r>
              <a:rPr lang="en-US" spc="9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course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>
                <a:solidFill>
                  <a:srgbClr val="0070C0"/>
                </a:solidFill>
              </a:rPr>
              <a:t>not mandatory</a:t>
            </a:r>
            <a:r>
              <a:rPr lang="en-US" spc="-25" dirty="0"/>
              <a:t>,</a:t>
            </a:r>
            <a:r>
              <a:rPr lang="en-US" spc="40" dirty="0"/>
              <a:t> </a:t>
            </a:r>
            <a:r>
              <a:rPr lang="en-US" dirty="0"/>
              <a:t>but</a:t>
            </a:r>
            <a:r>
              <a:rPr lang="en-US" spc="45" dirty="0"/>
              <a:t> </a:t>
            </a:r>
            <a:r>
              <a:rPr lang="en-US" dirty="0"/>
              <a:t>it</a:t>
            </a:r>
            <a:r>
              <a:rPr lang="en-US" spc="45" dirty="0"/>
              <a:t> </a:t>
            </a:r>
            <a:r>
              <a:rPr lang="en-US" dirty="0"/>
              <a:t>is</a:t>
            </a:r>
            <a:r>
              <a:rPr lang="en-US" spc="40" dirty="0"/>
              <a:t> </a:t>
            </a:r>
            <a:r>
              <a:rPr lang="en-US" dirty="0"/>
              <a:t>highly</a:t>
            </a:r>
            <a:r>
              <a:rPr lang="en-US" spc="45" dirty="0"/>
              <a:t> </a:t>
            </a:r>
            <a:r>
              <a:rPr lang="en-US" spc="-10" dirty="0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dirty="0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dirty="0"/>
              <a:t>This introductory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 </a:t>
            </a:r>
            <a:r>
              <a:rPr lang="en-US" spc="-20" dirty="0"/>
              <a:t>intended</a:t>
            </a:r>
            <a:r>
              <a:rPr lang="en-US" spc="5" dirty="0"/>
              <a:t> </a:t>
            </a:r>
            <a:r>
              <a:rPr lang="en-US" dirty="0"/>
              <a:t>for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dirty="0"/>
              <a:t>who </a:t>
            </a:r>
            <a:r>
              <a:rPr lang="en-US" spc="-60" dirty="0"/>
              <a:t>seek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spc="-10" dirty="0"/>
              <a:t>overall</a:t>
            </a:r>
            <a:r>
              <a:rPr lang="en-US" dirty="0"/>
              <a:t> </a:t>
            </a:r>
            <a:r>
              <a:rPr lang="en-US" spc="-25" dirty="0"/>
              <a:t>understanding</a:t>
            </a:r>
            <a:r>
              <a:rPr lang="en-US" spc="5" dirty="0"/>
              <a:t> </a:t>
            </a:r>
            <a:r>
              <a:rPr lang="en-US" dirty="0"/>
              <a:t>of</a:t>
            </a:r>
            <a:r>
              <a:rPr lang="en-US" spc="5" dirty="0"/>
              <a:t> </a:t>
            </a:r>
            <a:r>
              <a:rPr lang="en-US" spc="-10" dirty="0"/>
              <a:t>cloud computing</a:t>
            </a:r>
            <a:r>
              <a:rPr lang="en-US" spc="15" dirty="0"/>
              <a:t> </a:t>
            </a:r>
            <a:r>
              <a:rPr lang="en-US" spc="-25" dirty="0"/>
              <a:t>concepts,</a:t>
            </a:r>
            <a:r>
              <a:rPr lang="en-US" spc="15" dirty="0"/>
              <a:t> </a:t>
            </a:r>
            <a:r>
              <a:rPr lang="en-US" spc="-25" dirty="0"/>
              <a:t>independent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20" dirty="0"/>
              <a:t>specific</a:t>
            </a:r>
            <a:r>
              <a:rPr lang="en-US" spc="15" dirty="0"/>
              <a:t> </a:t>
            </a:r>
            <a:r>
              <a:rPr lang="en-US" spc="-10" dirty="0"/>
              <a:t>technical</a:t>
            </a:r>
            <a:r>
              <a:rPr lang="en-US" spc="15" dirty="0"/>
              <a:t> </a:t>
            </a:r>
            <a:r>
              <a:rPr lang="en-US" spc="-10" dirty="0"/>
              <a:t>roles.</a:t>
            </a:r>
            <a:r>
              <a:rPr lang="en-US" spc="105" dirty="0"/>
              <a:t> </a:t>
            </a:r>
            <a:r>
              <a:rPr lang="en-US" dirty="0"/>
              <a:t>It</a:t>
            </a:r>
            <a:r>
              <a:rPr lang="en-US" spc="15" dirty="0"/>
              <a:t> </a:t>
            </a:r>
            <a:r>
              <a:rPr lang="en-US" spc="-35" dirty="0"/>
              <a:t>provides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spc="-20" dirty="0"/>
              <a:t>detailed</a:t>
            </a:r>
            <a:r>
              <a:rPr lang="en-US" spc="15" dirty="0"/>
              <a:t> </a:t>
            </a:r>
            <a:r>
              <a:rPr lang="en-US" spc="-30" dirty="0"/>
              <a:t>overview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10" dirty="0"/>
              <a:t>cloud </a:t>
            </a:r>
            <a:r>
              <a:rPr lang="en-US" spc="-25" dirty="0"/>
              <a:t>concepts,</a:t>
            </a:r>
            <a:r>
              <a:rPr lang="en-US" spc="-10" dirty="0"/>
              <a:t> </a:t>
            </a:r>
            <a:r>
              <a:rPr lang="en-US" spc="-25" dirty="0"/>
              <a:t>AWS</a:t>
            </a:r>
            <a:r>
              <a:rPr lang="en-US" spc="-10" dirty="0"/>
              <a:t> </a:t>
            </a:r>
            <a:r>
              <a:rPr lang="en-US" spc="-30" dirty="0"/>
              <a:t>core</a:t>
            </a:r>
            <a:r>
              <a:rPr lang="en-US" spc="-10" dirty="0"/>
              <a:t> </a:t>
            </a:r>
            <a:r>
              <a:rPr lang="en-US" spc="-45" dirty="0"/>
              <a:t>services,</a:t>
            </a:r>
            <a:r>
              <a:rPr lang="en-US" spc="-5" dirty="0"/>
              <a:t> </a:t>
            </a:r>
            <a:r>
              <a:rPr lang="en-US" spc="-30" dirty="0"/>
              <a:t>security,</a:t>
            </a:r>
            <a:r>
              <a:rPr lang="en-US" spc="-10" dirty="0"/>
              <a:t> architecture, </a:t>
            </a:r>
            <a:r>
              <a:rPr lang="en-US" dirty="0"/>
              <a:t>pricing,</a:t>
            </a:r>
            <a:r>
              <a:rPr lang="en-US" spc="-10" dirty="0"/>
              <a:t> </a:t>
            </a:r>
            <a:r>
              <a:rPr lang="en-US" dirty="0"/>
              <a:t>and</a:t>
            </a:r>
            <a:r>
              <a:rPr lang="en-US" spc="-5" dirty="0"/>
              <a:t> </a:t>
            </a:r>
            <a:r>
              <a:rPr lang="en-US" spc="-10" dirty="0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10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Learner</a:t>
            </a:r>
            <a:r>
              <a:rPr lang="en-US" spc="10" dirty="0"/>
              <a:t> </a:t>
            </a:r>
            <a:r>
              <a:rPr lang="en-US" spc="-25" dirty="0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dirty="0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dirty="0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dirty="0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(the AWS </a:t>
            </a:r>
            <a:r>
              <a:rPr lang="en-US" sz="800" spc="15" dirty="0" err="1">
                <a:solidFill>
                  <a:srgbClr val="22373A"/>
                </a:solidFill>
                <a:latin typeface="Arial"/>
                <a:cs typeface="Arial"/>
              </a:rPr>
              <a:t>buttom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becomes green)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dirty="0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.ssh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rsa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10" dirty="0">
                <a:latin typeface="Courier New"/>
                <a:cs typeface="Courier New"/>
              </a:rPr>
              <a:t>keypair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dirty="0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rsa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 err="1">
                <a:latin typeface="Courier New"/>
                <a:cs typeface="Courier New"/>
              </a:rPr>
              <a:t>ecdsa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>
                <a:latin typeface="Courier New"/>
                <a:cs typeface="Courier New"/>
              </a:rPr>
              <a:t>ed25519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-f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10" dirty="0" err="1">
                <a:latin typeface="Courier New"/>
                <a:cs typeface="Courier New"/>
              </a:rPr>
              <a:t>keypair.pub</a:t>
            </a:r>
            <a:endParaRPr lang="en-US" sz="900" dirty="0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endParaRPr lang="en-US" sz="900" dirty="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Importing</a:t>
            </a:r>
            <a:r>
              <a:rPr lang="en-US" spc="-25" dirty="0"/>
              <a:t> </a:t>
            </a:r>
            <a:r>
              <a:rPr lang="en-US" spc="-10" dirty="0"/>
              <a:t>our</a:t>
            </a:r>
            <a:r>
              <a:rPr lang="en-US" spc="-20" dirty="0"/>
              <a:t> </a:t>
            </a:r>
            <a:r>
              <a:rPr lang="en-US" spc="-25" dirty="0"/>
              <a:t>generated</a:t>
            </a:r>
            <a:r>
              <a:rPr lang="en-US" spc="-20" dirty="0"/>
              <a:t> </a:t>
            </a:r>
            <a:r>
              <a:rPr lang="en-US" spc="-10" dirty="0"/>
              <a:t>key</a:t>
            </a:r>
            <a:r>
              <a:rPr lang="en-US" spc="-20" dirty="0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(.ssh/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aws-keypair.pub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800" dirty="0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dirty="0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cat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aws-keypair.pub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5" dirty="0"/>
              <a:t> </a:t>
            </a:r>
            <a:r>
              <a:rPr lang="en-US" dirty="0"/>
              <a:t>an EC2</a:t>
            </a:r>
            <a:r>
              <a:rPr lang="en-US" spc="-5" dirty="0"/>
              <a:t> </a:t>
            </a:r>
            <a:r>
              <a:rPr lang="en-US" spc="-35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2871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AMI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(HVM)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SSD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-keypair)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40" dirty="0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dirty="0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dirty="0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Connecting</a:t>
            </a:r>
            <a:r>
              <a:rPr lang="en-US" spc="50" dirty="0"/>
              <a:t> </a:t>
            </a:r>
            <a:r>
              <a:rPr lang="en-US" dirty="0"/>
              <a:t>to</a:t>
            </a:r>
            <a:r>
              <a:rPr lang="en-US" spc="65" dirty="0"/>
              <a:t> </a:t>
            </a:r>
            <a:r>
              <a:rPr lang="en-US" dirty="0"/>
              <a:t>the</a:t>
            </a:r>
            <a:r>
              <a:rPr lang="en-US" spc="65" dirty="0"/>
              <a:t> </a:t>
            </a:r>
            <a:r>
              <a:rPr lang="en-US" spc="-4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mac,linux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dirty="0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dirty="0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dirty="0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 err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-keypair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sure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want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continue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connecting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dirty="0">
                <a:latin typeface="Courier New"/>
                <a:cs typeface="Courier New"/>
              </a:rPr>
              <a:t>yes/no/[fingerprint]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dirty="0">
                <a:latin typeface="Courier New"/>
                <a:cs typeface="Courier New"/>
              </a:rPr>
              <a:t>?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35" dirty="0">
                <a:latin typeface="Courier New"/>
                <a:cs typeface="Courier New"/>
              </a:rPr>
              <a:t>yes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dirty="0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dirty="0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dirty="0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dirty="0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dirty="0">
                <a:solidFill>
                  <a:srgbClr val="22373A"/>
                </a:solidFill>
              </a:rPr>
              <a:t> </a:t>
            </a:r>
            <a:r>
              <a:rPr lang="en-US" sz="1100" spc="-25" dirty="0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dirty="0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5" dirty="0"/>
              <a:t> </a:t>
            </a:r>
            <a:r>
              <a:rPr lang="en-US" spc="-25" dirty="0" err="1"/>
              <a:t>uv</a:t>
            </a:r>
            <a:endParaRPr lang="en-US"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curl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https://</a:t>
            </a:r>
            <a:r>
              <a:rPr lang="en-US" sz="800" spc="-60" dirty="0" err="1">
                <a:latin typeface="Courier New"/>
                <a:cs typeface="Courier New"/>
              </a:rPr>
              <a:t>astral.sh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uv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install.sh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everything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3.10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30" dirty="0">
                <a:latin typeface="Courier New"/>
                <a:cs typeface="Courier New"/>
              </a:rPr>
              <a:t>venv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.project2-venv/bin/activate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pandas 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spc="-1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3.8.20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notebook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dirty="0" err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Opening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5" dirty="0"/>
              <a:t> </a:t>
            </a:r>
            <a:r>
              <a:rPr lang="en-US" dirty="0"/>
              <a:t>port</a:t>
            </a:r>
            <a:r>
              <a:rPr lang="en-US" spc="20" dirty="0"/>
              <a:t> </a:t>
            </a:r>
            <a:r>
              <a:rPr lang="en-US" spc="-20" dirty="0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68" y="1575063"/>
            <a:ext cx="2519863" cy="11976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19" y="1575061"/>
            <a:ext cx="2519968" cy="137710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5" dirty="0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0.0.0.0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8888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dirty="0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 err="1">
                <a:latin typeface="Courier New"/>
                <a:cs typeface="Courier New"/>
              </a:rPr>
              <a:t>Ctrl+C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Ctrl+Shift+C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9209" y="1388954"/>
            <a:ext cx="2261587" cy="119948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722408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30" dirty="0"/>
              <a:t>python</a:t>
            </a:r>
            <a:r>
              <a:rPr lang="en-US" spc="15" dirty="0"/>
              <a:t> </a:t>
            </a:r>
            <a:r>
              <a:rPr lang="en-US" spc="-25" dirty="0"/>
              <a:t>code</a:t>
            </a:r>
            <a:r>
              <a:rPr lang="en-US" spc="10" dirty="0"/>
              <a:t> </a:t>
            </a:r>
            <a:r>
              <a:rPr lang="en-US" dirty="0"/>
              <a:t>in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matplotlib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numpy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matplotlib.pyplot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plt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numpy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np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dirty="0">
                <a:latin typeface="Courier New"/>
                <a:cs typeface="Courier New"/>
              </a:rPr>
              <a:t>x</a:t>
            </a:r>
            <a:r>
              <a:rPr lang="en-US" sz="800" spc="-10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np.linspace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dirty="0">
                <a:latin typeface="Courier New"/>
                <a:cs typeface="Courier New"/>
              </a:rPr>
              <a:t>,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dirty="0">
                <a:latin typeface="Courier New"/>
                <a:cs typeface="Courier New"/>
              </a:rPr>
              <a:t>) </a:t>
            </a:r>
            <a:r>
              <a:rPr lang="en-US" sz="800" dirty="0">
                <a:latin typeface="Courier New"/>
                <a:cs typeface="Courier New"/>
              </a:rPr>
              <a:t>y</a:t>
            </a:r>
            <a:r>
              <a:rPr lang="en-US" sz="800" spc="-114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np.sin</a:t>
            </a:r>
            <a:r>
              <a:rPr lang="en-US" sz="800" spc="-10" dirty="0">
                <a:latin typeface="Courier New"/>
                <a:cs typeface="Courier New"/>
              </a:rPr>
              <a:t>(x)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plt.plot</a:t>
            </a:r>
            <a:r>
              <a:rPr lang="en-US" sz="800" spc="-55" dirty="0">
                <a:latin typeface="Courier New"/>
                <a:cs typeface="Courier New"/>
              </a:rPr>
              <a:t>(x,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70" dirty="0">
                <a:latin typeface="Courier New"/>
                <a:cs typeface="Courier New"/>
              </a:rPr>
              <a:t>y) </a:t>
            </a:r>
            <a:r>
              <a:rPr lang="en-US" sz="800" spc="-10" dirty="0" err="1">
                <a:latin typeface="Courier New"/>
                <a:cs typeface="Courier New"/>
              </a:rPr>
              <a:t>plt.show</a:t>
            </a:r>
            <a:r>
              <a:rPr lang="en-US" sz="800" spc="-10" dirty="0">
                <a:latin typeface="Courier New"/>
                <a:cs typeface="Courier New"/>
              </a:rPr>
              <a:t>()</a:t>
            </a:r>
            <a:endParaRPr lang="en-US" sz="800" dirty="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uv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venv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--seed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--python</a:t>
            </a:r>
            <a:r>
              <a:rPr lang="en-US" sz="900" spc="-70" dirty="0">
                <a:latin typeface="Courier New"/>
                <a:cs typeface="Courier New"/>
              </a:rPr>
              <a:t> 3.8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dirty="0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dirty="0">
                <a:latin typeface="Courier New"/>
                <a:cs typeface="Courier New"/>
              </a:rPr>
              <a:t>source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60" dirty="0">
                <a:latin typeface="Courier New"/>
                <a:cs typeface="Courier New"/>
              </a:rPr>
              <a:t>venv/bin/activate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.project1-venv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dirty="0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40" dirty="0" err="1">
                <a:latin typeface="Courier New"/>
                <a:cs typeface="Courier New"/>
              </a:rPr>
              <a:t>jupyter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35" dirty="0">
                <a:latin typeface="Courier New"/>
                <a:cs typeface="Courier New"/>
              </a:rPr>
              <a:t>pandas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75" dirty="0" err="1">
                <a:latin typeface="Courier New"/>
                <a:cs typeface="Courier New"/>
              </a:rPr>
              <a:t>numpy</a:t>
            </a:r>
            <a:r>
              <a:rPr lang="en-US" sz="900" spc="-75" dirty="0">
                <a:latin typeface="Courier New"/>
                <a:cs typeface="Courier New"/>
              </a:rPr>
              <a:t>==1.21.0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Numpy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1.21.0).</a:t>
            </a:r>
            <a:endParaRPr lang="en-US" sz="900" dirty="0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 err="1">
                <a:latin typeface="Courier New"/>
                <a:cs typeface="Courier New"/>
              </a:rPr>
              <a:t>jupyter</a:t>
            </a:r>
            <a:r>
              <a:rPr lang="en-US" sz="900" spc="-70" dirty="0">
                <a:latin typeface="Courier New"/>
                <a:cs typeface="Courier New"/>
              </a:rPr>
              <a:t> notebook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0" dirty="0">
                <a:latin typeface="Courier New"/>
                <a:cs typeface="Courier New"/>
              </a:rPr>
              <a:t>port=8888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5" dirty="0" err="1">
                <a:latin typeface="Courier New"/>
                <a:cs typeface="Courier New"/>
              </a:rPr>
              <a:t>ip</a:t>
            </a:r>
            <a:r>
              <a:rPr lang="en-US" sz="900" spc="-75" dirty="0">
                <a:latin typeface="Courier New"/>
                <a:cs typeface="Courier New"/>
              </a:rPr>
              <a:t>=0.0.0.0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dirty="0">
                <a:latin typeface="Courier New"/>
                <a:cs typeface="Courier New"/>
              </a:rPr>
              <a:t>deactivate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65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13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dirty="0">
                <a:latin typeface="Courier New"/>
                <a:cs typeface="Courier New"/>
              </a:rPr>
              <a:t>..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cat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50" dirty="0" err="1">
                <a:latin typeface="Courier New"/>
                <a:cs typeface="Courier New"/>
              </a:rPr>
              <a:t>keypair.pub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40" dirty="0" err="1">
                <a:latin typeface="Courier New"/>
                <a:cs typeface="Courier New"/>
              </a:rPr>
              <a:t>keypair.pub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</TotalTime>
  <Words>2922</Words>
  <Application>Microsoft Macintosh PowerPoint</Application>
  <PresentationFormat>Custom</PresentationFormat>
  <Paragraphs>315</Paragraphs>
  <Slides>56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Courier New</vt:lpstr>
      <vt:lpstr>Office Theme</vt:lpstr>
      <vt:lpstr>PowerPoint Presentation</vt:lpstr>
      <vt:lpstr>Amazon Web Services</vt:lpstr>
      <vt:lpstr>Amazon Web Services: EC2</vt:lpstr>
      <vt:lpstr>PowerPoint Presentation</vt:lpstr>
      <vt:lpstr>A remote terminal through SSH</vt:lpstr>
      <vt:lpstr>How does SSH work?</vt:lpstr>
      <vt:lpstr>What do you mean by client and server?</vt:lpstr>
      <vt:lpstr>PowerPoint Presentation</vt:lpstr>
      <vt:lpstr>PowerPoint Presentation</vt:lpstr>
      <vt:lpstr>PowerPoint Presentation</vt:lpstr>
      <vt:lpstr>Ports</vt:lpstr>
      <vt:lpstr>Security groups</vt:lpstr>
      <vt:lpstr>PowerPoint Presentation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RECAP: Summary of the session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8</cp:revision>
  <dcterms:created xsi:type="dcterms:W3CDTF">2025-05-19T16:09:11Z</dcterms:created>
  <dcterms:modified xsi:type="dcterms:W3CDTF">2026-04-02T08:40:46Z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