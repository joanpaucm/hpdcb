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8" r:id="rId11"/>
    <p:sldId id="271" r:id="rId12"/>
    <p:sldId id="273" r:id="rId13"/>
    <p:sldId id="274" r:id="rId14"/>
    <p:sldId id="275" r:id="rId15"/>
    <p:sldId id="276" r:id="rId16"/>
    <p:sldId id="279" r:id="rId17"/>
    <p:sldId id="282" r:id="rId18"/>
    <p:sldId id="283" r:id="rId19"/>
    <p:sldId id="288" r:id="rId20"/>
    <p:sldId id="289" r:id="rId21"/>
    <p:sldId id="290" r:id="rId22"/>
    <p:sldId id="291" r:id="rId23"/>
    <p:sldId id="292" r:id="rId24"/>
    <p:sldId id="293" r:id="rId25"/>
    <p:sldId id="294" r:id="rId26"/>
    <p:sldId id="295" r:id="rId27"/>
    <p:sldId id="296" r:id="rId28"/>
    <p:sldId id="297" r:id="rId29"/>
    <p:sldId id="298" r:id="rId30"/>
    <p:sldId id="299" r:id="rId31"/>
    <p:sldId id="300" r:id="rId32"/>
    <p:sldId id="301" r:id="rId33"/>
    <p:sldId id="302" r:id="rId34"/>
    <p:sldId id="303" r:id="rId35"/>
    <p:sldId id="304" r:id="rId36"/>
    <p:sldId id="305" r:id="rId37"/>
    <p:sldId id="306" r:id="rId38"/>
    <p:sldId id="307" r:id="rId39"/>
    <p:sldId id="308" r:id="rId40"/>
    <p:sldId id="309" r:id="rId41"/>
    <p:sldId id="311" r:id="rId42"/>
    <p:sldId id="310" r:id="rId43"/>
    <p:sldId id="312" r:id="rId44"/>
    <p:sldId id="315" r:id="rId45"/>
    <p:sldId id="316" r:id="rId46"/>
    <p:sldId id="317" r:id="rId47"/>
    <p:sldId id="318" r:id="rId48"/>
    <p:sldId id="319" r:id="rId49"/>
    <p:sldId id="320" r:id="rId50"/>
    <p:sldId id="321" r:id="rId51"/>
    <p:sldId id="322" r:id="rId52"/>
    <p:sldId id="323" r:id="rId53"/>
    <p:sldId id="324" r:id="rId54"/>
    <p:sldId id="325" r:id="rId55"/>
    <p:sldId id="326" r:id="rId56"/>
    <p:sldId id="327" r:id="rId57"/>
    <p:sldId id="328" r:id="rId58"/>
    <p:sldId id="329" r:id="rId59"/>
    <p:sldId id="330" r:id="rId60"/>
    <p:sldId id="333" r:id="rId61"/>
    <p:sldId id="336" r:id="rId62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718"/>
    <p:restoredTop sz="94658"/>
  </p:normalViewPr>
  <p:slideViewPr>
    <p:cSldViewPr>
      <p:cViewPr varScale="1">
        <p:scale>
          <a:sx n="254" d="100"/>
          <a:sy n="254" d="100"/>
        </p:scale>
        <p:origin x="1168" y="17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rancesc Xavier Solsona Tehas" userId="1f95e2c3-a25c-4efc-a37b-de93ab79e53c" providerId="ADAL" clId="{C51773D9-DD29-5A84-A509-762D3F3EA38B}"/>
    <pc:docChg chg="undo custSel modSld sldOrd">
      <pc:chgData name="Francesc Xavier Solsona Tehas" userId="1f95e2c3-a25c-4efc-a37b-de93ab79e53c" providerId="ADAL" clId="{C51773D9-DD29-5A84-A509-762D3F3EA38B}" dt="2026-02-25T11:51:49.140" v="615" actId="20577"/>
      <pc:docMkLst>
        <pc:docMk/>
      </pc:docMkLst>
      <pc:sldChg chg="modSp mod">
        <pc:chgData name="Francesc Xavier Solsona Tehas" userId="1f95e2c3-a25c-4efc-a37b-de93ab79e53c" providerId="ADAL" clId="{C51773D9-DD29-5A84-A509-762D3F3EA38B}" dt="2026-02-14T10:56:35.911" v="41" actId="14100"/>
        <pc:sldMkLst>
          <pc:docMk/>
          <pc:sldMk cId="0" sldId="256"/>
        </pc:sldMkLst>
        <pc:spChg chg="mod">
          <ac:chgData name="Francesc Xavier Solsona Tehas" userId="1f95e2c3-a25c-4efc-a37b-de93ab79e53c" providerId="ADAL" clId="{C51773D9-DD29-5A84-A509-762D3F3EA38B}" dt="2026-02-14T10:56:35.911" v="41" actId="14100"/>
          <ac:spMkLst>
            <pc:docMk/>
            <pc:sldMk cId="0" sldId="256"/>
            <ac:spMk id="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12:10.087" v="59" actId="14100"/>
        <pc:sldMkLst>
          <pc:docMk/>
          <pc:sldMk cId="0" sldId="290"/>
        </pc:sldMkLst>
        <pc:spChg chg="mod">
          <ac:chgData name="Francesc Xavier Solsona Tehas" userId="1f95e2c3-a25c-4efc-a37b-de93ab79e53c" providerId="ADAL" clId="{C51773D9-DD29-5A84-A509-762D3F3EA38B}" dt="2026-02-14T11:12:05.887" v="58" actId="1076"/>
          <ac:spMkLst>
            <pc:docMk/>
            <pc:sldMk cId="0" sldId="29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2:10.087" v="59" actId="14100"/>
          <ac:picMkLst>
            <pc:docMk/>
            <pc:sldMk cId="0" sldId="29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2:24.963" v="61" actId="14100"/>
        <pc:sldMkLst>
          <pc:docMk/>
          <pc:sldMk cId="0" sldId="291"/>
        </pc:sldMkLst>
        <pc:picChg chg="mod">
          <ac:chgData name="Francesc Xavier Solsona Tehas" userId="1f95e2c3-a25c-4efc-a37b-de93ab79e53c" providerId="ADAL" clId="{C51773D9-DD29-5A84-A509-762D3F3EA38B}" dt="2026-02-14T11:12:24.963" v="61" actId="14100"/>
          <ac:picMkLst>
            <pc:docMk/>
            <pc:sldMk cId="0" sldId="29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27.712" v="77" actId="14100"/>
        <pc:sldMkLst>
          <pc:docMk/>
          <pc:sldMk cId="0" sldId="292"/>
        </pc:sldMkLst>
        <pc:spChg chg="mod">
          <ac:chgData name="Francesc Xavier Solsona Tehas" userId="1f95e2c3-a25c-4efc-a37b-de93ab79e53c" providerId="ADAL" clId="{C51773D9-DD29-5A84-A509-762D3F3EA38B}" dt="2026-02-14T11:13:57.663" v="62"/>
          <ac:spMkLst>
            <pc:docMk/>
            <pc:sldMk cId="0" sldId="292"/>
            <ac:spMk id="3" creationId="{00000000-0000-0000-0000-000000000000}"/>
          </ac:spMkLst>
        </pc:spChg>
        <pc:spChg chg="mod">
          <ac:chgData name="Francesc Xavier Solsona Tehas" userId="1f95e2c3-a25c-4efc-a37b-de93ab79e53c" providerId="ADAL" clId="{C51773D9-DD29-5A84-A509-762D3F3EA38B}" dt="2026-02-14T11:14:21.178" v="75" actId="1035"/>
          <ac:spMkLst>
            <pc:docMk/>
            <pc:sldMk cId="0" sldId="29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27.712" v="77" actId="14100"/>
          <ac:picMkLst>
            <pc:docMk/>
            <pc:sldMk cId="0" sldId="292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14:57.711" v="82" actId="14100"/>
        <pc:sldMkLst>
          <pc:docMk/>
          <pc:sldMk cId="0" sldId="293"/>
        </pc:sldMkLst>
        <pc:spChg chg="mod">
          <ac:chgData name="Francesc Xavier Solsona Tehas" userId="1f95e2c3-a25c-4efc-a37b-de93ab79e53c" providerId="ADAL" clId="{C51773D9-DD29-5A84-A509-762D3F3EA38B}" dt="2026-02-14T11:14:45.903" v="78" actId="1076"/>
          <ac:spMkLst>
            <pc:docMk/>
            <pc:sldMk cId="0" sldId="29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14:57.711" v="82" actId="14100"/>
          <ac:picMkLst>
            <pc:docMk/>
            <pc:sldMk cId="0" sldId="293"/>
            <ac:picMk id="4" creationId="{00000000-0000-0000-0000-000000000000}"/>
          </ac:picMkLst>
        </pc:picChg>
      </pc:sldChg>
      <pc:sldChg chg="addSp modSp mod">
        <pc:chgData name="Francesc Xavier Solsona Tehas" userId="1f95e2c3-a25c-4efc-a37b-de93ab79e53c" providerId="ADAL" clId="{C51773D9-DD29-5A84-A509-762D3F3EA38B}" dt="2026-02-14T11:19:17.730" v="206" actId="14100"/>
        <pc:sldMkLst>
          <pc:docMk/>
          <pc:sldMk cId="0" sldId="294"/>
        </pc:sldMkLst>
        <pc:spChg chg="mod">
          <ac:chgData name="Francesc Xavier Solsona Tehas" userId="1f95e2c3-a25c-4efc-a37b-de93ab79e53c" providerId="ADAL" clId="{C51773D9-DD29-5A84-A509-762D3F3EA38B}" dt="2026-02-14T11:18:38.767" v="195" actId="5793"/>
          <ac:spMkLst>
            <pc:docMk/>
            <pc:sldMk cId="0" sldId="294"/>
            <ac:spMk id="3" creationId="{00000000-0000-0000-0000-000000000000}"/>
          </ac:spMkLst>
        </pc:spChg>
        <pc:spChg chg="add mod">
          <ac:chgData name="Francesc Xavier Solsona Tehas" userId="1f95e2c3-a25c-4efc-a37b-de93ab79e53c" providerId="ADAL" clId="{C51773D9-DD29-5A84-A509-762D3F3EA38B}" dt="2026-02-14T11:18:59.632" v="202" actId="1037"/>
          <ac:spMkLst>
            <pc:docMk/>
            <pc:sldMk cId="0" sldId="294"/>
            <ac:spMk id="10" creationId="{94DB57A0-D61C-F006-F732-E3D21F3580C9}"/>
          </ac:spMkLst>
        </pc:spChg>
        <pc:spChg chg="add mod">
          <ac:chgData name="Francesc Xavier Solsona Tehas" userId="1f95e2c3-a25c-4efc-a37b-de93ab79e53c" providerId="ADAL" clId="{C51773D9-DD29-5A84-A509-762D3F3EA38B}" dt="2026-02-14T11:18:53.680" v="199" actId="1076"/>
          <ac:spMkLst>
            <pc:docMk/>
            <pc:sldMk cId="0" sldId="294"/>
            <ac:spMk id="11" creationId="{3848A72E-B31A-BFC0-6DD4-3EBE22F7E4EE}"/>
          </ac:spMkLst>
        </pc:spChg>
        <pc:picChg chg="mod">
          <ac:chgData name="Francesc Xavier Solsona Tehas" userId="1f95e2c3-a25c-4efc-a37b-de93ab79e53c" providerId="ADAL" clId="{C51773D9-DD29-5A84-A509-762D3F3EA38B}" dt="2026-02-14T11:19:17.730" v="206" actId="14100"/>
          <ac:picMkLst>
            <pc:docMk/>
            <pc:sldMk cId="0" sldId="294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0:02.297" v="211" actId="207"/>
        <pc:sldMkLst>
          <pc:docMk/>
          <pc:sldMk cId="0" sldId="295"/>
        </pc:sldMkLst>
        <pc:spChg chg="mod">
          <ac:chgData name="Francesc Xavier Solsona Tehas" userId="1f95e2c3-a25c-4efc-a37b-de93ab79e53c" providerId="ADAL" clId="{C51773D9-DD29-5A84-A509-762D3F3EA38B}" dt="2026-02-14T11:20:02.297" v="211" actId="207"/>
          <ac:spMkLst>
            <pc:docMk/>
            <pc:sldMk cId="0" sldId="295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4:31.313" v="220" actId="207"/>
        <pc:sldMkLst>
          <pc:docMk/>
          <pc:sldMk cId="0" sldId="296"/>
        </pc:sldMkLst>
        <pc:spChg chg="mod">
          <ac:chgData name="Francesc Xavier Solsona Tehas" userId="1f95e2c3-a25c-4efc-a37b-de93ab79e53c" providerId="ADAL" clId="{C51773D9-DD29-5A84-A509-762D3F3EA38B}" dt="2026-02-14T11:24:31.313" v="220" actId="207"/>
          <ac:spMkLst>
            <pc:docMk/>
            <pc:sldMk cId="0" sldId="296"/>
            <ac:spMk id="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26:47.451" v="224" actId="14100"/>
        <pc:sldMkLst>
          <pc:docMk/>
          <pc:sldMk cId="0" sldId="297"/>
        </pc:sldMkLst>
        <pc:spChg chg="mod">
          <ac:chgData name="Francesc Xavier Solsona Tehas" userId="1f95e2c3-a25c-4efc-a37b-de93ab79e53c" providerId="ADAL" clId="{C51773D9-DD29-5A84-A509-762D3F3EA38B}" dt="2026-02-14T11:26:39.696" v="221" actId="1076"/>
          <ac:spMkLst>
            <pc:docMk/>
            <pc:sldMk cId="0" sldId="297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6:47.451" v="224" actId="14100"/>
          <ac:picMkLst>
            <pc:docMk/>
            <pc:sldMk cId="0" sldId="297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16.148" v="236" actId="14100"/>
        <pc:sldMkLst>
          <pc:docMk/>
          <pc:sldMk cId="0" sldId="298"/>
        </pc:sldMkLst>
        <pc:spChg chg="mod">
          <ac:chgData name="Francesc Xavier Solsona Tehas" userId="1f95e2c3-a25c-4efc-a37b-de93ab79e53c" providerId="ADAL" clId="{C51773D9-DD29-5A84-A509-762D3F3EA38B}" dt="2026-02-14T11:27:04.993" v="233" actId="1035"/>
          <ac:spMkLst>
            <pc:docMk/>
            <pc:sldMk cId="0" sldId="298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16.148" v="236" actId="14100"/>
          <ac:picMkLst>
            <pc:docMk/>
            <pc:sldMk cId="0" sldId="298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7:47.032" v="244" actId="14100"/>
        <pc:sldMkLst>
          <pc:docMk/>
          <pc:sldMk cId="0" sldId="299"/>
        </pc:sldMkLst>
        <pc:spChg chg="mod">
          <ac:chgData name="Francesc Xavier Solsona Tehas" userId="1f95e2c3-a25c-4efc-a37b-de93ab79e53c" providerId="ADAL" clId="{C51773D9-DD29-5A84-A509-762D3F3EA38B}" dt="2026-02-14T11:27:38.391" v="242" actId="1036"/>
          <ac:spMkLst>
            <pc:docMk/>
            <pc:sldMk cId="0" sldId="299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7:47.032" v="244" actId="14100"/>
          <ac:picMkLst>
            <pc:docMk/>
            <pc:sldMk cId="0" sldId="299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05.957" v="250" actId="14100"/>
        <pc:sldMkLst>
          <pc:docMk/>
          <pc:sldMk cId="0" sldId="300"/>
        </pc:sldMkLst>
        <pc:spChg chg="mod">
          <ac:chgData name="Francesc Xavier Solsona Tehas" userId="1f95e2c3-a25c-4efc-a37b-de93ab79e53c" providerId="ADAL" clId="{C51773D9-DD29-5A84-A509-762D3F3EA38B}" dt="2026-02-14T11:28:01.900" v="249" actId="1036"/>
          <ac:spMkLst>
            <pc:docMk/>
            <pc:sldMk cId="0" sldId="300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05.957" v="250" actId="14100"/>
          <ac:picMkLst>
            <pc:docMk/>
            <pc:sldMk cId="0" sldId="300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14T11:28:29.735" v="258" actId="14100"/>
        <pc:sldMkLst>
          <pc:docMk/>
          <pc:sldMk cId="0" sldId="301"/>
        </pc:sldMkLst>
        <pc:spChg chg="mod">
          <ac:chgData name="Francesc Xavier Solsona Tehas" userId="1f95e2c3-a25c-4efc-a37b-de93ab79e53c" providerId="ADAL" clId="{C51773D9-DD29-5A84-A509-762D3F3EA38B}" dt="2026-02-14T11:28:23.380" v="256" actId="1036"/>
          <ac:spMkLst>
            <pc:docMk/>
            <pc:sldMk cId="0" sldId="30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8:29.735" v="258" actId="14100"/>
          <ac:picMkLst>
            <pc:docMk/>
            <pc:sldMk cId="0" sldId="301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25T11:30:24.535" v="546" actId="20577"/>
        <pc:sldMkLst>
          <pc:docMk/>
          <pc:sldMk cId="0" sldId="302"/>
        </pc:sldMkLst>
        <pc:spChg chg="mod">
          <ac:chgData name="Francesc Xavier Solsona Tehas" userId="1f95e2c3-a25c-4efc-a37b-de93ab79e53c" providerId="ADAL" clId="{C51773D9-DD29-5A84-A509-762D3F3EA38B}" dt="2026-02-25T11:30:24.535" v="546" actId="20577"/>
          <ac:spMkLst>
            <pc:docMk/>
            <pc:sldMk cId="0" sldId="302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29:35.252" v="278" actId="14100"/>
          <ac:picMkLst>
            <pc:docMk/>
            <pc:sldMk cId="0" sldId="302"/>
            <ac:picMk id="4" creationId="{00000000-0000-0000-0000-000000000000}"/>
          </ac:picMkLst>
        </pc:picChg>
      </pc:sldChg>
      <pc:sldChg chg="modSp mod modNotesTx">
        <pc:chgData name="Francesc Xavier Solsona Tehas" userId="1f95e2c3-a25c-4efc-a37b-de93ab79e53c" providerId="ADAL" clId="{C51773D9-DD29-5A84-A509-762D3F3EA38B}" dt="2026-02-14T11:35:42.126" v="353" actId="20577"/>
        <pc:sldMkLst>
          <pc:docMk/>
          <pc:sldMk cId="0" sldId="303"/>
        </pc:sldMkLst>
        <pc:spChg chg="mod">
          <ac:chgData name="Francesc Xavier Solsona Tehas" userId="1f95e2c3-a25c-4efc-a37b-de93ab79e53c" providerId="ADAL" clId="{C51773D9-DD29-5A84-A509-762D3F3EA38B}" dt="2026-02-14T11:35:16.467" v="323" actId="1036"/>
          <ac:spMkLst>
            <pc:docMk/>
            <pc:sldMk cId="0" sldId="303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35:23.501" v="325" actId="14100"/>
          <ac:picMkLst>
            <pc:docMk/>
            <pc:sldMk cId="0" sldId="303"/>
            <ac:picMk id="4" creationId="{00000000-0000-0000-0000-000000000000}"/>
          </ac:picMkLst>
        </pc:picChg>
      </pc:sldChg>
      <pc:sldChg chg="addSp delSp modSp mod">
        <pc:chgData name="Francesc Xavier Solsona Tehas" userId="1f95e2c3-a25c-4efc-a37b-de93ab79e53c" providerId="ADAL" clId="{C51773D9-DD29-5A84-A509-762D3F3EA38B}" dt="2026-02-14T13:22:16.306" v="359" actId="478"/>
        <pc:sldMkLst>
          <pc:docMk/>
          <pc:sldMk cId="0" sldId="305"/>
        </pc:sldMkLst>
      </pc:sldChg>
      <pc:sldChg chg="modSp mod">
        <pc:chgData name="Francesc Xavier Solsona Tehas" userId="1f95e2c3-a25c-4efc-a37b-de93ab79e53c" providerId="ADAL" clId="{C51773D9-DD29-5A84-A509-762D3F3EA38B}" dt="2026-02-14T11:08:51.314" v="48" actId="14100"/>
        <pc:sldMkLst>
          <pc:docMk/>
          <pc:sldMk cId="0" sldId="309"/>
        </pc:sldMkLst>
        <pc:picChg chg="mod">
          <ac:chgData name="Francesc Xavier Solsona Tehas" userId="1f95e2c3-a25c-4efc-a37b-de93ab79e53c" providerId="ADAL" clId="{C51773D9-DD29-5A84-A509-762D3F3EA38B}" dt="2026-02-14T11:08:51.314" v="48" actId="14100"/>
          <ac:picMkLst>
            <pc:docMk/>
            <pc:sldMk cId="0" sldId="309"/>
            <ac:picMk id="4" creationId="{00000000-0000-0000-0000-000000000000}"/>
          </ac:picMkLst>
        </pc:picChg>
      </pc:sldChg>
      <pc:sldChg chg="modSp mod ord">
        <pc:chgData name="Francesc Xavier Solsona Tehas" userId="1f95e2c3-a25c-4efc-a37b-de93ab79e53c" providerId="ADAL" clId="{C51773D9-DD29-5A84-A509-762D3F3EA38B}" dt="2026-02-25T11:38:29.922" v="590" actId="14100"/>
        <pc:sldMkLst>
          <pc:docMk/>
          <pc:sldMk cId="0" sldId="311"/>
        </pc:sldMkLst>
        <pc:spChg chg="mod">
          <ac:chgData name="Francesc Xavier Solsona Tehas" userId="1f95e2c3-a25c-4efc-a37b-de93ab79e53c" providerId="ADAL" clId="{C51773D9-DD29-5A84-A509-762D3F3EA38B}" dt="2026-02-25T11:38:29.922" v="590" actId="14100"/>
          <ac:spMkLst>
            <pc:docMk/>
            <pc:sldMk cId="0" sldId="311"/>
            <ac:spMk id="5" creationId="{00000000-0000-0000-0000-000000000000}"/>
          </ac:spMkLst>
        </pc:spChg>
        <pc:picChg chg="mod">
          <ac:chgData name="Francesc Xavier Solsona Tehas" userId="1f95e2c3-a25c-4efc-a37b-de93ab79e53c" providerId="ADAL" clId="{C51773D9-DD29-5A84-A509-762D3F3EA38B}" dt="2026-02-14T11:09:19.999" v="55" actId="1037"/>
          <ac:picMkLst>
            <pc:docMk/>
            <pc:sldMk cId="0" sldId="311"/>
            <ac:picMk id="4" creationId="{00000000-0000-0000-0000-000000000000}"/>
          </ac:picMkLst>
        </pc:picChg>
      </pc:sldChg>
      <pc:sldChg chg="modSp mod">
        <pc:chgData name="Francesc Xavier Solsona Tehas" userId="1f95e2c3-a25c-4efc-a37b-de93ab79e53c" providerId="ADAL" clId="{C51773D9-DD29-5A84-A509-762D3F3EA38B}" dt="2026-02-25T11:39:08.221" v="593" actId="207"/>
        <pc:sldMkLst>
          <pc:docMk/>
          <pc:sldMk cId="0" sldId="312"/>
        </pc:sldMkLst>
        <pc:spChg chg="mod">
          <ac:chgData name="Francesc Xavier Solsona Tehas" userId="1f95e2c3-a25c-4efc-a37b-de93ab79e53c" providerId="ADAL" clId="{C51773D9-DD29-5A84-A509-762D3F3EA38B}" dt="2026-02-25T11:39:08.221" v="593" actId="207"/>
          <ac:spMkLst>
            <pc:docMk/>
            <pc:sldMk cId="0" sldId="312"/>
            <ac:spMk id="2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2.846" v="43" actId="20577"/>
        <pc:sldMkLst>
          <pc:docMk/>
          <pc:sldMk cId="0" sldId="319"/>
        </pc:sldMkLst>
        <pc:spChg chg="mod">
          <ac:chgData name="Francesc Xavier Solsona Tehas" userId="1f95e2c3-a25c-4efc-a37b-de93ab79e53c" providerId="ADAL" clId="{C51773D9-DD29-5A84-A509-762D3F3EA38B}" dt="2026-02-14T11:06:42.846" v="43" actId="20577"/>
          <ac:spMkLst>
            <pc:docMk/>
            <pc:sldMk cId="0" sldId="319"/>
            <ac:spMk id="16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14T11:06:45.996" v="45" actId="20577"/>
        <pc:sldMkLst>
          <pc:docMk/>
          <pc:sldMk cId="0" sldId="320"/>
        </pc:sldMkLst>
        <pc:spChg chg="mod">
          <ac:chgData name="Francesc Xavier Solsona Tehas" userId="1f95e2c3-a25c-4efc-a37b-de93ab79e53c" providerId="ADAL" clId="{C51773D9-DD29-5A84-A509-762D3F3EA38B}" dt="2026-02-14T11:06:45.996" v="45" actId="20577"/>
          <ac:spMkLst>
            <pc:docMk/>
            <pc:sldMk cId="0" sldId="320"/>
            <ac:spMk id="13" creationId="{00000000-0000-0000-0000-000000000000}"/>
          </ac:spMkLst>
        </pc:spChg>
      </pc:sldChg>
      <pc:sldChg chg="modSp mod">
        <pc:chgData name="Francesc Xavier Solsona Tehas" userId="1f95e2c3-a25c-4efc-a37b-de93ab79e53c" providerId="ADAL" clId="{C51773D9-DD29-5A84-A509-762D3F3EA38B}" dt="2026-02-25T11:51:49.140" v="615" actId="20577"/>
        <pc:sldMkLst>
          <pc:docMk/>
          <pc:sldMk cId="0" sldId="328"/>
        </pc:sldMkLst>
        <pc:spChg chg="mod">
          <ac:chgData name="Francesc Xavier Solsona Tehas" userId="1f95e2c3-a25c-4efc-a37b-de93ab79e53c" providerId="ADAL" clId="{C51773D9-DD29-5A84-A509-762D3F3EA38B}" dt="2026-02-25T11:51:49.140" v="615" actId="20577"/>
          <ac:spMkLst>
            <pc:docMk/>
            <pc:sldMk cId="0" sldId="328"/>
            <ac:spMk id="27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265488" y="0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6EEFB-8C2A-5C47-9353-657B625C444F}" type="datetimeFigureOut">
              <a:rPr lang="es-ES" smtClean="0"/>
              <a:t>16/3/26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1911350" y="406400"/>
            <a:ext cx="1943100" cy="10937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576263" y="1562100"/>
            <a:ext cx="4613275" cy="12779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265488" y="3082925"/>
            <a:ext cx="2498725" cy="161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8A9EDAF-B4A8-2B48-B3B4-4F936485687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028106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 err="1"/>
              <a:t>Notice</a:t>
            </a:r>
            <a:r>
              <a:rPr lang="es-ES" dirty="0"/>
              <a:t> </a:t>
            </a:r>
            <a:r>
              <a:rPr lang="es-ES" dirty="0" err="1"/>
              <a:t>on</a:t>
            </a:r>
            <a:r>
              <a:rPr lang="es-ES" dirty="0"/>
              <a:t> </a:t>
            </a:r>
            <a:r>
              <a:rPr lang="es-ES" dirty="0" err="1"/>
              <a:t>your</a:t>
            </a:r>
            <a:r>
              <a:rPr lang="es-ES" dirty="0"/>
              <a:t> Budget. </a:t>
            </a:r>
            <a:r>
              <a:rPr lang="es-ES" dirty="0" err="1"/>
              <a:t>Underlined</a:t>
            </a:r>
            <a:r>
              <a:rPr lang="es-ES" dirty="0"/>
              <a:t> in red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33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232364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Here </a:t>
            </a:r>
            <a:r>
              <a:rPr lang="es-ES" dirty="0" err="1"/>
              <a:t>you</a:t>
            </a:r>
            <a:r>
              <a:rPr lang="es-ES" dirty="0"/>
              <a:t> are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dashboard</a:t>
            </a:r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8A9EDAF-B4A8-2B48-B3B4-4F936485687B}" type="slidenum">
              <a:rPr lang="es-ES" smtClean="0"/>
              <a:t>34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71824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8526" y="59834"/>
            <a:ext cx="192786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347294" y="1824239"/>
            <a:ext cx="1904364" cy="37718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8526" y="59834"/>
            <a:ext cx="2910840" cy="1778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000" b="1" i="0">
                <a:solidFill>
                  <a:srgbClr val="F9F9F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1718" y="846814"/>
            <a:ext cx="5073650" cy="16567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22373A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3/16/26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151376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francesc.solsona@udl.cat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" Target="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" Target="slide15.xml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18.xml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awsacademy.instructure.com/" TargetMode="Externa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" Target="slide35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hyperlink" Target="mailto:ec2-user@ec2-3-87-76-117.compute-1.amazonaws.com" TargetMode="Externa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" Target="slide43.xml"/><Relationship Id="rId1" Type="http://schemas.openxmlformats.org/officeDocument/2006/relationships/slideLayout" Target="../slideLayouts/slideLayout4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hyperlink" Target="https://docs.astral.sh/uv/" TargetMode="Externa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jpg"/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g"/><Relationship Id="rId2" Type="http://schemas.openxmlformats.org/officeDocument/2006/relationships/hyperlink" Target="http://ec2-3-87-76-117.compute-1.amazonaws.com:8888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jp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jp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" Target="slide59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F9F9F9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347294" y="987055"/>
            <a:ext cx="379984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</a:rPr>
              <a:t>Performance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Distributed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</a:rPr>
              <a:t>Computing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11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</a:rPr>
              <a:t>Data</a:t>
            </a:r>
            <a:endParaRPr lang="en-US" sz="11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47294" y="1242941"/>
            <a:ext cx="162877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Unit</a:t>
            </a:r>
            <a:r>
              <a:rPr lang="en-US" sz="10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10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50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10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10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7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10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1000" spc="-25" dirty="0">
                <a:solidFill>
                  <a:srgbClr val="22373A"/>
                </a:solidFill>
                <a:latin typeface="Arial"/>
                <a:cs typeface="Arial"/>
              </a:rPr>
              <a:t>Setup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9994" y="1599698"/>
            <a:ext cx="5040630" cy="5080"/>
          </a:xfrm>
          <a:custGeom>
            <a:avLst/>
            <a:gdLst/>
            <a:ahLst/>
            <a:cxnLst/>
            <a:rect l="l" t="t" r="r" b="b"/>
            <a:pathLst>
              <a:path w="5040630" h="5080">
                <a:moveTo>
                  <a:pt x="0" y="5060"/>
                </a:moveTo>
                <a:lnTo>
                  <a:pt x="0" y="0"/>
                </a:lnTo>
                <a:lnTo>
                  <a:pt x="5040064" y="0"/>
                </a:lnTo>
                <a:lnTo>
                  <a:pt x="5040064" y="5060"/>
                </a:lnTo>
                <a:lnTo>
                  <a:pt x="0" y="5060"/>
                </a:lnTo>
                <a:close/>
              </a:path>
            </a:pathLst>
          </a:custGeom>
          <a:solidFill>
            <a:srgbClr val="EB811B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6" name="object 6"/>
          <p:cNvSpPr txBox="1">
            <a:spLocks noGrp="1"/>
          </p:cNvSpPr>
          <p:nvPr>
            <p:ph type="subTitle" idx="4"/>
          </p:nvPr>
        </p:nvSpPr>
        <p:spPr>
          <a:xfrm>
            <a:off x="347294" y="1824239"/>
            <a:ext cx="2383206" cy="3763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10" dirty="0"/>
              <a:t>Francesc Solsona Tehas </a:t>
            </a:r>
            <a:r>
              <a:rPr lang="en-US" sz="800" spc="-20" dirty="0">
                <a:hlinkClick r:id="rId2"/>
              </a:rPr>
              <a:t>francesc.solsona@udl.cat</a:t>
            </a:r>
            <a:endParaRPr lang="en-US" sz="800" dirty="0"/>
          </a:p>
          <a:p>
            <a:pPr>
              <a:lnSpc>
                <a:spcPct val="100000"/>
              </a:lnSpc>
              <a:spcBef>
                <a:spcPts val="170"/>
              </a:spcBef>
            </a:pPr>
            <a:endParaRPr lang="en-US" sz="800" dirty="0"/>
          </a:p>
          <a:p>
            <a:pPr marL="12700">
              <a:lnSpc>
                <a:spcPct val="100000"/>
              </a:lnSpc>
            </a:pP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Rovira</a:t>
            </a:r>
            <a:r>
              <a:rPr lang="en-US" sz="600" spc="25" dirty="0"/>
              <a:t> </a:t>
            </a:r>
            <a:r>
              <a:rPr lang="en-US" sz="600" dirty="0" err="1"/>
              <a:t>i</a:t>
            </a:r>
            <a:r>
              <a:rPr lang="en-US" sz="600" spc="25" dirty="0"/>
              <a:t> </a:t>
            </a:r>
            <a:r>
              <a:rPr lang="en-US" sz="600" dirty="0"/>
              <a:t>Virgili</a:t>
            </a:r>
            <a:r>
              <a:rPr lang="en-US" sz="600" spc="25" dirty="0"/>
              <a:t> </a:t>
            </a:r>
            <a:r>
              <a:rPr lang="en-US" sz="600" dirty="0"/>
              <a:t>and</a:t>
            </a:r>
            <a:r>
              <a:rPr lang="en-US" sz="600" spc="25" dirty="0"/>
              <a:t> </a:t>
            </a:r>
            <a:r>
              <a:rPr lang="en-US" sz="600" dirty="0" err="1"/>
              <a:t>Universitat</a:t>
            </a:r>
            <a:r>
              <a:rPr lang="en-US" sz="600" spc="20" dirty="0"/>
              <a:t> </a:t>
            </a:r>
            <a:r>
              <a:rPr lang="en-US" sz="600" dirty="0"/>
              <a:t>de</a:t>
            </a:r>
            <a:r>
              <a:rPr lang="en-US" sz="600" spc="25" dirty="0"/>
              <a:t> </a:t>
            </a:r>
            <a:r>
              <a:rPr lang="en-US" sz="600" spc="-10" dirty="0"/>
              <a:t>Lleida</a:t>
            </a:r>
            <a:endParaRPr lang="en-US" sz="600" dirty="0"/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09220" cy="5080"/>
            </a:xfrm>
            <a:custGeom>
              <a:avLst/>
              <a:gdLst/>
              <a:ahLst/>
              <a:cxnLst/>
              <a:rect l="l" t="t" r="r" b="b"/>
              <a:pathLst>
                <a:path w="109220" h="5080">
                  <a:moveTo>
                    <a:pt x="0" y="5060"/>
                  </a:moveTo>
                  <a:lnTo>
                    <a:pt x="0" y="0"/>
                  </a:lnTo>
                  <a:lnTo>
                    <a:pt x="108634" y="0"/>
                  </a:lnTo>
                  <a:lnTo>
                    <a:pt x="1086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03"/>
            <a:ext cx="177482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Recap:</a:t>
            </a:r>
            <a:r>
              <a:rPr lang="en-US" sz="1100" b="1" spc="6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Where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are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we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now?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993"/>
            <a:ext cx="2505710" cy="5080"/>
            <a:chOff x="1627403" y="1646993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99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993"/>
              <a:ext cx="47625" cy="5080"/>
            </a:xfrm>
            <a:custGeom>
              <a:avLst/>
              <a:gdLst/>
              <a:ahLst/>
              <a:cxnLst/>
              <a:rect l="l" t="t" r="r" b="b"/>
              <a:pathLst>
                <a:path w="47625" h="5080">
                  <a:moveTo>
                    <a:pt x="0" y="5060"/>
                  </a:moveTo>
                  <a:lnTo>
                    <a:pt x="0" y="0"/>
                  </a:lnTo>
                  <a:lnTo>
                    <a:pt x="47248" y="0"/>
                  </a:lnTo>
                  <a:lnTo>
                    <a:pt x="472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59766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Public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Private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vs</a:t>
            </a:r>
            <a:r>
              <a:rPr lang="en-US" sz="1000" b="1" spc="-1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Hybrid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635731"/>
            <a:ext cx="49314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last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sessions,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discussed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public,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private,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hybrid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models.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54670" y="877961"/>
            <a:ext cx="2650659" cy="149949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27924" y="2511423"/>
            <a:ext cx="310451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cost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privacy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grow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paradigms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804" cy="5080"/>
            </a:xfrm>
            <a:custGeom>
              <a:avLst/>
              <a:gdLst/>
              <a:ahLst/>
              <a:cxnLst/>
              <a:rect l="l" t="t" r="r" b="b"/>
              <a:pathLst>
                <a:path w="217804" h="5080">
                  <a:moveTo>
                    <a:pt x="0" y="5060"/>
                  </a:moveTo>
                  <a:lnTo>
                    <a:pt x="0" y="0"/>
                  </a:lnTo>
                  <a:lnTo>
                    <a:pt x="217356" y="0"/>
                  </a:lnTo>
                  <a:lnTo>
                    <a:pt x="2173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Website</a:t>
            </a:r>
            <a:r>
              <a:rPr lang="en-US" spc="-30" dirty="0"/>
              <a:t> </a:t>
            </a:r>
            <a:r>
              <a:rPr lang="en-US" spc="-35" dirty="0"/>
              <a:t>deployment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488124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explored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PaaS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own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compared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deployment.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59103" y="613739"/>
            <a:ext cx="3841790" cy="209923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368209" y="2846957"/>
            <a:ext cx="30238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800" b="1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Differences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GitHub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40" dirty="0">
                <a:solidFill>
                  <a:srgbClr val="22373A"/>
                </a:solidFill>
                <a:latin typeface="Arial"/>
                <a:cs typeface="Arial"/>
              </a:rPr>
              <a:t>Pages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deployment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390" cy="5080"/>
            </a:xfrm>
            <a:custGeom>
              <a:avLst/>
              <a:gdLst/>
              <a:ahLst/>
              <a:cxnLst/>
              <a:rect l="l" t="t" r="r" b="b"/>
              <a:pathLst>
                <a:path w="326390" h="5080">
                  <a:moveTo>
                    <a:pt x="0" y="5060"/>
                  </a:moveTo>
                  <a:lnTo>
                    <a:pt x="0" y="0"/>
                  </a:lnTo>
                  <a:lnTo>
                    <a:pt x="326078" y="0"/>
                  </a:lnTo>
                  <a:lnTo>
                    <a:pt x="32607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Cloud</a:t>
            </a:r>
            <a:r>
              <a:rPr lang="en-US" spc="5" dirty="0"/>
              <a:t> </a:t>
            </a:r>
            <a:r>
              <a:rPr lang="en-US" spc="-55" dirty="0"/>
              <a:t>services</a:t>
            </a:r>
            <a:r>
              <a:rPr lang="en-US" spc="10" dirty="0"/>
              <a:t> </a:t>
            </a:r>
            <a:r>
              <a:rPr lang="en-US" spc="-35" dirty="0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394503"/>
            <a:ext cx="502602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go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just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hosting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websites.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Examples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include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GitHub,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Netflix,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iCloud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many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more.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33335" y="796640"/>
            <a:ext cx="3293343" cy="179936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41283" y="2729977"/>
            <a:ext cx="14776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3:</a:t>
            </a:r>
            <a:r>
              <a:rPr lang="en-US" sz="800" b="1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Popular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34975" cy="5080"/>
            </a:xfrm>
            <a:custGeom>
              <a:avLst/>
              <a:gdLst/>
              <a:ahLst/>
              <a:cxnLst/>
              <a:rect l="l" t="t" r="r" b="b"/>
              <a:pathLst>
                <a:path w="434975" h="5080">
                  <a:moveTo>
                    <a:pt x="0" y="5060"/>
                  </a:moveTo>
                  <a:lnTo>
                    <a:pt x="0" y="0"/>
                  </a:lnTo>
                  <a:lnTo>
                    <a:pt x="434712" y="0"/>
                  </a:lnTo>
                  <a:lnTo>
                    <a:pt x="43471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Cloud</a:t>
            </a:r>
            <a:r>
              <a:rPr lang="en-US" spc="5" dirty="0"/>
              <a:t> </a:t>
            </a:r>
            <a:r>
              <a:rPr lang="en-US" spc="-55" dirty="0"/>
              <a:t>services</a:t>
            </a:r>
            <a:r>
              <a:rPr lang="en-US" spc="10" dirty="0"/>
              <a:t> </a:t>
            </a:r>
            <a:r>
              <a:rPr lang="en-US" spc="-35" dirty="0"/>
              <a:t>everywhere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80965"/>
            <a:ext cx="506920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3810">
              <a:lnSpc>
                <a:spcPct val="116199"/>
              </a:lnSpc>
              <a:spcBef>
                <a:spcPts val="100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Beyond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cloud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Azure,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Google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Platform (GCP),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Amazon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(AWS).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21055" y="810204"/>
            <a:ext cx="4317896" cy="179934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0338" y="2743516"/>
            <a:ext cx="14598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4:</a:t>
            </a:r>
            <a:r>
              <a:rPr lang="en-US"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Major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providers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43560" cy="5080"/>
            </a:xfrm>
            <a:custGeom>
              <a:avLst/>
              <a:gdLst/>
              <a:ahLst/>
              <a:cxnLst/>
              <a:rect l="l" t="t" r="r" b="b"/>
              <a:pathLst>
                <a:path w="543560" h="5080">
                  <a:moveTo>
                    <a:pt x="0" y="5060"/>
                  </a:moveTo>
                  <a:lnTo>
                    <a:pt x="0" y="0"/>
                  </a:lnTo>
                  <a:lnTo>
                    <a:pt x="543434" y="0"/>
                  </a:lnTo>
                  <a:lnTo>
                    <a:pt x="54343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15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50" dirty="0"/>
              <a:t>Services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371520"/>
            <a:ext cx="378777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focus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session.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offers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variety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830374" y="613747"/>
            <a:ext cx="2099251" cy="209925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28469" y="2846970"/>
            <a:ext cx="15030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overview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652145" cy="5080"/>
            </a:xfrm>
            <a:custGeom>
              <a:avLst/>
              <a:gdLst/>
              <a:ahLst/>
              <a:cxnLst/>
              <a:rect l="l" t="t" r="r" b="b"/>
              <a:pathLst>
                <a:path w="652145" h="5080">
                  <a:moveTo>
                    <a:pt x="0" y="5060"/>
                  </a:moveTo>
                  <a:lnTo>
                    <a:pt x="0" y="0"/>
                  </a:lnTo>
                  <a:lnTo>
                    <a:pt x="652068" y="0"/>
                  </a:lnTo>
                  <a:lnTo>
                    <a:pt x="65206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0" dirty="0"/>
              <a:t>Amazon</a:t>
            </a:r>
            <a:r>
              <a:rPr lang="en-US" spc="20" dirty="0"/>
              <a:t> </a:t>
            </a:r>
            <a:r>
              <a:rPr lang="en-US" dirty="0"/>
              <a:t>Web</a:t>
            </a:r>
            <a:r>
              <a:rPr lang="en-US" spc="20" dirty="0"/>
              <a:t> </a:t>
            </a:r>
            <a:r>
              <a:rPr lang="en-US" spc="-45" dirty="0"/>
              <a:t>Services:</a:t>
            </a:r>
            <a:r>
              <a:rPr lang="en-US" spc="120" dirty="0"/>
              <a:t> </a:t>
            </a:r>
            <a:r>
              <a:rPr lang="en-US" spc="-25" dirty="0"/>
              <a:t>EC2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633229"/>
            <a:ext cx="476313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(Elastic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Cloud)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virtual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80540" y="880478"/>
            <a:ext cx="2998927" cy="149946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413914" y="2513912"/>
            <a:ext cx="9321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6: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761365" cy="5080"/>
            </a:xfrm>
            <a:custGeom>
              <a:avLst/>
              <a:gdLst/>
              <a:ahLst/>
              <a:cxnLst/>
              <a:rect l="l" t="t" r="r" b="b"/>
              <a:pathLst>
                <a:path w="761365" h="5080">
                  <a:moveTo>
                    <a:pt x="0" y="5060"/>
                  </a:moveTo>
                  <a:lnTo>
                    <a:pt x="0" y="0"/>
                  </a:lnTo>
                  <a:lnTo>
                    <a:pt x="760790" y="0"/>
                  </a:lnTo>
                  <a:lnTo>
                    <a:pt x="76079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23507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Connecting</a:t>
            </a:r>
            <a:r>
              <a:rPr lang="en-US" sz="1100" b="1" spc="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5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331470" cy="5080"/>
            </a:xfrm>
            <a:custGeom>
              <a:avLst/>
              <a:gdLst/>
              <a:ahLst/>
              <a:cxnLst/>
              <a:rect l="l" t="t" r="r" b="b"/>
              <a:pathLst>
                <a:path w="331469" h="5080">
                  <a:moveTo>
                    <a:pt x="0" y="5060"/>
                  </a:moveTo>
                  <a:lnTo>
                    <a:pt x="0" y="0"/>
                  </a:lnTo>
                  <a:lnTo>
                    <a:pt x="330891" y="0"/>
                  </a:lnTo>
                  <a:lnTo>
                    <a:pt x="33089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A</a:t>
            </a:r>
            <a:r>
              <a:rPr lang="en-US" spc="25" dirty="0"/>
              <a:t> </a:t>
            </a:r>
            <a:r>
              <a:rPr lang="en-US" spc="-10" dirty="0"/>
              <a:t>remote</a:t>
            </a:r>
            <a:r>
              <a:rPr lang="en-US" spc="25" dirty="0"/>
              <a:t> </a:t>
            </a:r>
            <a:r>
              <a:rPr lang="en-US" spc="-10" dirty="0"/>
              <a:t>terminal</a:t>
            </a:r>
            <a:r>
              <a:rPr lang="en-US" spc="25" dirty="0"/>
              <a:t> </a:t>
            </a:r>
            <a:r>
              <a:rPr lang="en-US" spc="-25" dirty="0"/>
              <a:t>through</a:t>
            </a:r>
            <a:r>
              <a:rPr lang="en-US" spc="25" dirty="0"/>
              <a:t> </a:t>
            </a:r>
            <a:r>
              <a:rPr lang="en-US" spc="-25" dirty="0"/>
              <a:t>SSH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65116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dirty="0">
                <a:latin typeface="Arial"/>
                <a:cs typeface="Arial"/>
              </a:rPr>
              <a:t>a</a:t>
            </a:r>
            <a:r>
              <a:rPr lang="en-US" b="1" spc="5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Terminal?</a:t>
            </a:r>
          </a:p>
          <a:p>
            <a:pPr marL="17780" marR="65405" indent="-4445">
              <a:lnSpc>
                <a:spcPct val="116199"/>
              </a:lnSpc>
              <a:spcBef>
                <a:spcPts val="670"/>
              </a:spcBef>
            </a:pP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25" dirty="0"/>
              <a:t> </a:t>
            </a:r>
            <a:r>
              <a:rPr lang="en-US" dirty="0"/>
              <a:t>an</a:t>
            </a:r>
            <a:r>
              <a:rPr lang="en-US" spc="20" dirty="0"/>
              <a:t> </a:t>
            </a:r>
            <a:r>
              <a:rPr lang="en-US" spc="-10" dirty="0"/>
              <a:t>interface</a:t>
            </a:r>
            <a:r>
              <a:rPr lang="en-US" spc="25" dirty="0"/>
              <a:t> </a:t>
            </a:r>
            <a:r>
              <a:rPr lang="en-US" dirty="0"/>
              <a:t>that</a:t>
            </a:r>
            <a:r>
              <a:rPr lang="en-US" spc="25" dirty="0"/>
              <a:t> </a:t>
            </a:r>
            <a:r>
              <a:rPr lang="en-US" spc="-25" dirty="0"/>
              <a:t>allows</a:t>
            </a:r>
            <a:r>
              <a:rPr lang="en-US" spc="25" dirty="0"/>
              <a:t> </a:t>
            </a:r>
            <a:r>
              <a:rPr lang="en-US" spc="-50" dirty="0"/>
              <a:t>users</a:t>
            </a:r>
            <a:r>
              <a:rPr lang="en-US" spc="20" dirty="0"/>
              <a:t> </a:t>
            </a:r>
            <a:r>
              <a:rPr lang="en-US" dirty="0"/>
              <a:t>to</a:t>
            </a:r>
            <a:r>
              <a:rPr lang="en-US" spc="25" dirty="0"/>
              <a:t> </a:t>
            </a:r>
            <a:r>
              <a:rPr lang="en-US" dirty="0"/>
              <a:t>interact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25" dirty="0"/>
              <a:t> </a:t>
            </a:r>
            <a:r>
              <a:rPr lang="en-US" dirty="0"/>
              <a:t>a</a:t>
            </a:r>
            <a:r>
              <a:rPr lang="en-US" spc="20" dirty="0"/>
              <a:t> </a:t>
            </a:r>
            <a:r>
              <a:rPr lang="en-US" spc="-10" dirty="0"/>
              <a:t>computer</a:t>
            </a:r>
            <a:r>
              <a:rPr lang="en-US" spc="25" dirty="0"/>
              <a:t> </a:t>
            </a:r>
            <a:r>
              <a:rPr lang="en-US" spc="-20" dirty="0"/>
              <a:t>using</a:t>
            </a:r>
            <a:r>
              <a:rPr lang="en-US" spc="25" dirty="0"/>
              <a:t> </a:t>
            </a:r>
            <a:r>
              <a:rPr lang="en-US" dirty="0"/>
              <a:t>text</a:t>
            </a:r>
            <a:r>
              <a:rPr lang="en-US" spc="25" dirty="0"/>
              <a:t> </a:t>
            </a:r>
            <a:r>
              <a:rPr lang="en-US" spc="-30" dirty="0"/>
              <a:t>commands.</a:t>
            </a:r>
            <a:r>
              <a:rPr lang="en-US" spc="110" dirty="0"/>
              <a:t> </a:t>
            </a:r>
            <a:r>
              <a:rPr lang="en-US" spc="-10" dirty="0"/>
              <a:t>Unlike </a:t>
            </a:r>
            <a:r>
              <a:rPr lang="en-US" spc="-20" dirty="0"/>
              <a:t>graphical</a:t>
            </a:r>
            <a:r>
              <a:rPr lang="en-US" spc="10" dirty="0"/>
              <a:t> </a:t>
            </a:r>
            <a:r>
              <a:rPr lang="en-US" spc="-35" dirty="0"/>
              <a:t>user</a:t>
            </a:r>
            <a:r>
              <a:rPr lang="en-US" spc="10" dirty="0"/>
              <a:t> </a:t>
            </a:r>
            <a:r>
              <a:rPr lang="en-US" spc="-25" dirty="0"/>
              <a:t>interfaces</a:t>
            </a:r>
            <a:r>
              <a:rPr lang="en-US" spc="15" dirty="0"/>
              <a:t> </a:t>
            </a:r>
            <a:r>
              <a:rPr lang="en-US" dirty="0"/>
              <a:t>(GUIs),</a:t>
            </a:r>
            <a:r>
              <a:rPr lang="en-US" spc="10" dirty="0"/>
              <a:t> </a:t>
            </a:r>
            <a:r>
              <a:rPr lang="en-US" spc="-10" dirty="0"/>
              <a:t>terminals</a:t>
            </a:r>
            <a:r>
              <a:rPr lang="en-US" spc="15" dirty="0"/>
              <a:t> </a:t>
            </a:r>
            <a:r>
              <a:rPr lang="en-US" spc="-10" dirty="0"/>
              <a:t>allow</a:t>
            </a:r>
            <a:r>
              <a:rPr lang="en-US" spc="10" dirty="0"/>
              <a:t> </a:t>
            </a:r>
            <a:r>
              <a:rPr lang="en-US" dirty="0"/>
              <a:t>direct</a:t>
            </a:r>
            <a:r>
              <a:rPr lang="en-US" spc="15" dirty="0"/>
              <a:t> </a:t>
            </a:r>
            <a:r>
              <a:rPr lang="en-US" spc="-20" dirty="0"/>
              <a:t>communication</a:t>
            </a:r>
            <a:r>
              <a:rPr lang="en-US" spc="10" dirty="0"/>
              <a:t> </a:t>
            </a:r>
            <a:r>
              <a:rPr lang="en-US" dirty="0"/>
              <a:t>with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operating</a:t>
            </a:r>
            <a:r>
              <a:rPr lang="en-US" spc="15" dirty="0"/>
              <a:t> </a:t>
            </a:r>
            <a:r>
              <a:rPr lang="en-US" spc="-10" dirty="0"/>
              <a:t>system.</a:t>
            </a:r>
          </a:p>
          <a:p>
            <a:pPr marL="17780">
              <a:lnSpc>
                <a:spcPct val="100000"/>
              </a:lnSpc>
              <a:spcBef>
                <a:spcPts val="855"/>
              </a:spcBef>
            </a:pPr>
            <a:r>
              <a:rPr lang="en-US" b="1" dirty="0">
                <a:latin typeface="Arial"/>
                <a:cs typeface="Arial"/>
              </a:rPr>
              <a:t>What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is</a:t>
            </a:r>
            <a:r>
              <a:rPr lang="en-US" b="1" spc="5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SSH?</a:t>
            </a:r>
          </a:p>
          <a:p>
            <a:pPr marL="17780" marR="122555">
              <a:lnSpc>
                <a:spcPct val="116199"/>
              </a:lnSpc>
              <a:spcBef>
                <a:spcPts val="670"/>
              </a:spcBef>
            </a:pPr>
            <a:r>
              <a:rPr lang="en-US" b="1" dirty="0">
                <a:latin typeface="Arial"/>
                <a:cs typeface="Arial"/>
              </a:rPr>
              <a:t>SSH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(Secure</a:t>
            </a:r>
            <a:r>
              <a:rPr lang="en-US" b="1" spc="3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Shell)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dirty="0"/>
              <a:t>is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dirty="0"/>
              <a:t>protocol</a:t>
            </a:r>
            <a:r>
              <a:rPr lang="en-US" spc="15" dirty="0"/>
              <a:t> </a:t>
            </a:r>
            <a:r>
              <a:rPr lang="en-US" dirty="0"/>
              <a:t>that</a:t>
            </a:r>
            <a:r>
              <a:rPr lang="en-US" spc="15" dirty="0"/>
              <a:t> </a:t>
            </a:r>
            <a:r>
              <a:rPr lang="en-US" spc="-25" dirty="0"/>
              <a:t>allows</a:t>
            </a:r>
            <a:r>
              <a:rPr lang="en-US" spc="15" dirty="0"/>
              <a:t> </a:t>
            </a:r>
            <a:r>
              <a:rPr lang="en-US" spc="-50" dirty="0"/>
              <a:t>secure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75" dirty="0"/>
              <a:t>access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40" dirty="0"/>
              <a:t>machines</a:t>
            </a:r>
            <a:r>
              <a:rPr lang="en-US" spc="15" dirty="0"/>
              <a:t> </a:t>
            </a:r>
            <a:r>
              <a:rPr lang="en-US" spc="-10" dirty="0"/>
              <a:t>over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dirty="0"/>
              <a:t>internet.</a:t>
            </a:r>
            <a:r>
              <a:rPr lang="en-US" spc="105" dirty="0"/>
              <a:t> </a:t>
            </a:r>
            <a:r>
              <a:rPr lang="en-US" spc="-25" dirty="0"/>
              <a:t>It </a:t>
            </a:r>
            <a:r>
              <a:rPr lang="en-US" spc="-45" dirty="0"/>
              <a:t>enables</a:t>
            </a:r>
            <a:r>
              <a:rPr lang="en-US" spc="15" dirty="0"/>
              <a:t> </a:t>
            </a:r>
            <a:r>
              <a:rPr lang="en-US" spc="-50" dirty="0"/>
              <a:t>users</a:t>
            </a:r>
            <a:r>
              <a:rPr lang="en-US" spc="15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35" dirty="0"/>
              <a:t>execute</a:t>
            </a:r>
            <a:r>
              <a:rPr lang="en-US" spc="15" dirty="0"/>
              <a:t> </a:t>
            </a:r>
            <a:r>
              <a:rPr lang="en-US" spc="-40" dirty="0"/>
              <a:t>commands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5" dirty="0"/>
              <a:t> </a:t>
            </a:r>
            <a:r>
              <a:rPr lang="en-US" spc="-20" dirty="0"/>
              <a:t>remote</a:t>
            </a:r>
            <a:r>
              <a:rPr lang="en-US" spc="20" dirty="0"/>
              <a:t> </a:t>
            </a:r>
            <a:r>
              <a:rPr lang="en-US" spc="-45" dirty="0"/>
              <a:t>servers</a:t>
            </a:r>
            <a:r>
              <a:rPr lang="en-US" spc="15" dirty="0"/>
              <a:t> </a:t>
            </a:r>
            <a:r>
              <a:rPr lang="en-US" spc="-45" dirty="0"/>
              <a:t>as</a:t>
            </a:r>
            <a:r>
              <a:rPr lang="en-US" spc="15" dirty="0"/>
              <a:t> </a:t>
            </a:r>
            <a:r>
              <a:rPr lang="en-US" dirty="0"/>
              <a:t>if</a:t>
            </a:r>
            <a:r>
              <a:rPr lang="en-US" spc="15" dirty="0"/>
              <a:t> </a:t>
            </a:r>
            <a:r>
              <a:rPr lang="en-US" dirty="0"/>
              <a:t>they</a:t>
            </a:r>
            <a:r>
              <a:rPr lang="en-US" spc="15" dirty="0"/>
              <a:t> </a:t>
            </a:r>
            <a:r>
              <a:rPr lang="en-US" spc="-45" dirty="0"/>
              <a:t>were</a:t>
            </a:r>
            <a:r>
              <a:rPr lang="en-US" spc="15" dirty="0"/>
              <a:t> </a:t>
            </a:r>
            <a:r>
              <a:rPr lang="en-US" spc="-20" dirty="0"/>
              <a:t>physically</a:t>
            </a:r>
            <a:r>
              <a:rPr lang="en-US" spc="20" dirty="0"/>
              <a:t> </a:t>
            </a:r>
            <a:r>
              <a:rPr lang="en-US" spc="-10" dirty="0"/>
              <a:t>present.</a:t>
            </a:r>
          </a:p>
          <a:p>
            <a:pPr marL="17780" marR="5080" indent="-5715">
              <a:lnSpc>
                <a:spcPct val="116199"/>
              </a:lnSpc>
              <a:spcBef>
                <a:spcPts val="450"/>
              </a:spcBef>
            </a:pPr>
            <a:r>
              <a:rPr lang="en-US" spc="-10" dirty="0"/>
              <a:t>When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20" dirty="0"/>
              <a:t>connect</a:t>
            </a:r>
            <a:r>
              <a:rPr lang="en-US" spc="-5" dirty="0"/>
              <a:t> </a:t>
            </a:r>
            <a:r>
              <a:rPr lang="en-US" dirty="0"/>
              <a:t>to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spc="-20" dirty="0"/>
              <a:t>remote</a:t>
            </a:r>
            <a:r>
              <a:rPr lang="en-US" spc="-5" dirty="0"/>
              <a:t> </a:t>
            </a:r>
            <a:r>
              <a:rPr lang="en-US" spc="-25" dirty="0"/>
              <a:t>machine</a:t>
            </a:r>
            <a:r>
              <a:rPr lang="en-US" spc="-5" dirty="0"/>
              <a:t> </a:t>
            </a:r>
            <a:r>
              <a:rPr lang="en-US" dirty="0"/>
              <a:t>through</a:t>
            </a:r>
            <a:r>
              <a:rPr lang="en-US" spc="-5" dirty="0"/>
              <a:t> </a:t>
            </a:r>
            <a:r>
              <a:rPr lang="en-US" spc="-25" dirty="0"/>
              <a:t>SSH,</a:t>
            </a:r>
            <a:r>
              <a:rPr lang="en-US" spc="-5" dirty="0"/>
              <a:t> </a:t>
            </a:r>
            <a:r>
              <a:rPr lang="en-US" spc="-40" dirty="0"/>
              <a:t>we</a:t>
            </a:r>
            <a:r>
              <a:rPr lang="en-US" spc="-5" dirty="0"/>
              <a:t> </a:t>
            </a:r>
            <a:r>
              <a:rPr lang="en-US" spc="-30" dirty="0"/>
              <a:t>are</a:t>
            </a:r>
            <a:r>
              <a:rPr lang="en-US" spc="-5" dirty="0"/>
              <a:t> </a:t>
            </a:r>
            <a:r>
              <a:rPr lang="en-US" spc="-30" dirty="0"/>
              <a:t>essentially</a:t>
            </a:r>
            <a:r>
              <a:rPr lang="en-US" spc="-5" dirty="0"/>
              <a:t> </a:t>
            </a:r>
            <a:r>
              <a:rPr lang="en-US" spc="-25" dirty="0"/>
              <a:t>opening</a:t>
            </a:r>
            <a:r>
              <a:rPr lang="en-US" spc="-5" dirty="0"/>
              <a:t> </a:t>
            </a:r>
            <a:r>
              <a:rPr lang="en-US" dirty="0"/>
              <a:t>a</a:t>
            </a:r>
            <a:r>
              <a:rPr lang="en-US" spc="-5" dirty="0"/>
              <a:t> </a:t>
            </a:r>
            <a:r>
              <a:rPr lang="en-US" b="1" spc="-10" dirty="0">
                <a:latin typeface="Arial"/>
                <a:cs typeface="Arial"/>
              </a:rPr>
              <a:t>remote</a:t>
            </a:r>
            <a:r>
              <a:rPr lang="en-US" b="1" spc="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terminal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spc="-25" dirty="0"/>
              <a:t>on </a:t>
            </a:r>
            <a:r>
              <a:rPr lang="en-US" dirty="0"/>
              <a:t>that</a:t>
            </a:r>
            <a:r>
              <a:rPr lang="en-US" spc="120" dirty="0"/>
              <a:t> </a:t>
            </a:r>
            <a:r>
              <a:rPr lang="en-US" spc="-10" dirty="0"/>
              <a:t>machine.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869950" cy="5080"/>
            </a:xfrm>
            <a:custGeom>
              <a:avLst/>
              <a:gdLst/>
              <a:ahLst/>
              <a:cxnLst/>
              <a:rect l="l" t="t" r="r" b="b"/>
              <a:pathLst>
                <a:path w="869950" h="5080">
                  <a:moveTo>
                    <a:pt x="0" y="5060"/>
                  </a:moveTo>
                  <a:lnTo>
                    <a:pt x="0" y="0"/>
                  </a:lnTo>
                  <a:lnTo>
                    <a:pt x="869424" y="0"/>
                  </a:lnTo>
                  <a:lnTo>
                    <a:pt x="86942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27889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How</a:t>
            </a:r>
            <a:r>
              <a:rPr lang="en-US" spc="10" dirty="0"/>
              <a:t> </a:t>
            </a:r>
            <a:r>
              <a:rPr lang="en-US" spc="-45" dirty="0"/>
              <a:t>does</a:t>
            </a:r>
            <a:r>
              <a:rPr lang="en-US" spc="10" dirty="0"/>
              <a:t> </a:t>
            </a:r>
            <a:r>
              <a:rPr lang="en-US" dirty="0"/>
              <a:t>SSH</a:t>
            </a:r>
            <a:r>
              <a:rPr lang="en-US" spc="15" dirty="0"/>
              <a:t> </a:t>
            </a:r>
            <a:r>
              <a:rPr lang="en-US" spc="-45" dirty="0"/>
              <a:t>work?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7780" marR="5080">
              <a:lnSpc>
                <a:spcPct val="116199"/>
              </a:lnSpc>
              <a:spcBef>
                <a:spcPts val="100"/>
              </a:spcBef>
            </a:pPr>
            <a:r>
              <a:rPr lang="en-US" spc="-45" dirty="0"/>
              <a:t>SSH</a:t>
            </a:r>
            <a:r>
              <a:rPr lang="en-US" spc="5" dirty="0"/>
              <a:t> </a:t>
            </a:r>
            <a:r>
              <a:rPr lang="en-US" spc="-30" dirty="0"/>
              <a:t>works</a:t>
            </a:r>
            <a:r>
              <a:rPr lang="en-US" spc="5" dirty="0"/>
              <a:t> </a:t>
            </a:r>
            <a:r>
              <a:rPr lang="en-US" dirty="0"/>
              <a:t>with</a:t>
            </a:r>
            <a:r>
              <a:rPr lang="en-US" spc="5" dirty="0"/>
              <a:t> </a:t>
            </a:r>
            <a:r>
              <a:rPr lang="en-US" b="1" spc="-35" dirty="0">
                <a:latin typeface="Arial"/>
                <a:cs typeface="Arial"/>
              </a:rPr>
              <a:t>public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</a:t>
            </a:r>
            <a:r>
              <a:rPr lang="en-US" b="1" spc="25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private</a:t>
            </a:r>
            <a:r>
              <a:rPr lang="en-US" b="1" spc="20" dirty="0">
                <a:latin typeface="Arial"/>
                <a:cs typeface="Arial"/>
              </a:rPr>
              <a:t> </a:t>
            </a:r>
            <a:r>
              <a:rPr lang="en-US" b="1" spc="-60" dirty="0">
                <a:latin typeface="Arial"/>
                <a:cs typeface="Arial"/>
              </a:rPr>
              <a:t>keys</a:t>
            </a:r>
            <a:r>
              <a:rPr lang="en-US" b="1" spc="10" dirty="0">
                <a:latin typeface="Arial"/>
                <a:cs typeface="Arial"/>
              </a:rPr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5" dirty="0"/>
              <a:t>establish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spc="-50" dirty="0"/>
              <a:t>secure</a:t>
            </a:r>
            <a:r>
              <a:rPr lang="en-US" spc="5" dirty="0"/>
              <a:t> </a:t>
            </a:r>
            <a:r>
              <a:rPr lang="en-US" spc="-10" dirty="0"/>
              <a:t>connection.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20" dirty="0"/>
              <a:t>eliminates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50" dirty="0"/>
              <a:t>need</a:t>
            </a:r>
            <a:r>
              <a:rPr lang="en-US" spc="5" dirty="0"/>
              <a:t> </a:t>
            </a:r>
            <a:r>
              <a:rPr lang="en-US" spc="-25" dirty="0"/>
              <a:t>for </a:t>
            </a:r>
            <a:r>
              <a:rPr lang="en-US" spc="-65" dirty="0"/>
              <a:t>password-</a:t>
            </a:r>
            <a:r>
              <a:rPr lang="en-US" spc="-30" dirty="0"/>
              <a:t>based</a:t>
            </a:r>
            <a:r>
              <a:rPr lang="en-US" spc="60" dirty="0"/>
              <a:t> </a:t>
            </a:r>
            <a:r>
              <a:rPr lang="en-US" spc="-10" dirty="0"/>
              <a:t>authentication,</a:t>
            </a:r>
            <a:r>
              <a:rPr lang="en-US" spc="65" dirty="0"/>
              <a:t> </a:t>
            </a:r>
            <a:r>
              <a:rPr lang="en-US" spc="-35" dirty="0"/>
              <a:t>enhancing</a:t>
            </a:r>
            <a:r>
              <a:rPr lang="en-US" spc="65" dirty="0"/>
              <a:t> </a:t>
            </a:r>
            <a:r>
              <a:rPr lang="en-US" spc="-10" dirty="0"/>
              <a:t>security.</a:t>
            </a:r>
          </a:p>
          <a:p>
            <a:pPr marL="17780">
              <a:lnSpc>
                <a:spcPct val="100000"/>
              </a:lnSpc>
              <a:spcBef>
                <a:spcPts val="770"/>
              </a:spcBef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and </a:t>
            </a: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10" dirty="0">
                <a:latin typeface="Arial"/>
                <a:cs typeface="Arial"/>
              </a:rPr>
              <a:t> </a:t>
            </a:r>
            <a:r>
              <a:rPr lang="en-US" b="1" spc="-20" dirty="0">
                <a:latin typeface="Arial"/>
                <a:cs typeface="Arial"/>
              </a:rPr>
              <a:t>Keys</a:t>
            </a:r>
          </a:p>
          <a:p>
            <a:pPr marL="245110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spc="-20" dirty="0">
                <a:latin typeface="Arial"/>
                <a:cs typeface="Arial"/>
              </a:rPr>
              <a:t>Public</a:t>
            </a:r>
            <a:r>
              <a:rPr lang="en-US" b="1" spc="30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95" dirty="0"/>
              <a:t> </a:t>
            </a:r>
            <a:r>
              <a:rPr lang="en-US" spc="-10" dirty="0"/>
              <a:t>We</a:t>
            </a:r>
            <a:r>
              <a:rPr lang="en-US" spc="15" dirty="0"/>
              <a:t> </a:t>
            </a:r>
            <a:r>
              <a:rPr lang="en-US" spc="-30" dirty="0"/>
              <a:t>are</a:t>
            </a:r>
            <a:r>
              <a:rPr lang="en-US" spc="15" dirty="0"/>
              <a:t> </a:t>
            </a:r>
            <a:r>
              <a:rPr lang="en-US" spc="-10" dirty="0"/>
              <a:t>going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5" dirty="0"/>
              <a:t> </a:t>
            </a:r>
            <a:r>
              <a:rPr lang="en-US" spc="-55" dirty="0"/>
              <a:t>share</a:t>
            </a:r>
            <a:r>
              <a:rPr lang="en-US" spc="10" dirty="0"/>
              <a:t> </a:t>
            </a:r>
            <a:r>
              <a:rPr lang="en-US" dirty="0"/>
              <a:t>this</a:t>
            </a:r>
            <a:r>
              <a:rPr lang="en-US" spc="15" dirty="0"/>
              <a:t> </a:t>
            </a:r>
            <a:r>
              <a:rPr lang="en-US" dirty="0"/>
              <a:t>with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5" dirty="0"/>
              <a:t> </a:t>
            </a:r>
            <a:r>
              <a:rPr lang="en-US" spc="-10" dirty="0"/>
              <a:t>server.</a:t>
            </a:r>
          </a:p>
          <a:p>
            <a:pPr marL="245110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b="1" dirty="0">
                <a:latin typeface="Arial"/>
                <a:cs typeface="Arial"/>
              </a:rPr>
              <a:t>Private</a:t>
            </a:r>
            <a:r>
              <a:rPr lang="en-US" b="1" spc="-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key</a:t>
            </a:r>
            <a:r>
              <a:rPr lang="en-US" spc="-10" dirty="0"/>
              <a:t>:</a:t>
            </a:r>
            <a:r>
              <a:rPr lang="en-US" spc="60" dirty="0"/>
              <a:t> </a:t>
            </a:r>
            <a:r>
              <a:rPr lang="en-US" dirty="0"/>
              <a:t>This</a:t>
            </a:r>
            <a:r>
              <a:rPr lang="en-US" spc="-15" dirty="0"/>
              <a:t> </a:t>
            </a:r>
            <a:r>
              <a:rPr lang="en-US" spc="-25" dirty="0"/>
              <a:t>one</a:t>
            </a:r>
            <a:r>
              <a:rPr lang="en-US" spc="-15" dirty="0"/>
              <a:t> </a:t>
            </a:r>
            <a:r>
              <a:rPr lang="en-US" dirty="0"/>
              <a:t>is</a:t>
            </a:r>
            <a:r>
              <a:rPr lang="en-US" spc="-20" dirty="0"/>
              <a:t> </a:t>
            </a:r>
            <a:r>
              <a:rPr lang="en-US" dirty="0"/>
              <a:t>kept</a:t>
            </a:r>
            <a:r>
              <a:rPr lang="en-US" spc="-15" dirty="0"/>
              <a:t> </a:t>
            </a:r>
            <a:r>
              <a:rPr lang="en-US" spc="-25" dirty="0"/>
              <a:t>secret</a:t>
            </a:r>
            <a:r>
              <a:rPr lang="en-US" spc="-15" dirty="0"/>
              <a:t> </a:t>
            </a:r>
            <a:r>
              <a:rPr lang="en-US" dirty="0"/>
              <a:t>on</a:t>
            </a:r>
            <a:r>
              <a:rPr lang="en-US" spc="-20" dirty="0"/>
              <a:t> </a:t>
            </a:r>
            <a:r>
              <a:rPr lang="en-US" dirty="0"/>
              <a:t>our</a:t>
            </a:r>
            <a:r>
              <a:rPr lang="en-US" spc="-15" dirty="0"/>
              <a:t> </a:t>
            </a:r>
            <a:r>
              <a:rPr lang="en-US" dirty="0"/>
              <a:t>local</a:t>
            </a:r>
            <a:r>
              <a:rPr lang="en-US" spc="-15" dirty="0"/>
              <a:t> </a:t>
            </a:r>
            <a:r>
              <a:rPr lang="en-US" spc="-10" dirty="0"/>
              <a:t>machine.</a:t>
            </a:r>
          </a:p>
          <a:p>
            <a:pPr marL="17780">
              <a:lnSpc>
                <a:spcPct val="100000"/>
              </a:lnSpc>
              <a:spcBef>
                <a:spcPts val="1035"/>
              </a:spcBef>
            </a:pPr>
            <a:r>
              <a:rPr lang="en-US" b="1" spc="-35" dirty="0">
                <a:latin typeface="Arial"/>
                <a:cs typeface="Arial"/>
              </a:rPr>
              <a:t>Key-</a:t>
            </a:r>
            <a:r>
              <a:rPr lang="en-US" b="1" spc="-10" dirty="0">
                <a:latin typeface="Arial"/>
                <a:cs typeface="Arial"/>
              </a:rPr>
              <a:t>Based</a:t>
            </a:r>
            <a:r>
              <a:rPr lang="en-US" b="1" spc="-15" dirty="0">
                <a:latin typeface="Arial"/>
                <a:cs typeface="Arial"/>
              </a:rPr>
              <a:t> </a:t>
            </a:r>
            <a:r>
              <a:rPr lang="en-US" b="1" spc="-10" dirty="0">
                <a:latin typeface="Arial"/>
                <a:cs typeface="Arial"/>
              </a:rPr>
              <a:t>Authentication</a:t>
            </a:r>
          </a:p>
          <a:p>
            <a:pPr marL="17780" marR="385445" indent="-5715">
              <a:lnSpc>
                <a:spcPct val="116199"/>
              </a:lnSpc>
              <a:spcBef>
                <a:spcPts val="670"/>
              </a:spcBef>
            </a:pPr>
            <a:r>
              <a:rPr lang="en-US" spc="-10" dirty="0"/>
              <a:t>When</a:t>
            </a:r>
            <a:r>
              <a:rPr lang="en-US" spc="5" dirty="0"/>
              <a:t> </a:t>
            </a:r>
            <a:r>
              <a:rPr lang="en-US" spc="-40" dirty="0"/>
              <a:t>we</a:t>
            </a:r>
            <a:r>
              <a:rPr lang="en-US" spc="5" dirty="0"/>
              <a:t> </a:t>
            </a:r>
            <a:r>
              <a:rPr lang="en-US" spc="-20" dirty="0"/>
              <a:t>connect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dirty="0"/>
              <a:t>a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spc="-20" dirty="0"/>
              <a:t>using</a:t>
            </a:r>
            <a:r>
              <a:rPr lang="en-US" spc="5" dirty="0"/>
              <a:t> </a:t>
            </a:r>
            <a:r>
              <a:rPr lang="en-US" spc="-25" dirty="0"/>
              <a:t>SSH,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35" dirty="0"/>
              <a:t>server</a:t>
            </a:r>
            <a:r>
              <a:rPr lang="en-US" spc="5" dirty="0"/>
              <a:t> </a:t>
            </a:r>
            <a:r>
              <a:rPr lang="en-US" dirty="0"/>
              <a:t>(the</a:t>
            </a:r>
            <a:r>
              <a:rPr lang="en-US" spc="5" dirty="0"/>
              <a:t> </a:t>
            </a:r>
            <a:r>
              <a:rPr lang="en-US" spc="-25" dirty="0"/>
              <a:t>EC2</a:t>
            </a:r>
            <a:r>
              <a:rPr lang="en-US" spc="5" dirty="0"/>
              <a:t> </a:t>
            </a:r>
            <a:r>
              <a:rPr lang="en-US" spc="-10" dirty="0"/>
              <a:t>machine)</a:t>
            </a:r>
            <a:r>
              <a:rPr lang="en-US" spc="5" dirty="0"/>
              <a:t> </a:t>
            </a:r>
            <a:r>
              <a:rPr lang="en-US" spc="-40" dirty="0"/>
              <a:t>checks</a:t>
            </a:r>
            <a:r>
              <a:rPr lang="en-US" spc="5" dirty="0"/>
              <a:t> </a:t>
            </a:r>
            <a:r>
              <a:rPr lang="en-US" dirty="0"/>
              <a:t>if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dirty="0"/>
              <a:t>public</a:t>
            </a:r>
            <a:r>
              <a:rPr lang="en-US" spc="5" dirty="0"/>
              <a:t> </a:t>
            </a:r>
            <a:r>
              <a:rPr lang="en-US" spc="-25" dirty="0"/>
              <a:t>key </a:t>
            </a:r>
            <a:r>
              <a:rPr lang="en-US" spc="-30" dirty="0"/>
              <a:t>matches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10" dirty="0"/>
              <a:t>private</a:t>
            </a:r>
            <a:r>
              <a:rPr lang="en-US" spc="10" dirty="0"/>
              <a:t> </a:t>
            </a:r>
            <a:r>
              <a:rPr lang="en-US" spc="-30" dirty="0"/>
              <a:t>key.</a:t>
            </a:r>
            <a:r>
              <a:rPr lang="en-US" spc="95" dirty="0"/>
              <a:t> </a:t>
            </a:r>
            <a:r>
              <a:rPr lang="en-US" dirty="0"/>
              <a:t>If</a:t>
            </a:r>
            <a:r>
              <a:rPr lang="en-US" spc="10" dirty="0"/>
              <a:t> </a:t>
            </a:r>
            <a:r>
              <a:rPr lang="en-US" dirty="0"/>
              <a:t>they</a:t>
            </a:r>
            <a:r>
              <a:rPr lang="en-US" spc="10" dirty="0"/>
              <a:t> </a:t>
            </a:r>
            <a:r>
              <a:rPr lang="en-US" dirty="0"/>
              <a:t>match,</a:t>
            </a:r>
            <a:r>
              <a:rPr lang="en-US" spc="10" dirty="0"/>
              <a:t> </a:t>
            </a:r>
            <a:r>
              <a:rPr lang="en-US" spc="-75" dirty="0"/>
              <a:t>access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spc="-10" dirty="0"/>
              <a:t>granted.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978535" cy="5080"/>
            </a:xfrm>
            <a:custGeom>
              <a:avLst/>
              <a:gdLst/>
              <a:ahLst/>
              <a:cxnLst/>
              <a:rect l="l" t="t" r="r" b="b"/>
              <a:pathLst>
                <a:path w="978535" h="5080">
                  <a:moveTo>
                    <a:pt x="0" y="5060"/>
                  </a:moveTo>
                  <a:lnTo>
                    <a:pt x="0" y="0"/>
                  </a:lnTo>
                  <a:lnTo>
                    <a:pt x="978147" y="0"/>
                  </a:lnTo>
                  <a:lnTo>
                    <a:pt x="97814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What</a:t>
            </a:r>
            <a:r>
              <a:rPr lang="en-US" spc="-5" dirty="0"/>
              <a:t> </a:t>
            </a:r>
            <a:r>
              <a:rPr lang="en-US" dirty="0"/>
              <a:t>do</a:t>
            </a:r>
            <a:r>
              <a:rPr lang="en-US" spc="-5" dirty="0"/>
              <a:t> </a:t>
            </a:r>
            <a:r>
              <a:rPr lang="en-US" spc="-35" dirty="0"/>
              <a:t>you</a:t>
            </a:r>
            <a:r>
              <a:rPr lang="en-US" spc="-5" dirty="0"/>
              <a:t> </a:t>
            </a:r>
            <a:r>
              <a:rPr lang="en-US" spc="-10" dirty="0"/>
              <a:t>mean</a:t>
            </a:r>
            <a:r>
              <a:rPr lang="en-US" dirty="0"/>
              <a:t> </a:t>
            </a:r>
            <a:r>
              <a:rPr lang="en-US" spc="-10" dirty="0"/>
              <a:t>by</a:t>
            </a:r>
            <a:r>
              <a:rPr lang="en-US" spc="-5" dirty="0"/>
              <a:t> </a:t>
            </a:r>
            <a:r>
              <a:rPr lang="en-US" spc="-10" dirty="0"/>
              <a:t>client</a:t>
            </a:r>
            <a:r>
              <a:rPr lang="en-US" spc="-5" dirty="0"/>
              <a:t> </a:t>
            </a:r>
            <a:r>
              <a:rPr lang="en-US" spc="-10" dirty="0"/>
              <a:t>and</a:t>
            </a:r>
            <a:r>
              <a:rPr lang="en-US" spc="-5" dirty="0"/>
              <a:t> </a:t>
            </a:r>
            <a:r>
              <a:rPr lang="en-US" spc="-40" dirty="0"/>
              <a:t>server?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951809"/>
            <a:ext cx="4915535" cy="14605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778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endParaRPr lang="en-US" sz="900" dirty="0">
              <a:latin typeface="Arial"/>
              <a:cs typeface="Arial"/>
            </a:endParaRPr>
          </a:p>
          <a:p>
            <a:pPr marL="13970">
              <a:lnSpc>
                <a:spcPct val="100000"/>
              </a:lnSpc>
              <a:spcBef>
                <a:spcPts val="844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model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describes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communicate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over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network.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62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client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things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b="1" spc="-6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1300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4130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remote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machine)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responsible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providing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those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</a:pP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Watching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Video</a:t>
            </a:r>
            <a:endParaRPr lang="en-US" sz="900" dirty="0">
              <a:latin typeface="Arial"/>
              <a:cs typeface="Arial"/>
            </a:endParaRPr>
          </a:p>
          <a:p>
            <a:pPr marL="13335" marR="5080" indent="-1270">
              <a:lnSpc>
                <a:spcPct val="116199"/>
              </a:lnSpc>
              <a:spcBef>
                <a:spcPts val="67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watch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video,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client)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sends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request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YouTube’s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server)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stream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video.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087120" cy="5080"/>
            </a:xfrm>
            <a:custGeom>
              <a:avLst/>
              <a:gdLst/>
              <a:ahLst/>
              <a:cxnLst/>
              <a:rect l="l" t="t" r="r" b="b"/>
              <a:pathLst>
                <a:path w="1087120" h="5080">
                  <a:moveTo>
                    <a:pt x="0" y="5060"/>
                  </a:moveTo>
                  <a:lnTo>
                    <a:pt x="0" y="0"/>
                  </a:lnTo>
                  <a:lnTo>
                    <a:pt x="1086781" y="0"/>
                  </a:lnTo>
                  <a:lnTo>
                    <a:pt x="108678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59994" y="866188"/>
            <a:ext cx="5040019" cy="142001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86191" y="2420174"/>
            <a:ext cx="238823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model when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watching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Netflix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195705" cy="5080"/>
            </a:xfrm>
            <a:custGeom>
              <a:avLst/>
              <a:gdLst/>
              <a:ahLst/>
              <a:cxnLst/>
              <a:rect l="l" t="t" r="r" b="b"/>
              <a:pathLst>
                <a:path w="1195705" h="5080">
                  <a:moveTo>
                    <a:pt x="0" y="5060"/>
                  </a:moveTo>
                  <a:lnTo>
                    <a:pt x="0" y="0"/>
                  </a:lnTo>
                  <a:lnTo>
                    <a:pt x="1195503" y="0"/>
                  </a:lnTo>
                  <a:lnTo>
                    <a:pt x="119550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238061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What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do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mean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by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client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and</a:t>
            </a:r>
            <a:r>
              <a:rPr lang="en-US" sz="1000" b="1" spc="-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server?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288541" y="596950"/>
            <a:ext cx="3182925" cy="17991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727339" y="2530092"/>
            <a:ext cx="230568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8: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Client-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server model when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sending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emails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304290" cy="5080"/>
            </a:xfrm>
            <a:custGeom>
              <a:avLst/>
              <a:gdLst/>
              <a:ahLst/>
              <a:cxnLst/>
              <a:rect l="l" t="t" r="r" b="b"/>
              <a:pathLst>
                <a:path w="1304290" h="5080">
                  <a:moveTo>
                    <a:pt x="0" y="5060"/>
                  </a:moveTo>
                  <a:lnTo>
                    <a:pt x="0" y="0"/>
                  </a:lnTo>
                  <a:lnTo>
                    <a:pt x="1304137" y="0"/>
                  </a:lnTo>
                  <a:lnTo>
                    <a:pt x="13041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03"/>
            <a:ext cx="194945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Why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do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6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I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need</a:t>
            </a:r>
            <a:r>
              <a:rPr lang="en-US" sz="1100" b="1" spc="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</a:t>
            </a:r>
            <a:r>
              <a:rPr lang="en-US" sz="1100" b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open</a:t>
            </a:r>
            <a:r>
              <a:rPr lang="en-US" sz="1100" b="1" i="1" spc="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i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ports</a:t>
            </a:r>
            <a:r>
              <a:rPr lang="en-US" sz="1100" b="1" spc="-3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?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6993"/>
            <a:ext cx="2505710" cy="5080"/>
            <a:chOff x="1627403" y="1646993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6993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6993"/>
              <a:ext cx="567690" cy="5080"/>
            </a:xfrm>
            <a:custGeom>
              <a:avLst/>
              <a:gdLst/>
              <a:ahLst/>
              <a:cxnLst/>
              <a:rect l="l" t="t" r="r" b="b"/>
              <a:pathLst>
                <a:path w="567689" h="5080">
                  <a:moveTo>
                    <a:pt x="0" y="5060"/>
                  </a:moveTo>
                  <a:lnTo>
                    <a:pt x="0" y="0"/>
                  </a:lnTo>
                  <a:lnTo>
                    <a:pt x="567210" y="0"/>
                  </a:lnTo>
                  <a:lnTo>
                    <a:pt x="5672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32829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Ports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576219"/>
            <a:ext cx="3977640" cy="221170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Ports?</a:t>
            </a:r>
            <a:endParaRPr lang="en-US" sz="900" dirty="0">
              <a:latin typeface="Arial"/>
              <a:cs typeface="Arial"/>
            </a:endParaRPr>
          </a:p>
          <a:p>
            <a:pPr marL="16510" marR="5080">
              <a:lnSpc>
                <a:spcPct val="157700"/>
              </a:lnSpc>
              <a:spcBef>
                <a:spcPts val="22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Computers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differentiate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types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network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services.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(Remote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Login)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(Web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(Secure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Traﬀic)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4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Analogy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Think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hotel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rooms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reception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(SSH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80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restaurant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web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service).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Room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443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lounge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(HTTPS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secure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access).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412875" cy="5080"/>
            </a:xfrm>
            <a:custGeom>
              <a:avLst/>
              <a:gdLst/>
              <a:ahLst/>
              <a:cxnLst/>
              <a:rect l="l" t="t" r="r" b="b"/>
              <a:pathLst>
                <a:path w="1412875" h="5080">
                  <a:moveTo>
                    <a:pt x="0" y="5060"/>
                  </a:moveTo>
                  <a:lnTo>
                    <a:pt x="0" y="0"/>
                  </a:lnTo>
                  <a:lnTo>
                    <a:pt x="1412859" y="0"/>
                  </a:lnTo>
                  <a:lnTo>
                    <a:pt x="141285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60" dirty="0"/>
              <a:t>groups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972246" y="2696844"/>
            <a:ext cx="563880" cy="139700"/>
            <a:chOff x="1972246" y="2696844"/>
            <a:chExt cx="563880" cy="139700"/>
          </a:xfrm>
        </p:grpSpPr>
        <p:sp>
          <p:nvSpPr>
            <p:cNvPr id="4" name="object 4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972246" y="2696844"/>
              <a:ext cx="563880" cy="139700"/>
            </a:xfrm>
            <a:custGeom>
              <a:avLst/>
              <a:gdLst/>
              <a:ahLst/>
              <a:cxnLst/>
              <a:rect l="l" t="t" r="r" b="b"/>
              <a:pathLst>
                <a:path w="563880" h="139700">
                  <a:moveTo>
                    <a:pt x="52736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3090"/>
                  </a:lnTo>
                  <a:lnTo>
                    <a:pt x="2829" y="117103"/>
                  </a:lnTo>
                  <a:lnTo>
                    <a:pt x="10544" y="128546"/>
                  </a:lnTo>
                  <a:lnTo>
                    <a:pt x="21987" y="136261"/>
                  </a:lnTo>
                  <a:lnTo>
                    <a:pt x="36000" y="139090"/>
                  </a:lnTo>
                  <a:lnTo>
                    <a:pt x="527362" y="139090"/>
                  </a:lnTo>
                  <a:lnTo>
                    <a:pt x="541374" y="136261"/>
                  </a:lnTo>
                  <a:lnTo>
                    <a:pt x="552817" y="128546"/>
                  </a:lnTo>
                  <a:lnTo>
                    <a:pt x="560533" y="117103"/>
                  </a:lnTo>
                  <a:lnTo>
                    <a:pt x="563362" y="103090"/>
                  </a:lnTo>
                  <a:lnTo>
                    <a:pt x="563362" y="36000"/>
                  </a:lnTo>
                  <a:lnTo>
                    <a:pt x="560533" y="21987"/>
                  </a:lnTo>
                  <a:lnTo>
                    <a:pt x="552817" y="10544"/>
                  </a:lnTo>
                  <a:lnTo>
                    <a:pt x="541374" y="2829"/>
                  </a:lnTo>
                  <a:lnTo>
                    <a:pt x="52736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354527"/>
            <a:ext cx="4706620" cy="26416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844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define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open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internet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 which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62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default,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blocks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incoming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39395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explicitly</a:t>
            </a:r>
            <a:r>
              <a:rPr lang="en-US" sz="9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certain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HTTP).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69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What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5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just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of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firewall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configure: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62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Outbound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endParaRPr lang="en-US" sz="900" dirty="0">
              <a:latin typeface="Arial"/>
              <a:cs typeface="Arial"/>
            </a:endParaRPr>
          </a:p>
          <a:p>
            <a:pPr marL="16510">
              <a:lnSpc>
                <a:spcPct val="100000"/>
              </a:lnSpc>
              <a:spcBef>
                <a:spcPts val="930"/>
              </a:spcBef>
            </a:pP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Example:</a:t>
            </a:r>
            <a:r>
              <a:rPr lang="en-US" sz="9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Opening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r>
              <a:rPr lang="en-US" sz="9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(SSH)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850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endParaRPr lang="en-US" sz="900" dirty="0">
              <a:latin typeface="Arial"/>
              <a:cs typeface="Arial"/>
            </a:endParaRPr>
          </a:p>
          <a:p>
            <a:pPr marL="243204" lvl="1" indent="-147320">
              <a:lnSpc>
                <a:spcPct val="100000"/>
              </a:lnSpc>
              <a:spcBef>
                <a:spcPts val="175"/>
              </a:spcBef>
              <a:buFont typeface="Arial"/>
              <a:buChar char="•"/>
              <a:tabLst>
                <a:tab pos="243204" algn="l"/>
              </a:tabLst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900" b="1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22</a:t>
            </a:r>
            <a:endParaRPr lang="en-US" sz="900" dirty="0">
              <a:latin typeface="Arial"/>
              <a:cs typeface="Arial"/>
            </a:endParaRPr>
          </a:p>
          <a:p>
            <a:pPr marL="243840" marR="5080" lvl="1" indent="-147955">
              <a:lnSpc>
                <a:spcPct val="116199"/>
              </a:lnSpc>
              <a:buFont typeface="Arial"/>
              <a:buChar char="•"/>
              <a:tabLst>
                <a:tab pos="243840" algn="l"/>
              </a:tabLst>
            </a:pP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9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address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0.0.0.0/0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(not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recommended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production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for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reasons).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1522095" cy="5080"/>
            </a:xfrm>
            <a:custGeom>
              <a:avLst/>
              <a:gdLst/>
              <a:ahLst/>
              <a:cxnLst/>
              <a:rect l="l" t="t" r="r" b="b"/>
              <a:pathLst>
                <a:path w="1522095" h="5080">
                  <a:moveTo>
                    <a:pt x="0" y="5060"/>
                  </a:moveTo>
                  <a:lnTo>
                    <a:pt x="0" y="0"/>
                  </a:lnTo>
                  <a:lnTo>
                    <a:pt x="1521493" y="0"/>
                  </a:lnTo>
                  <a:lnTo>
                    <a:pt x="152149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146748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Today’s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Work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on</a:t>
            </a:r>
            <a:r>
              <a:rPr lang="en-US" sz="1100" b="1" spc="-2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2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AWS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662305" cy="5080"/>
            </a:xfrm>
            <a:custGeom>
              <a:avLst/>
              <a:gdLst/>
              <a:ahLst/>
              <a:cxnLst/>
              <a:rect l="l" t="t" r="r" b="b"/>
              <a:pathLst>
                <a:path w="662305" h="5080">
                  <a:moveTo>
                    <a:pt x="0" y="5060"/>
                  </a:moveTo>
                  <a:lnTo>
                    <a:pt x="0" y="0"/>
                  </a:lnTo>
                  <a:lnTo>
                    <a:pt x="661745" y="0"/>
                  </a:lnTo>
                  <a:lnTo>
                    <a:pt x="6617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90995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Goals</a:t>
            </a:r>
            <a:r>
              <a:rPr lang="en-US" spc="-20" dirty="0"/>
              <a:t> </a:t>
            </a:r>
            <a:r>
              <a:rPr lang="en-US" dirty="0"/>
              <a:t>for</a:t>
            </a:r>
            <a:r>
              <a:rPr lang="en-US" spc="-15" dirty="0"/>
              <a:t> </a:t>
            </a:r>
            <a:r>
              <a:rPr lang="en-US" spc="-10" dirty="0"/>
              <a:t>today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319" y="1132250"/>
            <a:ext cx="3851910" cy="11182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Today,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will: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EC2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through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Configure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server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1630680" cy="5080"/>
            </a:xfrm>
            <a:custGeom>
              <a:avLst/>
              <a:gdLst/>
              <a:ahLst/>
              <a:cxnLst/>
              <a:rect l="l" t="t" r="r" b="b"/>
              <a:pathLst>
                <a:path w="1630680" h="5080">
                  <a:moveTo>
                    <a:pt x="0" y="5060"/>
                  </a:moveTo>
                  <a:lnTo>
                    <a:pt x="0" y="0"/>
                  </a:lnTo>
                  <a:lnTo>
                    <a:pt x="1630216" y="0"/>
                  </a:lnTo>
                  <a:lnTo>
                    <a:pt x="163021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8526" y="59834"/>
            <a:ext cx="181038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10" dirty="0">
                <a:solidFill>
                  <a:srgbClr val="F9F9F9"/>
                </a:solidFill>
                <a:latin typeface="Arial"/>
                <a:cs typeface="Arial"/>
              </a:rPr>
              <a:t>Introduction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AWS</a:t>
            </a:r>
            <a:r>
              <a:rPr lang="en-US" sz="1000" b="1" spc="1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Academy</a:t>
            </a:r>
            <a:endParaRPr lang="en-US" sz="10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3433" y="383365"/>
            <a:ext cx="493458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080" indent="-4445">
              <a:lnSpc>
                <a:spcPct val="116199"/>
              </a:lnSpc>
              <a:spcBef>
                <a:spcPts val="100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allows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educators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provide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students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limited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budget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restricted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service</a:t>
            </a:r>
            <a:r>
              <a:rPr lang="en-US" sz="9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80579" y="807701"/>
            <a:ext cx="3598862" cy="17994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304199" y="2741115"/>
            <a:ext cx="11518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9: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Academy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739264" cy="5080"/>
            </a:xfrm>
            <a:custGeom>
              <a:avLst/>
              <a:gdLst/>
              <a:ahLst/>
              <a:cxnLst/>
              <a:rect l="l" t="t" r="r" b="b"/>
              <a:pathLst>
                <a:path w="1739264" h="5080">
                  <a:moveTo>
                    <a:pt x="0" y="5060"/>
                  </a:moveTo>
                  <a:lnTo>
                    <a:pt x="0" y="0"/>
                  </a:lnTo>
                  <a:lnTo>
                    <a:pt x="1738850" y="0"/>
                  </a:lnTo>
                  <a:lnTo>
                    <a:pt x="17388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074" y="297443"/>
            <a:ext cx="5687226" cy="263667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79052" y="3020336"/>
            <a:ext cx="14427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10:</a:t>
            </a:r>
            <a:r>
              <a:rPr lang="en-US" sz="800" b="1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Accepting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invite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847850" cy="5080"/>
            </a:xfrm>
            <a:custGeom>
              <a:avLst/>
              <a:gdLst/>
              <a:ahLst/>
              <a:cxnLst/>
              <a:rect l="l" t="t" r="r" b="b"/>
              <a:pathLst>
                <a:path w="1847850" h="5080">
                  <a:moveTo>
                    <a:pt x="0" y="5060"/>
                  </a:moveTo>
                  <a:lnTo>
                    <a:pt x="0" y="0"/>
                  </a:lnTo>
                  <a:lnTo>
                    <a:pt x="1847572" y="0"/>
                  </a:lnTo>
                  <a:lnTo>
                    <a:pt x="184757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40652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20" dirty="0">
                <a:solidFill>
                  <a:srgbClr val="F9F9F9"/>
                </a:solidFill>
                <a:latin typeface="Arial"/>
                <a:cs typeface="Arial"/>
              </a:rPr>
              <a:t>Activating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your</a:t>
            </a:r>
            <a:r>
              <a:rPr lang="en-US" sz="1000" b="1" spc="2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account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7900" y="479425"/>
            <a:ext cx="3429000" cy="154193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11070" y="2155328"/>
            <a:ext cx="153797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11: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Creating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account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1956435" cy="5080"/>
            </a:xfrm>
            <a:custGeom>
              <a:avLst/>
              <a:gdLst/>
              <a:ahLst/>
              <a:cxnLst/>
              <a:rect l="l" t="t" r="r" b="b"/>
              <a:pathLst>
                <a:path w="1956435" h="5080">
                  <a:moveTo>
                    <a:pt x="0" y="5060"/>
                  </a:moveTo>
                  <a:lnTo>
                    <a:pt x="0" y="0"/>
                  </a:lnTo>
                  <a:lnTo>
                    <a:pt x="1956206" y="0"/>
                  </a:lnTo>
                  <a:lnTo>
                    <a:pt x="19562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3242"/>
            <a:ext cx="5083810" cy="150682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visit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https://awsacademy.instructure.com/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student.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739900" y="730602"/>
            <a:ext cx="2133600" cy="21694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000529" y="2917825"/>
            <a:ext cx="175895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12:</a:t>
            </a:r>
            <a:r>
              <a:rPr lang="en-US" sz="800" b="1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credentials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065020" cy="5080"/>
            </a:xfrm>
            <a:custGeom>
              <a:avLst/>
              <a:gdLst/>
              <a:ahLst/>
              <a:cxnLst/>
              <a:rect l="l" t="t" r="r" b="b"/>
              <a:pathLst>
                <a:path w="2065020" h="5080">
                  <a:moveTo>
                    <a:pt x="0" y="5060"/>
                  </a:moveTo>
                  <a:lnTo>
                    <a:pt x="0" y="0"/>
                  </a:lnTo>
                  <a:lnTo>
                    <a:pt x="2064928" y="0"/>
                  </a:lnTo>
                  <a:lnTo>
                    <a:pt x="206492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Logging</a:t>
            </a:r>
            <a:r>
              <a:rPr lang="en-US" spc="-10" dirty="0"/>
              <a:t> </a:t>
            </a:r>
            <a:r>
              <a:rPr lang="en-US" dirty="0"/>
              <a:t>in</a:t>
            </a:r>
            <a:r>
              <a:rPr lang="en-US" spc="-10" dirty="0"/>
              <a:t> </a:t>
            </a:r>
            <a:r>
              <a:rPr lang="en-US" dirty="0"/>
              <a:t>from</a:t>
            </a:r>
            <a:r>
              <a:rPr lang="en-US" spc="-5" dirty="0"/>
              <a:t> </a:t>
            </a:r>
            <a:r>
              <a:rPr lang="en-US" spc="-30" dirty="0"/>
              <a:t>now</a:t>
            </a:r>
            <a:r>
              <a:rPr lang="en-US" spc="-10" dirty="0"/>
              <a:t> </a:t>
            </a:r>
            <a:r>
              <a:rPr lang="en-US" spc="-25" dirty="0"/>
              <a:t>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485706"/>
            <a:ext cx="4182110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receive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email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process.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749300" y="648266"/>
            <a:ext cx="4182110" cy="224161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154841" y="2917825"/>
            <a:ext cx="155765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13:</a:t>
            </a:r>
            <a:r>
              <a:rPr lang="en-US" sz="800" b="1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verification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174240" cy="5080"/>
            </a:xfrm>
            <a:custGeom>
              <a:avLst/>
              <a:gdLst/>
              <a:ahLst/>
              <a:cxnLst/>
              <a:rect l="l" t="t" r="r" b="b"/>
              <a:pathLst>
                <a:path w="2174240" h="5080">
                  <a:moveTo>
                    <a:pt x="0" y="5060"/>
                  </a:moveTo>
                  <a:lnTo>
                    <a:pt x="0" y="0"/>
                  </a:lnTo>
                  <a:lnTo>
                    <a:pt x="2173650" y="0"/>
                  </a:lnTo>
                  <a:lnTo>
                    <a:pt x="217365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30" dirty="0"/>
              <a:t> </a:t>
            </a:r>
            <a:r>
              <a:rPr lang="en-US" spc="-65" dirty="0"/>
              <a:t>courses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3433" y="371520"/>
            <a:ext cx="2387067" cy="151772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You’ll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to:</a:t>
            </a:r>
          </a:p>
          <a:p>
            <a:pPr marL="12700">
              <a:lnSpc>
                <a:spcPct val="100000"/>
              </a:lnSpc>
              <a:spcBef>
                <a:spcPts val="9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Foundation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>
              <a:lnSpc>
                <a:spcPct val="100000"/>
              </a:lnSpc>
              <a:spcBef>
                <a:spcPts val="800"/>
              </a:spcBef>
              <a:tabLst>
                <a:tab pos="239395" algn="l"/>
              </a:tabLst>
            </a:pP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(Theory-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based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learning).</a:t>
            </a:r>
          </a:p>
          <a:p>
            <a:pPr marL="324485" indent="-228600">
              <a:lnSpc>
                <a:spcPct val="100000"/>
              </a:lnSpc>
              <a:spcBef>
                <a:spcPts val="800"/>
              </a:spcBef>
              <a:buFont typeface="+mj-lt"/>
              <a:buAutoNum type="arabicPeriod"/>
              <a:tabLst>
                <a:tab pos="239395" algn="l"/>
              </a:tabLst>
            </a:pPr>
            <a:endParaRPr lang="en-US" sz="900" dirty="0">
              <a:latin typeface="Arial"/>
              <a:cs typeface="Arial"/>
            </a:endParaRP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          2.    AWS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	      (Hands-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experience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</a:p>
          <a:p>
            <a:pPr marL="95885" lvl="2">
              <a:spcBef>
                <a:spcPts val="175"/>
              </a:spcBef>
              <a:tabLst>
                <a:tab pos="239395" algn="l"/>
              </a:tabLst>
            </a:pP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           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services).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30500" y="332104"/>
            <a:ext cx="2514600" cy="2615761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27262" y="2950411"/>
            <a:ext cx="130556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14:</a:t>
            </a:r>
            <a:r>
              <a:rPr lang="en-US" sz="800" b="1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courses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282825" cy="5080"/>
            </a:xfrm>
            <a:custGeom>
              <a:avLst/>
              <a:gdLst/>
              <a:ahLst/>
              <a:cxnLst/>
              <a:rect l="l" t="t" r="r" b="b"/>
              <a:pathLst>
                <a:path w="2282825" h="5080">
                  <a:moveTo>
                    <a:pt x="0" y="5060"/>
                  </a:moveTo>
                  <a:lnTo>
                    <a:pt x="0" y="0"/>
                  </a:lnTo>
                  <a:lnTo>
                    <a:pt x="2282285" y="0"/>
                  </a:lnTo>
                  <a:lnTo>
                    <a:pt x="228228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0" name="Flecha derecha 9">
            <a:extLst>
              <a:ext uri="{FF2B5EF4-FFF2-40B4-BE49-F238E27FC236}">
                <a16:creationId xmlns:a16="http://schemas.microsoft.com/office/drawing/2014/main" id="{94DB57A0-D61C-F006-F732-E3D21F3580C9}"/>
              </a:ext>
            </a:extLst>
          </p:cNvPr>
          <p:cNvSpPr/>
          <p:nvPr/>
        </p:nvSpPr>
        <p:spPr>
          <a:xfrm>
            <a:off x="63500" y="762499"/>
            <a:ext cx="304800" cy="175585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Flecha derecha 10">
            <a:extLst>
              <a:ext uri="{FF2B5EF4-FFF2-40B4-BE49-F238E27FC236}">
                <a16:creationId xmlns:a16="http://schemas.microsoft.com/office/drawing/2014/main" id="{3848A72E-B31A-BFC0-6DD4-3EBE22F7E4EE}"/>
              </a:ext>
            </a:extLst>
          </p:cNvPr>
          <p:cNvSpPr/>
          <p:nvPr/>
        </p:nvSpPr>
        <p:spPr>
          <a:xfrm>
            <a:off x="444500" y="1419862"/>
            <a:ext cx="228600" cy="118642"/>
          </a:xfrm>
          <a:prstGeom prst="rightArrow">
            <a:avLst>
              <a:gd name="adj1" fmla="val 50000"/>
              <a:gd name="adj2" fmla="val 46142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5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5" dirty="0"/>
              <a:t> </a:t>
            </a:r>
            <a:r>
              <a:rPr lang="en-US" spc="-30" dirty="0"/>
              <a:t>Cloud</a:t>
            </a:r>
            <a:r>
              <a:rPr lang="en-US" spc="10" dirty="0"/>
              <a:t> </a:t>
            </a:r>
            <a:r>
              <a:rPr lang="en-US" spc="-30" dirty="0"/>
              <a:t>Foundation</a:t>
            </a:r>
            <a:r>
              <a:rPr lang="en-US" spc="5" dirty="0"/>
              <a:t> </a:t>
            </a:r>
            <a:r>
              <a:rPr lang="en-US" spc="-35" dirty="0"/>
              <a:t>Course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xfrm>
            <a:off x="341718" y="846814"/>
            <a:ext cx="5073650" cy="1519006"/>
          </a:xfrm>
          <a:prstGeom prst="rect">
            <a:avLst/>
          </a:prstGeom>
        </p:spPr>
        <p:txBody>
          <a:bodyPr vert="horz" wrap="square" lIns="0" tIns="315277" rIns="0" bIns="0" rtlCol="0">
            <a:spAutoFit/>
          </a:bodyPr>
          <a:lstStyle/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dirty="0"/>
              <a:t>All the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spc="-30" dirty="0"/>
              <a:t>are</a:t>
            </a:r>
            <a:r>
              <a:rPr lang="en-US" spc="5" dirty="0"/>
              <a:t> </a:t>
            </a:r>
            <a:r>
              <a:rPr lang="en-US" dirty="0"/>
              <a:t>invited</a:t>
            </a:r>
            <a:r>
              <a:rPr lang="en-US" spc="5" dirty="0"/>
              <a:t> </a:t>
            </a:r>
            <a:r>
              <a:rPr lang="en-US" dirty="0"/>
              <a:t>to</a:t>
            </a:r>
            <a:r>
              <a:rPr lang="en-US" spc="5" dirty="0"/>
              <a:t> </a:t>
            </a:r>
            <a:r>
              <a:rPr lang="en-US" spc="-20" dirty="0"/>
              <a:t>complete</a:t>
            </a:r>
            <a:r>
              <a:rPr lang="en-US" spc="5" dirty="0"/>
              <a:t>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b="1" spc="-30" dirty="0">
                <a:solidFill>
                  <a:srgbClr val="0070C0"/>
                </a:solidFill>
              </a:rPr>
              <a:t>AWS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10" dirty="0">
                <a:solidFill>
                  <a:srgbClr val="0070C0"/>
                </a:solidFill>
              </a:rPr>
              <a:t>Cloud</a:t>
            </a:r>
            <a:r>
              <a:rPr lang="en-US" b="1" spc="5" dirty="0">
                <a:solidFill>
                  <a:srgbClr val="0070C0"/>
                </a:solidFill>
              </a:rPr>
              <a:t> </a:t>
            </a:r>
            <a:r>
              <a:rPr lang="en-US" b="1" spc="-25" dirty="0">
                <a:solidFill>
                  <a:srgbClr val="0070C0"/>
                </a:solidFill>
              </a:rPr>
              <a:t>Foundations</a:t>
            </a:r>
            <a:r>
              <a:rPr lang="en-US" dirty="0"/>
              <a:t> </a:t>
            </a:r>
            <a:r>
              <a:rPr lang="en-US" spc="-30" dirty="0"/>
              <a:t>course.</a:t>
            </a:r>
            <a:r>
              <a:rPr lang="en-US" spc="95" dirty="0"/>
              <a:t> </a:t>
            </a:r>
            <a:r>
              <a:rPr lang="en-US" dirty="0"/>
              <a:t>This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/>
              <a:t>available</a:t>
            </a:r>
            <a:r>
              <a:rPr lang="en-US" spc="5" dirty="0"/>
              <a:t> </a:t>
            </a:r>
            <a:r>
              <a:rPr lang="en-US" spc="-25" dirty="0"/>
              <a:t>in </a:t>
            </a:r>
            <a:r>
              <a:rPr lang="en-US" dirty="0"/>
              <a:t>the</a:t>
            </a:r>
            <a:r>
              <a:rPr lang="en-US" spc="5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25" dirty="0"/>
              <a:t>Educate</a:t>
            </a:r>
            <a:r>
              <a:rPr lang="en-US" spc="10" dirty="0"/>
              <a:t> </a:t>
            </a:r>
            <a:r>
              <a:rPr lang="en-US" dirty="0"/>
              <a:t>platform</a:t>
            </a:r>
            <a:r>
              <a:rPr lang="en-US" spc="10" dirty="0"/>
              <a:t> </a:t>
            </a:r>
            <a:r>
              <a:rPr lang="en-US" dirty="0"/>
              <a:t>and</a:t>
            </a:r>
            <a:r>
              <a:rPr lang="en-US" spc="10" dirty="0"/>
              <a:t> </a:t>
            </a:r>
            <a:r>
              <a:rPr lang="en-US" dirty="0"/>
              <a:t>it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10" dirty="0"/>
              <a:t> </a:t>
            </a:r>
            <a:r>
              <a:rPr lang="en-US" dirty="0"/>
              <a:t>a</a:t>
            </a:r>
            <a:r>
              <a:rPr lang="en-US" spc="10" dirty="0"/>
              <a:t> </a:t>
            </a:r>
            <a:r>
              <a:rPr lang="en-US" dirty="0"/>
              <a:t>great</a:t>
            </a:r>
            <a:r>
              <a:rPr lang="en-US" spc="5" dirty="0"/>
              <a:t> </a:t>
            </a:r>
            <a:r>
              <a:rPr lang="en-US" dirty="0"/>
              <a:t>introduction</a:t>
            </a:r>
            <a:r>
              <a:rPr lang="en-US" spc="10" dirty="0"/>
              <a:t> </a:t>
            </a:r>
            <a:r>
              <a:rPr lang="en-US" dirty="0"/>
              <a:t>to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AWS</a:t>
            </a:r>
            <a:r>
              <a:rPr lang="en-US" spc="10" dirty="0"/>
              <a:t> </a:t>
            </a:r>
            <a:r>
              <a:rPr lang="en-US" spc="-40" dirty="0"/>
              <a:t>services.</a:t>
            </a:r>
            <a:r>
              <a:rPr lang="en-US" spc="9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course</a:t>
            </a:r>
            <a:r>
              <a:rPr lang="en-US" spc="10" dirty="0"/>
              <a:t> </a:t>
            </a:r>
            <a:r>
              <a:rPr lang="en-US" dirty="0"/>
              <a:t>is</a:t>
            </a:r>
            <a:r>
              <a:rPr lang="en-US" spc="5" dirty="0"/>
              <a:t> </a:t>
            </a:r>
            <a:r>
              <a:rPr lang="en-US" spc="-25" dirty="0">
                <a:solidFill>
                  <a:srgbClr val="0070C0"/>
                </a:solidFill>
              </a:rPr>
              <a:t>not mandatory</a:t>
            </a:r>
            <a:r>
              <a:rPr lang="en-US" spc="-25" dirty="0"/>
              <a:t>,</a:t>
            </a:r>
            <a:r>
              <a:rPr lang="en-US" spc="40" dirty="0"/>
              <a:t> </a:t>
            </a:r>
            <a:r>
              <a:rPr lang="en-US" dirty="0"/>
              <a:t>but</a:t>
            </a:r>
            <a:r>
              <a:rPr lang="en-US" spc="45" dirty="0"/>
              <a:t> </a:t>
            </a:r>
            <a:r>
              <a:rPr lang="en-US" dirty="0"/>
              <a:t>it</a:t>
            </a:r>
            <a:r>
              <a:rPr lang="en-US" spc="45" dirty="0"/>
              <a:t> </a:t>
            </a:r>
            <a:r>
              <a:rPr lang="en-US" dirty="0"/>
              <a:t>is</a:t>
            </a:r>
            <a:r>
              <a:rPr lang="en-US" spc="40" dirty="0"/>
              <a:t> </a:t>
            </a:r>
            <a:r>
              <a:rPr lang="en-US" dirty="0"/>
              <a:t>highly</a:t>
            </a:r>
            <a:r>
              <a:rPr lang="en-US" spc="45" dirty="0"/>
              <a:t> </a:t>
            </a:r>
            <a:r>
              <a:rPr lang="en-US" spc="-10" dirty="0"/>
              <a:t>recommended.</a:t>
            </a:r>
          </a:p>
          <a:p>
            <a:pPr marL="184785" marR="5080" indent="-171450">
              <a:lnSpc>
                <a:spcPct val="116199"/>
              </a:lnSpc>
              <a:spcBef>
                <a:spcPts val="100"/>
              </a:spcBef>
              <a:buFont typeface="Arial" panose="020B0604020202020204" pitchFamily="34" charset="0"/>
              <a:buChar char="•"/>
            </a:pPr>
            <a:endParaRPr lang="en-US" spc="-10" dirty="0"/>
          </a:p>
          <a:p>
            <a:pPr marL="184785" marR="14859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dirty="0"/>
              <a:t>This introductory</a:t>
            </a:r>
            <a:r>
              <a:rPr lang="en-US" spc="5" dirty="0"/>
              <a:t> </a:t>
            </a:r>
            <a:r>
              <a:rPr lang="en-US" spc="-40" dirty="0"/>
              <a:t>course</a:t>
            </a:r>
            <a:r>
              <a:rPr lang="en-US" spc="5" dirty="0"/>
              <a:t> </a:t>
            </a:r>
            <a:r>
              <a:rPr lang="en-US" dirty="0"/>
              <a:t>is </a:t>
            </a:r>
            <a:r>
              <a:rPr lang="en-US" spc="-20" dirty="0"/>
              <a:t>intended</a:t>
            </a:r>
            <a:r>
              <a:rPr lang="en-US" spc="5" dirty="0"/>
              <a:t> </a:t>
            </a:r>
            <a:r>
              <a:rPr lang="en-US" dirty="0"/>
              <a:t>for</a:t>
            </a:r>
            <a:r>
              <a:rPr lang="en-US" spc="5" dirty="0"/>
              <a:t> </a:t>
            </a:r>
            <a:r>
              <a:rPr lang="en-US" spc="-20" dirty="0"/>
              <a:t>students</a:t>
            </a:r>
            <a:r>
              <a:rPr lang="en-US" spc="5" dirty="0"/>
              <a:t> </a:t>
            </a:r>
            <a:r>
              <a:rPr lang="en-US" dirty="0"/>
              <a:t>who </a:t>
            </a:r>
            <a:r>
              <a:rPr lang="en-US" spc="-60" dirty="0"/>
              <a:t>seek</a:t>
            </a:r>
            <a:r>
              <a:rPr lang="en-US" spc="5" dirty="0"/>
              <a:t> </a:t>
            </a:r>
            <a:r>
              <a:rPr lang="en-US" dirty="0"/>
              <a:t>an</a:t>
            </a:r>
            <a:r>
              <a:rPr lang="en-US" spc="5" dirty="0"/>
              <a:t> </a:t>
            </a:r>
            <a:r>
              <a:rPr lang="en-US" spc="-10" dirty="0"/>
              <a:t>overall</a:t>
            </a:r>
            <a:r>
              <a:rPr lang="en-US" dirty="0"/>
              <a:t> </a:t>
            </a:r>
            <a:r>
              <a:rPr lang="en-US" spc="-25" dirty="0"/>
              <a:t>understanding</a:t>
            </a:r>
            <a:r>
              <a:rPr lang="en-US" spc="5" dirty="0"/>
              <a:t> </a:t>
            </a:r>
            <a:r>
              <a:rPr lang="en-US" dirty="0"/>
              <a:t>of</a:t>
            </a:r>
            <a:r>
              <a:rPr lang="en-US" spc="5" dirty="0"/>
              <a:t> </a:t>
            </a:r>
            <a:r>
              <a:rPr lang="en-US" spc="-10" dirty="0"/>
              <a:t>cloud computing</a:t>
            </a:r>
            <a:r>
              <a:rPr lang="en-US" spc="15" dirty="0"/>
              <a:t> </a:t>
            </a:r>
            <a:r>
              <a:rPr lang="en-US" spc="-25" dirty="0"/>
              <a:t>concepts,</a:t>
            </a:r>
            <a:r>
              <a:rPr lang="en-US" spc="15" dirty="0"/>
              <a:t> </a:t>
            </a:r>
            <a:r>
              <a:rPr lang="en-US" spc="-25" dirty="0"/>
              <a:t>independent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20" dirty="0"/>
              <a:t>specific</a:t>
            </a:r>
            <a:r>
              <a:rPr lang="en-US" spc="15" dirty="0"/>
              <a:t> </a:t>
            </a:r>
            <a:r>
              <a:rPr lang="en-US" spc="-10" dirty="0"/>
              <a:t>technical</a:t>
            </a:r>
            <a:r>
              <a:rPr lang="en-US" spc="15" dirty="0"/>
              <a:t> </a:t>
            </a:r>
            <a:r>
              <a:rPr lang="en-US" spc="-10" dirty="0"/>
              <a:t>roles.</a:t>
            </a:r>
            <a:r>
              <a:rPr lang="en-US" spc="105" dirty="0"/>
              <a:t> </a:t>
            </a:r>
            <a:r>
              <a:rPr lang="en-US" dirty="0"/>
              <a:t>It</a:t>
            </a:r>
            <a:r>
              <a:rPr lang="en-US" spc="15" dirty="0"/>
              <a:t> </a:t>
            </a:r>
            <a:r>
              <a:rPr lang="en-US" spc="-35" dirty="0"/>
              <a:t>provides</a:t>
            </a:r>
            <a:r>
              <a:rPr lang="en-US" spc="15" dirty="0"/>
              <a:t> </a:t>
            </a:r>
            <a:r>
              <a:rPr lang="en-US" dirty="0"/>
              <a:t>a</a:t>
            </a:r>
            <a:r>
              <a:rPr lang="en-US" spc="15" dirty="0"/>
              <a:t> </a:t>
            </a:r>
            <a:r>
              <a:rPr lang="en-US" spc="-20" dirty="0"/>
              <a:t>detailed</a:t>
            </a:r>
            <a:r>
              <a:rPr lang="en-US" spc="15" dirty="0"/>
              <a:t> </a:t>
            </a:r>
            <a:r>
              <a:rPr lang="en-US" spc="-30" dirty="0"/>
              <a:t>overview</a:t>
            </a:r>
            <a:r>
              <a:rPr lang="en-US" spc="15" dirty="0"/>
              <a:t> </a:t>
            </a:r>
            <a:r>
              <a:rPr lang="en-US" dirty="0"/>
              <a:t>of</a:t>
            </a:r>
            <a:r>
              <a:rPr lang="en-US" spc="15" dirty="0"/>
              <a:t> </a:t>
            </a:r>
            <a:r>
              <a:rPr lang="en-US" spc="-10" dirty="0"/>
              <a:t>cloud </a:t>
            </a:r>
            <a:r>
              <a:rPr lang="en-US" spc="-25" dirty="0"/>
              <a:t>concepts,</a:t>
            </a:r>
            <a:r>
              <a:rPr lang="en-US" spc="-10" dirty="0"/>
              <a:t> </a:t>
            </a:r>
            <a:r>
              <a:rPr lang="en-US" spc="-25" dirty="0"/>
              <a:t>AWS</a:t>
            </a:r>
            <a:r>
              <a:rPr lang="en-US" spc="-10" dirty="0"/>
              <a:t> </a:t>
            </a:r>
            <a:r>
              <a:rPr lang="en-US" spc="-30" dirty="0"/>
              <a:t>core</a:t>
            </a:r>
            <a:r>
              <a:rPr lang="en-US" spc="-10" dirty="0"/>
              <a:t> </a:t>
            </a:r>
            <a:r>
              <a:rPr lang="en-US" spc="-45" dirty="0"/>
              <a:t>services,</a:t>
            </a:r>
            <a:r>
              <a:rPr lang="en-US" spc="-5" dirty="0"/>
              <a:t> </a:t>
            </a:r>
            <a:r>
              <a:rPr lang="en-US" spc="-30" dirty="0"/>
              <a:t>security,</a:t>
            </a:r>
            <a:r>
              <a:rPr lang="en-US" spc="-10" dirty="0"/>
              <a:t> architecture, </a:t>
            </a:r>
            <a:r>
              <a:rPr lang="en-US" dirty="0"/>
              <a:t>pricing,</a:t>
            </a:r>
            <a:r>
              <a:rPr lang="en-US" spc="-10" dirty="0"/>
              <a:t> </a:t>
            </a:r>
            <a:r>
              <a:rPr lang="en-US" dirty="0"/>
              <a:t>and</a:t>
            </a:r>
            <a:r>
              <a:rPr lang="en-US" spc="-5" dirty="0"/>
              <a:t> </a:t>
            </a:r>
            <a:r>
              <a:rPr lang="en-US" spc="-10" dirty="0"/>
              <a:t>support.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391410" cy="5080"/>
            </a:xfrm>
            <a:custGeom>
              <a:avLst/>
              <a:gdLst/>
              <a:ahLst/>
              <a:cxnLst/>
              <a:rect l="l" t="t" r="r" b="b"/>
              <a:pathLst>
                <a:path w="2391410" h="5080">
                  <a:moveTo>
                    <a:pt x="0" y="5060"/>
                  </a:moveTo>
                  <a:lnTo>
                    <a:pt x="0" y="0"/>
                  </a:lnTo>
                  <a:lnTo>
                    <a:pt x="2391006" y="0"/>
                  </a:lnTo>
                  <a:lnTo>
                    <a:pt x="239100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Available</a:t>
            </a:r>
            <a:r>
              <a:rPr lang="en-US" spc="10" dirty="0"/>
              <a:t> </a:t>
            </a:r>
            <a:r>
              <a:rPr lang="en-US" spc="-55" dirty="0"/>
              <a:t>courses:</a:t>
            </a:r>
            <a:r>
              <a:rPr lang="en-US" spc="105" dirty="0"/>
              <a:t> </a:t>
            </a:r>
            <a:r>
              <a:rPr lang="en-US" dirty="0"/>
              <a:t>AWS</a:t>
            </a:r>
            <a:r>
              <a:rPr lang="en-US" spc="15" dirty="0"/>
              <a:t> </a:t>
            </a:r>
            <a:r>
              <a:rPr lang="en-US" spc="-30" dirty="0"/>
              <a:t>Learner</a:t>
            </a:r>
            <a:r>
              <a:rPr lang="en-US" spc="10" dirty="0"/>
              <a:t> </a:t>
            </a:r>
            <a:r>
              <a:rPr lang="en-US" spc="-25" dirty="0"/>
              <a:t>Lab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1718" y="1092423"/>
            <a:ext cx="5093970" cy="1956946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will be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0" dirty="0">
                <a:solidFill>
                  <a:srgbClr val="0070C0"/>
                </a:solidFill>
                <a:latin typeface="Arial"/>
                <a:cs typeface="Arial"/>
              </a:rPr>
              <a:t>Learner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 Lab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complete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today’s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tasks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future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deliverables.</a:t>
            </a:r>
          </a:p>
          <a:p>
            <a:pPr marL="184150" indent="-171450">
              <a:lnSpc>
                <a:spcPct val="100000"/>
              </a:lnSpc>
              <a:spcBef>
                <a:spcPts val="95"/>
              </a:spcBef>
              <a:buFont typeface="Arial" panose="020B0604020202020204" pitchFamily="34" charset="0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184785" marR="147320" indent="-171450">
              <a:lnSpc>
                <a:spcPct val="116199"/>
              </a:lnSpc>
              <a:spcBef>
                <a:spcPts val="625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hands-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where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practice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with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services.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limited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set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of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55" dirty="0">
                <a:solidFill>
                  <a:srgbClr val="0070C0"/>
                </a:solidFill>
                <a:latin typeface="Arial"/>
                <a:cs typeface="Arial"/>
              </a:rPr>
              <a:t>services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10" dirty="0">
                <a:solidFill>
                  <a:srgbClr val="0070C0"/>
                </a:solidFill>
                <a:latin typeface="Arial"/>
                <a:cs typeface="Arial"/>
              </a:rPr>
              <a:t>and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0070C0"/>
                </a:solidFill>
                <a:latin typeface="Arial"/>
                <a:cs typeface="Arial"/>
              </a:rPr>
              <a:t>a</a:t>
            </a:r>
            <a:r>
              <a:rPr lang="en-US" sz="900" b="1" spc="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b="1" spc="-20" dirty="0">
                <a:solidFill>
                  <a:srgbClr val="0070C0"/>
                </a:solidFill>
                <a:latin typeface="Arial"/>
                <a:cs typeface="Arial"/>
              </a:rPr>
              <a:t>budget</a:t>
            </a:r>
            <a:r>
              <a:rPr lang="en-US" sz="900" b="1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them.</a:t>
            </a:r>
            <a:endParaRPr lang="en-US" sz="900" dirty="0"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marR="54610" indent="-171450">
              <a:lnSpc>
                <a:spcPct val="116199"/>
              </a:lnSpc>
              <a:spcBef>
                <a:spcPts val="63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great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opportunity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learn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real-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world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scenario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since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dashboard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by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professionals.</a:t>
            </a:r>
            <a:endParaRPr lang="en-US" sz="900" dirty="0"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sz="900" dirty="0">
              <a:solidFill>
                <a:srgbClr val="22373A"/>
              </a:solidFill>
              <a:latin typeface="Arial"/>
              <a:cs typeface="Arial"/>
            </a:endParaRPr>
          </a:p>
          <a:p>
            <a:pPr marL="189230" indent="-171450">
              <a:lnSpc>
                <a:spcPct val="100000"/>
              </a:lnSpc>
              <a:spcBef>
                <a:spcPts val="800"/>
              </a:spcBef>
              <a:buFont typeface="Arial" panose="020B0604020202020204" pitchFamily="34" charset="0"/>
              <a:buChar char="•"/>
            </a:pP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Getting</a:t>
            </a:r>
            <a:r>
              <a:rPr lang="en-US" sz="900" spc="-3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into</a:t>
            </a:r>
            <a:r>
              <a:rPr lang="en-US" sz="900" spc="10" dirty="0">
                <a:solidFill>
                  <a:srgbClr val="0070C0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0070C0"/>
                </a:solidFill>
                <a:latin typeface="Arial"/>
                <a:cs typeface="Arial"/>
              </a:rPr>
              <a:t>tricky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0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steps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2499995" cy="5080"/>
            </a:xfrm>
            <a:custGeom>
              <a:avLst/>
              <a:gdLst/>
              <a:ahLst/>
              <a:cxnLst/>
              <a:rect l="l" t="t" r="r" b="b"/>
              <a:pathLst>
                <a:path w="2499995" h="5080">
                  <a:moveTo>
                    <a:pt x="0" y="5060"/>
                  </a:moveTo>
                  <a:lnTo>
                    <a:pt x="0" y="0"/>
                  </a:lnTo>
                  <a:lnTo>
                    <a:pt x="2499641" y="0"/>
                  </a:lnTo>
                  <a:lnTo>
                    <a:pt x="249964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85466"/>
            <a:ext cx="2438400" cy="2549265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6100" y="3012717"/>
            <a:ext cx="195516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15: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course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608580" cy="5080"/>
            </a:xfrm>
            <a:custGeom>
              <a:avLst/>
              <a:gdLst/>
              <a:ahLst/>
              <a:cxnLst/>
              <a:rect l="l" t="t" r="r" b="b"/>
              <a:pathLst>
                <a:path w="2608580" h="5080">
                  <a:moveTo>
                    <a:pt x="0" y="5060"/>
                  </a:moveTo>
                  <a:lnTo>
                    <a:pt x="0" y="0"/>
                  </a:lnTo>
                  <a:lnTo>
                    <a:pt x="2608363" y="0"/>
                  </a:lnTo>
                  <a:lnTo>
                    <a:pt x="260836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587500" y="370349"/>
            <a:ext cx="2514600" cy="254493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80590" y="2917825"/>
            <a:ext cx="199898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16:</a:t>
            </a:r>
            <a:r>
              <a:rPr lang="en-US" sz="800" b="1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Choosing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learner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lab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module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717165" cy="5080"/>
            </a:xfrm>
            <a:custGeom>
              <a:avLst/>
              <a:gdLst/>
              <a:ahLst/>
              <a:cxnLst/>
              <a:rect l="l" t="t" r="r" b="b"/>
              <a:pathLst>
                <a:path w="2717165" h="5080">
                  <a:moveTo>
                    <a:pt x="0" y="5060"/>
                  </a:moveTo>
                  <a:lnTo>
                    <a:pt x="0" y="0"/>
                  </a:lnTo>
                  <a:lnTo>
                    <a:pt x="2716997" y="0"/>
                  </a:lnTo>
                  <a:lnTo>
                    <a:pt x="271699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15900" y="370349"/>
            <a:ext cx="5184023" cy="2456036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535976" y="2999105"/>
            <a:ext cx="26885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17:</a:t>
            </a:r>
            <a:r>
              <a:rPr lang="en-US" sz="800" b="1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Scroll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down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agree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terms and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conditions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825750" cy="5080"/>
            </a:xfrm>
            <a:custGeom>
              <a:avLst/>
              <a:gdLst/>
              <a:ahLst/>
              <a:cxnLst/>
              <a:rect l="l" t="t" r="r" b="b"/>
              <a:pathLst>
                <a:path w="2825750" h="5080">
                  <a:moveTo>
                    <a:pt x="0" y="5060"/>
                  </a:moveTo>
                  <a:lnTo>
                    <a:pt x="0" y="0"/>
                  </a:lnTo>
                  <a:lnTo>
                    <a:pt x="2825719" y="0"/>
                  </a:lnTo>
                  <a:lnTo>
                    <a:pt x="282571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446941"/>
            <a:ext cx="5086618" cy="24792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2266137" y="2999105"/>
            <a:ext cx="122809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18: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‘Start’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2934970" cy="5080"/>
            </a:xfrm>
            <a:custGeom>
              <a:avLst/>
              <a:gdLst/>
              <a:ahLst/>
              <a:cxnLst/>
              <a:rect l="l" t="t" r="r" b="b"/>
              <a:pathLst>
                <a:path w="2934970" h="5080">
                  <a:moveTo>
                    <a:pt x="0" y="5060"/>
                  </a:moveTo>
                  <a:lnTo>
                    <a:pt x="0" y="0"/>
                  </a:lnTo>
                  <a:lnTo>
                    <a:pt x="2934353" y="0"/>
                  </a:lnTo>
                  <a:lnTo>
                    <a:pt x="293435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92100" y="370350"/>
            <a:ext cx="5257800" cy="253005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19960" y="2999105"/>
            <a:ext cx="212026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19:</a:t>
            </a:r>
            <a:r>
              <a:rPr lang="en-US" sz="800" b="1" spc="1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Wait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set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up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043555" cy="5080"/>
            </a:xfrm>
            <a:custGeom>
              <a:avLst/>
              <a:gdLst/>
              <a:ahLst/>
              <a:cxnLst/>
              <a:rect l="l" t="t" r="r" b="b"/>
              <a:pathLst>
                <a:path w="3043555" h="5080">
                  <a:moveTo>
                    <a:pt x="0" y="5060"/>
                  </a:moveTo>
                  <a:lnTo>
                    <a:pt x="0" y="0"/>
                  </a:lnTo>
                  <a:lnTo>
                    <a:pt x="3043076" y="0"/>
                  </a:lnTo>
                  <a:lnTo>
                    <a:pt x="304307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-1" y="370350"/>
            <a:ext cx="5760085" cy="244079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749300" y="2888021"/>
            <a:ext cx="3657601" cy="25840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20:</a:t>
            </a:r>
            <a:r>
              <a:rPr lang="en-US" sz="800" b="1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ready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(the AWS </a:t>
            </a:r>
            <a:r>
              <a:rPr lang="en-US" sz="800" spc="15" dirty="0" err="1">
                <a:solidFill>
                  <a:srgbClr val="22373A"/>
                </a:solidFill>
                <a:latin typeface="Arial"/>
                <a:cs typeface="Arial"/>
              </a:rPr>
              <a:t>buttom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becomes green)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‘AWS’. </a:t>
            </a:r>
            <a:r>
              <a:rPr lang="en-US" sz="800" b="1" spc="-10" dirty="0">
                <a:solidFill>
                  <a:srgbClr val="FF0000"/>
                </a:solidFill>
                <a:latin typeface="Arial"/>
                <a:cs typeface="Arial"/>
              </a:rPr>
              <a:t>Current Budget usage: $0 spent out of a $50 limit</a:t>
            </a:r>
            <a:r>
              <a:rPr lang="en-US" sz="800" b="1" spc="-10" dirty="0">
                <a:solidFill>
                  <a:schemeClr val="tx1"/>
                </a:solidFill>
                <a:latin typeface="Arial"/>
                <a:cs typeface="Arial"/>
              </a:rPr>
              <a:t>.</a:t>
            </a:r>
            <a:endParaRPr lang="en-US" sz="800" b="1" dirty="0">
              <a:solidFill>
                <a:schemeClr val="tx1"/>
              </a:solidFill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152140" cy="5080"/>
            </a:xfrm>
            <a:custGeom>
              <a:avLst/>
              <a:gdLst/>
              <a:ahLst/>
              <a:cxnLst/>
              <a:rect l="l" t="t" r="r" b="b"/>
              <a:pathLst>
                <a:path w="3152140" h="5080">
                  <a:moveTo>
                    <a:pt x="0" y="5060"/>
                  </a:moveTo>
                  <a:lnTo>
                    <a:pt x="0" y="0"/>
                  </a:lnTo>
                  <a:lnTo>
                    <a:pt x="3151710" y="0"/>
                  </a:lnTo>
                  <a:lnTo>
                    <a:pt x="315171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50035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65" dirty="0">
                <a:solidFill>
                  <a:srgbClr val="F9F9F9"/>
                </a:solidFill>
                <a:latin typeface="Arial"/>
                <a:cs typeface="Arial"/>
              </a:rPr>
              <a:t>Accessing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4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30" dirty="0">
                <a:solidFill>
                  <a:srgbClr val="F9F9F9"/>
                </a:solidFill>
                <a:latin typeface="Arial"/>
                <a:cs typeface="Arial"/>
              </a:rPr>
              <a:t>Learner</a:t>
            </a:r>
            <a:r>
              <a:rPr lang="en-US" sz="1000" b="1" spc="4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25" dirty="0">
                <a:solidFill>
                  <a:srgbClr val="F9F9F9"/>
                </a:solidFill>
                <a:latin typeface="Arial"/>
                <a:cs typeface="Arial"/>
              </a:rPr>
              <a:t>Lab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39700" y="446907"/>
            <a:ext cx="5257800" cy="2470918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662506" y="2922905"/>
            <a:ext cx="243522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21: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presented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dashboard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3260725" cy="5080"/>
            </a:xfrm>
            <a:custGeom>
              <a:avLst/>
              <a:gdLst/>
              <a:ahLst/>
              <a:cxnLst/>
              <a:rect l="l" t="t" r="r" b="b"/>
              <a:pathLst>
                <a:path w="3260725" h="5080">
                  <a:moveTo>
                    <a:pt x="0" y="5060"/>
                  </a:moveTo>
                  <a:lnTo>
                    <a:pt x="0" y="0"/>
                  </a:lnTo>
                  <a:lnTo>
                    <a:pt x="3260432" y="0"/>
                  </a:lnTo>
                  <a:lnTo>
                    <a:pt x="326043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865"/>
            <a:ext cx="238633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EC2</a:t>
            </a:r>
            <a:r>
              <a:rPr lang="en-US" sz="1100" b="1" spc="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-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4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Deploying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a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3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Jupyter</a:t>
            </a:r>
            <a:r>
              <a:rPr lang="en-US" sz="1100" b="1" spc="4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lang="en-US" sz="1100" b="1" spc="-10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Notebook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755"/>
            <a:ext cx="2505710" cy="5080"/>
            <a:chOff x="1627403" y="1647755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755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755"/>
              <a:ext cx="1418590" cy="5080"/>
            </a:xfrm>
            <a:custGeom>
              <a:avLst/>
              <a:gdLst/>
              <a:ahLst/>
              <a:cxnLst/>
              <a:rect l="l" t="t" r="r" b="b"/>
              <a:pathLst>
                <a:path w="1418589" h="5080">
                  <a:moveTo>
                    <a:pt x="0" y="5060"/>
                  </a:moveTo>
                  <a:lnTo>
                    <a:pt x="0" y="0"/>
                  </a:lnTo>
                  <a:lnTo>
                    <a:pt x="1418064" y="0"/>
                  </a:lnTo>
                  <a:lnTo>
                    <a:pt x="1418064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876734"/>
            <a:ext cx="5015230" cy="442595"/>
            <a:chOff x="372646" y="876734"/>
            <a:chExt cx="5015230" cy="442595"/>
          </a:xfrm>
        </p:grpSpPr>
        <p:sp>
          <p:nvSpPr>
            <p:cNvPr id="4" name="object 4"/>
            <p:cNvSpPr/>
            <p:nvPr/>
          </p:nvSpPr>
          <p:spPr>
            <a:xfrm>
              <a:off x="377994" y="882081"/>
              <a:ext cx="5004435" cy="432434"/>
            </a:xfrm>
            <a:custGeom>
              <a:avLst/>
              <a:gdLst/>
              <a:ahLst/>
              <a:cxnLst/>
              <a:rect l="l" t="t" r="r" b="b"/>
              <a:pathLst>
                <a:path w="5004435" h="43243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5881"/>
                  </a:lnTo>
                  <a:lnTo>
                    <a:pt x="2829" y="409894"/>
                  </a:lnTo>
                  <a:lnTo>
                    <a:pt x="10544" y="421337"/>
                  </a:lnTo>
                  <a:lnTo>
                    <a:pt x="21987" y="429052"/>
                  </a:lnTo>
                  <a:lnTo>
                    <a:pt x="36000" y="431882"/>
                  </a:lnTo>
                  <a:lnTo>
                    <a:pt x="4968064" y="431882"/>
                  </a:lnTo>
                  <a:lnTo>
                    <a:pt x="4982077" y="429052"/>
                  </a:lnTo>
                  <a:lnTo>
                    <a:pt x="4993521" y="421337"/>
                  </a:lnTo>
                  <a:lnTo>
                    <a:pt x="5001236" y="409894"/>
                  </a:lnTo>
                  <a:lnTo>
                    <a:pt x="5004065" y="39588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883060"/>
              <a:ext cx="5002530" cy="430530"/>
            </a:xfrm>
            <a:custGeom>
              <a:avLst/>
              <a:gdLst/>
              <a:ahLst/>
              <a:cxnLst/>
              <a:rect l="l" t="t" r="r" b="b"/>
              <a:pathLst>
                <a:path w="5002530" h="430530">
                  <a:moveTo>
                    <a:pt x="0" y="39490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4902"/>
                  </a:lnTo>
                  <a:lnTo>
                    <a:pt x="4999354" y="408534"/>
                  </a:lnTo>
                  <a:lnTo>
                    <a:pt x="4991849" y="419666"/>
                  </a:lnTo>
                  <a:lnTo>
                    <a:pt x="4980717" y="427171"/>
                  </a:lnTo>
                  <a:lnTo>
                    <a:pt x="4967085" y="429923"/>
                  </a:lnTo>
                  <a:lnTo>
                    <a:pt x="35021" y="429923"/>
                  </a:lnTo>
                  <a:lnTo>
                    <a:pt x="21389" y="427171"/>
                  </a:lnTo>
                  <a:lnTo>
                    <a:pt x="10257" y="419666"/>
                  </a:lnTo>
                  <a:lnTo>
                    <a:pt x="2752" y="408534"/>
                  </a:lnTo>
                  <a:lnTo>
                    <a:pt x="0" y="39490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2685630" y="1422597"/>
            <a:ext cx="264795" cy="121285"/>
            <a:chOff x="2685630" y="1422597"/>
            <a:chExt cx="264795" cy="121285"/>
          </a:xfrm>
        </p:grpSpPr>
        <p:sp>
          <p:nvSpPr>
            <p:cNvPr id="7" name="object 7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2685630" y="1422597"/>
              <a:ext cx="264795" cy="121285"/>
            </a:xfrm>
            <a:custGeom>
              <a:avLst/>
              <a:gdLst/>
              <a:ahLst/>
              <a:cxnLst/>
              <a:rect l="l" t="t" r="r" b="b"/>
              <a:pathLst>
                <a:path w="264794" h="121284">
                  <a:moveTo>
                    <a:pt x="228441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28441" y="120757"/>
                  </a:lnTo>
                  <a:lnTo>
                    <a:pt x="242454" y="117928"/>
                  </a:lnTo>
                  <a:lnTo>
                    <a:pt x="253897" y="110213"/>
                  </a:lnTo>
                  <a:lnTo>
                    <a:pt x="261612" y="98770"/>
                  </a:lnTo>
                  <a:lnTo>
                    <a:pt x="264441" y="84757"/>
                  </a:lnTo>
                  <a:lnTo>
                    <a:pt x="264441" y="36000"/>
                  </a:lnTo>
                  <a:lnTo>
                    <a:pt x="261612" y="21987"/>
                  </a:lnTo>
                  <a:lnTo>
                    <a:pt x="253897" y="10544"/>
                  </a:lnTo>
                  <a:lnTo>
                    <a:pt x="242454" y="2829"/>
                  </a:lnTo>
                  <a:lnTo>
                    <a:pt x="228441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87514" y="1668076"/>
            <a:ext cx="144873" cy="114266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587743" y="1920161"/>
            <a:ext cx="443865" cy="580390"/>
            <a:chOff x="587743" y="1920161"/>
            <a:chExt cx="443865" cy="580390"/>
          </a:xfrm>
        </p:grpSpPr>
        <p:pic>
          <p:nvPicPr>
            <p:cNvPr id="11" name="object 11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87743" y="1920161"/>
              <a:ext cx="204657" cy="101170"/>
            </a:xfrm>
            <a:prstGeom prst="rect">
              <a:avLst/>
            </a:prstGeom>
          </p:spPr>
        </p:pic>
        <p:pic>
          <p:nvPicPr>
            <p:cNvPr id="12" name="object 12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587743" y="2059909"/>
              <a:ext cx="204657" cy="120757"/>
            </a:xfrm>
            <a:prstGeom prst="rect">
              <a:avLst/>
            </a:prstGeom>
          </p:spPr>
        </p:pic>
        <p:sp>
          <p:nvSpPr>
            <p:cNvPr id="13" name="object 13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2219230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2377301"/>
              <a:ext cx="443865" cy="123189"/>
            </a:xfrm>
            <a:custGeom>
              <a:avLst/>
              <a:gdLst/>
              <a:ahLst/>
              <a:cxnLst/>
              <a:rect l="l" t="t" r="r" b="b"/>
              <a:pathLst>
                <a:path w="443865" h="123189">
                  <a:moveTo>
                    <a:pt x="40779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407793" y="122693"/>
                  </a:lnTo>
                  <a:lnTo>
                    <a:pt x="421806" y="119864"/>
                  </a:lnTo>
                  <a:lnTo>
                    <a:pt x="433249" y="112148"/>
                  </a:lnTo>
                  <a:lnTo>
                    <a:pt x="440964" y="100705"/>
                  </a:lnTo>
                  <a:lnTo>
                    <a:pt x="443793" y="86692"/>
                  </a:lnTo>
                  <a:lnTo>
                    <a:pt x="443793" y="36000"/>
                  </a:lnTo>
                  <a:lnTo>
                    <a:pt x="440964" y="21987"/>
                  </a:lnTo>
                  <a:lnTo>
                    <a:pt x="433249" y="10544"/>
                  </a:lnTo>
                  <a:lnTo>
                    <a:pt x="421806" y="2829"/>
                  </a:lnTo>
                  <a:lnTo>
                    <a:pt x="40779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17" name="object 17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587514" y="2616981"/>
            <a:ext cx="144873" cy="120757"/>
          </a:xfrm>
          <a:prstGeom prst="rect">
            <a:avLst/>
          </a:prstGeom>
        </p:spPr>
      </p:pic>
      <p:sp>
        <p:nvSpPr>
          <p:cNvPr id="18" name="object 18"/>
          <p:cNvSpPr txBox="1"/>
          <p:nvPr/>
        </p:nvSpPr>
        <p:spPr>
          <a:xfrm>
            <a:off x="343319" y="632747"/>
            <a:ext cx="4728210" cy="21151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4629">
              <a:lnSpc>
                <a:spcPct val="100000"/>
              </a:lnSpc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20" dirty="0">
                <a:latin typeface="Courier New"/>
                <a:cs typeface="Courier New"/>
              </a:rPr>
              <a:t>.ssh</a:t>
            </a:r>
            <a:endParaRPr lang="en-US" sz="800" dirty="0">
              <a:latin typeface="Courier New"/>
              <a:cs typeface="Courier New"/>
            </a:endParaRPr>
          </a:p>
          <a:p>
            <a:pPr marL="214629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solidFill>
                  <a:srgbClr val="05287C"/>
                </a:solidFill>
                <a:latin typeface="Courier New"/>
                <a:cs typeface="Courier New"/>
              </a:rPr>
              <a:t>ssh-keygen</a:t>
            </a: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t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 err="1">
                <a:latin typeface="Courier New"/>
                <a:cs typeface="Courier New"/>
              </a:rPr>
              <a:t>rsa</a:t>
            </a:r>
            <a:r>
              <a:rPr lang="en-US" sz="800" spc="-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>
                <a:solidFill>
                  <a:srgbClr val="7C8E28"/>
                </a:solidFill>
                <a:latin typeface="Courier New"/>
                <a:cs typeface="Courier New"/>
              </a:rPr>
              <a:t>f</a:t>
            </a:r>
            <a:r>
              <a:rPr lang="en-US" sz="800" spc="-4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</a:t>
            </a:r>
            <a:r>
              <a:rPr lang="en-US" sz="800" spc="-10" dirty="0">
                <a:latin typeface="Courier New"/>
                <a:cs typeface="Courier New"/>
              </a:rPr>
              <a:t>keypair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74200"/>
              </a:lnSpc>
              <a:spcBef>
                <a:spcPts val="77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might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throw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error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already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exists.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ignore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-t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create:</a:t>
            </a:r>
            <a:endParaRPr lang="en-US" sz="900" dirty="0">
              <a:latin typeface="Arial"/>
              <a:cs typeface="Arial"/>
            </a:endParaRPr>
          </a:p>
          <a:p>
            <a:pPr marL="255904" indent="-160020">
              <a:lnSpc>
                <a:spcPct val="100000"/>
              </a:lnSpc>
              <a:spcBef>
                <a:spcPts val="800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rsa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25" dirty="0" err="1">
                <a:latin typeface="Courier New"/>
                <a:cs typeface="Courier New"/>
              </a:rPr>
              <a:t>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 err="1">
                <a:latin typeface="Courier New"/>
                <a:cs typeface="Courier New"/>
              </a:rPr>
              <a:t>ecdsa</a:t>
            </a:r>
            <a:endParaRPr lang="en-US" sz="900" dirty="0">
              <a:latin typeface="Courier New"/>
              <a:cs typeface="Courier New"/>
            </a:endParaRPr>
          </a:p>
          <a:p>
            <a:pPr marL="255904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255904" algn="l"/>
              </a:tabLst>
            </a:pPr>
            <a:r>
              <a:rPr lang="en-US" sz="900" spc="-10" dirty="0">
                <a:latin typeface="Courier New"/>
                <a:cs typeface="Courier New"/>
              </a:rPr>
              <a:t>ed25519</a:t>
            </a:r>
            <a:endParaRPr lang="en-US" sz="9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-f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specifies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filename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19" name="object 1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0" name="object 2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1" name="object 2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2" name="object 22"/>
            <p:cNvSpPr/>
            <p:nvPr/>
          </p:nvSpPr>
          <p:spPr>
            <a:xfrm>
              <a:off x="0" y="3234963"/>
              <a:ext cx="3369310" cy="5080"/>
            </a:xfrm>
            <a:custGeom>
              <a:avLst/>
              <a:gdLst/>
              <a:ahLst/>
              <a:cxnLst/>
              <a:rect l="l" t="t" r="r" b="b"/>
              <a:pathLst>
                <a:path w="3369310" h="5080">
                  <a:moveTo>
                    <a:pt x="0" y="5060"/>
                  </a:moveTo>
                  <a:lnTo>
                    <a:pt x="0" y="0"/>
                  </a:lnTo>
                  <a:lnTo>
                    <a:pt x="3369066" y="0"/>
                  </a:lnTo>
                  <a:lnTo>
                    <a:pt x="336906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dirty="0"/>
              <a:t> an SSH Key </a:t>
            </a:r>
            <a:r>
              <a:rPr lang="en-US" spc="-20" dirty="0"/>
              <a:t>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174915" y="1817773"/>
            <a:ext cx="1221105" cy="314960"/>
            <a:chOff x="1174915" y="1817773"/>
            <a:chExt cx="1221105" cy="314960"/>
          </a:xfrm>
        </p:grpSpPr>
        <p:sp>
          <p:nvSpPr>
            <p:cNvPr id="4" name="object 4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174915" y="181777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5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1218526" y="1977107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343319" y="1215202"/>
            <a:ext cx="5060950" cy="90233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prompt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which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also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prompt you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passphrase.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passphrase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empty.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command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and 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default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location: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10" dirty="0" err="1">
                <a:latin typeface="Courier New"/>
                <a:cs typeface="Courier New"/>
              </a:rPr>
              <a:t>keypair.pub</a:t>
            </a:r>
            <a:endParaRPr lang="en-US" sz="900" dirty="0">
              <a:latin typeface="Courier New"/>
              <a:cs typeface="Courier New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Char char="•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key: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endParaRPr lang="en-US" sz="900" dirty="0">
              <a:latin typeface="Courier New"/>
              <a:cs typeface="Courier New"/>
            </a:endParaRPr>
          </a:p>
        </p:txBody>
      </p:sp>
      <p:grpSp>
        <p:nvGrpSpPr>
          <p:cNvPr id="9" name="object 9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0" name="object 10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3477895" cy="5080"/>
            </a:xfrm>
            <a:custGeom>
              <a:avLst/>
              <a:gdLst/>
              <a:ahLst/>
              <a:cxnLst/>
              <a:rect l="l" t="t" r="r" b="b"/>
              <a:pathLst>
                <a:path w="3477895" h="5080">
                  <a:moveTo>
                    <a:pt x="0" y="5060"/>
                  </a:moveTo>
                  <a:lnTo>
                    <a:pt x="0" y="0"/>
                  </a:lnTo>
                  <a:lnTo>
                    <a:pt x="3477788" y="0"/>
                  </a:lnTo>
                  <a:lnTo>
                    <a:pt x="347778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Importing</a:t>
            </a:r>
            <a:r>
              <a:rPr lang="en-US" spc="-25" dirty="0"/>
              <a:t> </a:t>
            </a:r>
            <a:r>
              <a:rPr lang="en-US" spc="-10" dirty="0"/>
              <a:t>our</a:t>
            </a:r>
            <a:r>
              <a:rPr lang="en-US" spc="-20" dirty="0"/>
              <a:t> </a:t>
            </a:r>
            <a:r>
              <a:rPr lang="en-US" spc="-25" dirty="0"/>
              <a:t>generated</a:t>
            </a:r>
            <a:r>
              <a:rPr lang="en-US" spc="-20" dirty="0"/>
              <a:t> </a:t>
            </a:r>
            <a:r>
              <a:rPr lang="en-US" spc="-10" dirty="0"/>
              <a:t>key</a:t>
            </a:r>
            <a:r>
              <a:rPr lang="en-US" spc="-20" dirty="0"/>
              <a:t> pair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815492" y="2182029"/>
            <a:ext cx="1315720" cy="144145"/>
            <a:chOff x="815492" y="2182029"/>
            <a:chExt cx="1315720" cy="144145"/>
          </a:xfrm>
        </p:grpSpPr>
        <p:sp>
          <p:nvSpPr>
            <p:cNvPr id="4" name="object 4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815492" y="2182029"/>
              <a:ext cx="1315720" cy="144145"/>
            </a:xfrm>
            <a:custGeom>
              <a:avLst/>
              <a:gdLst/>
              <a:ahLst/>
              <a:cxnLst/>
              <a:rect l="l" t="t" r="r" b="b"/>
              <a:pathLst>
                <a:path w="1315720" h="144144">
                  <a:moveTo>
                    <a:pt x="127927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7835"/>
                  </a:lnTo>
                  <a:lnTo>
                    <a:pt x="2829" y="121848"/>
                  </a:lnTo>
                  <a:lnTo>
                    <a:pt x="10544" y="133291"/>
                  </a:lnTo>
                  <a:lnTo>
                    <a:pt x="21987" y="141006"/>
                  </a:lnTo>
                  <a:lnTo>
                    <a:pt x="36000" y="143835"/>
                  </a:lnTo>
                  <a:lnTo>
                    <a:pt x="1279274" y="143835"/>
                  </a:lnTo>
                  <a:lnTo>
                    <a:pt x="1293287" y="141006"/>
                  </a:lnTo>
                  <a:lnTo>
                    <a:pt x="1304730" y="133291"/>
                  </a:lnTo>
                  <a:lnTo>
                    <a:pt x="1312446" y="121848"/>
                  </a:lnTo>
                  <a:lnTo>
                    <a:pt x="1315275" y="107835"/>
                  </a:lnTo>
                  <a:lnTo>
                    <a:pt x="1315275" y="36000"/>
                  </a:lnTo>
                  <a:lnTo>
                    <a:pt x="1312446" y="21987"/>
                  </a:lnTo>
                  <a:lnTo>
                    <a:pt x="1304730" y="10544"/>
                  </a:lnTo>
                  <a:lnTo>
                    <a:pt x="1293287" y="2829"/>
                  </a:lnTo>
                  <a:lnTo>
                    <a:pt x="127927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3433" y="910229"/>
            <a:ext cx="4542155" cy="15627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provides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However,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our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43204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Actions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Pair.</a:t>
            </a:r>
            <a:endParaRPr lang="en-US" sz="9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180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3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endParaRPr lang="en-US" sz="800" dirty="0">
              <a:latin typeface="Arial"/>
              <a:cs typeface="Arial"/>
            </a:endParaRPr>
          </a:p>
          <a:p>
            <a:pPr marL="47180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47180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Browse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select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the public key file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before.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(.ssh/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aws-keypair.pub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endParaRPr lang="en-US" sz="800" dirty="0">
              <a:latin typeface="Arial"/>
              <a:cs typeface="Arial"/>
            </a:endParaRPr>
          </a:p>
          <a:p>
            <a:pPr marL="46863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46863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Another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paste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field.</a:t>
            </a:r>
            <a:r>
              <a:rPr lang="en-US" sz="8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800" dirty="0">
              <a:latin typeface="Arial"/>
              <a:cs typeface="Arial"/>
            </a:endParaRPr>
          </a:p>
          <a:p>
            <a:pPr marL="48450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latin typeface="Courier New"/>
                <a:cs typeface="Courier New"/>
              </a:rPr>
              <a:t>cat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aws-keypair.pub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key.</a:t>
            </a:r>
            <a:endParaRPr lang="en-US" sz="800" dirty="0">
              <a:latin typeface="Arial"/>
              <a:cs typeface="Arial"/>
            </a:endParaRPr>
          </a:p>
          <a:p>
            <a:pPr marL="243204" indent="-147320">
              <a:lnSpc>
                <a:spcPct val="100000"/>
              </a:lnSpc>
              <a:spcBef>
                <a:spcPts val="195"/>
              </a:spcBef>
              <a:buAutoNum type="arabicPeriod" startAt="5"/>
              <a:tabLst>
                <a:tab pos="243204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Import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3586479" cy="5080"/>
            </a:xfrm>
            <a:custGeom>
              <a:avLst/>
              <a:gdLst/>
              <a:ahLst/>
              <a:cxnLst/>
              <a:rect l="l" t="t" r="r" b="b"/>
              <a:pathLst>
                <a:path w="3586479" h="5080">
                  <a:moveTo>
                    <a:pt x="0" y="5060"/>
                  </a:moveTo>
                  <a:lnTo>
                    <a:pt x="0" y="0"/>
                  </a:lnTo>
                  <a:lnTo>
                    <a:pt x="3586422" y="0"/>
                  </a:lnTo>
                  <a:lnTo>
                    <a:pt x="358642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5" dirty="0"/>
              <a:t> </a:t>
            </a:r>
            <a:r>
              <a:rPr lang="en-US" dirty="0"/>
              <a:t>an EC2</a:t>
            </a:r>
            <a:r>
              <a:rPr lang="en-US" spc="-5" dirty="0"/>
              <a:t> </a:t>
            </a:r>
            <a:r>
              <a:rPr lang="en-US" spc="-35" dirty="0"/>
              <a:t>instance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1046572"/>
            <a:ext cx="3007995" cy="128714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Launch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Name:</a:t>
            </a:r>
            <a:r>
              <a:rPr lang="en-US" sz="8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Image:</a:t>
            </a:r>
            <a:r>
              <a:rPr lang="en-US" sz="8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AMI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(HVM)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SSD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Volume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Type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Architecture:</a:t>
            </a:r>
            <a:r>
              <a:rPr lang="en-US" sz="800" spc="2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64-bit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(x86)</a:t>
            </a:r>
            <a:endParaRPr lang="en-US" sz="8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7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t2.micro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5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pair:</a:t>
            </a:r>
            <a:r>
              <a:rPr lang="en-US" sz="8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pair</a:t>
            </a:r>
            <a:r>
              <a:rPr lang="en-US" sz="8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created</a:t>
            </a:r>
            <a:r>
              <a:rPr lang="en-US" sz="8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before.</a:t>
            </a:r>
            <a:r>
              <a:rPr lang="en-US" sz="8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800" spc="-10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-keypair)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Network: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VPC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3695700" cy="5080"/>
            </a:xfrm>
            <a:custGeom>
              <a:avLst/>
              <a:gdLst/>
              <a:ahLst/>
              <a:cxnLst/>
              <a:rect l="l" t="t" r="r" b="b"/>
              <a:pathLst>
                <a:path w="3695700" h="5080">
                  <a:moveTo>
                    <a:pt x="0" y="5060"/>
                  </a:moveTo>
                  <a:lnTo>
                    <a:pt x="0" y="0"/>
                  </a:lnTo>
                  <a:lnTo>
                    <a:pt x="3695145" y="0"/>
                  </a:lnTo>
                  <a:lnTo>
                    <a:pt x="369514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0" dirty="0"/>
              <a:t>Security</a:t>
            </a:r>
            <a:r>
              <a:rPr lang="en-US" spc="35" dirty="0"/>
              <a:t> </a:t>
            </a:r>
            <a:r>
              <a:rPr lang="en-US" spc="-40" dirty="0"/>
              <a:t>Group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23316" y="856072"/>
            <a:ext cx="2534920" cy="16192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6510" marR="55244" indent="-4445">
              <a:lnSpc>
                <a:spcPct val="116199"/>
              </a:lnSpc>
              <a:spcBef>
                <a:spcPts val="1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allows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22 (SSH)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port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80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(HTTP).</a:t>
            </a:r>
            <a:endParaRPr lang="en-US" sz="900" dirty="0">
              <a:latin typeface="Arial"/>
              <a:cs typeface="Arial"/>
            </a:endParaRPr>
          </a:p>
          <a:p>
            <a:pPr marL="243840" marR="318135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243840" marR="5080" indent="-147955">
              <a:lnSpc>
                <a:spcPct val="116199"/>
              </a:lnSpc>
              <a:buChar char="•"/>
              <a:tabLst>
                <a:tab pos="24384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used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endParaRPr lang="en-US" sz="900" dirty="0">
              <a:latin typeface="Arial"/>
              <a:cs typeface="Arial"/>
            </a:endParaRPr>
          </a:p>
          <a:p>
            <a:pPr marL="16510" marR="51435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Mark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checkbox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group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fill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form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0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SSH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endParaRPr lang="en-US" sz="900" dirty="0">
              <a:latin typeface="Arial"/>
              <a:cs typeface="Arial"/>
            </a:endParaRPr>
          </a:p>
          <a:p>
            <a:pPr marL="239395" indent="-143510">
              <a:lnSpc>
                <a:spcPct val="100000"/>
              </a:lnSpc>
              <a:spcBef>
                <a:spcPts val="175"/>
              </a:spcBef>
              <a:buChar char="•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Allow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traﬀic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758236" y="860425"/>
            <a:ext cx="2910841" cy="1523999"/>
          </a:xfrm>
          <a:prstGeom prst="rect">
            <a:avLst/>
          </a:prstGeom>
        </p:spPr>
      </p:pic>
      <p:grpSp>
        <p:nvGrpSpPr>
          <p:cNvPr id="5" name="object 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6" name="object 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3804285" cy="5080"/>
            </a:xfrm>
            <a:custGeom>
              <a:avLst/>
              <a:gdLst/>
              <a:ahLst/>
              <a:cxnLst/>
              <a:rect l="l" t="t" r="r" b="b"/>
              <a:pathLst>
                <a:path w="3804285" h="5080">
                  <a:moveTo>
                    <a:pt x="0" y="5060"/>
                  </a:moveTo>
                  <a:lnTo>
                    <a:pt x="0" y="0"/>
                  </a:lnTo>
                  <a:lnTo>
                    <a:pt x="3803779" y="0"/>
                  </a:lnTo>
                  <a:lnTo>
                    <a:pt x="38037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25"/>
            <a:ext cx="5760085" cy="310515"/>
          </a:xfrm>
          <a:custGeom>
            <a:avLst/>
            <a:gdLst/>
            <a:ahLst/>
            <a:cxnLst/>
            <a:rect l="l" t="t" r="r" b="b"/>
            <a:pathLst>
              <a:path w="5760085" h="310515">
                <a:moveTo>
                  <a:pt x="5759996" y="0"/>
                </a:moveTo>
                <a:lnTo>
                  <a:pt x="0" y="0"/>
                </a:lnTo>
                <a:lnTo>
                  <a:pt x="0" y="310273"/>
                </a:lnTo>
                <a:lnTo>
                  <a:pt x="5759996" y="310273"/>
                </a:lnTo>
                <a:lnTo>
                  <a:pt x="5759996" y="0"/>
                </a:lnTo>
                <a:close/>
              </a:path>
            </a:pathLst>
          </a:custGeom>
          <a:solidFill>
            <a:srgbClr val="22373A"/>
          </a:solidFill>
        </p:spPr>
        <p:txBody>
          <a:bodyPr wrap="square" lIns="0" tIns="0" rIns="0" bIns="0" rtlCol="0"/>
          <a:lstStyle/>
          <a:p>
            <a:endParaRPr lang="en-US" dirty="0"/>
          </a:p>
        </p:txBody>
      </p:sp>
      <p:sp>
        <p:nvSpPr>
          <p:cNvPr id="3" name="object 3"/>
          <p:cNvSpPr txBox="1"/>
          <p:nvPr/>
        </p:nvSpPr>
        <p:spPr>
          <a:xfrm>
            <a:off x="98526" y="59834"/>
            <a:ext cx="15951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1000" b="1" spc="-35" dirty="0">
                <a:solidFill>
                  <a:srgbClr val="F9F9F9"/>
                </a:solidFill>
                <a:latin typeface="Arial"/>
                <a:cs typeface="Arial"/>
              </a:rPr>
              <a:t>Connecting</a:t>
            </a:r>
            <a:r>
              <a:rPr lang="en-US" sz="1000" b="1" spc="50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to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dirty="0">
                <a:solidFill>
                  <a:srgbClr val="F9F9F9"/>
                </a:solidFill>
                <a:latin typeface="Arial"/>
                <a:cs typeface="Arial"/>
              </a:rPr>
              <a:t>the</a:t>
            </a:r>
            <a:r>
              <a:rPr lang="en-US" sz="1000" b="1" spc="65" dirty="0">
                <a:solidFill>
                  <a:srgbClr val="F9F9F9"/>
                </a:solidFill>
                <a:latin typeface="Arial"/>
                <a:cs typeface="Arial"/>
              </a:rPr>
              <a:t> </a:t>
            </a:r>
            <a:r>
              <a:rPr lang="en-US" sz="1000" b="1" spc="-40" dirty="0">
                <a:solidFill>
                  <a:srgbClr val="F9F9F9"/>
                </a:solidFill>
                <a:latin typeface="Arial"/>
                <a:cs typeface="Arial"/>
              </a:rPr>
              <a:t>instance</a:t>
            </a:r>
            <a:endParaRPr lang="en-US" sz="10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-12700" y="331651"/>
            <a:ext cx="5742633" cy="2524000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977900" y="2883597"/>
            <a:ext cx="3733800" cy="135293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22:</a:t>
            </a:r>
            <a:r>
              <a:rPr lang="en-US" sz="800" b="1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 instance created. Getting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8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8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021454" cy="5080"/>
            </a:xfrm>
            <a:custGeom>
              <a:avLst/>
              <a:gdLst/>
              <a:ahLst/>
              <a:cxnLst/>
              <a:rect l="l" t="t" r="r" b="b"/>
              <a:pathLst>
                <a:path w="4021454" h="5080">
                  <a:moveTo>
                    <a:pt x="0" y="5060"/>
                  </a:moveTo>
                  <a:lnTo>
                    <a:pt x="0" y="0"/>
                  </a:lnTo>
                  <a:lnTo>
                    <a:pt x="4021223" y="0"/>
                  </a:lnTo>
                  <a:lnTo>
                    <a:pt x="402122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35" dirty="0"/>
              <a:t>Connecting</a:t>
            </a:r>
            <a:r>
              <a:rPr lang="en-US" spc="50" dirty="0"/>
              <a:t> </a:t>
            </a:r>
            <a:r>
              <a:rPr lang="en-US" dirty="0"/>
              <a:t>to</a:t>
            </a:r>
            <a:r>
              <a:rPr lang="en-US" spc="65" dirty="0"/>
              <a:t> </a:t>
            </a:r>
            <a:r>
              <a:rPr lang="en-US" dirty="0"/>
              <a:t>the</a:t>
            </a:r>
            <a:r>
              <a:rPr lang="en-US" spc="65" dirty="0"/>
              <a:t> </a:t>
            </a:r>
            <a:r>
              <a:rPr lang="en-US" spc="-40" dirty="0"/>
              <a:t>instance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233411" y="1320936"/>
            <a:ext cx="982344" cy="155575"/>
            <a:chOff x="1233411" y="1320936"/>
            <a:chExt cx="982344" cy="155575"/>
          </a:xfrm>
        </p:grpSpPr>
        <p:sp>
          <p:nvSpPr>
            <p:cNvPr id="4" name="object 4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233411" y="1320936"/>
              <a:ext cx="982344" cy="155575"/>
            </a:xfrm>
            <a:custGeom>
              <a:avLst/>
              <a:gdLst/>
              <a:ahLst/>
              <a:cxnLst/>
              <a:rect l="l" t="t" r="r" b="b"/>
              <a:pathLst>
                <a:path w="982344" h="155575">
                  <a:moveTo>
                    <a:pt x="94585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945850" y="155489"/>
                  </a:lnTo>
                  <a:lnTo>
                    <a:pt x="959863" y="152659"/>
                  </a:lnTo>
                  <a:lnTo>
                    <a:pt x="971306" y="144944"/>
                  </a:lnTo>
                  <a:lnTo>
                    <a:pt x="979021" y="133501"/>
                  </a:lnTo>
                  <a:lnTo>
                    <a:pt x="981850" y="119488"/>
                  </a:lnTo>
                  <a:lnTo>
                    <a:pt x="981850" y="36000"/>
                  </a:lnTo>
                  <a:lnTo>
                    <a:pt x="979021" y="21987"/>
                  </a:lnTo>
                  <a:lnTo>
                    <a:pt x="971306" y="10544"/>
                  </a:lnTo>
                  <a:lnTo>
                    <a:pt x="959863" y="2829"/>
                  </a:lnTo>
                  <a:lnTo>
                    <a:pt x="94585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339310"/>
            <a:ext cx="5015230" cy="451484"/>
            <a:chOff x="372646" y="2339310"/>
            <a:chExt cx="5015230" cy="451484"/>
          </a:xfrm>
        </p:grpSpPr>
        <p:sp>
          <p:nvSpPr>
            <p:cNvPr id="7" name="object 7"/>
            <p:cNvSpPr/>
            <p:nvPr/>
          </p:nvSpPr>
          <p:spPr>
            <a:xfrm>
              <a:off x="377994" y="2344657"/>
              <a:ext cx="5004435" cy="440690"/>
            </a:xfrm>
            <a:custGeom>
              <a:avLst/>
              <a:gdLst/>
              <a:ahLst/>
              <a:cxnLst/>
              <a:rect l="l" t="t" r="r" b="b"/>
              <a:pathLst>
                <a:path w="5004435" h="44068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404283"/>
                  </a:lnTo>
                  <a:lnTo>
                    <a:pt x="2829" y="418296"/>
                  </a:lnTo>
                  <a:lnTo>
                    <a:pt x="10544" y="429739"/>
                  </a:lnTo>
                  <a:lnTo>
                    <a:pt x="21987" y="437454"/>
                  </a:lnTo>
                  <a:lnTo>
                    <a:pt x="36000" y="440283"/>
                  </a:lnTo>
                  <a:lnTo>
                    <a:pt x="4968064" y="440283"/>
                  </a:lnTo>
                  <a:lnTo>
                    <a:pt x="4982077" y="437454"/>
                  </a:lnTo>
                  <a:lnTo>
                    <a:pt x="4993521" y="429739"/>
                  </a:lnTo>
                  <a:lnTo>
                    <a:pt x="5001236" y="418296"/>
                  </a:lnTo>
                  <a:lnTo>
                    <a:pt x="5004065" y="404283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345636"/>
              <a:ext cx="5002530" cy="438784"/>
            </a:xfrm>
            <a:custGeom>
              <a:avLst/>
              <a:gdLst/>
              <a:ahLst/>
              <a:cxnLst/>
              <a:rect l="l" t="t" r="r" b="b"/>
              <a:pathLst>
                <a:path w="5002530" h="438785">
                  <a:moveTo>
                    <a:pt x="0" y="40330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403303"/>
                  </a:lnTo>
                  <a:lnTo>
                    <a:pt x="4999354" y="416935"/>
                  </a:lnTo>
                  <a:lnTo>
                    <a:pt x="4991849" y="428067"/>
                  </a:lnTo>
                  <a:lnTo>
                    <a:pt x="4980717" y="435572"/>
                  </a:lnTo>
                  <a:lnTo>
                    <a:pt x="4967085" y="438325"/>
                  </a:lnTo>
                  <a:lnTo>
                    <a:pt x="35021" y="438325"/>
                  </a:lnTo>
                  <a:lnTo>
                    <a:pt x="21389" y="435572"/>
                  </a:lnTo>
                  <a:lnTo>
                    <a:pt x="10257" y="428067"/>
                  </a:lnTo>
                  <a:lnTo>
                    <a:pt x="2752" y="416935"/>
                  </a:lnTo>
                  <a:lnTo>
                    <a:pt x="0" y="40330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427012" y="559057"/>
            <a:ext cx="4986020" cy="21278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Open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mac,linux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)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 err="1">
                <a:solidFill>
                  <a:srgbClr val="22373A"/>
                </a:solidFill>
                <a:latin typeface="Arial"/>
                <a:cs typeface="Arial"/>
              </a:rPr>
              <a:t>powershell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(windows).</a:t>
            </a:r>
            <a:endParaRPr lang="en-US" sz="900" dirty="0">
              <a:latin typeface="Arial"/>
              <a:cs typeface="Arial"/>
            </a:endParaRPr>
          </a:p>
          <a:p>
            <a:pPr marL="159385" marR="109855" indent="-147320">
              <a:lnSpc>
                <a:spcPct val="116199"/>
              </a:lnSpc>
              <a:buAutoNum type="arabicPeriod"/>
              <a:tabLst>
                <a:tab pos="160655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Replace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public 	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 of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endParaRPr lang="en-US" sz="900" dirty="0">
              <a:latin typeface="Arial"/>
              <a:cs typeface="Arial"/>
            </a:endParaRPr>
          </a:p>
          <a:p>
            <a:pPr marL="155575" marR="93345" lvl="1" indent="-143510">
              <a:lnSpc>
                <a:spcPct val="116199"/>
              </a:lnSpc>
              <a:spcBef>
                <a:spcPts val="625"/>
              </a:spcBef>
              <a:buFont typeface="Arial"/>
              <a:buChar char="•"/>
              <a:tabLst>
                <a:tab pos="155575" algn="l"/>
                <a:tab pos="15938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</a:t>
            </a:r>
            <a:r>
              <a:rPr lang="en-US" sz="900" b="1" spc="-45" dirty="0" err="1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b="1" spc="-45" dirty="0">
                <a:solidFill>
                  <a:srgbClr val="22373A"/>
                </a:solidFill>
                <a:latin typeface="Arial"/>
                <a:cs typeface="Arial"/>
              </a:rPr>
              <a:t>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keypair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name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private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file.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introduce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full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path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file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(for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</a:t>
            </a:r>
            <a:r>
              <a:rPr lang="en-US" sz="900" spc="-75" dirty="0">
                <a:latin typeface="Courier New"/>
                <a:cs typeface="Courier New"/>
              </a:rPr>
              <a:t>-</a:t>
            </a:r>
            <a:r>
              <a:rPr lang="en-US" sz="900" spc="-10" dirty="0">
                <a:latin typeface="Courier New"/>
                <a:cs typeface="Courier New"/>
              </a:rPr>
              <a:t>keypair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).</a:t>
            </a:r>
            <a:endParaRPr lang="en-US" sz="900" dirty="0">
              <a:latin typeface="Arial"/>
              <a:cs typeface="Arial"/>
            </a:endParaRPr>
          </a:p>
          <a:p>
            <a:pPr marL="160020" lvl="1" indent="-147320">
              <a:lnSpc>
                <a:spcPct val="100000"/>
              </a:lnSpc>
              <a:spcBef>
                <a:spcPts val="800"/>
              </a:spcBef>
              <a:buFont typeface="Arial"/>
              <a:buChar char="•"/>
              <a:tabLst>
                <a:tab pos="160020" algn="l"/>
              </a:tabLst>
            </a:pPr>
            <a:r>
              <a:rPr lang="en-US" sz="900" b="1" spc="-50" dirty="0">
                <a:solidFill>
                  <a:srgbClr val="22373A"/>
                </a:solidFill>
                <a:latin typeface="Arial"/>
                <a:cs typeface="Arial"/>
              </a:rPr>
              <a:t>ec2-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b="1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Amazon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Linux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machine.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Don’t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 marL="160655" marR="5080" lvl="1" indent="-147955">
              <a:lnSpc>
                <a:spcPct val="116199"/>
              </a:lnSpc>
              <a:spcBef>
                <a:spcPts val="630"/>
              </a:spcBef>
              <a:buFont typeface="Arial"/>
              <a:buChar char="•"/>
              <a:tabLst>
                <a:tab pos="160655" algn="l"/>
              </a:tabLst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ec2-3-87-76-117.compute-</a:t>
            </a:r>
            <a:r>
              <a:rPr lang="en-US" sz="900" b="1" spc="-30" dirty="0">
                <a:solidFill>
                  <a:srgbClr val="22373A"/>
                </a:solidFill>
                <a:latin typeface="Arial"/>
                <a:cs typeface="Arial"/>
              </a:rPr>
              <a:t>1.amazonaws.com</a:t>
            </a:r>
            <a:r>
              <a:rPr lang="en-US" sz="900" b="1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 DNS of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instance.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restart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lab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each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its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own.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So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 err="1">
                <a:solidFill>
                  <a:srgbClr val="22373A"/>
                </a:solidFill>
                <a:latin typeface="Arial"/>
                <a:cs typeface="Arial"/>
              </a:rPr>
              <a:t>everytime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get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AWS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console.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0"/>
              </a:spcBef>
            </a:pPr>
            <a:endParaRPr lang="en-US" sz="900" dirty="0">
              <a:latin typeface="Arial"/>
              <a:cs typeface="Arial"/>
            </a:endParaRPr>
          </a:p>
          <a:p>
            <a:pPr marL="184150" marR="923290">
              <a:lnSpc>
                <a:spcPct val="107400"/>
              </a:lnSpc>
              <a:spcBef>
                <a:spcPts val="5"/>
              </a:spcBef>
            </a:pPr>
            <a:r>
              <a:rPr lang="en-US" sz="800" spc="-50" dirty="0">
                <a:solidFill>
                  <a:srgbClr val="05287C"/>
                </a:solidFill>
                <a:latin typeface="Courier New"/>
                <a:cs typeface="Courier New"/>
              </a:rPr>
              <a:t>ssh</a:t>
            </a:r>
            <a:r>
              <a:rPr lang="en-US" sz="800" spc="4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dirty="0" err="1">
                <a:solidFill>
                  <a:srgbClr val="7C8E28"/>
                </a:solidFill>
                <a:latin typeface="Courier New"/>
                <a:cs typeface="Courier New"/>
              </a:rPr>
              <a:t>i</a:t>
            </a:r>
            <a:r>
              <a:rPr lang="en-US" sz="800" spc="5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.ssh/</a:t>
            </a:r>
            <a:r>
              <a:rPr lang="en-US" sz="800" spc="-60" dirty="0" err="1">
                <a:latin typeface="Courier New"/>
                <a:cs typeface="Courier New"/>
              </a:rPr>
              <a:t>aws</a:t>
            </a:r>
            <a:r>
              <a:rPr lang="en-US" sz="800" spc="-60" dirty="0">
                <a:latin typeface="Courier New"/>
                <a:cs typeface="Courier New"/>
              </a:rPr>
              <a:t>-keypair</a:t>
            </a:r>
            <a:r>
              <a:rPr lang="en-US" sz="800" spc="5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  <a:hlinkClick r:id="rId2"/>
              </a:rPr>
              <a:t>ec2-user@ec2-3-87-76-117.compute-1.amazonaws.com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Are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sure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you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want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to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continue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connecting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FF0000"/>
                </a:solidFill>
                <a:latin typeface="Courier New"/>
                <a:cs typeface="Courier New"/>
              </a:rPr>
              <a:t>(</a:t>
            </a:r>
            <a:r>
              <a:rPr lang="en-US" sz="800" spc="-60" dirty="0">
                <a:latin typeface="Courier New"/>
                <a:cs typeface="Courier New"/>
              </a:rPr>
              <a:t>yes/no/[fingerprint]</a:t>
            </a:r>
            <a:r>
              <a:rPr lang="en-US" sz="800" b="1" spc="-60" dirty="0">
                <a:solidFill>
                  <a:srgbClr val="007021"/>
                </a:solidFill>
                <a:latin typeface="Courier New"/>
                <a:cs typeface="Courier New"/>
              </a:rPr>
              <a:t>)</a:t>
            </a:r>
            <a:r>
              <a:rPr lang="en-US" sz="800" spc="-60" dirty="0">
                <a:latin typeface="Courier New"/>
                <a:cs typeface="Courier New"/>
              </a:rPr>
              <a:t>?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35" dirty="0">
                <a:latin typeface="Courier New"/>
                <a:cs typeface="Courier New"/>
              </a:rPr>
              <a:t>yes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3912870" cy="5080"/>
            </a:xfrm>
            <a:custGeom>
              <a:avLst/>
              <a:gdLst/>
              <a:ahLst/>
              <a:cxnLst/>
              <a:rect l="l" t="t" r="r" b="b"/>
              <a:pathLst>
                <a:path w="3912870" h="5080">
                  <a:moveTo>
                    <a:pt x="0" y="5060"/>
                  </a:moveTo>
                  <a:lnTo>
                    <a:pt x="0" y="0"/>
                  </a:lnTo>
                  <a:lnTo>
                    <a:pt x="3912501" y="0"/>
                  </a:lnTo>
                  <a:lnTo>
                    <a:pt x="391250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614703" y="1256865"/>
            <a:ext cx="2792197" cy="18845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2799"/>
              </a:lnSpc>
              <a:spcBef>
                <a:spcPts val="100"/>
              </a:spcBef>
            </a:pPr>
            <a:r>
              <a:rPr lang="en-US" sz="1100" spc="-25" dirty="0">
                <a:solidFill>
                  <a:srgbClr val="22373A"/>
                </a:solidFill>
                <a:hlinkClick r:id="rId2" action="ppaction://hlinksldjump"/>
              </a:rPr>
              <a:t>Managing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10" dirty="0">
                <a:solidFill>
                  <a:srgbClr val="22373A"/>
                </a:solidFill>
                <a:hlinkClick r:id="rId2" action="ppaction://hlinksldjump"/>
              </a:rPr>
              <a:t>Python</a:t>
            </a:r>
            <a:r>
              <a:rPr lang="en-US" sz="1100" spc="10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50" dirty="0">
                <a:solidFill>
                  <a:srgbClr val="22373A"/>
                </a:solidFill>
                <a:hlinkClick r:id="rId2" action="ppaction://hlinksldjump"/>
              </a:rPr>
              <a:t>environments</a:t>
            </a:r>
            <a:r>
              <a:rPr lang="en-US" sz="1100" spc="15" dirty="0">
                <a:solidFill>
                  <a:srgbClr val="22373A"/>
                </a:solidFill>
                <a:hlinkClick r:id="rId2" action="ppaction://hlinksldjump"/>
              </a:rPr>
              <a:t> </a:t>
            </a:r>
            <a:r>
              <a:rPr lang="en-US" sz="1100" spc="-20" dirty="0">
                <a:solidFill>
                  <a:srgbClr val="22373A"/>
                </a:solidFill>
                <a:hlinkClick r:id="rId2" action="ppaction://hlinksldjump"/>
              </a:rPr>
              <a:t>with</a:t>
            </a:r>
            <a:r>
              <a:rPr lang="en-US" sz="1100" spc="-20" dirty="0">
                <a:solidFill>
                  <a:srgbClr val="22373A"/>
                </a:solidFill>
              </a:rPr>
              <a:t> </a:t>
            </a:r>
            <a:r>
              <a:rPr lang="en-US" sz="1100" spc="-25" dirty="0">
                <a:solidFill>
                  <a:schemeClr val="accent3">
                    <a:lumMod val="50000"/>
                  </a:schemeClr>
                </a:solidFill>
                <a:hlinkClick r:id="rId2" action="ppaction://hlinksldjum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uv</a:t>
            </a:r>
            <a:endParaRPr lang="en-US" sz="1100" dirty="0">
              <a:solidFill>
                <a:schemeClr val="accent3">
                  <a:lumMod val="50000"/>
                </a:schemeClr>
              </a:solidFill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740808"/>
            <a:ext cx="2505710" cy="5080"/>
            <a:chOff x="1627403" y="1740808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740808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740808"/>
              <a:ext cx="1749425" cy="5080"/>
            </a:xfrm>
            <a:custGeom>
              <a:avLst/>
              <a:gdLst/>
              <a:ahLst/>
              <a:cxnLst/>
              <a:rect l="l" t="t" r="r" b="b"/>
              <a:pathLst>
                <a:path w="1749425" h="5080">
                  <a:moveTo>
                    <a:pt x="0" y="5060"/>
                  </a:moveTo>
                  <a:lnTo>
                    <a:pt x="0" y="0"/>
                  </a:lnTo>
                  <a:lnTo>
                    <a:pt x="1748956" y="0"/>
                  </a:lnTo>
                  <a:lnTo>
                    <a:pt x="174895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7343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20" dirty="0"/>
              <a:t> </a:t>
            </a:r>
            <a:r>
              <a:rPr lang="en-US" spc="-45" dirty="0"/>
              <a:t>use</a:t>
            </a:r>
            <a:r>
              <a:rPr lang="en-US" spc="20" dirty="0"/>
              <a:t> </a:t>
            </a:r>
            <a:r>
              <a:rPr lang="en-US" spc="-45" dirty="0" err="1"/>
              <a:t>uv</a:t>
            </a:r>
            <a:r>
              <a:rPr lang="en-US" spc="-45" dirty="0"/>
              <a:t>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126" y="1371290"/>
            <a:ext cx="3608070" cy="6400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95"/>
              </a:spcBef>
              <a:buChar char="•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management:</a:t>
            </a:r>
            <a:r>
              <a:rPr lang="en-US" sz="900" spc="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Easily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switch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between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versions.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160020" algn="l"/>
              </a:tabLst>
            </a:pP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Dependency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isolation: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Keep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projects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independent.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805"/>
              </a:spcBef>
              <a:buChar char="•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Reproducibility:</a:t>
            </a:r>
            <a:r>
              <a:rPr lang="en-US" sz="900" spc="1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Ensures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dependencies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remain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consistent.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4130040" cy="5080"/>
            </a:xfrm>
            <a:custGeom>
              <a:avLst/>
              <a:gdLst/>
              <a:ahLst/>
              <a:cxnLst/>
              <a:rect l="l" t="t" r="r" b="b"/>
              <a:pathLst>
                <a:path w="4130040" h="5080">
                  <a:moveTo>
                    <a:pt x="0" y="5060"/>
                  </a:moveTo>
                  <a:lnTo>
                    <a:pt x="0" y="0"/>
                  </a:lnTo>
                  <a:lnTo>
                    <a:pt x="4129857" y="0"/>
                  </a:lnTo>
                  <a:lnTo>
                    <a:pt x="412985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7277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Installing</a:t>
            </a:r>
            <a:r>
              <a:rPr lang="en-US" spc="25" dirty="0"/>
              <a:t> </a:t>
            </a:r>
            <a:r>
              <a:rPr lang="en-US" spc="-25" dirty="0" err="1"/>
              <a:t>uv</a:t>
            </a:r>
            <a:endParaRPr lang="en-US" spc="-25" dirty="0"/>
          </a:p>
        </p:txBody>
      </p:sp>
      <p:grpSp>
        <p:nvGrpSpPr>
          <p:cNvPr id="3" name="object 3"/>
          <p:cNvGrpSpPr/>
          <p:nvPr/>
        </p:nvGrpSpPr>
        <p:grpSpPr>
          <a:xfrm>
            <a:off x="372646" y="1453577"/>
            <a:ext cx="5015230" cy="320040"/>
            <a:chOff x="372646" y="1453577"/>
            <a:chExt cx="5015230" cy="320040"/>
          </a:xfrm>
        </p:grpSpPr>
        <p:sp>
          <p:nvSpPr>
            <p:cNvPr id="4" name="object 4"/>
            <p:cNvSpPr/>
            <p:nvPr/>
          </p:nvSpPr>
          <p:spPr>
            <a:xfrm>
              <a:off x="377994" y="1458924"/>
              <a:ext cx="5004435" cy="309245"/>
            </a:xfrm>
            <a:custGeom>
              <a:avLst/>
              <a:gdLst/>
              <a:ahLst/>
              <a:cxnLst/>
              <a:rect l="l" t="t" r="r" b="b"/>
              <a:pathLst>
                <a:path w="5004435" h="309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72720"/>
                  </a:lnTo>
                  <a:lnTo>
                    <a:pt x="2829" y="286733"/>
                  </a:lnTo>
                  <a:lnTo>
                    <a:pt x="10544" y="298176"/>
                  </a:lnTo>
                  <a:lnTo>
                    <a:pt x="21987" y="305892"/>
                  </a:lnTo>
                  <a:lnTo>
                    <a:pt x="36000" y="308721"/>
                  </a:lnTo>
                  <a:lnTo>
                    <a:pt x="4968064" y="308721"/>
                  </a:lnTo>
                  <a:lnTo>
                    <a:pt x="4982077" y="305892"/>
                  </a:lnTo>
                  <a:lnTo>
                    <a:pt x="4993521" y="298176"/>
                  </a:lnTo>
                  <a:lnTo>
                    <a:pt x="5001236" y="286733"/>
                  </a:lnTo>
                  <a:lnTo>
                    <a:pt x="5004065" y="272720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459903"/>
              <a:ext cx="5002530" cy="307340"/>
            </a:xfrm>
            <a:custGeom>
              <a:avLst/>
              <a:gdLst/>
              <a:ahLst/>
              <a:cxnLst/>
              <a:rect l="l" t="t" r="r" b="b"/>
              <a:pathLst>
                <a:path w="5002530" h="307339">
                  <a:moveTo>
                    <a:pt x="0" y="271741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71741"/>
                  </a:lnTo>
                  <a:lnTo>
                    <a:pt x="4999354" y="285373"/>
                  </a:lnTo>
                  <a:lnTo>
                    <a:pt x="4991849" y="296505"/>
                  </a:lnTo>
                  <a:lnTo>
                    <a:pt x="4980717" y="304010"/>
                  </a:lnTo>
                  <a:lnTo>
                    <a:pt x="4967085" y="306762"/>
                  </a:lnTo>
                  <a:lnTo>
                    <a:pt x="35021" y="306762"/>
                  </a:lnTo>
                  <a:lnTo>
                    <a:pt x="21389" y="304010"/>
                  </a:lnTo>
                  <a:lnTo>
                    <a:pt x="10257" y="296505"/>
                  </a:lnTo>
                  <a:lnTo>
                    <a:pt x="2752" y="285373"/>
                  </a:lnTo>
                  <a:lnTo>
                    <a:pt x="0" y="271741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2088577"/>
            <a:ext cx="5015230" cy="313055"/>
            <a:chOff x="372646" y="2088577"/>
            <a:chExt cx="5015230" cy="313055"/>
          </a:xfrm>
        </p:grpSpPr>
        <p:sp>
          <p:nvSpPr>
            <p:cNvPr id="7" name="object 7"/>
            <p:cNvSpPr/>
            <p:nvPr/>
          </p:nvSpPr>
          <p:spPr>
            <a:xfrm>
              <a:off x="377994" y="2093925"/>
              <a:ext cx="5004435" cy="302260"/>
            </a:xfrm>
            <a:custGeom>
              <a:avLst/>
              <a:gdLst/>
              <a:ahLst/>
              <a:cxnLst/>
              <a:rect l="l" t="t" r="r" b="b"/>
              <a:pathLst>
                <a:path w="5004435" h="30226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6141"/>
                  </a:lnTo>
                  <a:lnTo>
                    <a:pt x="2829" y="280154"/>
                  </a:lnTo>
                  <a:lnTo>
                    <a:pt x="10544" y="291597"/>
                  </a:lnTo>
                  <a:lnTo>
                    <a:pt x="21987" y="299312"/>
                  </a:lnTo>
                  <a:lnTo>
                    <a:pt x="36000" y="302141"/>
                  </a:lnTo>
                  <a:lnTo>
                    <a:pt x="4968064" y="302141"/>
                  </a:lnTo>
                  <a:lnTo>
                    <a:pt x="4982077" y="299312"/>
                  </a:lnTo>
                  <a:lnTo>
                    <a:pt x="4993521" y="291597"/>
                  </a:lnTo>
                  <a:lnTo>
                    <a:pt x="5001236" y="280154"/>
                  </a:lnTo>
                  <a:lnTo>
                    <a:pt x="5004065" y="2661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2094904"/>
              <a:ext cx="5002530" cy="300355"/>
            </a:xfrm>
            <a:custGeom>
              <a:avLst/>
              <a:gdLst/>
              <a:ahLst/>
              <a:cxnLst/>
              <a:rect l="l" t="t" r="r" b="b"/>
              <a:pathLst>
                <a:path w="5002530" h="300355">
                  <a:moveTo>
                    <a:pt x="0" y="2651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5162"/>
                  </a:lnTo>
                  <a:lnTo>
                    <a:pt x="4999354" y="278794"/>
                  </a:lnTo>
                  <a:lnTo>
                    <a:pt x="4991849" y="289925"/>
                  </a:lnTo>
                  <a:lnTo>
                    <a:pt x="4980717" y="297431"/>
                  </a:lnTo>
                  <a:lnTo>
                    <a:pt x="4967085" y="300183"/>
                  </a:lnTo>
                  <a:lnTo>
                    <a:pt x="35021" y="300183"/>
                  </a:lnTo>
                  <a:lnTo>
                    <a:pt x="21389" y="297431"/>
                  </a:lnTo>
                  <a:lnTo>
                    <a:pt x="10257" y="289925"/>
                  </a:lnTo>
                  <a:lnTo>
                    <a:pt x="2752" y="278794"/>
                  </a:lnTo>
                  <a:lnTo>
                    <a:pt x="0" y="2651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3319" y="970605"/>
            <a:ext cx="4086225" cy="132778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651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more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information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encourage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oﬀicial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  <a:hlinkClick r:id="rId2"/>
              </a:rPr>
              <a:t>documentation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0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it,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instance: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55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curl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LsSf</a:t>
            </a:r>
            <a:r>
              <a:rPr lang="en-US" sz="800" spc="-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https://</a:t>
            </a:r>
            <a:r>
              <a:rPr lang="en-US" sz="800" spc="-60" dirty="0" err="1">
                <a:latin typeface="Courier New"/>
                <a:cs typeface="Courier New"/>
              </a:rPr>
              <a:t>astral.sh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uv</a:t>
            </a:r>
            <a:r>
              <a:rPr lang="en-US" sz="800" spc="-60" dirty="0">
                <a:latin typeface="Courier New"/>
                <a:cs typeface="Courier New"/>
              </a:rPr>
              <a:t>/</a:t>
            </a:r>
            <a:r>
              <a:rPr lang="en-US" sz="800" spc="-60" dirty="0" err="1">
                <a:latin typeface="Courier New"/>
                <a:cs typeface="Courier New"/>
              </a:rPr>
              <a:t>install.sh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b="1" dirty="0">
                <a:solidFill>
                  <a:srgbClr val="007021"/>
                </a:solidFill>
                <a:latin typeface="Courier New"/>
                <a:cs typeface="Courier New"/>
              </a:rPr>
              <a:t>|</a:t>
            </a:r>
            <a:r>
              <a:rPr lang="en-US" sz="800" b="1" spc="-5" dirty="0">
                <a:solidFill>
                  <a:srgbClr val="007021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solidFill>
                  <a:srgbClr val="05287C"/>
                </a:solidFill>
                <a:latin typeface="Courier New"/>
                <a:cs typeface="Courier New"/>
              </a:rPr>
              <a:t>sh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6510">
              <a:lnSpc>
                <a:spcPct val="100000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worked,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should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95" dirty="0">
                <a:solidFill>
                  <a:srgbClr val="22373A"/>
                </a:solidFill>
                <a:latin typeface="Arial"/>
                <a:cs typeface="Arial"/>
              </a:rPr>
              <a:t>see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message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your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300"/>
              </a:spcBef>
            </a:pPr>
            <a:endParaRPr lang="en-US" sz="900" dirty="0">
              <a:latin typeface="Arial"/>
              <a:cs typeface="Arial"/>
            </a:endParaRPr>
          </a:p>
          <a:p>
            <a:pPr marL="321945">
              <a:lnSpc>
                <a:spcPct val="100000"/>
              </a:lnSpc>
            </a:pPr>
            <a:r>
              <a:rPr lang="en-US" sz="800" spc="-55" dirty="0">
                <a:latin typeface="Courier New"/>
                <a:cs typeface="Courier New"/>
              </a:rPr>
              <a:t>everything</a:t>
            </a:r>
            <a:r>
              <a:rPr lang="en-US" sz="800" spc="-55" dirty="0">
                <a:solidFill>
                  <a:srgbClr val="3F70A0"/>
                </a:solidFill>
                <a:latin typeface="Courier New"/>
                <a:cs typeface="Courier New"/>
              </a:rPr>
              <a:t>'s</a:t>
            </a:r>
            <a:r>
              <a:rPr lang="en-US" sz="800" spc="-30" dirty="0">
                <a:solidFill>
                  <a:srgbClr val="3F70A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solidFill>
                  <a:srgbClr val="3F70A0"/>
                </a:solidFill>
                <a:latin typeface="Courier New"/>
                <a:cs typeface="Courier New"/>
              </a:rPr>
              <a:t>installed!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238625" cy="5080"/>
            </a:xfrm>
            <a:custGeom>
              <a:avLst/>
              <a:gdLst/>
              <a:ahLst/>
              <a:cxnLst/>
              <a:rect l="l" t="t" r="r" b="b"/>
              <a:pathLst>
                <a:path w="4238625" h="5080">
                  <a:moveTo>
                    <a:pt x="0" y="5060"/>
                  </a:moveTo>
                  <a:lnTo>
                    <a:pt x="0" y="0"/>
                  </a:lnTo>
                  <a:lnTo>
                    <a:pt x="4238579" y="0"/>
                  </a:lnTo>
                  <a:lnTo>
                    <a:pt x="423857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227304" y="873992"/>
            <a:ext cx="4163695" cy="147828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0185" marR="3192145">
              <a:lnSpc>
                <a:spcPct val="107400"/>
              </a:lnSpc>
              <a:spcBef>
                <a:spcPts val="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0185" marR="1687195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210185" marR="292354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210185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98882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10" dirty="0"/>
              <a:t>Creating</a:t>
            </a:r>
            <a:r>
              <a:rPr lang="en-US" spc="-20" dirty="0"/>
              <a:t> </a:t>
            </a:r>
            <a:r>
              <a:rPr lang="en-US" dirty="0"/>
              <a:t>two</a:t>
            </a:r>
            <a:r>
              <a:rPr lang="en-US" spc="-20" dirty="0"/>
              <a:t> </a:t>
            </a:r>
            <a:r>
              <a:rPr lang="en-US" spc="-30" dirty="0"/>
              <a:t>example</a:t>
            </a:r>
            <a:r>
              <a:rPr lang="en-US" spc="-20" dirty="0"/>
              <a:t> </a:t>
            </a:r>
            <a:r>
              <a:rPr lang="en-US" dirty="0" err="1"/>
              <a:t>uv</a:t>
            </a:r>
            <a:r>
              <a:rPr lang="en-US" spc="-15" dirty="0"/>
              <a:t> </a:t>
            </a:r>
            <a:r>
              <a:rPr lang="en-US" spc="-10" dirty="0"/>
              <a:t>Projects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1356903"/>
            <a:ext cx="2494915" cy="1076325"/>
            <a:chOff x="252657" y="1356903"/>
            <a:chExt cx="2494915" cy="1076325"/>
          </a:xfrm>
        </p:grpSpPr>
        <p:sp>
          <p:nvSpPr>
            <p:cNvPr id="4" name="object 4"/>
            <p:cNvSpPr/>
            <p:nvPr/>
          </p:nvSpPr>
          <p:spPr>
            <a:xfrm>
              <a:off x="258004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425310" y="1409725"/>
            <a:ext cx="2282825" cy="9423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151003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65" dirty="0">
                <a:latin typeface="Courier New"/>
                <a:cs typeface="Courier New"/>
              </a:rPr>
              <a:t>project1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12700" marR="5080">
              <a:lnSpc>
                <a:spcPct val="107400"/>
              </a:lnSpc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3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3.8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55" dirty="0">
                <a:latin typeface="Courier New"/>
                <a:cs typeface="Courier New"/>
              </a:rPr>
              <a:t>venv </a:t>
            </a: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 marL="12700" marR="1240790">
              <a:lnSpc>
                <a:spcPct val="107400"/>
              </a:lnSpc>
            </a:pP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4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3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873992"/>
            <a:ext cx="4965700" cy="401320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127000">
              <a:lnSpc>
                <a:spcPct val="100000"/>
              </a:lnSpc>
              <a:spcBef>
                <a:spcPts val="500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different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versions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dependencies.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395"/>
              </a:spcBef>
              <a:tabLst>
                <a:tab pos="277241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Project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1: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	Project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2: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85" dirty="0">
                <a:solidFill>
                  <a:srgbClr val="22373A"/>
                </a:solidFill>
                <a:latin typeface="Arial"/>
                <a:cs typeface="Arial"/>
              </a:rPr>
              <a:t>+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012646" y="1356903"/>
            <a:ext cx="2494915" cy="1076325"/>
            <a:chOff x="3012646" y="1356903"/>
            <a:chExt cx="2494915" cy="1076325"/>
          </a:xfrm>
        </p:grpSpPr>
        <p:sp>
          <p:nvSpPr>
            <p:cNvPr id="9" name="object 9"/>
            <p:cNvSpPr/>
            <p:nvPr/>
          </p:nvSpPr>
          <p:spPr>
            <a:xfrm>
              <a:off x="3017993" y="1362250"/>
              <a:ext cx="2484120" cy="1065530"/>
            </a:xfrm>
            <a:custGeom>
              <a:avLst/>
              <a:gdLst/>
              <a:ahLst/>
              <a:cxnLst/>
              <a:rect l="l" t="t" r="r" b="b"/>
              <a:pathLst>
                <a:path w="2484120" h="1065530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29095"/>
                  </a:lnTo>
                  <a:lnTo>
                    <a:pt x="2829" y="1043108"/>
                  </a:lnTo>
                  <a:lnTo>
                    <a:pt x="10544" y="1054552"/>
                  </a:lnTo>
                  <a:lnTo>
                    <a:pt x="21987" y="1062267"/>
                  </a:lnTo>
                  <a:lnTo>
                    <a:pt x="36000" y="1065096"/>
                  </a:lnTo>
                  <a:lnTo>
                    <a:pt x="2448032" y="1065096"/>
                  </a:lnTo>
                  <a:lnTo>
                    <a:pt x="2462045" y="1062267"/>
                  </a:lnTo>
                  <a:lnTo>
                    <a:pt x="2473488" y="1054552"/>
                  </a:lnTo>
                  <a:lnTo>
                    <a:pt x="2481203" y="1043108"/>
                  </a:lnTo>
                  <a:lnTo>
                    <a:pt x="2484032" y="102909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3018973" y="1363229"/>
              <a:ext cx="2482215" cy="1063625"/>
            </a:xfrm>
            <a:custGeom>
              <a:avLst/>
              <a:gdLst/>
              <a:ahLst/>
              <a:cxnLst/>
              <a:rect l="l" t="t" r="r" b="b"/>
              <a:pathLst>
                <a:path w="2482215" h="1063625">
                  <a:moveTo>
                    <a:pt x="0" y="102811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028116"/>
                  </a:lnTo>
                  <a:lnTo>
                    <a:pt x="2479321" y="1041748"/>
                  </a:lnTo>
                  <a:lnTo>
                    <a:pt x="2471816" y="1052880"/>
                  </a:lnTo>
                  <a:lnTo>
                    <a:pt x="2460684" y="1060385"/>
                  </a:lnTo>
                  <a:lnTo>
                    <a:pt x="2447052" y="1063137"/>
                  </a:lnTo>
                  <a:lnTo>
                    <a:pt x="35021" y="1063137"/>
                  </a:lnTo>
                  <a:lnTo>
                    <a:pt x="21389" y="1060385"/>
                  </a:lnTo>
                  <a:lnTo>
                    <a:pt x="10257" y="1052880"/>
                  </a:lnTo>
                  <a:lnTo>
                    <a:pt x="2752" y="1041748"/>
                  </a:lnTo>
                  <a:lnTo>
                    <a:pt x="0" y="102811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185299" y="1419210"/>
            <a:ext cx="77787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60" dirty="0" err="1">
                <a:solidFill>
                  <a:srgbClr val="05287C"/>
                </a:solidFill>
                <a:latin typeface="Courier New"/>
                <a:cs typeface="Courier New"/>
              </a:rPr>
              <a:t>mkdir</a:t>
            </a:r>
            <a:r>
              <a:rPr lang="en-US" sz="800" spc="-25" dirty="0">
                <a:solidFill>
                  <a:srgbClr val="05287C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3185299" y="1550160"/>
            <a:ext cx="61722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3185299" y="1681110"/>
            <a:ext cx="2336800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spc="-50" dirty="0" err="1">
                <a:latin typeface="Courier New"/>
                <a:cs typeface="Courier New"/>
              </a:rPr>
              <a:t>uv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venv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>
                <a:solidFill>
                  <a:srgbClr val="7C8E28"/>
                </a:solidFill>
                <a:latin typeface="Courier New"/>
                <a:cs typeface="Courier New"/>
              </a:rPr>
              <a:t>seed</a:t>
            </a:r>
            <a:r>
              <a:rPr lang="en-US" sz="800" spc="-20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--python</a:t>
            </a:r>
            <a:r>
              <a:rPr lang="en-US" sz="800" spc="-25" dirty="0">
                <a:solidFill>
                  <a:srgbClr val="7C8E28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>
                <a:latin typeface="Courier New"/>
                <a:cs typeface="Courier New"/>
              </a:rPr>
              <a:t>3.10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30" dirty="0">
                <a:latin typeface="Courier New"/>
                <a:cs typeface="Courier New"/>
              </a:rPr>
              <a:t>venv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3185299" y="1802561"/>
            <a:ext cx="1852930" cy="5492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07400"/>
              </a:lnSpc>
              <a:spcBef>
                <a:spcPts val="100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.project2-venv/bin/activate </a:t>
            </a:r>
            <a:r>
              <a:rPr lang="en-US" sz="800" spc="-50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pandas deactivate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5" name="object 15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6" name="object 16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0" y="3234963"/>
              <a:ext cx="4347210" cy="5080"/>
            </a:xfrm>
            <a:custGeom>
              <a:avLst/>
              <a:gdLst/>
              <a:ahLst/>
              <a:cxnLst/>
              <a:rect l="l" t="t" r="r" b="b"/>
              <a:pathLst>
                <a:path w="4347210" h="5080">
                  <a:moveTo>
                    <a:pt x="0" y="5060"/>
                  </a:moveTo>
                  <a:lnTo>
                    <a:pt x="0" y="0"/>
                  </a:lnTo>
                  <a:lnTo>
                    <a:pt x="4347213" y="0"/>
                  </a:lnTo>
                  <a:lnTo>
                    <a:pt x="434721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615498"/>
            <a:ext cx="5015230" cy="443865"/>
            <a:chOff x="372646" y="61549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620846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621825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162278"/>
            <a:ext cx="384175" cy="146050"/>
            <a:chOff x="1252423" y="1162278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162278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164749" y="116273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1772878"/>
            <a:ext cx="5015230" cy="574040"/>
            <a:chOff x="372646" y="1772878"/>
            <a:chExt cx="5015230" cy="574040"/>
          </a:xfrm>
        </p:grpSpPr>
        <p:sp>
          <p:nvSpPr>
            <p:cNvPr id="11" name="object 11"/>
            <p:cNvSpPr/>
            <p:nvPr/>
          </p:nvSpPr>
          <p:spPr>
            <a:xfrm>
              <a:off x="377994" y="1778226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6735"/>
                  </a:lnTo>
                  <a:lnTo>
                    <a:pt x="2829" y="540748"/>
                  </a:lnTo>
                  <a:lnTo>
                    <a:pt x="10544" y="552191"/>
                  </a:lnTo>
                  <a:lnTo>
                    <a:pt x="21987" y="559906"/>
                  </a:lnTo>
                  <a:lnTo>
                    <a:pt x="36000" y="562735"/>
                  </a:lnTo>
                  <a:lnTo>
                    <a:pt x="4968064" y="562735"/>
                  </a:lnTo>
                  <a:lnTo>
                    <a:pt x="4982077" y="559906"/>
                  </a:lnTo>
                  <a:lnTo>
                    <a:pt x="4993521" y="552191"/>
                  </a:lnTo>
                  <a:lnTo>
                    <a:pt x="5001236" y="540748"/>
                  </a:lnTo>
                  <a:lnTo>
                    <a:pt x="5004065" y="52673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1779205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39">
                  <a:moveTo>
                    <a:pt x="0" y="52575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5756"/>
                  </a:lnTo>
                  <a:lnTo>
                    <a:pt x="4999354" y="539387"/>
                  </a:lnTo>
                  <a:lnTo>
                    <a:pt x="4991849" y="550519"/>
                  </a:lnTo>
                  <a:lnTo>
                    <a:pt x="4980717" y="558025"/>
                  </a:lnTo>
                  <a:lnTo>
                    <a:pt x="4967085" y="560777"/>
                  </a:lnTo>
                  <a:lnTo>
                    <a:pt x="35021" y="560777"/>
                  </a:lnTo>
                  <a:lnTo>
                    <a:pt x="21389" y="558025"/>
                  </a:lnTo>
                  <a:lnTo>
                    <a:pt x="10257" y="550519"/>
                  </a:lnTo>
                  <a:lnTo>
                    <a:pt x="2752" y="539387"/>
                  </a:lnTo>
                  <a:lnTo>
                    <a:pt x="0" y="52575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372646" y="2661888"/>
            <a:ext cx="5015230" cy="420370"/>
            <a:chOff x="372646" y="2661888"/>
            <a:chExt cx="5015230" cy="420370"/>
          </a:xfrm>
        </p:grpSpPr>
        <p:sp>
          <p:nvSpPr>
            <p:cNvPr id="14" name="object 14"/>
            <p:cNvSpPr/>
            <p:nvPr/>
          </p:nvSpPr>
          <p:spPr>
            <a:xfrm>
              <a:off x="377994" y="2667236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378973" y="2668215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341718" y="371520"/>
            <a:ext cx="4972050" cy="268515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26543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778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stored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next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time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available.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8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version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Output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</a:rPr>
              <a:t>Python</a:t>
            </a:r>
            <a:r>
              <a:rPr lang="en-US" sz="800" spc="-1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3.8.20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6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20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21005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7" name="object 1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8" name="object 1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0" y="3234963"/>
              <a:ext cx="4456430" cy="5080"/>
            </a:xfrm>
            <a:custGeom>
              <a:avLst/>
              <a:gdLst/>
              <a:ahLst/>
              <a:cxnLst/>
              <a:rect l="l" t="t" r="r" b="b"/>
              <a:pathLst>
                <a:path w="4456430" h="5080">
                  <a:moveTo>
                    <a:pt x="0" y="5060"/>
                  </a:moveTo>
                  <a:lnTo>
                    <a:pt x="0" y="0"/>
                  </a:lnTo>
                  <a:lnTo>
                    <a:pt x="4455935" y="0"/>
                  </a:lnTo>
                  <a:lnTo>
                    <a:pt x="445593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Working</a:t>
            </a:r>
            <a:r>
              <a:rPr lang="en-US" spc="25" dirty="0"/>
              <a:t> </a:t>
            </a:r>
            <a:r>
              <a:rPr lang="en-US" dirty="0"/>
              <a:t>with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0" dirty="0"/>
              <a:t> </a:t>
            </a:r>
            <a:r>
              <a:rPr lang="en-US" spc="-40" dirty="0"/>
              <a:t>environments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19308"/>
            <a:ext cx="5015230" cy="443865"/>
            <a:chOff x="372646" y="1019308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024655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25634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5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252423" y="1566087"/>
            <a:ext cx="384175" cy="146050"/>
            <a:chOff x="1252423" y="1566087"/>
            <a:chExt cx="384175" cy="146050"/>
          </a:xfrm>
        </p:grpSpPr>
        <p:sp>
          <p:nvSpPr>
            <p:cNvPr id="7" name="object 7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252423" y="1566087"/>
              <a:ext cx="384175" cy="146050"/>
            </a:xfrm>
            <a:custGeom>
              <a:avLst/>
              <a:gdLst/>
              <a:ahLst/>
              <a:cxnLst/>
              <a:rect l="l" t="t" r="r" b="b"/>
              <a:pathLst>
                <a:path w="384175" h="14605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348009" y="146037"/>
                  </a:lnTo>
                  <a:lnTo>
                    <a:pt x="362022" y="143208"/>
                  </a:lnTo>
                  <a:lnTo>
                    <a:pt x="373465" y="135493"/>
                  </a:lnTo>
                  <a:lnTo>
                    <a:pt x="381180" y="124050"/>
                  </a:lnTo>
                  <a:lnTo>
                    <a:pt x="384009" y="110037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223283" y="1566541"/>
            <a:ext cx="204657" cy="145012"/>
          </a:xfrm>
          <a:prstGeom prst="rect">
            <a:avLst/>
          </a:prstGeom>
        </p:spPr>
      </p:pic>
      <p:grpSp>
        <p:nvGrpSpPr>
          <p:cNvPr id="10" name="object 10"/>
          <p:cNvGrpSpPr/>
          <p:nvPr/>
        </p:nvGrpSpPr>
        <p:grpSpPr>
          <a:xfrm>
            <a:off x="372646" y="2176685"/>
            <a:ext cx="5015230" cy="420370"/>
            <a:chOff x="372646" y="2176685"/>
            <a:chExt cx="5015230" cy="420370"/>
          </a:xfrm>
        </p:grpSpPr>
        <p:sp>
          <p:nvSpPr>
            <p:cNvPr id="11" name="object 11"/>
            <p:cNvSpPr/>
            <p:nvPr/>
          </p:nvSpPr>
          <p:spPr>
            <a:xfrm>
              <a:off x="377994" y="2182032"/>
              <a:ext cx="5004435" cy="409575"/>
            </a:xfrm>
            <a:custGeom>
              <a:avLst/>
              <a:gdLst/>
              <a:ahLst/>
              <a:cxnLst/>
              <a:rect l="l" t="t" r="r" b="b"/>
              <a:pathLst>
                <a:path w="5004435" h="40957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73309"/>
                  </a:lnTo>
                  <a:lnTo>
                    <a:pt x="2829" y="387322"/>
                  </a:lnTo>
                  <a:lnTo>
                    <a:pt x="10544" y="398765"/>
                  </a:lnTo>
                  <a:lnTo>
                    <a:pt x="21987" y="406480"/>
                  </a:lnTo>
                  <a:lnTo>
                    <a:pt x="36000" y="409309"/>
                  </a:lnTo>
                  <a:lnTo>
                    <a:pt x="4968064" y="409309"/>
                  </a:lnTo>
                  <a:lnTo>
                    <a:pt x="4982077" y="406480"/>
                  </a:lnTo>
                  <a:lnTo>
                    <a:pt x="4993521" y="398765"/>
                  </a:lnTo>
                  <a:lnTo>
                    <a:pt x="5001236" y="387322"/>
                  </a:lnTo>
                  <a:lnTo>
                    <a:pt x="5004065" y="373309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78973" y="2183011"/>
              <a:ext cx="5002530" cy="407670"/>
            </a:xfrm>
            <a:custGeom>
              <a:avLst/>
              <a:gdLst/>
              <a:ahLst/>
              <a:cxnLst/>
              <a:rect l="l" t="t" r="r" b="b"/>
              <a:pathLst>
                <a:path w="5002530" h="407669">
                  <a:moveTo>
                    <a:pt x="0" y="372329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72329"/>
                  </a:lnTo>
                  <a:lnTo>
                    <a:pt x="4999354" y="385961"/>
                  </a:lnTo>
                  <a:lnTo>
                    <a:pt x="4991849" y="397093"/>
                  </a:lnTo>
                  <a:lnTo>
                    <a:pt x="4980717" y="404598"/>
                  </a:lnTo>
                  <a:lnTo>
                    <a:pt x="4967085" y="407350"/>
                  </a:lnTo>
                  <a:lnTo>
                    <a:pt x="35021" y="407350"/>
                  </a:lnTo>
                  <a:lnTo>
                    <a:pt x="21389" y="404598"/>
                  </a:lnTo>
                  <a:lnTo>
                    <a:pt x="10257" y="397093"/>
                  </a:lnTo>
                  <a:lnTo>
                    <a:pt x="2752" y="385961"/>
                  </a:lnTo>
                  <a:lnTo>
                    <a:pt x="0" y="372329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13" name="object 13"/>
          <p:cNvSpPr txBox="1"/>
          <p:nvPr/>
        </p:nvSpPr>
        <p:spPr>
          <a:xfrm>
            <a:off x="341718" y="775329"/>
            <a:ext cx="4770120" cy="176182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want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project2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.project2-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49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17780" marR="5080">
              <a:lnSpc>
                <a:spcPct val="116199"/>
              </a:lnSpc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latin typeface="Courier New"/>
                <a:cs typeface="Courier New"/>
              </a:rPr>
              <a:t>python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3.10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latin typeface="Courier New"/>
                <a:cs typeface="Courier New"/>
              </a:rPr>
              <a:t>pip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packages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2700">
              <a:lnSpc>
                <a:spcPct val="100000"/>
              </a:lnSpc>
              <a:spcBef>
                <a:spcPts val="80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When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am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finished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working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project2: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1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 marR="4008120">
              <a:lnSpc>
                <a:spcPct val="107400"/>
              </a:lnSpc>
            </a:pPr>
            <a:r>
              <a:rPr lang="en-US" sz="800" spc="-65" dirty="0">
                <a:latin typeface="Courier New"/>
                <a:cs typeface="Courier New"/>
              </a:rPr>
              <a:t>deactivate </a:t>
            </a: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..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14" name="object 1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5" name="object 1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0" y="3234963"/>
              <a:ext cx="4565015" cy="5080"/>
            </a:xfrm>
            <a:custGeom>
              <a:avLst/>
              <a:gdLst/>
              <a:ahLst/>
              <a:cxnLst/>
              <a:rect l="l" t="t" r="r" b="b"/>
              <a:pathLst>
                <a:path w="4565015" h="5080">
                  <a:moveTo>
                    <a:pt x="0" y="5060"/>
                  </a:moveTo>
                  <a:lnTo>
                    <a:pt x="0" y="0"/>
                  </a:lnTo>
                  <a:lnTo>
                    <a:pt x="4564570" y="0"/>
                  </a:lnTo>
                  <a:lnTo>
                    <a:pt x="4564570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ctr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586261"/>
            <a:ext cx="5015230" cy="443865"/>
            <a:chOff x="372646" y="1586261"/>
            <a:chExt cx="5015230" cy="443865"/>
          </a:xfrm>
        </p:grpSpPr>
        <p:sp>
          <p:nvSpPr>
            <p:cNvPr id="4" name="object 4"/>
            <p:cNvSpPr/>
            <p:nvPr/>
          </p:nvSpPr>
          <p:spPr>
            <a:xfrm>
              <a:off x="377994" y="1591608"/>
              <a:ext cx="5004435" cy="433070"/>
            </a:xfrm>
            <a:custGeom>
              <a:avLst/>
              <a:gdLst/>
              <a:ahLst/>
              <a:cxnLst/>
              <a:rect l="l" t="t" r="r" b="b"/>
              <a:pathLst>
                <a:path w="5004435" h="433069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396792"/>
                  </a:lnTo>
                  <a:lnTo>
                    <a:pt x="2829" y="410805"/>
                  </a:lnTo>
                  <a:lnTo>
                    <a:pt x="10544" y="422248"/>
                  </a:lnTo>
                  <a:lnTo>
                    <a:pt x="21987" y="429963"/>
                  </a:lnTo>
                  <a:lnTo>
                    <a:pt x="36000" y="432792"/>
                  </a:lnTo>
                  <a:lnTo>
                    <a:pt x="4968064" y="432792"/>
                  </a:lnTo>
                  <a:lnTo>
                    <a:pt x="4982077" y="429963"/>
                  </a:lnTo>
                  <a:lnTo>
                    <a:pt x="4993521" y="422248"/>
                  </a:lnTo>
                  <a:lnTo>
                    <a:pt x="5001236" y="410805"/>
                  </a:lnTo>
                  <a:lnTo>
                    <a:pt x="5004065" y="396792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592587"/>
              <a:ext cx="5002530" cy="431165"/>
            </a:xfrm>
            <a:custGeom>
              <a:avLst/>
              <a:gdLst/>
              <a:ahLst/>
              <a:cxnLst/>
              <a:rect l="l" t="t" r="r" b="b"/>
              <a:pathLst>
                <a:path w="5002530" h="431164">
                  <a:moveTo>
                    <a:pt x="0" y="395813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395813"/>
                  </a:lnTo>
                  <a:lnTo>
                    <a:pt x="4999354" y="409445"/>
                  </a:lnTo>
                  <a:lnTo>
                    <a:pt x="4991849" y="420576"/>
                  </a:lnTo>
                  <a:lnTo>
                    <a:pt x="4980717" y="428082"/>
                  </a:lnTo>
                  <a:lnTo>
                    <a:pt x="4967085" y="430834"/>
                  </a:lnTo>
                  <a:lnTo>
                    <a:pt x="35021" y="430834"/>
                  </a:lnTo>
                  <a:lnTo>
                    <a:pt x="21389" y="428082"/>
                  </a:lnTo>
                  <a:lnTo>
                    <a:pt x="10257" y="420576"/>
                  </a:lnTo>
                  <a:lnTo>
                    <a:pt x="2752" y="409445"/>
                  </a:lnTo>
                  <a:lnTo>
                    <a:pt x="0" y="395813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1718" y="1342270"/>
            <a:ext cx="3759835" cy="5842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first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need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activated.</a:t>
            </a:r>
            <a:r>
              <a:rPr lang="en-US" sz="900" spc="10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example,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project1.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5"/>
              </a:spcBef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50" dirty="0">
                <a:solidFill>
                  <a:srgbClr val="007F00"/>
                </a:solidFill>
                <a:latin typeface="Courier New"/>
                <a:cs typeface="Courier New"/>
              </a:rPr>
              <a:t>cd</a:t>
            </a:r>
            <a:r>
              <a:rPr lang="en-US" sz="800" spc="-6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project1</a:t>
            </a:r>
            <a:endParaRPr lang="en-US" sz="800" dirty="0">
              <a:latin typeface="Courier New"/>
              <a:cs typeface="Courier New"/>
            </a:endParaRPr>
          </a:p>
          <a:p>
            <a:pPr marL="215900">
              <a:lnSpc>
                <a:spcPct val="100000"/>
              </a:lnSpc>
              <a:spcBef>
                <a:spcPts val="75"/>
              </a:spcBef>
            </a:pPr>
            <a:r>
              <a:rPr lang="en-US" sz="800" spc="-60" dirty="0">
                <a:solidFill>
                  <a:srgbClr val="007F00"/>
                </a:solidFill>
                <a:latin typeface="Courier New"/>
                <a:cs typeface="Courier New"/>
              </a:rPr>
              <a:t>source</a:t>
            </a:r>
            <a:r>
              <a:rPr lang="en-US" sz="800" spc="6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.project1-</a:t>
            </a:r>
            <a:r>
              <a:rPr lang="en-US" sz="800" spc="-10" dirty="0">
                <a:latin typeface="Courier New"/>
                <a:cs typeface="Courier New"/>
              </a:rPr>
              <a:t>venv/bin/activate</a:t>
            </a:r>
            <a:endParaRPr lang="en-US" sz="800" dirty="0">
              <a:latin typeface="Courier New"/>
              <a:cs typeface="Courier New"/>
            </a:endParaRPr>
          </a:p>
        </p:txBody>
      </p:sp>
      <p:grpSp>
        <p:nvGrpSpPr>
          <p:cNvPr id="7" name="object 7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8" name="object 8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4673600" cy="5080"/>
            </a:xfrm>
            <a:custGeom>
              <a:avLst/>
              <a:gdLst/>
              <a:ahLst/>
              <a:cxnLst/>
              <a:rect l="l" t="t" r="r" b="b"/>
              <a:pathLst>
                <a:path w="4673600" h="5080">
                  <a:moveTo>
                    <a:pt x="0" y="5060"/>
                  </a:moveTo>
                  <a:lnTo>
                    <a:pt x="0" y="0"/>
                  </a:lnTo>
                  <a:lnTo>
                    <a:pt x="4673292" y="0"/>
                  </a:lnTo>
                  <a:lnTo>
                    <a:pt x="467329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0" dirty="0"/>
              <a:t>(I)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1006088"/>
            <a:ext cx="5015230" cy="311785"/>
            <a:chOff x="372646" y="1006088"/>
            <a:chExt cx="5015230" cy="311785"/>
          </a:xfrm>
        </p:grpSpPr>
        <p:sp>
          <p:nvSpPr>
            <p:cNvPr id="4" name="object 4"/>
            <p:cNvSpPr/>
            <p:nvPr/>
          </p:nvSpPr>
          <p:spPr>
            <a:xfrm>
              <a:off x="377994" y="1011435"/>
              <a:ext cx="5004435" cy="300990"/>
            </a:xfrm>
            <a:custGeom>
              <a:avLst/>
              <a:gdLst/>
              <a:ahLst/>
              <a:cxnLst/>
              <a:rect l="l" t="t" r="r" b="b"/>
              <a:pathLst>
                <a:path w="5004435" h="300990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4825"/>
                  </a:lnTo>
                  <a:lnTo>
                    <a:pt x="2829" y="278838"/>
                  </a:lnTo>
                  <a:lnTo>
                    <a:pt x="10544" y="290281"/>
                  </a:lnTo>
                  <a:lnTo>
                    <a:pt x="21987" y="297996"/>
                  </a:lnTo>
                  <a:lnTo>
                    <a:pt x="36000" y="300825"/>
                  </a:lnTo>
                  <a:lnTo>
                    <a:pt x="4968064" y="300825"/>
                  </a:lnTo>
                  <a:lnTo>
                    <a:pt x="4982077" y="297996"/>
                  </a:lnTo>
                  <a:lnTo>
                    <a:pt x="4993521" y="290281"/>
                  </a:lnTo>
                  <a:lnTo>
                    <a:pt x="5001236" y="278838"/>
                  </a:lnTo>
                  <a:lnTo>
                    <a:pt x="5004065" y="264825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1012414"/>
              <a:ext cx="5002530" cy="299085"/>
            </a:xfrm>
            <a:custGeom>
              <a:avLst/>
              <a:gdLst/>
              <a:ahLst/>
              <a:cxnLst/>
              <a:rect l="l" t="t" r="r" b="b"/>
              <a:pathLst>
                <a:path w="5002530" h="299084">
                  <a:moveTo>
                    <a:pt x="0" y="2638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3846"/>
                  </a:lnTo>
                  <a:lnTo>
                    <a:pt x="4999354" y="277478"/>
                  </a:lnTo>
                  <a:lnTo>
                    <a:pt x="4991849" y="288610"/>
                  </a:lnTo>
                  <a:lnTo>
                    <a:pt x="4980717" y="296115"/>
                  </a:lnTo>
                  <a:lnTo>
                    <a:pt x="4967085" y="298867"/>
                  </a:lnTo>
                  <a:lnTo>
                    <a:pt x="35021" y="298867"/>
                  </a:lnTo>
                  <a:lnTo>
                    <a:pt x="21389" y="296115"/>
                  </a:lnTo>
                  <a:lnTo>
                    <a:pt x="10257" y="288610"/>
                  </a:lnTo>
                  <a:lnTo>
                    <a:pt x="2752" y="277478"/>
                  </a:lnTo>
                  <a:lnTo>
                    <a:pt x="0" y="2638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72646" y="1633191"/>
            <a:ext cx="5015230" cy="312420"/>
            <a:chOff x="372646" y="1633191"/>
            <a:chExt cx="5015230" cy="312420"/>
          </a:xfrm>
        </p:grpSpPr>
        <p:sp>
          <p:nvSpPr>
            <p:cNvPr id="7" name="object 7"/>
            <p:cNvSpPr/>
            <p:nvPr/>
          </p:nvSpPr>
          <p:spPr>
            <a:xfrm>
              <a:off x="377994" y="1638538"/>
              <a:ext cx="5004435" cy="301625"/>
            </a:xfrm>
            <a:custGeom>
              <a:avLst/>
              <a:gdLst/>
              <a:ahLst/>
              <a:cxnLst/>
              <a:rect l="l" t="t" r="r" b="b"/>
              <a:pathLst>
                <a:path w="5004435" h="301625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265331"/>
                  </a:lnTo>
                  <a:lnTo>
                    <a:pt x="2829" y="279344"/>
                  </a:lnTo>
                  <a:lnTo>
                    <a:pt x="10544" y="290787"/>
                  </a:lnTo>
                  <a:lnTo>
                    <a:pt x="21987" y="298502"/>
                  </a:lnTo>
                  <a:lnTo>
                    <a:pt x="36000" y="301331"/>
                  </a:lnTo>
                  <a:lnTo>
                    <a:pt x="4968064" y="301331"/>
                  </a:lnTo>
                  <a:lnTo>
                    <a:pt x="4982077" y="298502"/>
                  </a:lnTo>
                  <a:lnTo>
                    <a:pt x="4993521" y="290787"/>
                  </a:lnTo>
                  <a:lnTo>
                    <a:pt x="5001236" y="279344"/>
                  </a:lnTo>
                  <a:lnTo>
                    <a:pt x="5004065" y="26533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78973" y="1639517"/>
              <a:ext cx="5002530" cy="299720"/>
            </a:xfrm>
            <a:custGeom>
              <a:avLst/>
              <a:gdLst/>
              <a:ahLst/>
              <a:cxnLst/>
              <a:rect l="l" t="t" r="r" b="b"/>
              <a:pathLst>
                <a:path w="5002530" h="299719">
                  <a:moveTo>
                    <a:pt x="0" y="26435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264352"/>
                  </a:lnTo>
                  <a:lnTo>
                    <a:pt x="4999354" y="277984"/>
                  </a:lnTo>
                  <a:lnTo>
                    <a:pt x="4991849" y="289115"/>
                  </a:lnTo>
                  <a:lnTo>
                    <a:pt x="4980717" y="296621"/>
                  </a:lnTo>
                  <a:lnTo>
                    <a:pt x="4967085" y="299373"/>
                  </a:lnTo>
                  <a:lnTo>
                    <a:pt x="35021" y="299373"/>
                  </a:lnTo>
                  <a:lnTo>
                    <a:pt x="21389" y="296621"/>
                  </a:lnTo>
                  <a:lnTo>
                    <a:pt x="10257" y="289115"/>
                  </a:lnTo>
                  <a:lnTo>
                    <a:pt x="2752" y="277984"/>
                  </a:lnTo>
                  <a:lnTo>
                    <a:pt x="0" y="26435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1718" y="523107"/>
            <a:ext cx="5013325" cy="2336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server.</a:t>
            </a:r>
            <a:r>
              <a:rPr lang="en-US" sz="900" spc="8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two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ways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server:</a:t>
            </a:r>
            <a:endParaRPr lang="en-US" sz="9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800"/>
              </a:spcBef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localhost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notebook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Char char="•"/>
              <a:tabLst>
                <a:tab pos="245110" algn="l"/>
              </a:tabLst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Accessible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internet.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90"/>
              </a:spcBef>
              <a:buClr>
                <a:srgbClr val="22373A"/>
              </a:buClr>
              <a:buFont typeface="Arial"/>
              <a:buChar char="•"/>
            </a:pPr>
            <a:endParaRPr lang="en-US" sz="900" dirty="0">
              <a:latin typeface="Arial"/>
              <a:cs typeface="Arial"/>
            </a:endParaRPr>
          </a:p>
          <a:p>
            <a:pPr marL="215900">
              <a:lnSpc>
                <a:spcPct val="100000"/>
              </a:lnSpc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1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solidFill>
                  <a:srgbClr val="BC7A00"/>
                </a:solidFill>
                <a:latin typeface="Courier New"/>
                <a:cs typeface="Courier New"/>
              </a:rPr>
              <a:t>?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670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245110" indent="-147320">
              <a:lnSpc>
                <a:spcPct val="100000"/>
              </a:lnSpc>
              <a:buFont typeface="Arial"/>
              <a:buChar char="•"/>
              <a:tabLst>
                <a:tab pos="245110" algn="l"/>
              </a:tabLst>
            </a:pPr>
            <a:r>
              <a:rPr lang="en-US" sz="900" b="1" spc="-25" dirty="0" err="1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50"/>
              </a:spcBef>
              <a:buChar char="•"/>
              <a:tabLst>
                <a:tab pos="47307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0.0.0.0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Listen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800" dirty="0">
              <a:latin typeface="Arial"/>
              <a:cs typeface="Arial"/>
            </a:endParaRPr>
          </a:p>
          <a:p>
            <a:pPr marL="47307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47307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IP: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Obtain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public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8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800" dirty="0">
              <a:latin typeface="Arial"/>
              <a:cs typeface="Arial"/>
            </a:endParaRPr>
          </a:p>
          <a:p>
            <a:pPr marL="245110" indent="-147320">
              <a:lnSpc>
                <a:spcPct val="100000"/>
              </a:lnSpc>
              <a:spcBef>
                <a:spcPts val="195"/>
              </a:spcBef>
              <a:buFont typeface="Arial"/>
              <a:buChar char="•"/>
              <a:tabLst>
                <a:tab pos="245110" algn="l"/>
              </a:tabLst>
            </a:pPr>
            <a:r>
              <a:rPr lang="en-US" sz="900" b="1" spc="-1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endParaRPr lang="en-US" sz="900" dirty="0">
              <a:latin typeface="Arial"/>
              <a:cs typeface="Arial"/>
            </a:endParaRPr>
          </a:p>
          <a:p>
            <a:pPr marL="473709" marR="5080" lvl="1" indent="-140970">
              <a:lnSpc>
                <a:spcPts val="1030"/>
              </a:lnSpc>
              <a:spcBef>
                <a:spcPts val="30"/>
              </a:spcBef>
              <a:buChar char="•"/>
              <a:tabLst>
                <a:tab pos="473709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(default):</a:t>
            </a:r>
            <a:r>
              <a:rPr lang="en-US" sz="8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8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r>
              <a:rPr lang="en-US" sz="8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not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opened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by</a:t>
            </a:r>
            <a:r>
              <a:rPr lang="en-US" sz="800" b="1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spc="-3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800" b="1" spc="-10" dirty="0">
                <a:solidFill>
                  <a:srgbClr val="22373A"/>
                </a:solidFill>
                <a:latin typeface="Arial"/>
                <a:cs typeface="Arial"/>
              </a:rPr>
              <a:t> group.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0" name="object 10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1" name="object 11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4782185" cy="5080"/>
            </a:xfrm>
            <a:custGeom>
              <a:avLst/>
              <a:gdLst/>
              <a:ahLst/>
              <a:cxnLst/>
              <a:rect l="l" t="t" r="r" b="b"/>
              <a:pathLst>
                <a:path w="4782185" h="5080">
                  <a:moveTo>
                    <a:pt x="0" y="5060"/>
                  </a:moveTo>
                  <a:lnTo>
                    <a:pt x="0" y="0"/>
                  </a:lnTo>
                  <a:lnTo>
                    <a:pt x="4781926" y="0"/>
                  </a:lnTo>
                  <a:lnTo>
                    <a:pt x="4781926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25" dirty="0"/>
              <a:t>Opening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5" dirty="0"/>
              <a:t> </a:t>
            </a:r>
            <a:r>
              <a:rPr lang="en-US" dirty="0"/>
              <a:t>port</a:t>
            </a:r>
            <a:r>
              <a:rPr lang="en-US" spc="20" dirty="0"/>
              <a:t> </a:t>
            </a:r>
            <a:r>
              <a:rPr lang="en-US" spc="-20" dirty="0"/>
              <a:t>8888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27012" y="395634"/>
            <a:ext cx="3601720" cy="105600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60020" indent="-147320">
              <a:lnSpc>
                <a:spcPct val="100000"/>
              </a:lnSpc>
              <a:spcBef>
                <a:spcPts val="275"/>
              </a:spcBef>
              <a:buAutoNum type="arabicPeriod"/>
              <a:tabLst>
                <a:tab pos="160020" algn="l"/>
              </a:tabLst>
            </a:pP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Search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Groups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(EC2).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40" dirty="0">
                <a:solidFill>
                  <a:srgbClr val="22373A"/>
                </a:solidFill>
                <a:latin typeface="Arial"/>
                <a:cs typeface="Arial"/>
              </a:rPr>
              <a:t>launch-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wizard-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1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Edit 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inbound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rules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add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settings:</a:t>
            </a:r>
            <a:endParaRPr lang="en-US" sz="900" dirty="0">
              <a:latin typeface="Arial"/>
              <a:cs typeface="Arial"/>
            </a:endParaRPr>
          </a:p>
          <a:p>
            <a:pPr marL="384810" lvl="1" indent="-137160">
              <a:lnSpc>
                <a:spcPct val="100000"/>
              </a:lnSpc>
              <a:spcBef>
                <a:spcPts val="50"/>
              </a:spcBef>
              <a:buChar char="•"/>
              <a:tabLst>
                <a:tab pos="384810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Type:</a:t>
            </a:r>
            <a:r>
              <a:rPr lang="en-US" sz="800" spc="7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Custom</a:t>
            </a:r>
            <a:r>
              <a:rPr lang="en-US" sz="8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TCP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8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Range:</a:t>
            </a:r>
            <a:r>
              <a:rPr lang="en-US" sz="8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endParaRPr lang="en-US" sz="800" dirty="0">
              <a:latin typeface="Arial"/>
              <a:cs typeface="Arial"/>
            </a:endParaRPr>
          </a:p>
          <a:p>
            <a:pPr marL="387985" lvl="1" indent="-140335">
              <a:lnSpc>
                <a:spcPct val="100000"/>
              </a:lnSpc>
              <a:spcBef>
                <a:spcPts val="70"/>
              </a:spcBef>
              <a:buChar char="•"/>
              <a:tabLst>
                <a:tab pos="387985" algn="l"/>
              </a:tabLst>
            </a:pP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Source: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Anywhere</a:t>
            </a:r>
            <a:r>
              <a:rPr lang="en-US" sz="800" spc="-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(0.0.0.0/0)</a:t>
            </a:r>
            <a:endParaRPr lang="en-US" sz="8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95"/>
              </a:spcBef>
              <a:buAutoNum type="arabicPeriod"/>
              <a:tabLst>
                <a:tab pos="16002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Delete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old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rule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HTTP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(port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80).</a:t>
            </a:r>
            <a:endParaRPr lang="en-US" sz="900" dirty="0">
              <a:latin typeface="Arial"/>
              <a:cs typeface="Arial"/>
            </a:endParaRPr>
          </a:p>
          <a:p>
            <a:pPr marL="160020" indent="-147320">
              <a:lnSpc>
                <a:spcPct val="100000"/>
              </a:lnSpc>
              <a:spcBef>
                <a:spcPts val="175"/>
              </a:spcBef>
              <a:buAutoNum type="arabicPeriod"/>
              <a:tabLst>
                <a:tab pos="160020" algn="l"/>
              </a:tabLst>
            </a:pP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Save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changes.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68" y="1575063"/>
            <a:ext cx="2519863" cy="1197689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19" y="1575061"/>
            <a:ext cx="2519968" cy="1377104"/>
          </a:xfrm>
          <a:prstGeom prst="rect">
            <a:avLst/>
          </a:prstGeom>
        </p:spPr>
      </p:pic>
      <p:grpSp>
        <p:nvGrpSpPr>
          <p:cNvPr id="6" name="object 6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7" name="object 7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0" y="3234963"/>
              <a:ext cx="4890770" cy="5080"/>
            </a:xfrm>
            <a:custGeom>
              <a:avLst/>
              <a:gdLst/>
              <a:ahLst/>
              <a:cxnLst/>
              <a:rect l="l" t="t" r="r" b="b"/>
              <a:pathLst>
                <a:path w="4890770" h="5080">
                  <a:moveTo>
                    <a:pt x="0" y="5060"/>
                  </a:moveTo>
                  <a:lnTo>
                    <a:pt x="0" y="0"/>
                  </a:lnTo>
                  <a:lnTo>
                    <a:pt x="4890648" y="0"/>
                  </a:lnTo>
                  <a:lnTo>
                    <a:pt x="4890648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spc="-10" dirty="0"/>
              <a:t>Notebook</a:t>
            </a:r>
            <a:r>
              <a:rPr lang="en-US" spc="15" dirty="0"/>
              <a:t> </a:t>
            </a:r>
            <a:r>
              <a:rPr lang="en-US" spc="55" dirty="0"/>
              <a:t>(II)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372646" y="376515"/>
            <a:ext cx="5015230" cy="574040"/>
            <a:chOff x="372646" y="376515"/>
            <a:chExt cx="5015230" cy="574040"/>
          </a:xfrm>
        </p:grpSpPr>
        <p:sp>
          <p:nvSpPr>
            <p:cNvPr id="4" name="object 4"/>
            <p:cNvSpPr/>
            <p:nvPr/>
          </p:nvSpPr>
          <p:spPr>
            <a:xfrm>
              <a:off x="377994" y="381862"/>
              <a:ext cx="5004435" cy="563245"/>
            </a:xfrm>
            <a:custGeom>
              <a:avLst/>
              <a:gdLst/>
              <a:ahLst/>
              <a:cxnLst/>
              <a:rect l="l" t="t" r="r" b="b"/>
              <a:pathLst>
                <a:path w="5004435" h="563244">
                  <a:moveTo>
                    <a:pt x="4968064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527241"/>
                  </a:lnTo>
                  <a:lnTo>
                    <a:pt x="2829" y="541254"/>
                  </a:lnTo>
                  <a:lnTo>
                    <a:pt x="10544" y="552697"/>
                  </a:lnTo>
                  <a:lnTo>
                    <a:pt x="21987" y="560412"/>
                  </a:lnTo>
                  <a:lnTo>
                    <a:pt x="36000" y="563241"/>
                  </a:lnTo>
                  <a:lnTo>
                    <a:pt x="4968064" y="563241"/>
                  </a:lnTo>
                  <a:lnTo>
                    <a:pt x="4982077" y="560412"/>
                  </a:lnTo>
                  <a:lnTo>
                    <a:pt x="4993521" y="552697"/>
                  </a:lnTo>
                  <a:lnTo>
                    <a:pt x="5001236" y="541254"/>
                  </a:lnTo>
                  <a:lnTo>
                    <a:pt x="5004065" y="527241"/>
                  </a:lnTo>
                  <a:lnTo>
                    <a:pt x="5004065" y="36000"/>
                  </a:lnTo>
                  <a:lnTo>
                    <a:pt x="5001236" y="21987"/>
                  </a:lnTo>
                  <a:lnTo>
                    <a:pt x="4993521" y="10544"/>
                  </a:lnTo>
                  <a:lnTo>
                    <a:pt x="4982077" y="2829"/>
                  </a:lnTo>
                  <a:lnTo>
                    <a:pt x="4968064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378973" y="382841"/>
              <a:ext cx="5002530" cy="561340"/>
            </a:xfrm>
            <a:custGeom>
              <a:avLst/>
              <a:gdLst/>
              <a:ahLst/>
              <a:cxnLst/>
              <a:rect l="l" t="t" r="r" b="b"/>
              <a:pathLst>
                <a:path w="5002530" h="561340">
                  <a:moveTo>
                    <a:pt x="0" y="526262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4967085" y="0"/>
                  </a:lnTo>
                  <a:lnTo>
                    <a:pt x="4980717" y="2752"/>
                  </a:lnTo>
                  <a:lnTo>
                    <a:pt x="4991849" y="10257"/>
                  </a:lnTo>
                  <a:lnTo>
                    <a:pt x="4999354" y="21389"/>
                  </a:lnTo>
                  <a:lnTo>
                    <a:pt x="5002106" y="35021"/>
                  </a:lnTo>
                  <a:lnTo>
                    <a:pt x="5002106" y="526262"/>
                  </a:lnTo>
                  <a:lnTo>
                    <a:pt x="4999354" y="539894"/>
                  </a:lnTo>
                  <a:lnTo>
                    <a:pt x="4991849" y="551026"/>
                  </a:lnTo>
                  <a:lnTo>
                    <a:pt x="4980717" y="558531"/>
                  </a:lnTo>
                  <a:lnTo>
                    <a:pt x="4967085" y="561283"/>
                  </a:lnTo>
                  <a:lnTo>
                    <a:pt x="35021" y="561283"/>
                  </a:lnTo>
                  <a:lnTo>
                    <a:pt x="21389" y="558531"/>
                  </a:lnTo>
                  <a:lnTo>
                    <a:pt x="10257" y="551026"/>
                  </a:lnTo>
                  <a:lnTo>
                    <a:pt x="2752" y="539894"/>
                  </a:lnTo>
                  <a:lnTo>
                    <a:pt x="0" y="526262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545299" y="429310"/>
            <a:ext cx="2766695" cy="418465"/>
          </a:xfrm>
          <a:prstGeom prst="rect">
            <a:avLst/>
          </a:prstGeom>
        </p:spPr>
        <p:txBody>
          <a:bodyPr vert="horz" wrap="square" lIns="0" tIns="2159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70"/>
              </a:spcBef>
            </a:pPr>
            <a:r>
              <a:rPr lang="en-US" sz="800" spc="-60" dirty="0" err="1">
                <a:latin typeface="Courier New"/>
                <a:cs typeface="Courier New"/>
              </a:rPr>
              <a:t>jupyter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notebook</a:t>
            </a:r>
            <a:r>
              <a:rPr lang="en-US" sz="80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55" dirty="0" err="1">
                <a:solidFill>
                  <a:srgbClr val="7C8E28"/>
                </a:solidFill>
                <a:latin typeface="Courier New"/>
                <a:cs typeface="Courier New"/>
              </a:rPr>
              <a:t>ip</a:t>
            </a: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55" dirty="0">
                <a:latin typeface="Courier New"/>
                <a:cs typeface="Courier New"/>
              </a:rPr>
              <a:t>0.0.0.0</a:t>
            </a:r>
            <a:r>
              <a:rPr lang="en-US" sz="800" spc="-5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solidFill>
                  <a:srgbClr val="7C8E28"/>
                </a:solidFill>
                <a:latin typeface="Courier New"/>
                <a:cs typeface="Courier New"/>
              </a:rPr>
              <a:t>--</a:t>
            </a:r>
            <a:r>
              <a:rPr lang="en-US" sz="800" spc="-10" dirty="0">
                <a:solidFill>
                  <a:srgbClr val="7C8E28"/>
                </a:solidFill>
                <a:latin typeface="Courier New"/>
                <a:cs typeface="Courier New"/>
              </a:rPr>
              <a:t>port</a:t>
            </a:r>
            <a:r>
              <a:rPr lang="en-US" sz="800" spc="-1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0" dirty="0">
                <a:latin typeface="Courier New"/>
                <a:cs typeface="Courier New"/>
              </a:rPr>
              <a:t>8888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# </a:t>
            </a:r>
            <a:r>
              <a:rPr lang="en-US" sz="800" i="1" spc="-65" dirty="0">
                <a:solidFill>
                  <a:srgbClr val="60A0AF"/>
                </a:solidFill>
                <a:latin typeface="Courier New"/>
                <a:cs typeface="Courier New"/>
              </a:rPr>
              <a:t>In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60" dirty="0">
                <a:solidFill>
                  <a:srgbClr val="60A0AF"/>
                </a:solidFill>
                <a:latin typeface="Courier New"/>
                <a:cs typeface="Courier New"/>
              </a:rPr>
              <a:t>the</a:t>
            </a:r>
            <a:r>
              <a:rPr lang="en-US" sz="800" i="1" spc="-55" dirty="0">
                <a:solidFill>
                  <a:srgbClr val="60A0AF"/>
                </a:solidFill>
                <a:latin typeface="Courier New"/>
                <a:cs typeface="Courier New"/>
              </a:rPr>
              <a:t> </a:t>
            </a:r>
            <a:r>
              <a:rPr lang="en-US" sz="800" i="1" spc="-10" dirty="0">
                <a:solidFill>
                  <a:srgbClr val="60A0AF"/>
                </a:solidFill>
                <a:latin typeface="Courier New"/>
                <a:cs typeface="Courier New"/>
              </a:rPr>
              <a:t>browser</a:t>
            </a:r>
            <a:endParaRPr lang="en-US" sz="800" dirty="0">
              <a:latin typeface="Courier New"/>
              <a:cs typeface="Courier New"/>
            </a:endParaRPr>
          </a:p>
          <a:p>
            <a:pPr marL="12700">
              <a:lnSpc>
                <a:spcPct val="100000"/>
              </a:lnSpc>
              <a:spcBef>
                <a:spcPts val="70"/>
              </a:spcBef>
            </a:pPr>
            <a:r>
              <a:rPr lang="en-US" sz="800" spc="-60" dirty="0">
                <a:latin typeface="Courier New"/>
                <a:cs typeface="Courier New"/>
                <a:hlinkClick r:id="rId2"/>
              </a:rPr>
              <a:t>http://ec2-3-87-76-117.compute-</a:t>
            </a:r>
            <a:r>
              <a:rPr lang="en-US" sz="800" spc="-55" dirty="0">
                <a:latin typeface="Courier New"/>
                <a:cs typeface="Courier New"/>
                <a:hlinkClick r:id="rId2"/>
              </a:rPr>
              <a:t>1.amazonaws.com:8888</a:t>
            </a:r>
            <a:endParaRPr lang="en-US" sz="800" dirty="0">
              <a:latin typeface="Courier New"/>
              <a:cs typeface="Courier New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27304" y="1053142"/>
            <a:ext cx="155130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spc="-20" dirty="0">
                <a:solidFill>
                  <a:srgbClr val="22373A"/>
                </a:solidFill>
                <a:latin typeface="Arial"/>
                <a:cs typeface="Arial"/>
              </a:rPr>
              <a:t>Before</a:t>
            </a:r>
            <a:r>
              <a:rPr lang="en-US" sz="900" b="1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8" name="object 8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40017" y="1277768"/>
            <a:ext cx="2519972" cy="1859258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2987294" y="1053142"/>
            <a:ext cx="1480185" cy="1625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After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running</a:t>
            </a:r>
            <a:r>
              <a:rPr lang="en-US" sz="900" b="1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b="1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command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000108" y="1277764"/>
            <a:ext cx="2519795" cy="1801121"/>
          </a:xfrm>
          <a:prstGeom prst="rect">
            <a:avLst/>
          </a:prstGeom>
        </p:spPr>
      </p:pic>
      <p:grpSp>
        <p:nvGrpSpPr>
          <p:cNvPr id="11" name="object 11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2" name="object 12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4999355" cy="5080"/>
            </a:xfrm>
            <a:custGeom>
              <a:avLst/>
              <a:gdLst/>
              <a:ahLst/>
              <a:cxnLst/>
              <a:rect l="l" t="t" r="r" b="b"/>
              <a:pathLst>
                <a:path w="4999355" h="5080">
                  <a:moveTo>
                    <a:pt x="0" y="5060"/>
                  </a:moveTo>
                  <a:lnTo>
                    <a:pt x="0" y="0"/>
                  </a:lnTo>
                  <a:lnTo>
                    <a:pt x="4999282" y="0"/>
                  </a:lnTo>
                  <a:lnTo>
                    <a:pt x="499928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459367" y="703200"/>
            <a:ext cx="384175" cy="123189"/>
            <a:chOff x="2459367" y="703200"/>
            <a:chExt cx="384175" cy="123189"/>
          </a:xfrm>
        </p:grpSpPr>
        <p:sp>
          <p:nvSpPr>
            <p:cNvPr id="4" name="object 4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459367" y="703200"/>
              <a:ext cx="384175" cy="123189"/>
            </a:xfrm>
            <a:custGeom>
              <a:avLst/>
              <a:gdLst/>
              <a:ahLst/>
              <a:cxnLst/>
              <a:rect l="l" t="t" r="r" b="b"/>
              <a:pathLst>
                <a:path w="384175" h="123190">
                  <a:moveTo>
                    <a:pt x="348009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348009" y="122693"/>
                  </a:lnTo>
                  <a:lnTo>
                    <a:pt x="362022" y="119864"/>
                  </a:lnTo>
                  <a:lnTo>
                    <a:pt x="373465" y="112148"/>
                  </a:lnTo>
                  <a:lnTo>
                    <a:pt x="381180" y="100705"/>
                  </a:lnTo>
                  <a:lnTo>
                    <a:pt x="384009" y="86692"/>
                  </a:lnTo>
                  <a:lnTo>
                    <a:pt x="384009" y="36000"/>
                  </a:lnTo>
                  <a:lnTo>
                    <a:pt x="381180" y="21987"/>
                  </a:lnTo>
                  <a:lnTo>
                    <a:pt x="373465" y="10544"/>
                  </a:lnTo>
                  <a:lnTo>
                    <a:pt x="362022" y="2829"/>
                  </a:lnTo>
                  <a:lnTo>
                    <a:pt x="348009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3111423" y="703200"/>
            <a:ext cx="742950" cy="123189"/>
            <a:chOff x="3111423" y="703200"/>
            <a:chExt cx="742950" cy="123189"/>
          </a:xfrm>
        </p:grpSpPr>
        <p:sp>
          <p:nvSpPr>
            <p:cNvPr id="7" name="object 7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3111423" y="703200"/>
              <a:ext cx="742950" cy="123189"/>
            </a:xfrm>
            <a:custGeom>
              <a:avLst/>
              <a:gdLst/>
              <a:ahLst/>
              <a:cxnLst/>
              <a:rect l="l" t="t" r="r" b="b"/>
              <a:pathLst>
                <a:path w="742950" h="123190">
                  <a:moveTo>
                    <a:pt x="70671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6692"/>
                  </a:lnTo>
                  <a:lnTo>
                    <a:pt x="2829" y="100705"/>
                  </a:lnTo>
                  <a:lnTo>
                    <a:pt x="10544" y="112148"/>
                  </a:lnTo>
                  <a:lnTo>
                    <a:pt x="21987" y="119864"/>
                  </a:lnTo>
                  <a:lnTo>
                    <a:pt x="36000" y="122693"/>
                  </a:lnTo>
                  <a:lnTo>
                    <a:pt x="706713" y="122693"/>
                  </a:lnTo>
                  <a:lnTo>
                    <a:pt x="720727" y="119864"/>
                  </a:lnTo>
                  <a:lnTo>
                    <a:pt x="732170" y="112148"/>
                  </a:lnTo>
                  <a:lnTo>
                    <a:pt x="739885" y="100705"/>
                  </a:lnTo>
                  <a:lnTo>
                    <a:pt x="742714" y="86692"/>
                  </a:lnTo>
                  <a:lnTo>
                    <a:pt x="742714" y="36000"/>
                  </a:lnTo>
                  <a:lnTo>
                    <a:pt x="739885" y="21987"/>
                  </a:lnTo>
                  <a:lnTo>
                    <a:pt x="732170" y="10544"/>
                  </a:lnTo>
                  <a:lnTo>
                    <a:pt x="720727" y="2829"/>
                  </a:lnTo>
                  <a:lnTo>
                    <a:pt x="70671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90744"/>
            <a:ext cx="4876165" cy="3441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6199"/>
              </a:lnSpc>
              <a:spcBef>
                <a:spcPts val="100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Copy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token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terminal.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Then,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log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from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browser.</a:t>
            </a:r>
            <a:r>
              <a:rPr lang="en-US" sz="900" spc="114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(If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trouble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 copying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token,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instead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9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 err="1">
                <a:latin typeface="Courier New"/>
                <a:cs typeface="Courier New"/>
              </a:rPr>
              <a:t>Ctrl+C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Ctrl+Shift+C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terminal).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0004" y="958650"/>
            <a:ext cx="2519990" cy="1895000"/>
          </a:xfrm>
          <a:prstGeom prst="rect">
            <a:avLst/>
          </a:prstGeom>
        </p:spPr>
      </p:pic>
      <p:pic>
        <p:nvPicPr>
          <p:cNvPr id="11" name="object 11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000032" y="958660"/>
            <a:ext cx="2519946" cy="1898394"/>
          </a:xfrm>
          <a:prstGeom prst="rect">
            <a:avLst/>
          </a:prstGeom>
        </p:spPr>
      </p:pic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108575" cy="5080"/>
            </a:xfrm>
            <a:custGeom>
              <a:avLst/>
              <a:gdLst/>
              <a:ahLst/>
              <a:cxnLst/>
              <a:rect l="l" t="t" r="r" b="b"/>
              <a:pathLst>
                <a:path w="5108575" h="5080">
                  <a:moveTo>
                    <a:pt x="0" y="5060"/>
                  </a:moveTo>
                  <a:lnTo>
                    <a:pt x="0" y="0"/>
                  </a:lnTo>
                  <a:lnTo>
                    <a:pt x="5108005" y="0"/>
                  </a:lnTo>
                  <a:lnTo>
                    <a:pt x="510800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65" dirty="0"/>
              <a:t>Accessing</a:t>
            </a:r>
            <a:r>
              <a:rPr lang="en-US" spc="30" dirty="0"/>
              <a:t> </a:t>
            </a:r>
            <a:r>
              <a:rPr lang="en-US" dirty="0"/>
              <a:t>the</a:t>
            </a:r>
            <a:r>
              <a:rPr lang="en-US" spc="35" dirty="0"/>
              <a:t> </a:t>
            </a:r>
            <a:r>
              <a:rPr lang="en-US" spc="-20" dirty="0" err="1"/>
              <a:t>Jupyter</a:t>
            </a:r>
            <a:r>
              <a:rPr lang="en-US" spc="30" dirty="0"/>
              <a:t> </a:t>
            </a:r>
            <a:r>
              <a:rPr lang="en-US" spc="-10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1355483" y="1012816"/>
            <a:ext cx="504190" cy="147320"/>
            <a:chOff x="1355483" y="1012816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35548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4200093" y="1012816"/>
            <a:ext cx="504190" cy="147320"/>
            <a:chOff x="4200093" y="101281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4200093" y="101281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8" y="147290"/>
                  </a:lnTo>
                  <a:lnTo>
                    <a:pt x="481590" y="144460"/>
                  </a:lnTo>
                  <a:lnTo>
                    <a:pt x="493034" y="136745"/>
                  </a:lnTo>
                  <a:lnTo>
                    <a:pt x="500749" y="125302"/>
                  </a:lnTo>
                  <a:lnTo>
                    <a:pt x="503578" y="111289"/>
                  </a:lnTo>
                  <a:lnTo>
                    <a:pt x="503578" y="36000"/>
                  </a:lnTo>
                  <a:lnTo>
                    <a:pt x="500749" y="21987"/>
                  </a:lnTo>
                  <a:lnTo>
                    <a:pt x="493034" y="10544"/>
                  </a:lnTo>
                  <a:lnTo>
                    <a:pt x="481590" y="2829"/>
                  </a:lnTo>
                  <a:lnTo>
                    <a:pt x="46757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347294" y="424746"/>
            <a:ext cx="4992370" cy="8794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Once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 the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Notebook, to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do the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following:</a:t>
            </a:r>
            <a:endParaRPr lang="en-US" sz="900" dirty="0">
              <a:latin typeface="Arial"/>
              <a:cs typeface="Arial"/>
            </a:endParaRPr>
          </a:p>
          <a:p>
            <a:pPr marL="239395" indent="-147320" algn="just">
              <a:lnSpc>
                <a:spcPct val="100000"/>
              </a:lnSpc>
              <a:spcBef>
                <a:spcPts val="800"/>
              </a:spcBef>
              <a:buAutoNum type="arabicPeriod"/>
              <a:tabLst>
                <a:tab pos="239395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→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Notebook.</a:t>
            </a:r>
            <a:endParaRPr lang="en-US" sz="900" dirty="0">
              <a:latin typeface="Arial"/>
              <a:cs typeface="Arial"/>
            </a:endParaRPr>
          </a:p>
          <a:p>
            <a:pPr marL="234950" marR="5080" indent="-143510" algn="just">
              <a:lnSpc>
                <a:spcPct val="116199"/>
              </a:lnSpc>
              <a:buAutoNum type="arabicPeriod"/>
              <a:tabLst>
                <a:tab pos="240029" algn="l"/>
              </a:tabLst>
            </a:pP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will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prompted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kernel.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25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b="1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b="1" spc="-35" dirty="0">
                <a:solidFill>
                  <a:srgbClr val="22373A"/>
                </a:solidFill>
                <a:latin typeface="Arial"/>
                <a:cs typeface="Arial"/>
              </a:rPr>
              <a:t>careful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default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going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fail,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you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change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shown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below.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available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option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1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Python</a:t>
            </a:r>
            <a:r>
              <a:rPr lang="en-US" sz="900" spc="-75" dirty="0">
                <a:latin typeface="Courier New"/>
                <a:cs typeface="Courier New"/>
              </a:rPr>
              <a:t> </a:t>
            </a:r>
            <a:r>
              <a:rPr lang="en-US" sz="900" spc="-70" dirty="0">
                <a:latin typeface="Courier New"/>
                <a:cs typeface="Courier New"/>
              </a:rPr>
              <a:t>3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5" dirty="0">
                <a:solidFill>
                  <a:srgbClr val="22373A"/>
                </a:solidFill>
                <a:latin typeface="Arial"/>
                <a:cs typeface="Arial"/>
              </a:rPr>
              <a:t>fine,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	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leave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8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it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(we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saw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during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class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that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demonstration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there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was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only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one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option).</a:t>
            </a:r>
            <a:endParaRPr lang="en-US" sz="900" dirty="0">
              <a:latin typeface="Arial"/>
              <a:cs typeface="Arial"/>
            </a:endParaRPr>
          </a:p>
        </p:txBody>
      </p:sp>
      <p:pic>
        <p:nvPicPr>
          <p:cNvPr id="10" name="object 10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749209" y="1388954"/>
            <a:ext cx="2261587" cy="1199483"/>
          </a:xfrm>
          <a:prstGeom prst="rect">
            <a:avLst/>
          </a:prstGeom>
        </p:spPr>
      </p:pic>
      <p:sp>
        <p:nvSpPr>
          <p:cNvPr id="11" name="object 11"/>
          <p:cNvSpPr txBox="1"/>
          <p:nvPr/>
        </p:nvSpPr>
        <p:spPr>
          <a:xfrm>
            <a:off x="1912772" y="2722408"/>
            <a:ext cx="1934845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800" b="1" spc="-20" dirty="0">
                <a:solidFill>
                  <a:srgbClr val="22373A"/>
                </a:solidFill>
                <a:latin typeface="Arial"/>
                <a:cs typeface="Arial"/>
              </a:rPr>
              <a:t>Figure</a:t>
            </a:r>
            <a:r>
              <a:rPr lang="en-US" sz="800" b="1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b="1" dirty="0">
                <a:solidFill>
                  <a:srgbClr val="22373A"/>
                </a:solidFill>
                <a:latin typeface="Arial"/>
                <a:cs typeface="Arial"/>
              </a:rPr>
              <a:t>23:</a:t>
            </a:r>
            <a:r>
              <a:rPr lang="en-US" sz="800" b="1" spc="16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8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30" dirty="0">
                <a:solidFill>
                  <a:srgbClr val="22373A"/>
                </a:solidFill>
                <a:latin typeface="Arial"/>
                <a:cs typeface="Arial"/>
              </a:rPr>
              <a:t>choose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dirty="0">
                <a:solidFill>
                  <a:srgbClr val="22373A"/>
                </a:solidFill>
                <a:latin typeface="Arial"/>
                <a:cs typeface="Arial"/>
              </a:rPr>
              <a:t>right</a:t>
            </a:r>
            <a:r>
              <a:rPr lang="en-US" sz="800" spc="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800" spc="-10" dirty="0">
                <a:solidFill>
                  <a:srgbClr val="22373A"/>
                </a:solidFill>
                <a:latin typeface="Arial"/>
                <a:cs typeface="Arial"/>
              </a:rPr>
              <a:t>kernel</a:t>
            </a:r>
            <a:endParaRPr lang="en-US" sz="8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13" name="object 1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0" y="3234963"/>
              <a:ext cx="5217160" cy="5080"/>
            </a:xfrm>
            <a:custGeom>
              <a:avLst/>
              <a:gdLst/>
              <a:ahLst/>
              <a:cxnLst/>
              <a:rect l="l" t="t" r="r" b="b"/>
              <a:pathLst>
                <a:path w="5217160" h="5080">
                  <a:moveTo>
                    <a:pt x="0" y="5060"/>
                  </a:moveTo>
                  <a:lnTo>
                    <a:pt x="0" y="0"/>
                  </a:lnTo>
                  <a:lnTo>
                    <a:pt x="5216639" y="0"/>
                  </a:lnTo>
                  <a:lnTo>
                    <a:pt x="5216639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0" dirty="0"/>
              <a:t>Running</a:t>
            </a:r>
            <a:r>
              <a:rPr lang="en-US" spc="10" dirty="0"/>
              <a:t> </a:t>
            </a:r>
            <a:r>
              <a:rPr lang="en-US" spc="-30" dirty="0"/>
              <a:t>python</a:t>
            </a:r>
            <a:r>
              <a:rPr lang="en-US" spc="15" dirty="0"/>
              <a:t> </a:t>
            </a:r>
            <a:r>
              <a:rPr lang="en-US" spc="-25" dirty="0"/>
              <a:t>code</a:t>
            </a:r>
            <a:r>
              <a:rPr lang="en-US" spc="10" dirty="0"/>
              <a:t> </a:t>
            </a:r>
            <a:r>
              <a:rPr lang="en-US" dirty="0"/>
              <a:t>in</a:t>
            </a:r>
            <a:r>
              <a:rPr lang="en-US" spc="15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25" dirty="0"/>
              <a:t>notebook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52657" y="735520"/>
            <a:ext cx="2494915" cy="1490980"/>
            <a:chOff x="252657" y="735520"/>
            <a:chExt cx="2494915" cy="1490980"/>
          </a:xfrm>
        </p:grpSpPr>
        <p:sp>
          <p:nvSpPr>
            <p:cNvPr id="4" name="object 4"/>
            <p:cNvSpPr/>
            <p:nvPr/>
          </p:nvSpPr>
          <p:spPr>
            <a:xfrm>
              <a:off x="258004" y="740868"/>
              <a:ext cx="2484120" cy="1480185"/>
            </a:xfrm>
            <a:custGeom>
              <a:avLst/>
              <a:gdLst/>
              <a:ahLst/>
              <a:cxnLst/>
              <a:rect l="l" t="t" r="r" b="b"/>
              <a:pathLst>
                <a:path w="2484120" h="1480185">
                  <a:moveTo>
                    <a:pt x="244803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443925"/>
                  </a:lnTo>
                  <a:lnTo>
                    <a:pt x="2829" y="1457938"/>
                  </a:lnTo>
                  <a:lnTo>
                    <a:pt x="10544" y="1469381"/>
                  </a:lnTo>
                  <a:lnTo>
                    <a:pt x="21987" y="1477097"/>
                  </a:lnTo>
                  <a:lnTo>
                    <a:pt x="36000" y="1479926"/>
                  </a:lnTo>
                  <a:lnTo>
                    <a:pt x="2448032" y="1479926"/>
                  </a:lnTo>
                  <a:lnTo>
                    <a:pt x="2462045" y="1477097"/>
                  </a:lnTo>
                  <a:lnTo>
                    <a:pt x="2473488" y="1469381"/>
                  </a:lnTo>
                  <a:lnTo>
                    <a:pt x="2481203" y="1457938"/>
                  </a:lnTo>
                  <a:lnTo>
                    <a:pt x="2484032" y="1443925"/>
                  </a:lnTo>
                  <a:lnTo>
                    <a:pt x="2484032" y="36000"/>
                  </a:lnTo>
                  <a:lnTo>
                    <a:pt x="2481203" y="21987"/>
                  </a:lnTo>
                  <a:lnTo>
                    <a:pt x="2473488" y="10544"/>
                  </a:lnTo>
                  <a:lnTo>
                    <a:pt x="2462045" y="2829"/>
                  </a:lnTo>
                  <a:lnTo>
                    <a:pt x="244803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58983" y="741847"/>
              <a:ext cx="2482215" cy="1478280"/>
            </a:xfrm>
            <a:custGeom>
              <a:avLst/>
              <a:gdLst/>
              <a:ahLst/>
              <a:cxnLst/>
              <a:rect l="l" t="t" r="r" b="b"/>
              <a:pathLst>
                <a:path w="2482215" h="1478280">
                  <a:moveTo>
                    <a:pt x="0" y="1442946"/>
                  </a:moveTo>
                  <a:lnTo>
                    <a:pt x="0" y="35021"/>
                  </a:lnTo>
                  <a:lnTo>
                    <a:pt x="2752" y="21389"/>
                  </a:lnTo>
                  <a:lnTo>
                    <a:pt x="10257" y="10257"/>
                  </a:lnTo>
                  <a:lnTo>
                    <a:pt x="21389" y="2752"/>
                  </a:lnTo>
                  <a:lnTo>
                    <a:pt x="35021" y="0"/>
                  </a:lnTo>
                  <a:lnTo>
                    <a:pt x="2447052" y="0"/>
                  </a:lnTo>
                  <a:lnTo>
                    <a:pt x="2460684" y="2752"/>
                  </a:lnTo>
                  <a:lnTo>
                    <a:pt x="2471816" y="10257"/>
                  </a:lnTo>
                  <a:lnTo>
                    <a:pt x="2479321" y="21389"/>
                  </a:lnTo>
                  <a:lnTo>
                    <a:pt x="2482074" y="35021"/>
                  </a:lnTo>
                  <a:lnTo>
                    <a:pt x="2482074" y="1442946"/>
                  </a:lnTo>
                  <a:lnTo>
                    <a:pt x="2479321" y="1456578"/>
                  </a:lnTo>
                  <a:lnTo>
                    <a:pt x="2471816" y="1467710"/>
                  </a:lnTo>
                  <a:lnTo>
                    <a:pt x="2460684" y="1475215"/>
                  </a:lnTo>
                  <a:lnTo>
                    <a:pt x="2447052" y="1477967"/>
                  </a:lnTo>
                  <a:lnTo>
                    <a:pt x="35021" y="1477967"/>
                  </a:lnTo>
                  <a:lnTo>
                    <a:pt x="21389" y="1475215"/>
                  </a:lnTo>
                  <a:lnTo>
                    <a:pt x="10257" y="1467710"/>
                  </a:lnTo>
                  <a:lnTo>
                    <a:pt x="2752" y="1456578"/>
                  </a:lnTo>
                  <a:lnTo>
                    <a:pt x="0" y="1442946"/>
                  </a:lnTo>
                  <a:close/>
                </a:path>
              </a:pathLst>
            </a:custGeom>
            <a:ln w="12652">
              <a:solidFill>
                <a:srgbClr val="545454"/>
              </a:solidFill>
              <a:prstDash val="sysDot"/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6" name="object 6"/>
          <p:cNvSpPr txBox="1"/>
          <p:nvPr/>
        </p:nvSpPr>
        <p:spPr>
          <a:xfrm>
            <a:off x="347294" y="371520"/>
            <a:ext cx="3636010" cy="1751964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Click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New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Write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following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code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it.</a:t>
            </a: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lang="en-US" sz="9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204"/>
              </a:spcBef>
            </a:pPr>
            <a:endParaRPr lang="en-US" sz="900" dirty="0">
              <a:latin typeface="Arial"/>
              <a:cs typeface="Arial"/>
            </a:endParaRPr>
          </a:p>
          <a:p>
            <a:pPr marL="90170">
              <a:lnSpc>
                <a:spcPct val="100000"/>
              </a:lnSpc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>
                <a:latin typeface="Courier New"/>
                <a:cs typeface="Courier New"/>
              </a:rPr>
              <a:t>matplotlib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5"/>
              </a:spcBef>
            </a:pPr>
            <a:r>
              <a:rPr lang="en-US" sz="800" spc="-55" dirty="0">
                <a:solidFill>
                  <a:srgbClr val="666666"/>
                </a:solidFill>
                <a:latin typeface="Courier New"/>
                <a:cs typeface="Courier New"/>
              </a:rPr>
              <a:t>!</a:t>
            </a:r>
            <a:r>
              <a:rPr lang="en-US" sz="800" spc="-55" dirty="0">
                <a:latin typeface="Courier New"/>
                <a:cs typeface="Courier New"/>
              </a:rPr>
              <a:t>pip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60" dirty="0">
                <a:latin typeface="Courier New"/>
                <a:cs typeface="Courier New"/>
              </a:rPr>
              <a:t>install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numpy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matplotlib.pyplot</a:t>
            </a:r>
            <a:r>
              <a:rPr lang="en-US" sz="800" spc="-25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25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 err="1">
                <a:latin typeface="Courier New"/>
                <a:cs typeface="Courier New"/>
              </a:rPr>
              <a:t>plt</a:t>
            </a:r>
            <a:endParaRPr lang="en-US" sz="800" dirty="0">
              <a:latin typeface="Courier New"/>
              <a:cs typeface="Courier New"/>
            </a:endParaRPr>
          </a:p>
          <a:p>
            <a:pPr marL="90170">
              <a:lnSpc>
                <a:spcPct val="100000"/>
              </a:lnSpc>
              <a:spcBef>
                <a:spcPts val="70"/>
              </a:spcBef>
            </a:pPr>
            <a:r>
              <a:rPr lang="en-US" sz="800" b="1" spc="-65" dirty="0">
                <a:solidFill>
                  <a:srgbClr val="007F00"/>
                </a:solidFill>
                <a:latin typeface="Courier New"/>
                <a:cs typeface="Courier New"/>
              </a:rPr>
              <a:t>import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60" dirty="0" err="1">
                <a:latin typeface="Courier New"/>
                <a:cs typeface="Courier New"/>
              </a:rPr>
              <a:t>numpy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b="1" spc="-60" dirty="0">
                <a:solidFill>
                  <a:srgbClr val="007F00"/>
                </a:solidFill>
                <a:latin typeface="Courier New"/>
                <a:cs typeface="Courier New"/>
              </a:rPr>
              <a:t>as</a:t>
            </a:r>
            <a:r>
              <a:rPr lang="en-US" sz="800" b="1" spc="-30" dirty="0">
                <a:solidFill>
                  <a:srgbClr val="007F00"/>
                </a:solidFill>
                <a:latin typeface="Courier New"/>
                <a:cs typeface="Courier New"/>
              </a:rPr>
              <a:t> </a:t>
            </a:r>
            <a:r>
              <a:rPr lang="en-US" sz="800" spc="-25" dirty="0">
                <a:latin typeface="Courier New"/>
                <a:cs typeface="Courier New"/>
              </a:rPr>
              <a:t>np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085339">
              <a:lnSpc>
                <a:spcPct val="107400"/>
              </a:lnSpc>
            </a:pPr>
            <a:r>
              <a:rPr lang="en-US" sz="800" dirty="0">
                <a:latin typeface="Courier New"/>
                <a:cs typeface="Courier New"/>
              </a:rPr>
              <a:t>x</a:t>
            </a:r>
            <a:r>
              <a:rPr lang="en-US" sz="800" spc="-105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8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55" dirty="0" err="1">
                <a:latin typeface="Courier New"/>
                <a:cs typeface="Courier New"/>
              </a:rPr>
              <a:t>np.linspace</a:t>
            </a:r>
            <a:r>
              <a:rPr lang="en-US" sz="800" spc="-55" dirty="0">
                <a:latin typeface="Courier New"/>
                <a:cs typeface="Courier New"/>
              </a:rPr>
              <a:t>(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0</a:t>
            </a:r>
            <a:r>
              <a:rPr lang="en-US" sz="800" spc="-55" dirty="0">
                <a:latin typeface="Courier New"/>
                <a:cs typeface="Courier New"/>
              </a:rPr>
              <a:t>,</a:t>
            </a:r>
            <a:r>
              <a:rPr lang="en-US" sz="800" spc="-60" dirty="0">
                <a:latin typeface="Courier New"/>
                <a:cs typeface="Courier New"/>
              </a:rPr>
              <a:t> </a:t>
            </a:r>
            <a:r>
              <a:rPr lang="en-US" sz="800" spc="-50" dirty="0">
                <a:solidFill>
                  <a:srgbClr val="3FA070"/>
                </a:solidFill>
                <a:latin typeface="Courier New"/>
                <a:cs typeface="Courier New"/>
              </a:rPr>
              <a:t>10</a:t>
            </a:r>
            <a:r>
              <a:rPr lang="en-US" sz="800" spc="-50" dirty="0">
                <a:latin typeface="Courier New"/>
                <a:cs typeface="Courier New"/>
              </a:rPr>
              <a:t>,</a:t>
            </a:r>
            <a:r>
              <a:rPr lang="en-US" sz="800" spc="-70" dirty="0">
                <a:latin typeface="Courier New"/>
                <a:cs typeface="Courier New"/>
              </a:rPr>
              <a:t> </a:t>
            </a:r>
            <a:r>
              <a:rPr lang="en-US" sz="800" spc="-55" dirty="0">
                <a:solidFill>
                  <a:srgbClr val="3FA070"/>
                </a:solidFill>
                <a:latin typeface="Courier New"/>
                <a:cs typeface="Courier New"/>
              </a:rPr>
              <a:t>100</a:t>
            </a:r>
            <a:r>
              <a:rPr lang="en-US" sz="800" spc="-55" dirty="0">
                <a:latin typeface="Courier New"/>
                <a:cs typeface="Courier New"/>
              </a:rPr>
              <a:t>) </a:t>
            </a:r>
            <a:r>
              <a:rPr lang="en-US" sz="800" dirty="0">
                <a:latin typeface="Courier New"/>
                <a:cs typeface="Courier New"/>
              </a:rPr>
              <a:t>y</a:t>
            </a:r>
            <a:r>
              <a:rPr lang="en-US" sz="800" spc="-114" dirty="0">
                <a:latin typeface="Courier New"/>
                <a:cs typeface="Courier New"/>
              </a:rPr>
              <a:t> </a:t>
            </a:r>
            <a:r>
              <a:rPr lang="en-US" sz="800" dirty="0">
                <a:solidFill>
                  <a:srgbClr val="666666"/>
                </a:solidFill>
                <a:latin typeface="Courier New"/>
                <a:cs typeface="Courier New"/>
              </a:rPr>
              <a:t>=</a:t>
            </a:r>
            <a:r>
              <a:rPr lang="en-US" sz="800" spc="-110" dirty="0">
                <a:solidFill>
                  <a:srgbClr val="666666"/>
                </a:solidFill>
                <a:latin typeface="Courier New"/>
                <a:cs typeface="Courier New"/>
              </a:rPr>
              <a:t> </a:t>
            </a:r>
            <a:r>
              <a:rPr lang="en-US" sz="800" spc="-10" dirty="0" err="1">
                <a:latin typeface="Courier New"/>
                <a:cs typeface="Courier New"/>
              </a:rPr>
              <a:t>np.sin</a:t>
            </a:r>
            <a:r>
              <a:rPr lang="en-US" sz="800" spc="-10" dirty="0">
                <a:latin typeface="Courier New"/>
                <a:cs typeface="Courier New"/>
              </a:rPr>
              <a:t>(x)</a:t>
            </a:r>
            <a:endParaRPr lang="en-US" sz="800" dirty="0">
              <a:latin typeface="Courier New"/>
              <a:cs typeface="Courier New"/>
            </a:endParaRPr>
          </a:p>
          <a:p>
            <a:pPr>
              <a:lnSpc>
                <a:spcPct val="100000"/>
              </a:lnSpc>
              <a:spcBef>
                <a:spcPts val="125"/>
              </a:spcBef>
            </a:pPr>
            <a:endParaRPr lang="en-US" sz="800" dirty="0">
              <a:latin typeface="Courier New"/>
              <a:cs typeface="Courier New"/>
            </a:endParaRPr>
          </a:p>
          <a:p>
            <a:pPr marL="90170" marR="2784475">
              <a:lnSpc>
                <a:spcPct val="107400"/>
              </a:lnSpc>
            </a:pPr>
            <a:r>
              <a:rPr lang="en-US" sz="800" spc="-55" dirty="0" err="1">
                <a:latin typeface="Courier New"/>
                <a:cs typeface="Courier New"/>
              </a:rPr>
              <a:t>plt.plot</a:t>
            </a:r>
            <a:r>
              <a:rPr lang="en-US" sz="800" spc="-55" dirty="0">
                <a:latin typeface="Courier New"/>
                <a:cs typeface="Courier New"/>
              </a:rPr>
              <a:t>(x,</a:t>
            </a:r>
            <a:r>
              <a:rPr lang="en-US" sz="800" spc="-30" dirty="0">
                <a:latin typeface="Courier New"/>
                <a:cs typeface="Courier New"/>
              </a:rPr>
              <a:t> </a:t>
            </a:r>
            <a:r>
              <a:rPr lang="en-US" sz="800" spc="-70" dirty="0">
                <a:latin typeface="Courier New"/>
                <a:cs typeface="Courier New"/>
              </a:rPr>
              <a:t>y) </a:t>
            </a:r>
            <a:r>
              <a:rPr lang="en-US" sz="800" spc="-10" dirty="0" err="1">
                <a:latin typeface="Courier New"/>
                <a:cs typeface="Courier New"/>
              </a:rPr>
              <a:t>plt.show</a:t>
            </a:r>
            <a:r>
              <a:rPr lang="en-US" sz="800" spc="-10" dirty="0">
                <a:latin typeface="Courier New"/>
                <a:cs typeface="Courier New"/>
              </a:rPr>
              <a:t>()</a:t>
            </a:r>
            <a:endParaRPr lang="en-US" sz="800" dirty="0">
              <a:latin typeface="Courier New"/>
              <a:cs typeface="Courier New"/>
            </a:endParaRPr>
          </a:p>
        </p:txBody>
      </p:sp>
      <p:pic>
        <p:nvPicPr>
          <p:cNvPr id="7" name="object 7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80778" y="657405"/>
            <a:ext cx="1958437" cy="2399154"/>
          </a:xfrm>
          <a:prstGeom prst="rect">
            <a:avLst/>
          </a:prstGeom>
        </p:spPr>
      </p:pic>
      <p:grpSp>
        <p:nvGrpSpPr>
          <p:cNvPr id="8" name="object 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9" name="object 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0" name="object 1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0" y="3234963"/>
              <a:ext cx="5325745" cy="5080"/>
            </a:xfrm>
            <a:custGeom>
              <a:avLst/>
              <a:gdLst/>
              <a:ahLst/>
              <a:cxnLst/>
              <a:rect l="l" t="t" r="r" b="b"/>
              <a:pathLst>
                <a:path w="5325745" h="5080">
                  <a:moveTo>
                    <a:pt x="0" y="5060"/>
                  </a:moveTo>
                  <a:lnTo>
                    <a:pt x="0" y="0"/>
                  </a:lnTo>
                  <a:lnTo>
                    <a:pt x="5325361" y="0"/>
                  </a:lnTo>
                  <a:lnTo>
                    <a:pt x="532536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587743" y="763160"/>
            <a:ext cx="2536825" cy="466090"/>
            <a:chOff x="587743" y="763160"/>
            <a:chExt cx="2536825" cy="466090"/>
          </a:xfrm>
        </p:grpSpPr>
        <p:sp>
          <p:nvSpPr>
            <p:cNvPr id="4" name="object 4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587743" y="763160"/>
              <a:ext cx="2536825" cy="147320"/>
            </a:xfrm>
            <a:custGeom>
              <a:avLst/>
              <a:gdLst/>
              <a:ahLst/>
              <a:cxnLst/>
              <a:rect l="l" t="t" r="r" b="b"/>
              <a:pathLst>
                <a:path w="2536825" h="147319">
                  <a:moveTo>
                    <a:pt x="250023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500237" y="147290"/>
                  </a:lnTo>
                  <a:lnTo>
                    <a:pt x="2514250" y="144460"/>
                  </a:lnTo>
                  <a:lnTo>
                    <a:pt x="2525693" y="136745"/>
                  </a:lnTo>
                  <a:lnTo>
                    <a:pt x="2533408" y="125302"/>
                  </a:lnTo>
                  <a:lnTo>
                    <a:pt x="2536237" y="111289"/>
                  </a:lnTo>
                  <a:lnTo>
                    <a:pt x="2536237" y="36000"/>
                  </a:lnTo>
                  <a:lnTo>
                    <a:pt x="2533408" y="21987"/>
                  </a:lnTo>
                  <a:lnTo>
                    <a:pt x="2525693" y="10544"/>
                  </a:lnTo>
                  <a:lnTo>
                    <a:pt x="2514250" y="2829"/>
                  </a:lnTo>
                  <a:lnTo>
                    <a:pt x="250023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587743" y="922494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9" name="object 9"/>
            <p:cNvSpPr/>
            <p:nvPr/>
          </p:nvSpPr>
          <p:spPr>
            <a:xfrm>
              <a:off x="587743" y="1073616"/>
              <a:ext cx="2058035" cy="155575"/>
            </a:xfrm>
            <a:custGeom>
              <a:avLst/>
              <a:gdLst/>
              <a:ahLst/>
              <a:cxnLst/>
              <a:rect l="l" t="t" r="r" b="b"/>
              <a:pathLst>
                <a:path w="2058035" h="155575">
                  <a:moveTo>
                    <a:pt x="202196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2021963" y="155489"/>
                  </a:lnTo>
                  <a:lnTo>
                    <a:pt x="2035977" y="152659"/>
                  </a:lnTo>
                  <a:lnTo>
                    <a:pt x="2047420" y="144944"/>
                  </a:lnTo>
                  <a:lnTo>
                    <a:pt x="2055135" y="133501"/>
                  </a:lnTo>
                  <a:lnTo>
                    <a:pt x="2057964" y="119488"/>
                  </a:lnTo>
                  <a:lnTo>
                    <a:pt x="2057964" y="36000"/>
                  </a:lnTo>
                  <a:lnTo>
                    <a:pt x="2055135" y="21987"/>
                  </a:lnTo>
                  <a:lnTo>
                    <a:pt x="2047420" y="10544"/>
                  </a:lnTo>
                  <a:lnTo>
                    <a:pt x="2035977" y="2829"/>
                  </a:lnTo>
                  <a:lnTo>
                    <a:pt x="202196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0" name="object 10"/>
          <p:cNvGrpSpPr/>
          <p:nvPr/>
        </p:nvGrpSpPr>
        <p:grpSpPr>
          <a:xfrm>
            <a:off x="3364826" y="1081815"/>
            <a:ext cx="862330" cy="147320"/>
            <a:chOff x="3364826" y="1081815"/>
            <a:chExt cx="862330" cy="147320"/>
          </a:xfrm>
        </p:grpSpPr>
        <p:sp>
          <p:nvSpPr>
            <p:cNvPr id="11" name="object 11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3364826" y="1081815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29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3" name="object 13"/>
          <p:cNvGrpSpPr/>
          <p:nvPr/>
        </p:nvGrpSpPr>
        <p:grpSpPr>
          <a:xfrm>
            <a:off x="587743" y="1401724"/>
            <a:ext cx="1161415" cy="146050"/>
            <a:chOff x="587743" y="1401724"/>
            <a:chExt cx="1161415" cy="146050"/>
          </a:xfrm>
        </p:grpSpPr>
        <p:sp>
          <p:nvSpPr>
            <p:cNvPr id="14" name="object 14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401724"/>
              <a:ext cx="1161415" cy="146050"/>
            </a:xfrm>
            <a:custGeom>
              <a:avLst/>
              <a:gdLst/>
              <a:ahLst/>
              <a:cxnLst/>
              <a:rect l="l" t="t" r="r" b="b"/>
              <a:pathLst>
                <a:path w="1161414" h="146050">
                  <a:moveTo>
                    <a:pt x="112520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0037"/>
                  </a:lnTo>
                  <a:lnTo>
                    <a:pt x="2829" y="124050"/>
                  </a:lnTo>
                  <a:lnTo>
                    <a:pt x="10544" y="135493"/>
                  </a:lnTo>
                  <a:lnTo>
                    <a:pt x="21987" y="143208"/>
                  </a:lnTo>
                  <a:lnTo>
                    <a:pt x="36000" y="146037"/>
                  </a:lnTo>
                  <a:lnTo>
                    <a:pt x="1125202" y="146037"/>
                  </a:lnTo>
                  <a:lnTo>
                    <a:pt x="1139215" y="143208"/>
                  </a:lnTo>
                  <a:lnTo>
                    <a:pt x="1150658" y="135493"/>
                  </a:lnTo>
                  <a:lnTo>
                    <a:pt x="1158373" y="124050"/>
                  </a:lnTo>
                  <a:lnTo>
                    <a:pt x="1161202" y="110037"/>
                  </a:lnTo>
                  <a:lnTo>
                    <a:pt x="1161202" y="36000"/>
                  </a:lnTo>
                  <a:lnTo>
                    <a:pt x="1158373" y="21987"/>
                  </a:lnTo>
                  <a:lnTo>
                    <a:pt x="1150658" y="10544"/>
                  </a:lnTo>
                  <a:lnTo>
                    <a:pt x="1139215" y="2829"/>
                  </a:lnTo>
                  <a:lnTo>
                    <a:pt x="112520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6" name="object 16"/>
          <p:cNvGrpSpPr/>
          <p:nvPr/>
        </p:nvGrpSpPr>
        <p:grpSpPr>
          <a:xfrm>
            <a:off x="587743" y="1720377"/>
            <a:ext cx="1520190" cy="305435"/>
            <a:chOff x="587743" y="1720377"/>
            <a:chExt cx="1520190" cy="305435"/>
          </a:xfrm>
        </p:grpSpPr>
        <p:sp>
          <p:nvSpPr>
            <p:cNvPr id="17" name="object 17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8" name="object 18"/>
            <p:cNvSpPr/>
            <p:nvPr/>
          </p:nvSpPr>
          <p:spPr>
            <a:xfrm>
              <a:off x="587743" y="1720377"/>
              <a:ext cx="1101725" cy="146050"/>
            </a:xfrm>
            <a:custGeom>
              <a:avLst/>
              <a:gdLst/>
              <a:ahLst/>
              <a:cxnLst/>
              <a:rect l="l" t="t" r="r" b="b"/>
              <a:pathLst>
                <a:path w="1101725" h="146050">
                  <a:moveTo>
                    <a:pt x="1065418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09467"/>
                  </a:lnTo>
                  <a:lnTo>
                    <a:pt x="2829" y="123480"/>
                  </a:lnTo>
                  <a:lnTo>
                    <a:pt x="10544" y="134923"/>
                  </a:lnTo>
                  <a:lnTo>
                    <a:pt x="21987" y="142638"/>
                  </a:lnTo>
                  <a:lnTo>
                    <a:pt x="36000" y="145467"/>
                  </a:lnTo>
                  <a:lnTo>
                    <a:pt x="1065418" y="145467"/>
                  </a:lnTo>
                  <a:lnTo>
                    <a:pt x="1079431" y="142638"/>
                  </a:lnTo>
                  <a:lnTo>
                    <a:pt x="1090874" y="134923"/>
                  </a:lnTo>
                  <a:lnTo>
                    <a:pt x="1098589" y="123480"/>
                  </a:lnTo>
                  <a:lnTo>
                    <a:pt x="1101418" y="109467"/>
                  </a:lnTo>
                  <a:lnTo>
                    <a:pt x="1101418" y="36000"/>
                  </a:lnTo>
                  <a:lnTo>
                    <a:pt x="1098589" y="21987"/>
                  </a:lnTo>
                  <a:lnTo>
                    <a:pt x="1090874" y="10544"/>
                  </a:lnTo>
                  <a:lnTo>
                    <a:pt x="1079431" y="2829"/>
                  </a:lnTo>
                  <a:lnTo>
                    <a:pt x="1065418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9" name="object 19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587743" y="1878448"/>
              <a:ext cx="1520190" cy="147320"/>
            </a:xfrm>
            <a:custGeom>
              <a:avLst/>
              <a:gdLst/>
              <a:ahLst/>
              <a:cxnLst/>
              <a:rect l="l" t="t" r="r" b="b"/>
              <a:pathLst>
                <a:path w="1520189" h="147319">
                  <a:moveTo>
                    <a:pt x="148390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1483907" y="147290"/>
                  </a:lnTo>
                  <a:lnTo>
                    <a:pt x="1497920" y="144460"/>
                  </a:lnTo>
                  <a:lnTo>
                    <a:pt x="1509363" y="136745"/>
                  </a:lnTo>
                  <a:lnTo>
                    <a:pt x="1517078" y="125302"/>
                  </a:lnTo>
                  <a:lnTo>
                    <a:pt x="1519907" y="111289"/>
                  </a:lnTo>
                  <a:lnTo>
                    <a:pt x="1519907" y="36000"/>
                  </a:lnTo>
                  <a:lnTo>
                    <a:pt x="1517078" y="21987"/>
                  </a:lnTo>
                  <a:lnTo>
                    <a:pt x="1509363" y="10544"/>
                  </a:lnTo>
                  <a:lnTo>
                    <a:pt x="1497920" y="2829"/>
                  </a:lnTo>
                  <a:lnTo>
                    <a:pt x="148390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1" name="object 21"/>
          <p:cNvGrpSpPr/>
          <p:nvPr/>
        </p:nvGrpSpPr>
        <p:grpSpPr>
          <a:xfrm>
            <a:off x="587743" y="2197104"/>
            <a:ext cx="2476500" cy="147320"/>
            <a:chOff x="587743" y="2197104"/>
            <a:chExt cx="2476500" cy="147320"/>
          </a:xfrm>
        </p:grpSpPr>
        <p:sp>
          <p:nvSpPr>
            <p:cNvPr id="22" name="object 22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3" name="object 23"/>
            <p:cNvSpPr/>
            <p:nvPr/>
          </p:nvSpPr>
          <p:spPr>
            <a:xfrm>
              <a:off x="587743" y="2197104"/>
              <a:ext cx="2476500" cy="147320"/>
            </a:xfrm>
            <a:custGeom>
              <a:avLst/>
              <a:gdLst/>
              <a:ahLst/>
              <a:cxnLst/>
              <a:rect l="l" t="t" r="r" b="b"/>
              <a:pathLst>
                <a:path w="2476500" h="147319">
                  <a:moveTo>
                    <a:pt x="244045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2440452" y="147290"/>
                  </a:lnTo>
                  <a:lnTo>
                    <a:pt x="2454465" y="144460"/>
                  </a:lnTo>
                  <a:lnTo>
                    <a:pt x="2465909" y="136745"/>
                  </a:lnTo>
                  <a:lnTo>
                    <a:pt x="2473624" y="125302"/>
                  </a:lnTo>
                  <a:lnTo>
                    <a:pt x="2476453" y="111289"/>
                  </a:lnTo>
                  <a:lnTo>
                    <a:pt x="2476453" y="36000"/>
                  </a:lnTo>
                  <a:lnTo>
                    <a:pt x="2473624" y="21987"/>
                  </a:lnTo>
                  <a:lnTo>
                    <a:pt x="2465909" y="10544"/>
                  </a:lnTo>
                  <a:lnTo>
                    <a:pt x="2454465" y="2829"/>
                  </a:lnTo>
                  <a:lnTo>
                    <a:pt x="244045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24" name="object 24"/>
          <p:cNvGrpSpPr/>
          <p:nvPr/>
        </p:nvGrpSpPr>
        <p:grpSpPr>
          <a:xfrm>
            <a:off x="587743" y="2517007"/>
            <a:ext cx="623570" cy="121285"/>
            <a:chOff x="587743" y="2517007"/>
            <a:chExt cx="623570" cy="121285"/>
          </a:xfrm>
        </p:grpSpPr>
        <p:sp>
          <p:nvSpPr>
            <p:cNvPr id="25" name="object 25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6" name="object 26"/>
            <p:cNvSpPr/>
            <p:nvPr/>
          </p:nvSpPr>
          <p:spPr>
            <a:xfrm>
              <a:off x="587743" y="2517007"/>
              <a:ext cx="623570" cy="121285"/>
            </a:xfrm>
            <a:custGeom>
              <a:avLst/>
              <a:gdLst/>
              <a:ahLst/>
              <a:cxnLst/>
              <a:rect l="l" t="t" r="r" b="b"/>
              <a:pathLst>
                <a:path w="623569" h="121285">
                  <a:moveTo>
                    <a:pt x="58714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587145" y="120757"/>
                  </a:lnTo>
                  <a:lnTo>
                    <a:pt x="601158" y="117928"/>
                  </a:lnTo>
                  <a:lnTo>
                    <a:pt x="612602" y="110213"/>
                  </a:lnTo>
                  <a:lnTo>
                    <a:pt x="620317" y="98770"/>
                  </a:lnTo>
                  <a:lnTo>
                    <a:pt x="623146" y="84757"/>
                  </a:lnTo>
                  <a:lnTo>
                    <a:pt x="623146" y="36000"/>
                  </a:lnTo>
                  <a:lnTo>
                    <a:pt x="620317" y="21987"/>
                  </a:lnTo>
                  <a:lnTo>
                    <a:pt x="612602" y="10544"/>
                  </a:lnTo>
                  <a:lnTo>
                    <a:pt x="601158" y="2829"/>
                  </a:lnTo>
                  <a:lnTo>
                    <a:pt x="58714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7" name="object 27"/>
          <p:cNvSpPr txBox="1"/>
          <p:nvPr/>
        </p:nvSpPr>
        <p:spPr>
          <a:xfrm>
            <a:off x="427126" y="710035"/>
            <a:ext cx="4786630" cy="1937385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uv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 err="1">
                <a:latin typeface="Courier New"/>
                <a:cs typeface="Courier New"/>
              </a:rPr>
              <a:t>venv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--seed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--python</a:t>
            </a:r>
            <a:r>
              <a:rPr lang="en-US" sz="900" spc="-70" dirty="0">
                <a:latin typeface="Courier New"/>
                <a:cs typeface="Courier New"/>
              </a:rPr>
              <a:t> 3.8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3.8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endParaRPr lang="en-US" sz="900" dirty="0">
              <a:latin typeface="Arial"/>
              <a:cs typeface="Arial"/>
            </a:endParaRPr>
          </a:p>
          <a:p>
            <a:pPr marL="172720">
              <a:lnSpc>
                <a:spcPct val="100000"/>
              </a:lnSpc>
              <a:spcBef>
                <a:spcPts val="175"/>
              </a:spcBef>
            </a:pP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10" dirty="0">
                <a:latin typeface="Courier New"/>
                <a:cs typeface="Courier New"/>
              </a:rPr>
              <a:t>venv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60020" marR="209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5" dirty="0">
                <a:latin typeface="Courier New"/>
                <a:cs typeface="Courier New"/>
              </a:rPr>
              <a:t>source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</a:t>
            </a:r>
            <a:r>
              <a:rPr lang="en-US" sz="900" spc="-60" dirty="0">
                <a:latin typeface="Courier New"/>
                <a:cs typeface="Courier New"/>
              </a:rPr>
              <a:t>venv/bin/activate</a:t>
            </a:r>
            <a:r>
              <a:rPr lang="en-US" sz="900" spc="-6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.project1-venv</a:t>
            </a:r>
            <a:r>
              <a:rPr lang="en-US" sz="900" spc="-135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1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(You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45" dirty="0">
                <a:solidFill>
                  <a:srgbClr val="22373A"/>
                </a:solidFill>
                <a:latin typeface="Arial"/>
                <a:cs typeface="Arial"/>
              </a:rPr>
              <a:t>as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environment).</a:t>
            </a:r>
            <a:endParaRPr lang="en-US" sz="900" dirty="0">
              <a:latin typeface="Arial"/>
              <a:cs typeface="Arial"/>
            </a:endParaRPr>
          </a:p>
          <a:p>
            <a:pPr marL="160020" marR="96520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40" dirty="0" err="1">
                <a:latin typeface="Courier New"/>
                <a:cs typeface="Courier New"/>
              </a:rPr>
              <a:t>jupyter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(You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to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activate the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environment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first).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35" dirty="0">
                <a:latin typeface="Courier New"/>
                <a:cs typeface="Courier New"/>
              </a:rPr>
              <a:t>pandas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Pandas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1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current</a:t>
            </a:r>
            <a:r>
              <a:rPr lang="en-US" sz="900" spc="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  <a:p>
            <a:pPr marL="157480" marR="92710" indent="-145415">
              <a:lnSpc>
                <a:spcPct val="116199"/>
              </a:lnSpc>
              <a:buFont typeface="Arial"/>
              <a:buChar char="•"/>
              <a:tabLst>
                <a:tab pos="15748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>
                <a:latin typeface="Courier New"/>
                <a:cs typeface="Courier New"/>
              </a:rPr>
              <a:t>pip install </a:t>
            </a:r>
            <a:r>
              <a:rPr lang="en-US" sz="900" spc="-75" dirty="0" err="1">
                <a:latin typeface="Courier New"/>
                <a:cs typeface="Courier New"/>
              </a:rPr>
              <a:t>numpy</a:t>
            </a:r>
            <a:r>
              <a:rPr lang="en-US" sz="900" spc="-75" dirty="0">
                <a:latin typeface="Courier New"/>
                <a:cs typeface="Courier New"/>
              </a:rPr>
              <a:t>==1.21.0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Install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version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package.</a:t>
            </a:r>
            <a:r>
              <a:rPr lang="en-US" sz="900" spc="1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(In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this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case,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Numpy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1.21.0).</a:t>
            </a:r>
            <a:endParaRPr lang="en-US" sz="900" dirty="0">
              <a:latin typeface="Arial"/>
              <a:cs typeface="Arial"/>
            </a:endParaRPr>
          </a:p>
          <a:p>
            <a:pPr marL="160020" marR="59055" indent="-147955">
              <a:lnSpc>
                <a:spcPct val="116199"/>
              </a:lnSpc>
              <a:buFont typeface="Arial"/>
              <a:buChar char="•"/>
              <a:tabLst>
                <a:tab pos="160020" algn="l"/>
                <a:tab pos="172085" algn="l"/>
              </a:tabLst>
            </a:pPr>
            <a:r>
              <a:rPr lang="en-US" sz="900" dirty="0">
                <a:solidFill>
                  <a:srgbClr val="22373A"/>
                </a:solidFill>
                <a:latin typeface="Courier New"/>
                <a:cs typeface="Courier New"/>
              </a:rPr>
              <a:t>	</a:t>
            </a:r>
            <a:r>
              <a:rPr lang="en-US" sz="900" spc="-70" dirty="0" err="1">
                <a:latin typeface="Courier New"/>
                <a:cs typeface="Courier New"/>
              </a:rPr>
              <a:t>jupyter</a:t>
            </a:r>
            <a:r>
              <a:rPr lang="en-US" sz="900" spc="-70" dirty="0">
                <a:latin typeface="Courier New"/>
                <a:cs typeface="Courier New"/>
              </a:rPr>
              <a:t> notebook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0" dirty="0">
                <a:latin typeface="Courier New"/>
                <a:cs typeface="Courier New"/>
              </a:rPr>
              <a:t>port=8888 </a:t>
            </a:r>
            <a:r>
              <a:rPr lang="en-US" sz="900" spc="-75" dirty="0">
                <a:latin typeface="Courier New"/>
                <a:cs typeface="Courier New"/>
              </a:rPr>
              <a:t>--</a:t>
            </a:r>
            <a:r>
              <a:rPr lang="en-US" sz="900" spc="-75" dirty="0" err="1">
                <a:latin typeface="Courier New"/>
                <a:cs typeface="Courier New"/>
              </a:rPr>
              <a:t>ip</a:t>
            </a:r>
            <a:r>
              <a:rPr lang="en-US" sz="900" spc="-75" dirty="0">
                <a:latin typeface="Courier New"/>
                <a:cs typeface="Courier New"/>
              </a:rPr>
              <a:t>=0.0.0.0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Run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on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port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8888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listen on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all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IP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addresses.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50" dirty="0">
                <a:latin typeface="Courier New"/>
                <a:cs typeface="Courier New"/>
              </a:rPr>
              <a:t>deactivate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Deactivate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the current</a:t>
            </a:r>
            <a:r>
              <a:rPr lang="en-US" sz="900" spc="-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8" name="object 28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9" name="object 29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0" name="object 30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31" name="object 31"/>
            <p:cNvSpPr/>
            <p:nvPr/>
          </p:nvSpPr>
          <p:spPr>
            <a:xfrm>
              <a:off x="0" y="3234963"/>
              <a:ext cx="5434330" cy="5080"/>
            </a:xfrm>
            <a:custGeom>
              <a:avLst/>
              <a:gdLst/>
              <a:ahLst/>
              <a:cxnLst/>
              <a:rect l="l" t="t" r="r" b="b"/>
              <a:pathLst>
                <a:path w="5434330" h="5080">
                  <a:moveTo>
                    <a:pt x="0" y="5060"/>
                  </a:moveTo>
                  <a:lnTo>
                    <a:pt x="0" y="0"/>
                  </a:lnTo>
                  <a:lnTo>
                    <a:pt x="5433995" y="0"/>
                  </a:lnTo>
                  <a:lnTo>
                    <a:pt x="5433995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pc="-45" dirty="0"/>
              <a:t>Commands</a:t>
            </a:r>
            <a:r>
              <a:rPr lang="en-US" spc="45" dirty="0"/>
              <a:t> </a:t>
            </a:r>
            <a:r>
              <a:rPr lang="en-US" dirty="0"/>
              <a:t>to</a:t>
            </a:r>
            <a:r>
              <a:rPr lang="en-US" spc="50" dirty="0"/>
              <a:t> </a:t>
            </a:r>
            <a:r>
              <a:rPr lang="en-US" spc="-25" dirty="0"/>
              <a:t>remember</a:t>
            </a:r>
          </a:p>
        </p:txBody>
      </p:sp>
      <p:grpSp>
        <p:nvGrpSpPr>
          <p:cNvPr id="3" name="object 3"/>
          <p:cNvGrpSpPr/>
          <p:nvPr/>
        </p:nvGrpSpPr>
        <p:grpSpPr>
          <a:xfrm>
            <a:off x="2810497" y="1387822"/>
            <a:ext cx="504190" cy="147320"/>
            <a:chOff x="2810497" y="1387822"/>
            <a:chExt cx="504190" cy="147320"/>
          </a:xfrm>
        </p:grpSpPr>
        <p:sp>
          <p:nvSpPr>
            <p:cNvPr id="4" name="object 4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2810497" y="1387822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6" name="object 6"/>
          <p:cNvGrpSpPr/>
          <p:nvPr/>
        </p:nvGrpSpPr>
        <p:grpSpPr>
          <a:xfrm>
            <a:off x="1994827" y="1547156"/>
            <a:ext cx="504190" cy="147320"/>
            <a:chOff x="1994827" y="1547156"/>
            <a:chExt cx="504190" cy="147320"/>
          </a:xfrm>
        </p:grpSpPr>
        <p:sp>
          <p:nvSpPr>
            <p:cNvPr id="7" name="object 7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8" name="object 8"/>
            <p:cNvSpPr/>
            <p:nvPr/>
          </p:nvSpPr>
          <p:spPr>
            <a:xfrm>
              <a:off x="1994827" y="1547156"/>
              <a:ext cx="504190" cy="147320"/>
            </a:xfrm>
            <a:custGeom>
              <a:avLst/>
              <a:gdLst/>
              <a:ahLst/>
              <a:cxnLst/>
              <a:rect l="l" t="t" r="r" b="b"/>
              <a:pathLst>
                <a:path w="504189" h="147319">
                  <a:moveTo>
                    <a:pt x="467577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467577" y="147290"/>
                  </a:lnTo>
                  <a:lnTo>
                    <a:pt x="481590" y="144460"/>
                  </a:lnTo>
                  <a:lnTo>
                    <a:pt x="493033" y="136745"/>
                  </a:lnTo>
                  <a:lnTo>
                    <a:pt x="500748" y="125302"/>
                  </a:lnTo>
                  <a:lnTo>
                    <a:pt x="503577" y="111289"/>
                  </a:lnTo>
                  <a:lnTo>
                    <a:pt x="503577" y="36000"/>
                  </a:lnTo>
                  <a:lnTo>
                    <a:pt x="500748" y="21987"/>
                  </a:lnTo>
                  <a:lnTo>
                    <a:pt x="493033" y="10544"/>
                  </a:lnTo>
                  <a:lnTo>
                    <a:pt x="481590" y="2829"/>
                  </a:lnTo>
                  <a:lnTo>
                    <a:pt x="467577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9" name="object 9"/>
          <p:cNvGrpSpPr/>
          <p:nvPr/>
        </p:nvGrpSpPr>
        <p:grpSpPr>
          <a:xfrm>
            <a:off x="587743" y="1387822"/>
            <a:ext cx="1460500" cy="625475"/>
            <a:chOff x="587743" y="1387822"/>
            <a:chExt cx="1460500" cy="625475"/>
          </a:xfrm>
        </p:grpSpPr>
        <p:sp>
          <p:nvSpPr>
            <p:cNvPr id="10" name="object 10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1" name="object 11"/>
            <p:cNvSpPr/>
            <p:nvPr/>
          </p:nvSpPr>
          <p:spPr>
            <a:xfrm>
              <a:off x="587743" y="1387822"/>
              <a:ext cx="862330" cy="147320"/>
            </a:xfrm>
            <a:custGeom>
              <a:avLst/>
              <a:gdLst/>
              <a:ahLst/>
              <a:cxnLst/>
              <a:rect l="l" t="t" r="r" b="b"/>
              <a:pathLst>
                <a:path w="862330" h="147319">
                  <a:moveTo>
                    <a:pt x="826282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826282" y="147290"/>
                  </a:lnTo>
                  <a:lnTo>
                    <a:pt x="840295" y="144460"/>
                  </a:lnTo>
                  <a:lnTo>
                    <a:pt x="851738" y="136745"/>
                  </a:lnTo>
                  <a:lnTo>
                    <a:pt x="859453" y="125302"/>
                  </a:lnTo>
                  <a:lnTo>
                    <a:pt x="862282" y="111289"/>
                  </a:lnTo>
                  <a:lnTo>
                    <a:pt x="862282" y="36000"/>
                  </a:lnTo>
                  <a:lnTo>
                    <a:pt x="859453" y="21987"/>
                  </a:lnTo>
                  <a:lnTo>
                    <a:pt x="851738" y="10544"/>
                  </a:lnTo>
                  <a:lnTo>
                    <a:pt x="840295" y="2829"/>
                  </a:lnTo>
                  <a:lnTo>
                    <a:pt x="826282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2" name="object 12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3" name="object 13"/>
            <p:cNvSpPr/>
            <p:nvPr/>
          </p:nvSpPr>
          <p:spPr>
            <a:xfrm>
              <a:off x="587743" y="1547156"/>
              <a:ext cx="683260" cy="147320"/>
            </a:xfrm>
            <a:custGeom>
              <a:avLst/>
              <a:gdLst/>
              <a:ahLst/>
              <a:cxnLst/>
              <a:rect l="l" t="t" r="r" b="b"/>
              <a:pathLst>
                <a:path w="683260" h="147319">
                  <a:moveTo>
                    <a:pt x="646930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1289"/>
                  </a:lnTo>
                  <a:lnTo>
                    <a:pt x="2829" y="125302"/>
                  </a:lnTo>
                  <a:lnTo>
                    <a:pt x="10544" y="136745"/>
                  </a:lnTo>
                  <a:lnTo>
                    <a:pt x="21987" y="144460"/>
                  </a:lnTo>
                  <a:lnTo>
                    <a:pt x="36000" y="147290"/>
                  </a:lnTo>
                  <a:lnTo>
                    <a:pt x="646930" y="147290"/>
                  </a:lnTo>
                  <a:lnTo>
                    <a:pt x="660943" y="144460"/>
                  </a:lnTo>
                  <a:lnTo>
                    <a:pt x="672386" y="136745"/>
                  </a:lnTo>
                  <a:lnTo>
                    <a:pt x="680101" y="125302"/>
                  </a:lnTo>
                  <a:lnTo>
                    <a:pt x="682930" y="111289"/>
                  </a:lnTo>
                  <a:lnTo>
                    <a:pt x="682930" y="36000"/>
                  </a:lnTo>
                  <a:lnTo>
                    <a:pt x="680101" y="21987"/>
                  </a:lnTo>
                  <a:lnTo>
                    <a:pt x="672386" y="10544"/>
                  </a:lnTo>
                  <a:lnTo>
                    <a:pt x="660943" y="2829"/>
                  </a:lnTo>
                  <a:lnTo>
                    <a:pt x="646930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4" name="object 14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5" name="object 15"/>
            <p:cNvSpPr/>
            <p:nvPr/>
          </p:nvSpPr>
          <p:spPr>
            <a:xfrm>
              <a:off x="587743" y="1707737"/>
              <a:ext cx="324485" cy="121285"/>
            </a:xfrm>
            <a:custGeom>
              <a:avLst/>
              <a:gdLst/>
              <a:ahLst/>
              <a:cxnLst/>
              <a:rect l="l" t="t" r="r" b="b"/>
              <a:pathLst>
                <a:path w="324484" h="121285">
                  <a:moveTo>
                    <a:pt x="288225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84757"/>
                  </a:lnTo>
                  <a:lnTo>
                    <a:pt x="2829" y="98770"/>
                  </a:lnTo>
                  <a:lnTo>
                    <a:pt x="10544" y="110213"/>
                  </a:lnTo>
                  <a:lnTo>
                    <a:pt x="21987" y="117928"/>
                  </a:lnTo>
                  <a:lnTo>
                    <a:pt x="36000" y="120757"/>
                  </a:lnTo>
                  <a:lnTo>
                    <a:pt x="288225" y="120757"/>
                  </a:lnTo>
                  <a:lnTo>
                    <a:pt x="302238" y="117928"/>
                  </a:lnTo>
                  <a:lnTo>
                    <a:pt x="313681" y="110213"/>
                  </a:lnTo>
                  <a:lnTo>
                    <a:pt x="321396" y="98770"/>
                  </a:lnTo>
                  <a:lnTo>
                    <a:pt x="324225" y="84757"/>
                  </a:lnTo>
                  <a:lnTo>
                    <a:pt x="324225" y="36000"/>
                  </a:lnTo>
                  <a:lnTo>
                    <a:pt x="321396" y="21987"/>
                  </a:lnTo>
                  <a:lnTo>
                    <a:pt x="313681" y="10544"/>
                  </a:lnTo>
                  <a:lnTo>
                    <a:pt x="302238" y="2829"/>
                  </a:lnTo>
                  <a:lnTo>
                    <a:pt x="288225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6" name="object 16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17" name="object 17"/>
            <p:cNvSpPr/>
            <p:nvPr/>
          </p:nvSpPr>
          <p:spPr>
            <a:xfrm>
              <a:off x="587743" y="1857613"/>
              <a:ext cx="1460500" cy="155575"/>
            </a:xfrm>
            <a:custGeom>
              <a:avLst/>
              <a:gdLst/>
              <a:ahLst/>
              <a:cxnLst/>
              <a:rect l="l" t="t" r="r" b="b"/>
              <a:pathLst>
                <a:path w="1460500" h="155575">
                  <a:moveTo>
                    <a:pt x="1424123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424123" y="155489"/>
                  </a:lnTo>
                  <a:lnTo>
                    <a:pt x="1438136" y="152659"/>
                  </a:lnTo>
                  <a:lnTo>
                    <a:pt x="1449579" y="144944"/>
                  </a:lnTo>
                  <a:lnTo>
                    <a:pt x="1457294" y="133501"/>
                  </a:lnTo>
                  <a:lnTo>
                    <a:pt x="1460123" y="119488"/>
                  </a:lnTo>
                  <a:lnTo>
                    <a:pt x="1460123" y="36000"/>
                  </a:lnTo>
                  <a:lnTo>
                    <a:pt x="1457294" y="21987"/>
                  </a:lnTo>
                  <a:lnTo>
                    <a:pt x="1449579" y="10544"/>
                  </a:lnTo>
                  <a:lnTo>
                    <a:pt x="1438136" y="2829"/>
                  </a:lnTo>
                  <a:lnTo>
                    <a:pt x="1424123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grpSp>
        <p:nvGrpSpPr>
          <p:cNvPr id="18" name="object 18"/>
          <p:cNvGrpSpPr/>
          <p:nvPr/>
        </p:nvGrpSpPr>
        <p:grpSpPr>
          <a:xfrm>
            <a:off x="3922471" y="1857613"/>
            <a:ext cx="1221105" cy="155575"/>
            <a:chOff x="3922471" y="1857613"/>
            <a:chExt cx="1221105" cy="155575"/>
          </a:xfrm>
        </p:grpSpPr>
        <p:sp>
          <p:nvSpPr>
            <p:cNvPr id="19" name="object 19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3F3F3F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0" name="object 20"/>
            <p:cNvSpPr/>
            <p:nvPr/>
          </p:nvSpPr>
          <p:spPr>
            <a:xfrm>
              <a:off x="3922471" y="1857613"/>
              <a:ext cx="1221105" cy="155575"/>
            </a:xfrm>
            <a:custGeom>
              <a:avLst/>
              <a:gdLst/>
              <a:ahLst/>
              <a:cxnLst/>
              <a:rect l="l" t="t" r="r" b="b"/>
              <a:pathLst>
                <a:path w="1221104" h="155575">
                  <a:moveTo>
                    <a:pt x="1184986" y="0"/>
                  </a:moveTo>
                  <a:lnTo>
                    <a:pt x="36000" y="0"/>
                  </a:lnTo>
                  <a:lnTo>
                    <a:pt x="21987" y="2829"/>
                  </a:lnTo>
                  <a:lnTo>
                    <a:pt x="10544" y="10544"/>
                  </a:lnTo>
                  <a:lnTo>
                    <a:pt x="2829" y="21987"/>
                  </a:lnTo>
                  <a:lnTo>
                    <a:pt x="0" y="36000"/>
                  </a:lnTo>
                  <a:lnTo>
                    <a:pt x="0" y="119488"/>
                  </a:lnTo>
                  <a:lnTo>
                    <a:pt x="2829" y="133501"/>
                  </a:lnTo>
                  <a:lnTo>
                    <a:pt x="10544" y="144944"/>
                  </a:lnTo>
                  <a:lnTo>
                    <a:pt x="21987" y="152659"/>
                  </a:lnTo>
                  <a:lnTo>
                    <a:pt x="36000" y="155489"/>
                  </a:lnTo>
                  <a:lnTo>
                    <a:pt x="1184986" y="155489"/>
                  </a:lnTo>
                  <a:lnTo>
                    <a:pt x="1198999" y="152659"/>
                  </a:lnTo>
                  <a:lnTo>
                    <a:pt x="1210442" y="144944"/>
                  </a:lnTo>
                  <a:lnTo>
                    <a:pt x="1218158" y="133501"/>
                  </a:lnTo>
                  <a:lnTo>
                    <a:pt x="1220987" y="119488"/>
                  </a:lnTo>
                  <a:lnTo>
                    <a:pt x="1220987" y="36000"/>
                  </a:lnTo>
                  <a:lnTo>
                    <a:pt x="1218158" y="21987"/>
                  </a:lnTo>
                  <a:lnTo>
                    <a:pt x="1210442" y="10544"/>
                  </a:lnTo>
                  <a:lnTo>
                    <a:pt x="1198999" y="2829"/>
                  </a:lnTo>
                  <a:lnTo>
                    <a:pt x="1184986" y="0"/>
                  </a:lnTo>
                  <a:close/>
                </a:path>
              </a:pathLst>
            </a:custGeom>
            <a:solidFill>
              <a:srgbClr val="F2F2F2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  <p:sp>
        <p:nvSpPr>
          <p:cNvPr id="21" name="object 21"/>
          <p:cNvSpPr txBox="1"/>
          <p:nvPr/>
        </p:nvSpPr>
        <p:spPr>
          <a:xfrm>
            <a:off x="427126" y="1334722"/>
            <a:ext cx="4761865" cy="662940"/>
          </a:xfrm>
          <a:prstGeom prst="rect">
            <a:avLst/>
          </a:prstGeom>
        </p:spPr>
        <p:txBody>
          <a:bodyPr vert="horz" wrap="square" lIns="0" tIns="34925" rIns="0" bIns="0" rtlCol="0">
            <a:spAutoFit/>
          </a:bodyPr>
          <a:lstStyle/>
          <a:p>
            <a:pPr marL="172720" indent="-160020">
              <a:lnSpc>
                <a:spcPct val="100000"/>
              </a:lnSpc>
              <a:spcBef>
                <a:spcPts val="2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 err="1">
                <a:latin typeface="Courier New"/>
                <a:cs typeface="Courier New"/>
              </a:rPr>
              <a:t>mkdir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Create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</a:t>
            </a:r>
            <a:r>
              <a:rPr lang="en-US" sz="900" spc="4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named</a:t>
            </a:r>
            <a:r>
              <a:rPr lang="en-US" sz="900" spc="1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65" dirty="0">
                <a:latin typeface="Courier New"/>
                <a:cs typeface="Courier New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445" dirty="0">
                <a:latin typeface="Courier New"/>
                <a:cs typeface="Courier New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5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16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project1</a:t>
            </a:r>
            <a:r>
              <a:rPr lang="en-US" sz="900" spc="-130" dirty="0">
                <a:latin typeface="Courier New"/>
                <a:cs typeface="Courier New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5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5" dirty="0">
                <a:latin typeface="Courier New"/>
                <a:cs typeface="Courier New"/>
              </a:rPr>
              <a:t>cd</a:t>
            </a:r>
            <a:r>
              <a:rPr lang="en-US" sz="900" spc="-70" dirty="0">
                <a:latin typeface="Courier New"/>
                <a:cs typeface="Courier New"/>
              </a:rPr>
              <a:t> </a:t>
            </a:r>
            <a:r>
              <a:rPr lang="en-US" sz="900" dirty="0">
                <a:latin typeface="Courier New"/>
                <a:cs typeface="Courier New"/>
              </a:rPr>
              <a:t>..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7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Move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parent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directory.</a:t>
            </a:r>
            <a:endParaRPr lang="en-US" sz="900" dirty="0">
              <a:latin typeface="Arial"/>
              <a:cs typeface="Arial"/>
            </a:endParaRPr>
          </a:p>
          <a:p>
            <a:pPr marL="172720" indent="-160020">
              <a:lnSpc>
                <a:spcPct val="100000"/>
              </a:lnSpc>
              <a:spcBef>
                <a:spcPts val="170"/>
              </a:spcBef>
              <a:buClr>
                <a:srgbClr val="22373A"/>
              </a:buClr>
              <a:buFont typeface="Arial"/>
              <a:buChar char="•"/>
              <a:tabLst>
                <a:tab pos="172720" algn="l"/>
              </a:tabLst>
            </a:pPr>
            <a:r>
              <a:rPr lang="en-US" sz="900" spc="-70" dirty="0">
                <a:latin typeface="Courier New"/>
                <a:cs typeface="Courier New"/>
              </a:rPr>
              <a:t>cat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50" dirty="0" err="1">
                <a:latin typeface="Courier New"/>
                <a:cs typeface="Courier New"/>
              </a:rPr>
              <a:t>keypair.pub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:</a:t>
            </a:r>
            <a:r>
              <a:rPr lang="en-US" sz="900" spc="8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Show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contents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of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file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located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at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latin typeface="Courier New"/>
                <a:cs typeface="Courier New"/>
              </a:rPr>
              <a:t>.ssh/</a:t>
            </a:r>
            <a:r>
              <a:rPr lang="en-US" sz="900" spc="-75" dirty="0" err="1">
                <a:latin typeface="Courier New"/>
                <a:cs typeface="Courier New"/>
              </a:rPr>
              <a:t>aws-</a:t>
            </a:r>
            <a:r>
              <a:rPr lang="en-US" sz="900" spc="-40" dirty="0" err="1">
                <a:latin typeface="Courier New"/>
                <a:cs typeface="Courier New"/>
              </a:rPr>
              <a:t>keypair.pub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22" name="object 22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23" name="object 23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4" name="object 24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25" name="object 25"/>
            <p:cNvSpPr/>
            <p:nvPr/>
          </p:nvSpPr>
          <p:spPr>
            <a:xfrm>
              <a:off x="0" y="3234963"/>
              <a:ext cx="5542915" cy="5080"/>
            </a:xfrm>
            <a:custGeom>
              <a:avLst/>
              <a:gdLst/>
              <a:ahLst/>
              <a:cxnLst/>
              <a:rect l="l" t="t" r="r" b="b"/>
              <a:pathLst>
                <a:path w="5542915" h="5080">
                  <a:moveTo>
                    <a:pt x="0" y="5060"/>
                  </a:moveTo>
                  <a:lnTo>
                    <a:pt x="0" y="0"/>
                  </a:lnTo>
                  <a:lnTo>
                    <a:pt x="5542717" y="0"/>
                  </a:lnTo>
                  <a:lnTo>
                    <a:pt x="554271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14703" y="1375167"/>
            <a:ext cx="706120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lang="en-US" sz="1100" b="1" spc="-65" dirty="0">
                <a:solidFill>
                  <a:srgbClr val="22373A"/>
                </a:solidFill>
                <a:latin typeface="Arial"/>
                <a:cs typeface="Arial"/>
                <a:hlinkClick r:id="rId2" action="ppaction://hlinksldjump"/>
              </a:rPr>
              <a:t>Conclusion</a:t>
            </a:r>
            <a:endParaRPr lang="en-US" sz="1100" dirty="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1627403" y="1647056"/>
            <a:ext cx="2505710" cy="5080"/>
            <a:chOff x="1627403" y="1647056"/>
            <a:chExt cx="2505710" cy="5080"/>
          </a:xfrm>
        </p:grpSpPr>
        <p:sp>
          <p:nvSpPr>
            <p:cNvPr id="4" name="object 4"/>
            <p:cNvSpPr/>
            <p:nvPr/>
          </p:nvSpPr>
          <p:spPr>
            <a:xfrm>
              <a:off x="1627403" y="1647056"/>
              <a:ext cx="2505710" cy="5080"/>
            </a:xfrm>
            <a:custGeom>
              <a:avLst/>
              <a:gdLst/>
              <a:ahLst/>
              <a:cxnLst/>
              <a:rect l="l" t="t" r="r" b="b"/>
              <a:pathLst>
                <a:path w="2505710" h="5080">
                  <a:moveTo>
                    <a:pt x="0" y="5060"/>
                  </a:moveTo>
                  <a:lnTo>
                    <a:pt x="0" y="0"/>
                  </a:lnTo>
                  <a:lnTo>
                    <a:pt x="2505237" y="0"/>
                  </a:lnTo>
                  <a:lnTo>
                    <a:pt x="2505237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5" name="object 5"/>
            <p:cNvSpPr/>
            <p:nvPr/>
          </p:nvSpPr>
          <p:spPr>
            <a:xfrm>
              <a:off x="1627403" y="1647056"/>
              <a:ext cx="2411095" cy="5080"/>
            </a:xfrm>
            <a:custGeom>
              <a:avLst/>
              <a:gdLst/>
              <a:ahLst/>
              <a:cxnLst/>
              <a:rect l="l" t="t" r="r" b="b"/>
              <a:pathLst>
                <a:path w="2411095" h="5080">
                  <a:moveTo>
                    <a:pt x="0" y="5060"/>
                  </a:moveTo>
                  <a:lnTo>
                    <a:pt x="0" y="0"/>
                  </a:lnTo>
                  <a:lnTo>
                    <a:pt x="2410702" y="0"/>
                  </a:lnTo>
                  <a:lnTo>
                    <a:pt x="2410702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RECAP:</a:t>
            </a:r>
            <a:r>
              <a:rPr lang="en-US" spc="20" dirty="0"/>
              <a:t> </a:t>
            </a:r>
            <a:r>
              <a:rPr lang="en-US" spc="-35" dirty="0"/>
              <a:t>Summary</a:t>
            </a:r>
            <a:r>
              <a:rPr lang="en-US" spc="20" dirty="0"/>
              <a:t> </a:t>
            </a:r>
            <a:r>
              <a:rPr lang="en-US" dirty="0"/>
              <a:t>of</a:t>
            </a:r>
            <a:r>
              <a:rPr lang="en-US" spc="20" dirty="0"/>
              <a:t> </a:t>
            </a:r>
            <a:r>
              <a:rPr lang="en-US" dirty="0"/>
              <a:t>the</a:t>
            </a:r>
            <a:r>
              <a:rPr lang="en-US" spc="20" dirty="0"/>
              <a:t> </a:t>
            </a:r>
            <a:r>
              <a:rPr lang="en-US" spc="-70" dirty="0"/>
              <a:t>session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4335" y="1291572"/>
            <a:ext cx="5039360" cy="79946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54940" indent="-142240">
              <a:lnSpc>
                <a:spcPct val="100000"/>
              </a:lnSpc>
              <a:spcBef>
                <a:spcPts val="95"/>
              </a:spcBef>
              <a:buAutoNum type="arabicPeriod"/>
              <a:tabLst>
                <a:tab pos="15494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about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services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in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specifically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EC2.</a:t>
            </a:r>
            <a:endParaRPr lang="en-US" sz="900" dirty="0">
              <a:latin typeface="Arial"/>
              <a:cs typeface="Arial"/>
            </a:endParaRPr>
          </a:p>
          <a:p>
            <a:pPr marL="15240" marR="5080" indent="142240">
              <a:lnSpc>
                <a:spcPct val="116199"/>
              </a:lnSpc>
              <a:spcBef>
                <a:spcPts val="62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deploy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in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EC2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40" dirty="0">
                <a:solidFill>
                  <a:srgbClr val="22373A"/>
                </a:solidFill>
                <a:latin typeface="Arial"/>
                <a:cs typeface="Arial"/>
              </a:rPr>
              <a:t>manage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Python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environments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with </a:t>
            </a:r>
            <a:r>
              <a:rPr lang="en-US" sz="900" spc="-25" dirty="0" err="1">
                <a:solidFill>
                  <a:srgbClr val="22373A"/>
                </a:solidFill>
                <a:latin typeface="Arial"/>
                <a:cs typeface="Arial"/>
              </a:rPr>
              <a:t>uv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.</a:t>
            </a:r>
            <a:endParaRPr lang="en-US" sz="900" dirty="0">
              <a:latin typeface="Arial"/>
              <a:cs typeface="Arial"/>
            </a:endParaRPr>
          </a:p>
          <a:p>
            <a:pPr marL="157480" indent="-142240">
              <a:lnSpc>
                <a:spcPct val="100000"/>
              </a:lnSpc>
              <a:spcBef>
                <a:spcPts val="805"/>
              </a:spcBef>
              <a:buAutoNum type="arabicPeriod"/>
              <a:tabLst>
                <a:tab pos="157480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have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learned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about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security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groups,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key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pairs,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how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connect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to the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instance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using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SSH.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651500" cy="5080"/>
            </a:xfrm>
            <a:custGeom>
              <a:avLst/>
              <a:gdLst/>
              <a:ahLst/>
              <a:cxnLst/>
              <a:rect l="l" t="t" r="r" b="b"/>
              <a:pathLst>
                <a:path w="5651500" h="5080">
                  <a:moveTo>
                    <a:pt x="0" y="5060"/>
                  </a:moveTo>
                  <a:lnTo>
                    <a:pt x="0" y="0"/>
                  </a:lnTo>
                  <a:lnTo>
                    <a:pt x="5651351" y="0"/>
                  </a:lnTo>
                  <a:lnTo>
                    <a:pt x="5651351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8526" y="59834"/>
            <a:ext cx="186817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dirty="0"/>
              <a:t>Why</a:t>
            </a:r>
            <a:r>
              <a:rPr lang="en-US" spc="10" dirty="0"/>
              <a:t> </a:t>
            </a:r>
            <a:r>
              <a:rPr lang="en-US" spc="-45" dirty="0"/>
              <a:t>use</a:t>
            </a:r>
            <a:r>
              <a:rPr lang="en-US" spc="10" dirty="0"/>
              <a:t> </a:t>
            </a:r>
            <a:r>
              <a:rPr lang="en-US" spc="-20" dirty="0" err="1"/>
              <a:t>Jupyter</a:t>
            </a:r>
            <a:r>
              <a:rPr lang="en-US" spc="15" dirty="0"/>
              <a:t> </a:t>
            </a:r>
            <a:r>
              <a:rPr lang="en-US" dirty="0"/>
              <a:t>on</a:t>
            </a:r>
            <a:r>
              <a:rPr lang="en-US" spc="10" dirty="0"/>
              <a:t> </a:t>
            </a:r>
            <a:r>
              <a:rPr lang="en-US" dirty="0"/>
              <a:t>the</a:t>
            </a:r>
            <a:r>
              <a:rPr lang="en-US" spc="10" dirty="0"/>
              <a:t> </a:t>
            </a:r>
            <a:r>
              <a:rPr lang="en-US" spc="-40" dirty="0"/>
              <a:t>Cloud?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47294" y="1023856"/>
            <a:ext cx="5008245" cy="135699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Example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Use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 Cases</a:t>
            </a:r>
            <a:endParaRPr lang="en-US" sz="900" dirty="0">
              <a:latin typeface="Arial"/>
              <a:cs typeface="Arial"/>
            </a:endParaRPr>
          </a:p>
          <a:p>
            <a:pPr marL="240029" marR="213995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Large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Datasets: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If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dataset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too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big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for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local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machine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(e.g.,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1000GB),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cloud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storage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and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5" dirty="0">
                <a:solidFill>
                  <a:srgbClr val="22373A"/>
                </a:solidFill>
                <a:latin typeface="Arial"/>
                <a:cs typeface="Arial"/>
              </a:rPr>
              <a:t>power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are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essential.</a:t>
            </a:r>
            <a:endParaRPr lang="en-US" sz="900" dirty="0">
              <a:latin typeface="Arial"/>
              <a:cs typeface="Arial"/>
            </a:endParaRPr>
          </a:p>
          <a:p>
            <a:pPr marL="240029" marR="5080" indent="-147955">
              <a:lnSpc>
                <a:spcPct val="116199"/>
              </a:lnSpc>
              <a:spcBef>
                <a:spcPts val="630"/>
              </a:spcBef>
              <a:buChar char="•"/>
              <a:tabLst>
                <a:tab pos="240029" algn="l"/>
              </a:tabLst>
            </a:pP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High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Computational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Requirements:</a:t>
            </a:r>
            <a:r>
              <a:rPr lang="en-US" sz="900" spc="9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Some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models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require</a:t>
            </a:r>
            <a:r>
              <a:rPr lang="en-US" sz="900" spc="1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GPUs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or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high-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memory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30" dirty="0">
                <a:solidFill>
                  <a:srgbClr val="22373A"/>
                </a:solidFill>
                <a:latin typeface="Arial"/>
                <a:cs typeface="Arial"/>
              </a:rPr>
              <a:t>machines,</a:t>
            </a:r>
            <a:r>
              <a:rPr lang="en-US" sz="900" spc="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which can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be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rented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via</a:t>
            </a:r>
            <a:r>
              <a:rPr lang="en-US" sz="900" spc="-3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AWS.</a:t>
            </a:r>
            <a:endParaRPr lang="en-US" sz="900" dirty="0">
              <a:latin typeface="Arial"/>
              <a:cs typeface="Arial"/>
            </a:endParaRPr>
          </a:p>
          <a:p>
            <a:pPr marL="240029" marR="124460" indent="-147955">
              <a:lnSpc>
                <a:spcPct val="116199"/>
              </a:lnSpc>
              <a:spcBef>
                <a:spcPts val="625"/>
              </a:spcBef>
              <a:buChar char="•"/>
              <a:tabLst>
                <a:tab pos="240029" algn="l"/>
              </a:tabLst>
            </a:pP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Collaboration:</a:t>
            </a:r>
            <a:r>
              <a:rPr lang="en-US" sz="900" spc="12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I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can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give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75" dirty="0">
                <a:solidFill>
                  <a:srgbClr val="22373A"/>
                </a:solidFill>
                <a:latin typeface="Arial"/>
                <a:cs typeface="Arial"/>
              </a:rPr>
              <a:t>access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20" dirty="0">
                <a:solidFill>
                  <a:srgbClr val="22373A"/>
                </a:solidFill>
                <a:latin typeface="Arial"/>
                <a:cs typeface="Arial"/>
              </a:rPr>
              <a:t>others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to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my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 err="1">
                <a:solidFill>
                  <a:srgbClr val="22373A"/>
                </a:solidFill>
                <a:latin typeface="Arial"/>
                <a:cs typeface="Arial"/>
              </a:rPr>
              <a:t>Jupyter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Notebook</a:t>
            </a:r>
            <a:r>
              <a:rPr lang="en-US" sz="900" spc="25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with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the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55" dirty="0">
                <a:solidFill>
                  <a:srgbClr val="22373A"/>
                </a:solidFill>
                <a:latin typeface="Arial"/>
                <a:cs typeface="Arial"/>
              </a:rPr>
              <a:t>same</a:t>
            </a:r>
            <a:r>
              <a:rPr lang="en-US" sz="900" spc="3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environment </a:t>
            </a:r>
            <a:r>
              <a:rPr lang="en-US" sz="900" dirty="0">
                <a:solidFill>
                  <a:srgbClr val="22373A"/>
                </a:solidFill>
                <a:latin typeface="Arial"/>
                <a:cs typeface="Arial"/>
              </a:rPr>
              <a:t>and</a:t>
            </a:r>
            <a:r>
              <a:rPr lang="en-US" sz="900" spc="-50" dirty="0">
                <a:solidFill>
                  <a:srgbClr val="22373A"/>
                </a:solidFill>
                <a:latin typeface="Arial"/>
                <a:cs typeface="Arial"/>
              </a:rPr>
              <a:t> </a:t>
            </a:r>
            <a:r>
              <a:rPr lang="en-US" sz="900" spc="-10" dirty="0">
                <a:solidFill>
                  <a:srgbClr val="22373A"/>
                </a:solidFill>
                <a:latin typeface="Arial"/>
                <a:cs typeface="Arial"/>
              </a:rPr>
              <a:t>data.</a:t>
            </a:r>
            <a:endParaRPr lang="en-US" sz="900" dirty="0">
              <a:latin typeface="Arial"/>
              <a:cs typeface="Arial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0" y="3234963"/>
            <a:ext cx="5760085" cy="5080"/>
            <a:chOff x="0" y="3234963"/>
            <a:chExt cx="5760085" cy="5080"/>
          </a:xfrm>
        </p:grpSpPr>
        <p:sp>
          <p:nvSpPr>
            <p:cNvPr id="5" name="object 5"/>
            <p:cNvSpPr/>
            <p:nvPr/>
          </p:nvSpPr>
          <p:spPr>
            <a:xfrm>
              <a:off x="0" y="3237496"/>
              <a:ext cx="5760085" cy="0"/>
            </a:xfrm>
            <a:custGeom>
              <a:avLst/>
              <a:gdLst/>
              <a:ahLst/>
              <a:cxnLst/>
              <a:rect l="l" t="t" r="r" b="b"/>
              <a:pathLst>
                <a:path w="5760085">
                  <a:moveTo>
                    <a:pt x="0" y="0"/>
                  </a:moveTo>
                  <a:lnTo>
                    <a:pt x="5759996" y="0"/>
                  </a:lnTo>
                </a:path>
              </a:pathLst>
            </a:custGeom>
            <a:ln w="5060">
              <a:solidFill>
                <a:srgbClr val="D5C5B6"/>
              </a:solidFill>
            </a:ln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6" name="object 6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D5C5B6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  <p:sp>
          <p:nvSpPr>
            <p:cNvPr id="7" name="object 7"/>
            <p:cNvSpPr/>
            <p:nvPr/>
          </p:nvSpPr>
          <p:spPr>
            <a:xfrm>
              <a:off x="0" y="3234963"/>
              <a:ext cx="5760085" cy="5080"/>
            </a:xfrm>
            <a:custGeom>
              <a:avLst/>
              <a:gdLst/>
              <a:ahLst/>
              <a:cxnLst/>
              <a:rect l="l" t="t" r="r" b="b"/>
              <a:pathLst>
                <a:path w="5760085" h="5080">
                  <a:moveTo>
                    <a:pt x="0" y="5060"/>
                  </a:moveTo>
                  <a:lnTo>
                    <a:pt x="0" y="0"/>
                  </a:lnTo>
                  <a:lnTo>
                    <a:pt x="5760073" y="0"/>
                  </a:lnTo>
                  <a:lnTo>
                    <a:pt x="5760073" y="5060"/>
                  </a:lnTo>
                  <a:lnTo>
                    <a:pt x="0" y="5060"/>
                  </a:lnTo>
                  <a:close/>
                </a:path>
              </a:pathLst>
            </a:custGeom>
            <a:solidFill>
              <a:srgbClr val="EB811B"/>
            </a:solidFill>
          </p:spPr>
          <p:txBody>
            <a:bodyPr wrap="square" lIns="0" tIns="0" rIns="0" bIns="0" rtlCol="0"/>
            <a:lstStyle/>
            <a:p>
              <a:endParaRPr lang="en-US" dirty="0"/>
            </a:p>
          </p:txBody>
        </p:sp>
      </p:grp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201</TotalTime>
  <Words>3052</Words>
  <Application>Microsoft Macintosh PowerPoint</Application>
  <PresentationFormat>Custom</PresentationFormat>
  <Paragraphs>327</Paragraphs>
  <Slides>61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65" baseType="lpstr">
      <vt:lpstr>Aptos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Website deployment</vt:lpstr>
      <vt:lpstr>Cloud services everywhere</vt:lpstr>
      <vt:lpstr>Cloud services everywhere</vt:lpstr>
      <vt:lpstr>Amazon Web Services</vt:lpstr>
      <vt:lpstr>Amazon Web Services: EC2</vt:lpstr>
      <vt:lpstr>PowerPoint Presentation</vt:lpstr>
      <vt:lpstr>A remote terminal through SSH</vt:lpstr>
      <vt:lpstr>How does SSH work?</vt:lpstr>
      <vt:lpstr>What do you mean by client and server?</vt:lpstr>
      <vt:lpstr>PowerPoint Presentation</vt:lpstr>
      <vt:lpstr>PowerPoint Presentation</vt:lpstr>
      <vt:lpstr>PowerPoint Presentation</vt:lpstr>
      <vt:lpstr>Ports</vt:lpstr>
      <vt:lpstr>Security groups</vt:lpstr>
      <vt:lpstr>PowerPoint Presentation</vt:lpstr>
      <vt:lpstr>Goals for today</vt:lpstr>
      <vt:lpstr>PowerPoint Presentation</vt:lpstr>
      <vt:lpstr>PowerPoint Presentation</vt:lpstr>
      <vt:lpstr>PowerPoint Presentation</vt:lpstr>
      <vt:lpstr>Logging in from now on</vt:lpstr>
      <vt:lpstr>Logging in from now on</vt:lpstr>
      <vt:lpstr>Available courses</vt:lpstr>
      <vt:lpstr>Available courses: AWS Cloud Foundation Course</vt:lpstr>
      <vt:lpstr>Available courses: AWS Learner Lab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Creating an SSH Key Pair</vt:lpstr>
      <vt:lpstr>Creating an SSH Key Pair</vt:lpstr>
      <vt:lpstr>Importing our generated key pair</vt:lpstr>
      <vt:lpstr>Creating an EC2 instance</vt:lpstr>
      <vt:lpstr>Security Group</vt:lpstr>
      <vt:lpstr>PowerPoint Presentation</vt:lpstr>
      <vt:lpstr>Connecting to the instance</vt:lpstr>
      <vt:lpstr>Managing Python environments with uv</vt:lpstr>
      <vt:lpstr>Why use uv?</vt:lpstr>
      <vt:lpstr>Installing uv</vt:lpstr>
      <vt:lpstr>Creating two example uv Projects</vt:lpstr>
      <vt:lpstr>Creating two example uv Projects</vt:lpstr>
      <vt:lpstr>Working with the environments</vt:lpstr>
      <vt:lpstr>Working with the environments</vt:lpstr>
      <vt:lpstr>Running Jupyter Notebook (I)</vt:lpstr>
      <vt:lpstr>Running Jupyter Notebook (I)</vt:lpstr>
      <vt:lpstr>Opening the port 8888</vt:lpstr>
      <vt:lpstr>Running Jupyter Notebook (II)</vt:lpstr>
      <vt:lpstr>Accessing the Jupyter Notebook</vt:lpstr>
      <vt:lpstr>Accessing the Jupyter Notebook</vt:lpstr>
      <vt:lpstr>Running python code in the notebook</vt:lpstr>
      <vt:lpstr>Commands to remember</vt:lpstr>
      <vt:lpstr>Commands to remember</vt:lpstr>
      <vt:lpstr>PowerPoint Presentation</vt:lpstr>
      <vt:lpstr>RECAP: Summary of the session</vt:lpstr>
      <vt:lpstr>Why use Jupyter on the Cloud?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High Performance and Distributed Computing for Big Data - Unit 3: Hands-On AWS Setup</dc:title>
  <dc:creator>Ferran Aran Domingo ` `%%%`#`&amp;12_`__~~~ౡ氀猀攀</dc:creator>
  <cp:keywords>Cloud Computing, AWS, EC2, Jupyter, Security Groups</cp:keywords>
  <cp:lastModifiedBy>Francesc Xavier Solsona Tehas</cp:lastModifiedBy>
  <cp:revision>5</cp:revision>
  <dcterms:created xsi:type="dcterms:W3CDTF">2025-05-19T16:09:11Z</dcterms:created>
  <dcterms:modified xsi:type="dcterms:W3CDTF">2026-03-16T12:53:33Z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2025-02-26T00:00:00Z</vt:filetime>
  </property>
  <property fmtid="{D5CDD505-2E9C-101B-9397-08002B2CF9AE}" pid="3" name="Creator">
    <vt:lpwstr>LaTeX via pandoc</vt:lpwstr>
  </property>
  <property fmtid="{D5CDD505-2E9C-101B-9397-08002B2CF9AE}" pid="4" name="Producer">
    <vt:lpwstr>xdvipdfmx (20240210)</vt:lpwstr>
  </property>
  <property fmtid="{D5CDD505-2E9C-101B-9397-08002B2CF9AE}" pid="5" name="LastSaved">
    <vt:filetime>2025-02-26T00:00:00Z</vt:filetime>
  </property>
</Properties>
</file>