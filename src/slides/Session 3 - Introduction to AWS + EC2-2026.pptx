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1" r:id="rId56"/>
    <p:sldId id="310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4658"/>
  </p:normalViewPr>
  <p:slideViewPr>
    <p:cSldViewPr>
      <p:cViewPr varScale="1">
        <p:scale>
          <a:sx n="254" d="100"/>
          <a:sy n="254" d="100"/>
        </p:scale>
        <p:origin x="1168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 sldOrd">
      <pc:chgData name="Francesc Xavier Solsona Tehas" userId="1f95e2c3-a25c-4efc-a37b-de93ab79e53c" providerId="ADAL" clId="{C51773D9-DD29-5A84-A509-762D3F3EA38B}" dt="2026-02-25T11:51:49.140" v="615" actId="20577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56:35.911" v="41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56:35.911" v="41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12:10.087" v="59" actId="14100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14T11:12:05.887" v="58" actId="1076"/>
          <ac:spMkLst>
            <pc:docMk/>
            <pc:sldMk cId="0" sldId="29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2:10.087" v="59" actId="14100"/>
          <ac:picMkLst>
            <pc:docMk/>
            <pc:sldMk cId="0" sldId="29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2:24.963" v="61" actId="14100"/>
        <pc:sldMkLst>
          <pc:docMk/>
          <pc:sldMk cId="0" sldId="291"/>
        </pc:sldMkLst>
        <pc:picChg chg="mod">
          <ac:chgData name="Francesc Xavier Solsona Tehas" userId="1f95e2c3-a25c-4efc-a37b-de93ab79e53c" providerId="ADAL" clId="{C51773D9-DD29-5A84-A509-762D3F3EA38B}" dt="2026-02-14T11:12:24.963" v="61" actId="14100"/>
          <ac:picMkLst>
            <pc:docMk/>
            <pc:sldMk cId="0" sldId="29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27.712" v="77" actId="14100"/>
        <pc:sldMkLst>
          <pc:docMk/>
          <pc:sldMk cId="0" sldId="292"/>
        </pc:sldMkLst>
        <pc:spChg chg="mod">
          <ac:chgData name="Francesc Xavier Solsona Tehas" userId="1f95e2c3-a25c-4efc-a37b-de93ab79e53c" providerId="ADAL" clId="{C51773D9-DD29-5A84-A509-762D3F3EA38B}" dt="2026-02-14T11:13:57.663" v="62"/>
          <ac:spMkLst>
            <pc:docMk/>
            <pc:sldMk cId="0" sldId="292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4T11:14:21.178" v="75" actId="1035"/>
          <ac:spMkLst>
            <pc:docMk/>
            <pc:sldMk cId="0" sldId="29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27.712" v="77" actId="14100"/>
          <ac:picMkLst>
            <pc:docMk/>
            <pc:sldMk cId="0" sldId="292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57.711" v="82" actId="14100"/>
        <pc:sldMkLst>
          <pc:docMk/>
          <pc:sldMk cId="0" sldId="293"/>
        </pc:sldMkLst>
        <pc:spChg chg="mod">
          <ac:chgData name="Francesc Xavier Solsona Tehas" userId="1f95e2c3-a25c-4efc-a37b-de93ab79e53c" providerId="ADAL" clId="{C51773D9-DD29-5A84-A509-762D3F3EA38B}" dt="2026-02-14T11:14:45.903" v="78" actId="1076"/>
          <ac:spMkLst>
            <pc:docMk/>
            <pc:sldMk cId="0" sldId="29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57.711" v="82" actId="14100"/>
          <ac:picMkLst>
            <pc:docMk/>
            <pc:sldMk cId="0" sldId="293"/>
            <ac:picMk id="4" creationId="{00000000-0000-0000-0000-000000000000}"/>
          </ac:picMkLst>
        </pc:picChg>
      </pc:sldChg>
      <pc:sldChg chg="addSp modSp mod">
        <pc:chgData name="Francesc Xavier Solsona Tehas" userId="1f95e2c3-a25c-4efc-a37b-de93ab79e53c" providerId="ADAL" clId="{C51773D9-DD29-5A84-A509-762D3F3EA38B}" dt="2026-02-14T11:19:17.730" v="206" actId="14100"/>
        <pc:sldMkLst>
          <pc:docMk/>
          <pc:sldMk cId="0" sldId="294"/>
        </pc:sldMkLst>
        <pc:spChg chg="mod">
          <ac:chgData name="Francesc Xavier Solsona Tehas" userId="1f95e2c3-a25c-4efc-a37b-de93ab79e53c" providerId="ADAL" clId="{C51773D9-DD29-5A84-A509-762D3F3EA38B}" dt="2026-02-14T11:18:38.767" v="195" actId="5793"/>
          <ac:spMkLst>
            <pc:docMk/>
            <pc:sldMk cId="0" sldId="294"/>
            <ac:spMk id="3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14T11:18:59.632" v="202" actId="1037"/>
          <ac:spMkLst>
            <pc:docMk/>
            <pc:sldMk cId="0" sldId="294"/>
            <ac:spMk id="10" creationId="{94DB57A0-D61C-F006-F732-E3D21F3580C9}"/>
          </ac:spMkLst>
        </pc:spChg>
        <pc:spChg chg="add mod">
          <ac:chgData name="Francesc Xavier Solsona Tehas" userId="1f95e2c3-a25c-4efc-a37b-de93ab79e53c" providerId="ADAL" clId="{C51773D9-DD29-5A84-A509-762D3F3EA38B}" dt="2026-02-14T11:18:53.680" v="199" actId="1076"/>
          <ac:spMkLst>
            <pc:docMk/>
            <pc:sldMk cId="0" sldId="294"/>
            <ac:spMk id="11" creationId="{3848A72E-B31A-BFC0-6DD4-3EBE22F7E4EE}"/>
          </ac:spMkLst>
        </pc:spChg>
        <pc:picChg chg="mod">
          <ac:chgData name="Francesc Xavier Solsona Tehas" userId="1f95e2c3-a25c-4efc-a37b-de93ab79e53c" providerId="ADAL" clId="{C51773D9-DD29-5A84-A509-762D3F3EA38B}" dt="2026-02-14T11:19:17.730" v="206" actId="14100"/>
          <ac:picMkLst>
            <pc:docMk/>
            <pc:sldMk cId="0" sldId="294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0:02.297" v="211" actId="207"/>
        <pc:sldMkLst>
          <pc:docMk/>
          <pc:sldMk cId="0" sldId="295"/>
        </pc:sldMkLst>
        <pc:spChg chg="mod">
          <ac:chgData name="Francesc Xavier Solsona Tehas" userId="1f95e2c3-a25c-4efc-a37b-de93ab79e53c" providerId="ADAL" clId="{C51773D9-DD29-5A84-A509-762D3F3EA38B}" dt="2026-02-14T11:20:02.297" v="211" actId="207"/>
          <ac:spMkLst>
            <pc:docMk/>
            <pc:sldMk cId="0" sldId="29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4:31.313" v="220" actId="207"/>
        <pc:sldMkLst>
          <pc:docMk/>
          <pc:sldMk cId="0" sldId="296"/>
        </pc:sldMkLst>
        <pc:spChg chg="mod">
          <ac:chgData name="Francesc Xavier Solsona Tehas" userId="1f95e2c3-a25c-4efc-a37b-de93ab79e53c" providerId="ADAL" clId="{C51773D9-DD29-5A84-A509-762D3F3EA38B}" dt="2026-02-14T11:24:31.313" v="220" actId="207"/>
          <ac:spMkLst>
            <pc:docMk/>
            <pc:sldMk cId="0" sldId="29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6:47.451" v="224" actId="14100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14T11:26:39.696" v="221" actId="1076"/>
          <ac:spMkLst>
            <pc:docMk/>
            <pc:sldMk cId="0" sldId="297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6:47.451" v="224" actId="14100"/>
          <ac:picMkLst>
            <pc:docMk/>
            <pc:sldMk cId="0" sldId="297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16.148" v="236" actId="14100"/>
        <pc:sldMkLst>
          <pc:docMk/>
          <pc:sldMk cId="0" sldId="298"/>
        </pc:sldMkLst>
        <pc:spChg chg="mod">
          <ac:chgData name="Francesc Xavier Solsona Tehas" userId="1f95e2c3-a25c-4efc-a37b-de93ab79e53c" providerId="ADAL" clId="{C51773D9-DD29-5A84-A509-762D3F3EA38B}" dt="2026-02-14T11:27:04.993" v="233" actId="1035"/>
          <ac:spMkLst>
            <pc:docMk/>
            <pc:sldMk cId="0" sldId="298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16.148" v="236" actId="14100"/>
          <ac:picMkLst>
            <pc:docMk/>
            <pc:sldMk cId="0" sldId="298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47.032" v="244" actId="14100"/>
        <pc:sldMkLst>
          <pc:docMk/>
          <pc:sldMk cId="0" sldId="299"/>
        </pc:sldMkLst>
        <pc:spChg chg="mod">
          <ac:chgData name="Francesc Xavier Solsona Tehas" userId="1f95e2c3-a25c-4efc-a37b-de93ab79e53c" providerId="ADAL" clId="{C51773D9-DD29-5A84-A509-762D3F3EA38B}" dt="2026-02-14T11:27:38.391" v="242" actId="1036"/>
          <ac:spMkLst>
            <pc:docMk/>
            <pc:sldMk cId="0" sldId="299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47.032" v="244" actId="14100"/>
          <ac:picMkLst>
            <pc:docMk/>
            <pc:sldMk cId="0" sldId="299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05.957" v="250" actId="14100"/>
        <pc:sldMkLst>
          <pc:docMk/>
          <pc:sldMk cId="0" sldId="300"/>
        </pc:sldMkLst>
        <pc:spChg chg="mod">
          <ac:chgData name="Francesc Xavier Solsona Tehas" userId="1f95e2c3-a25c-4efc-a37b-de93ab79e53c" providerId="ADAL" clId="{C51773D9-DD29-5A84-A509-762D3F3EA38B}" dt="2026-02-14T11:28:01.900" v="249" actId="1036"/>
          <ac:spMkLst>
            <pc:docMk/>
            <pc:sldMk cId="0" sldId="30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05.957" v="250" actId="14100"/>
          <ac:picMkLst>
            <pc:docMk/>
            <pc:sldMk cId="0" sldId="30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29.735" v="258" actId="14100"/>
        <pc:sldMkLst>
          <pc:docMk/>
          <pc:sldMk cId="0" sldId="301"/>
        </pc:sldMkLst>
        <pc:spChg chg="mod">
          <ac:chgData name="Francesc Xavier Solsona Tehas" userId="1f95e2c3-a25c-4efc-a37b-de93ab79e53c" providerId="ADAL" clId="{C51773D9-DD29-5A84-A509-762D3F3EA38B}" dt="2026-02-14T11:28:23.380" v="256" actId="1036"/>
          <ac:spMkLst>
            <pc:docMk/>
            <pc:sldMk cId="0" sldId="30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29.735" v="258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25T11:30:24.535" v="546" actId="20577"/>
        <pc:sldMkLst>
          <pc:docMk/>
          <pc:sldMk cId="0" sldId="302"/>
        </pc:sldMkLst>
        <pc:spChg chg="mod">
          <ac:chgData name="Francesc Xavier Solsona Tehas" userId="1f95e2c3-a25c-4efc-a37b-de93ab79e53c" providerId="ADAL" clId="{C51773D9-DD29-5A84-A509-762D3F3EA38B}" dt="2026-02-25T11:30:24.535" v="546" actId="20577"/>
          <ac:spMkLst>
            <pc:docMk/>
            <pc:sldMk cId="0" sldId="30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9:35.252" v="278" actId="14100"/>
          <ac:picMkLst>
            <pc:docMk/>
            <pc:sldMk cId="0" sldId="302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14T11:35:42.126" v="353" actId="20577"/>
        <pc:sldMkLst>
          <pc:docMk/>
          <pc:sldMk cId="0" sldId="303"/>
        </pc:sldMkLst>
        <pc:spChg chg="mod">
          <ac:chgData name="Francesc Xavier Solsona Tehas" userId="1f95e2c3-a25c-4efc-a37b-de93ab79e53c" providerId="ADAL" clId="{C51773D9-DD29-5A84-A509-762D3F3EA38B}" dt="2026-02-14T11:35:16.467" v="323" actId="1036"/>
          <ac:spMkLst>
            <pc:docMk/>
            <pc:sldMk cId="0" sldId="30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35:23.501" v="325" actId="14100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Francesc Xavier Solsona Tehas" userId="1f95e2c3-a25c-4efc-a37b-de93ab79e53c" providerId="ADAL" clId="{C51773D9-DD29-5A84-A509-762D3F3EA38B}" dt="2026-02-14T13:22:16.306" v="359" actId="478"/>
        <pc:sldMkLst>
          <pc:docMk/>
          <pc:sldMk cId="0" sldId="305"/>
        </pc:sldMkLst>
      </pc:sldChg>
      <pc:sldChg chg="modSp mod">
        <pc:chgData name="Francesc Xavier Solsona Tehas" userId="1f95e2c3-a25c-4efc-a37b-de93ab79e53c" providerId="ADAL" clId="{C51773D9-DD29-5A84-A509-762D3F3EA38B}" dt="2026-02-14T11:08:51.314" v="48" actId="14100"/>
        <pc:sldMkLst>
          <pc:docMk/>
          <pc:sldMk cId="0" sldId="309"/>
        </pc:sldMkLst>
        <pc:picChg chg="mod">
          <ac:chgData name="Francesc Xavier Solsona Tehas" userId="1f95e2c3-a25c-4efc-a37b-de93ab79e53c" providerId="ADAL" clId="{C51773D9-DD29-5A84-A509-762D3F3EA38B}" dt="2026-02-14T11:08:51.314" v="48" actId="14100"/>
          <ac:picMkLst>
            <pc:docMk/>
            <pc:sldMk cId="0" sldId="309"/>
            <ac:picMk id="4" creationId="{00000000-0000-0000-0000-000000000000}"/>
          </ac:picMkLst>
        </pc:picChg>
      </pc:sldChg>
      <pc:sldChg chg="modSp mod ord">
        <pc:chgData name="Francesc Xavier Solsona Tehas" userId="1f95e2c3-a25c-4efc-a37b-de93ab79e53c" providerId="ADAL" clId="{C51773D9-DD29-5A84-A509-762D3F3EA38B}" dt="2026-02-25T11:38:29.922" v="590" actId="14100"/>
        <pc:sldMkLst>
          <pc:docMk/>
          <pc:sldMk cId="0" sldId="311"/>
        </pc:sldMkLst>
        <pc:spChg chg="mod">
          <ac:chgData name="Francesc Xavier Solsona Tehas" userId="1f95e2c3-a25c-4efc-a37b-de93ab79e53c" providerId="ADAL" clId="{C51773D9-DD29-5A84-A509-762D3F3EA38B}" dt="2026-02-25T11:38:29.922" v="590" actId="14100"/>
          <ac:spMkLst>
            <pc:docMk/>
            <pc:sldMk cId="0" sldId="31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09:19.999" v="55" actId="1037"/>
          <ac:picMkLst>
            <pc:docMk/>
            <pc:sldMk cId="0" sldId="31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25T11:39:08.221" v="593" actId="207"/>
        <pc:sldMkLst>
          <pc:docMk/>
          <pc:sldMk cId="0" sldId="312"/>
        </pc:sldMkLst>
        <pc:spChg chg="mod">
          <ac:chgData name="Francesc Xavier Solsona Tehas" userId="1f95e2c3-a25c-4efc-a37b-de93ab79e53c" providerId="ADAL" clId="{C51773D9-DD29-5A84-A509-762D3F3EA38B}" dt="2026-02-25T11:39:08.221" v="593" actId="207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2.846" v="43" actId="20577"/>
        <pc:sldMkLst>
          <pc:docMk/>
          <pc:sldMk cId="0" sldId="319"/>
        </pc:sldMkLst>
        <pc:spChg chg="mod">
          <ac:chgData name="Francesc Xavier Solsona Tehas" userId="1f95e2c3-a25c-4efc-a37b-de93ab79e53c" providerId="ADAL" clId="{C51773D9-DD29-5A84-A509-762D3F3EA38B}" dt="2026-02-14T11:06:42.846" v="43" actId="20577"/>
          <ac:spMkLst>
            <pc:docMk/>
            <pc:sldMk cId="0" sldId="319"/>
            <ac:spMk id="1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5.996" v="45" actId="20577"/>
        <pc:sldMkLst>
          <pc:docMk/>
          <pc:sldMk cId="0" sldId="320"/>
        </pc:sldMkLst>
        <pc:spChg chg="mod">
          <ac:chgData name="Francesc Xavier Solsona Tehas" userId="1f95e2c3-a25c-4efc-a37b-de93ab79e53c" providerId="ADAL" clId="{C51773D9-DD29-5A84-A509-762D3F3EA38B}" dt="2026-02-14T11:06:45.996" v="45" actId="20577"/>
          <ac:spMkLst>
            <pc:docMk/>
            <pc:sldMk cId="0" sldId="320"/>
            <ac:spMk id="1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1:51:49.140" v="615" actId="20577"/>
        <pc:sldMkLst>
          <pc:docMk/>
          <pc:sldMk cId="0" sldId="328"/>
        </pc:sldMkLst>
        <pc:spChg chg="mod">
          <ac:chgData name="Francesc Xavier Solsona Tehas" userId="1f95e2c3-a25c-4efc-a37b-de93ab79e53c" providerId="ADAL" clId="{C51773D9-DD29-5A84-A509-762D3F3EA38B}" dt="2026-02-25T11:51:49.140" v="615" actId="20577"/>
          <ac:spMkLst>
            <pc:docMk/>
            <pc:sldMk cId="0" sldId="328"/>
            <ac:spMk id="2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6EEFB-8C2A-5C47-9353-657B625C444F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A9EDAF-B4A8-2B48-B3B4-4F936485687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2810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Notice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your</a:t>
            </a:r>
            <a:r>
              <a:rPr lang="es-ES" dirty="0"/>
              <a:t> Budget. </a:t>
            </a:r>
            <a:r>
              <a:rPr lang="es-ES" dirty="0" err="1"/>
              <a:t>Underlined</a:t>
            </a:r>
            <a:r>
              <a:rPr lang="es-ES" dirty="0"/>
              <a:t> in red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3236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Here </a:t>
            </a:r>
            <a:r>
              <a:rPr lang="es-ES" dirty="0" err="1"/>
              <a:t>you</a:t>
            </a:r>
            <a:r>
              <a:rPr lang="es-ES" dirty="0"/>
              <a:t> are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dashboard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182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19278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29108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846814"/>
            <a:ext cx="5073650" cy="1656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awsacademy.instructure.com/" TargetMode="Externa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mailto:ec2-user@ec2-3-87-76-117.compute-1.amazonaws.com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uv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://ec2-3-87-76-117.compute-1.amazonaws.com:888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jp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slide" Target="slide75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6287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50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09220" cy="5080"/>
            </a:xfrm>
            <a:custGeom>
              <a:avLst/>
              <a:gdLst/>
              <a:ahLst/>
              <a:cxnLst/>
              <a:rect l="l" t="t" r="r" b="b"/>
              <a:pathLst>
                <a:path w="109220" h="5080">
                  <a:moveTo>
                    <a:pt x="0" y="5060"/>
                  </a:moveTo>
                  <a:lnTo>
                    <a:pt x="0" y="0"/>
                  </a:lnTo>
                  <a:lnTo>
                    <a:pt x="108634" y="0"/>
                  </a:lnTo>
                  <a:lnTo>
                    <a:pt x="1086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774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Recap:</a:t>
            </a:r>
            <a:r>
              <a:rPr lang="en-US" sz="1100" b="1" spc="6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Where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are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we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now?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47625" cy="5080"/>
            </a:xfrm>
            <a:custGeom>
              <a:avLst/>
              <a:gdLst/>
              <a:ahLst/>
              <a:cxnLst/>
              <a:rect l="l" t="t" r="r" b="b"/>
              <a:pathLst>
                <a:path w="47625" h="5080">
                  <a:moveTo>
                    <a:pt x="0" y="5060"/>
                  </a:moveTo>
                  <a:lnTo>
                    <a:pt x="0" y="0"/>
                  </a:lnTo>
                  <a:lnTo>
                    <a:pt x="47248" y="0"/>
                  </a:lnTo>
                  <a:lnTo>
                    <a:pt x="472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5976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Hybrid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635731"/>
            <a:ext cx="49314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public,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private,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models.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54670" y="877961"/>
            <a:ext cx="2650659" cy="149949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27924" y="2511423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Website</a:t>
            </a:r>
            <a:r>
              <a:rPr lang="en-US" spc="-30" dirty="0"/>
              <a:t> </a:t>
            </a:r>
            <a:r>
              <a:rPr lang="en-US" spc="-35" dirty="0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explored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compared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dirty="0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15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5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37877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focus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variety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0374" y="613747"/>
            <a:ext cx="2099251" cy="209925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28469" y="2846970"/>
            <a:ext cx="15030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652145" cy="5080"/>
            </a:xfrm>
            <a:custGeom>
              <a:avLst/>
              <a:gdLst/>
              <a:ahLst/>
              <a:cxnLst/>
              <a:rect l="l" t="t" r="r" b="b"/>
              <a:pathLst>
                <a:path w="652145" h="5080">
                  <a:moveTo>
                    <a:pt x="0" y="5060"/>
                  </a:moveTo>
                  <a:lnTo>
                    <a:pt x="0" y="0"/>
                  </a:lnTo>
                  <a:lnTo>
                    <a:pt x="652068" y="0"/>
                  </a:lnTo>
                  <a:lnTo>
                    <a:pt x="6520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20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45" dirty="0"/>
              <a:t>Services:</a:t>
            </a:r>
            <a:r>
              <a:rPr lang="en-US" spc="120" dirty="0"/>
              <a:t> </a:t>
            </a:r>
            <a:r>
              <a:rPr lang="en-US" spc="-25" dirty="0"/>
              <a:t>EC2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33229"/>
            <a:ext cx="47631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(Elastic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Cloud)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0540" y="880478"/>
            <a:ext cx="2998927" cy="14994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13914" y="2513912"/>
            <a:ext cx="9321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761365" cy="5080"/>
            </a:xfrm>
            <a:custGeom>
              <a:avLst/>
              <a:gdLst/>
              <a:ahLst/>
              <a:cxnLst/>
              <a:rect l="l" t="t" r="r" b="b"/>
              <a:pathLst>
                <a:path w="761365" h="5080">
                  <a:moveTo>
                    <a:pt x="0" y="5060"/>
                  </a:moveTo>
                  <a:lnTo>
                    <a:pt x="0" y="0"/>
                  </a:lnTo>
                  <a:lnTo>
                    <a:pt x="760790" y="0"/>
                  </a:lnTo>
                  <a:lnTo>
                    <a:pt x="7607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350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Connecting</a:t>
            </a:r>
            <a:r>
              <a:rPr lang="en-US" sz="1100" b="1" spc="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331470" cy="5080"/>
            </a:xfrm>
            <a:custGeom>
              <a:avLst/>
              <a:gdLst/>
              <a:ahLst/>
              <a:cxnLst/>
              <a:rect l="l" t="t" r="r" b="b"/>
              <a:pathLst>
                <a:path w="331469" h="5080">
                  <a:moveTo>
                    <a:pt x="0" y="5060"/>
                  </a:moveTo>
                  <a:lnTo>
                    <a:pt x="0" y="0"/>
                  </a:lnTo>
                  <a:lnTo>
                    <a:pt x="330891" y="0"/>
                  </a:lnTo>
                  <a:lnTo>
                    <a:pt x="3308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99866"/>
            <a:ext cx="5008880" cy="5664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Terminal?</a:t>
            </a:r>
            <a:endParaRPr lang="en-US" sz="900" dirty="0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interface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commands.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Unlike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graphical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interfaces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(GUIs),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direct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dirty="0">
                <a:latin typeface="Arial"/>
                <a:cs typeface="Arial"/>
              </a:rPr>
              <a:t>a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Terminal?</a:t>
            </a:r>
          </a:p>
          <a:p>
            <a:pPr marL="17780" marR="5080" indent="-4445">
              <a:lnSpc>
                <a:spcPct val="116199"/>
              </a:lnSpc>
              <a:spcBef>
                <a:spcPts val="670"/>
              </a:spcBef>
            </a:pP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25" dirty="0"/>
              <a:t> </a:t>
            </a:r>
            <a:r>
              <a:rPr lang="en-US" dirty="0"/>
              <a:t>an</a:t>
            </a:r>
            <a:r>
              <a:rPr lang="en-US" spc="20" dirty="0"/>
              <a:t> </a:t>
            </a:r>
            <a:r>
              <a:rPr lang="en-US" spc="-10" dirty="0"/>
              <a:t>interface</a:t>
            </a:r>
            <a:r>
              <a:rPr lang="en-US" spc="25" dirty="0"/>
              <a:t> </a:t>
            </a:r>
            <a:r>
              <a:rPr lang="en-US" dirty="0"/>
              <a:t>that</a:t>
            </a:r>
            <a:r>
              <a:rPr lang="en-US" spc="25" dirty="0"/>
              <a:t> </a:t>
            </a:r>
            <a:r>
              <a:rPr lang="en-US" spc="-25" dirty="0"/>
              <a:t>allows</a:t>
            </a:r>
            <a:r>
              <a:rPr lang="en-US" spc="25" dirty="0"/>
              <a:t> </a:t>
            </a:r>
            <a:r>
              <a:rPr lang="en-US" spc="-50" dirty="0"/>
              <a:t>users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5" dirty="0"/>
              <a:t> </a:t>
            </a:r>
            <a:r>
              <a:rPr lang="en-US" dirty="0"/>
              <a:t>interact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25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computer</a:t>
            </a:r>
            <a:r>
              <a:rPr lang="en-US" spc="25" dirty="0"/>
              <a:t> </a:t>
            </a:r>
            <a:r>
              <a:rPr lang="en-US" spc="-20" dirty="0"/>
              <a:t>using</a:t>
            </a:r>
            <a:r>
              <a:rPr lang="en-US" spc="25" dirty="0"/>
              <a:t> </a:t>
            </a:r>
            <a:r>
              <a:rPr lang="en-US" dirty="0"/>
              <a:t>text</a:t>
            </a:r>
            <a:r>
              <a:rPr lang="en-US" spc="25" dirty="0"/>
              <a:t> </a:t>
            </a:r>
            <a:r>
              <a:rPr lang="en-US" spc="-30" dirty="0"/>
              <a:t>commands.</a:t>
            </a:r>
            <a:r>
              <a:rPr lang="en-US" spc="110" dirty="0"/>
              <a:t> </a:t>
            </a:r>
            <a:r>
              <a:rPr lang="en-US" spc="-10" dirty="0"/>
              <a:t>Unlike </a:t>
            </a:r>
            <a:r>
              <a:rPr lang="en-US" spc="-20" dirty="0"/>
              <a:t>graphical</a:t>
            </a:r>
            <a:r>
              <a:rPr lang="en-US" spc="10" dirty="0"/>
              <a:t> </a:t>
            </a:r>
            <a:r>
              <a:rPr lang="en-US" spc="-35" dirty="0"/>
              <a:t>user</a:t>
            </a:r>
            <a:r>
              <a:rPr lang="en-US" spc="10" dirty="0"/>
              <a:t> </a:t>
            </a:r>
            <a:r>
              <a:rPr lang="en-US" spc="-25" dirty="0"/>
              <a:t>interfaces</a:t>
            </a:r>
            <a:r>
              <a:rPr lang="en-US" spc="15" dirty="0"/>
              <a:t> </a:t>
            </a:r>
            <a:r>
              <a:rPr lang="en-US" dirty="0"/>
              <a:t>(GUIs),</a:t>
            </a:r>
            <a:r>
              <a:rPr lang="en-US" spc="10" dirty="0"/>
              <a:t> </a:t>
            </a:r>
            <a:r>
              <a:rPr lang="en-US" spc="-10" dirty="0"/>
              <a:t>terminals</a:t>
            </a:r>
            <a:r>
              <a:rPr lang="en-US" spc="15" dirty="0"/>
              <a:t> </a:t>
            </a:r>
            <a:r>
              <a:rPr lang="en-US" spc="-10" dirty="0"/>
              <a:t>allow</a:t>
            </a:r>
            <a:r>
              <a:rPr lang="en-US" spc="10" dirty="0"/>
              <a:t> </a:t>
            </a:r>
            <a:r>
              <a:rPr lang="en-US" dirty="0"/>
              <a:t>direct</a:t>
            </a:r>
            <a:r>
              <a:rPr lang="en-US" spc="15" dirty="0"/>
              <a:t> </a:t>
            </a:r>
            <a:r>
              <a:rPr lang="en-US" spc="-20" dirty="0"/>
              <a:t>communication</a:t>
            </a:r>
            <a:r>
              <a:rPr lang="en-US" spc="10" dirty="0"/>
              <a:t> </a:t>
            </a:r>
            <a:r>
              <a:rPr lang="en-US" dirty="0"/>
              <a:t>with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operating</a:t>
            </a:r>
            <a:r>
              <a:rPr lang="en-US" spc="15" dirty="0"/>
              <a:t> </a:t>
            </a:r>
            <a:r>
              <a:rPr lang="en-US" spc="-10" dirty="0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SSH?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dirty="0">
                <a:latin typeface="Arial"/>
                <a:cs typeface="Arial"/>
              </a:rPr>
              <a:t>a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Terminal?</a:t>
            </a:r>
          </a:p>
          <a:p>
            <a:pPr marL="17780" marR="5080" indent="-4445">
              <a:lnSpc>
                <a:spcPct val="116199"/>
              </a:lnSpc>
              <a:spcBef>
                <a:spcPts val="670"/>
              </a:spcBef>
            </a:pP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25" dirty="0"/>
              <a:t> </a:t>
            </a:r>
            <a:r>
              <a:rPr lang="en-US" dirty="0"/>
              <a:t>an</a:t>
            </a:r>
            <a:r>
              <a:rPr lang="en-US" spc="20" dirty="0"/>
              <a:t> </a:t>
            </a:r>
            <a:r>
              <a:rPr lang="en-US" spc="-10" dirty="0"/>
              <a:t>interface</a:t>
            </a:r>
            <a:r>
              <a:rPr lang="en-US" spc="25" dirty="0"/>
              <a:t> </a:t>
            </a:r>
            <a:r>
              <a:rPr lang="en-US" dirty="0"/>
              <a:t>that</a:t>
            </a:r>
            <a:r>
              <a:rPr lang="en-US" spc="25" dirty="0"/>
              <a:t> </a:t>
            </a:r>
            <a:r>
              <a:rPr lang="en-US" spc="-25" dirty="0"/>
              <a:t>allows</a:t>
            </a:r>
            <a:r>
              <a:rPr lang="en-US" spc="25" dirty="0"/>
              <a:t> </a:t>
            </a:r>
            <a:r>
              <a:rPr lang="en-US" spc="-50" dirty="0"/>
              <a:t>users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5" dirty="0"/>
              <a:t> </a:t>
            </a:r>
            <a:r>
              <a:rPr lang="en-US" dirty="0"/>
              <a:t>interact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25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computer</a:t>
            </a:r>
            <a:r>
              <a:rPr lang="en-US" spc="25" dirty="0"/>
              <a:t> </a:t>
            </a:r>
            <a:r>
              <a:rPr lang="en-US" spc="-20" dirty="0"/>
              <a:t>using</a:t>
            </a:r>
            <a:r>
              <a:rPr lang="en-US" spc="25" dirty="0"/>
              <a:t> </a:t>
            </a:r>
            <a:r>
              <a:rPr lang="en-US" dirty="0"/>
              <a:t>text</a:t>
            </a:r>
            <a:r>
              <a:rPr lang="en-US" spc="25" dirty="0"/>
              <a:t> </a:t>
            </a:r>
            <a:r>
              <a:rPr lang="en-US" spc="-30" dirty="0"/>
              <a:t>commands.</a:t>
            </a:r>
            <a:r>
              <a:rPr lang="en-US" spc="110" dirty="0"/>
              <a:t> </a:t>
            </a:r>
            <a:r>
              <a:rPr lang="en-US" spc="-10" dirty="0"/>
              <a:t>Unlike </a:t>
            </a:r>
            <a:r>
              <a:rPr lang="en-US" spc="-20" dirty="0"/>
              <a:t>graphical</a:t>
            </a:r>
            <a:r>
              <a:rPr lang="en-US" spc="10" dirty="0"/>
              <a:t> </a:t>
            </a:r>
            <a:r>
              <a:rPr lang="en-US" spc="-35" dirty="0"/>
              <a:t>user</a:t>
            </a:r>
            <a:r>
              <a:rPr lang="en-US" spc="10" dirty="0"/>
              <a:t> </a:t>
            </a:r>
            <a:r>
              <a:rPr lang="en-US" spc="-25" dirty="0"/>
              <a:t>interfaces</a:t>
            </a:r>
            <a:r>
              <a:rPr lang="en-US" spc="15" dirty="0"/>
              <a:t> </a:t>
            </a:r>
            <a:r>
              <a:rPr lang="en-US" dirty="0"/>
              <a:t>(GUIs),</a:t>
            </a:r>
            <a:r>
              <a:rPr lang="en-US" spc="10" dirty="0"/>
              <a:t> </a:t>
            </a:r>
            <a:r>
              <a:rPr lang="en-US" spc="-10" dirty="0"/>
              <a:t>terminals</a:t>
            </a:r>
            <a:r>
              <a:rPr lang="en-US" spc="15" dirty="0"/>
              <a:t> </a:t>
            </a:r>
            <a:r>
              <a:rPr lang="en-US" spc="-10" dirty="0"/>
              <a:t>allow</a:t>
            </a:r>
            <a:r>
              <a:rPr lang="en-US" spc="10" dirty="0"/>
              <a:t> </a:t>
            </a:r>
            <a:r>
              <a:rPr lang="en-US" dirty="0"/>
              <a:t>direct</a:t>
            </a:r>
            <a:r>
              <a:rPr lang="en-US" spc="15" dirty="0"/>
              <a:t> </a:t>
            </a:r>
            <a:r>
              <a:rPr lang="en-US" spc="-20" dirty="0"/>
              <a:t>communication</a:t>
            </a:r>
            <a:r>
              <a:rPr lang="en-US" spc="10" dirty="0"/>
              <a:t> </a:t>
            </a:r>
            <a:r>
              <a:rPr lang="en-US" dirty="0"/>
              <a:t>with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operating</a:t>
            </a:r>
            <a:r>
              <a:rPr lang="en-US" spc="15" dirty="0"/>
              <a:t> </a:t>
            </a:r>
            <a:r>
              <a:rPr lang="en-US" spc="-10" dirty="0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SSH?</a:t>
            </a:r>
          </a:p>
          <a:p>
            <a:pPr marL="17780" marR="62230">
              <a:lnSpc>
                <a:spcPct val="116199"/>
              </a:lnSpc>
              <a:spcBef>
                <a:spcPts val="670"/>
              </a:spcBef>
            </a:pPr>
            <a:r>
              <a:rPr lang="en-US" b="1" dirty="0">
                <a:latin typeface="Arial"/>
                <a:cs typeface="Arial"/>
              </a:rPr>
              <a:t>SSH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(Secure</a:t>
            </a:r>
            <a:r>
              <a:rPr lang="en-US" b="1" spc="3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Shell)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protocol</a:t>
            </a:r>
            <a:r>
              <a:rPr lang="en-US" spc="15" dirty="0"/>
              <a:t> </a:t>
            </a:r>
            <a:r>
              <a:rPr lang="en-US" dirty="0"/>
              <a:t>that</a:t>
            </a:r>
            <a:r>
              <a:rPr lang="en-US" spc="15" dirty="0"/>
              <a:t> </a:t>
            </a:r>
            <a:r>
              <a:rPr lang="en-US" spc="-25" dirty="0"/>
              <a:t>allows</a:t>
            </a:r>
            <a:r>
              <a:rPr lang="en-US" spc="15" dirty="0"/>
              <a:t> </a:t>
            </a:r>
            <a:r>
              <a:rPr lang="en-US" spc="-50" dirty="0"/>
              <a:t>secure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75" dirty="0"/>
              <a:t>access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40" dirty="0"/>
              <a:t>machines</a:t>
            </a:r>
            <a:r>
              <a:rPr lang="en-US" spc="15" dirty="0"/>
              <a:t> </a:t>
            </a:r>
            <a:r>
              <a:rPr lang="en-US" spc="-10" dirty="0"/>
              <a:t>over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internet.</a:t>
            </a:r>
            <a:r>
              <a:rPr lang="en-US" spc="105" dirty="0"/>
              <a:t> </a:t>
            </a:r>
            <a:r>
              <a:rPr lang="en-US" spc="-25" dirty="0"/>
              <a:t>It </a:t>
            </a:r>
            <a:r>
              <a:rPr lang="en-US" spc="-45" dirty="0"/>
              <a:t>enables</a:t>
            </a:r>
            <a:r>
              <a:rPr lang="en-US" spc="15" dirty="0"/>
              <a:t> </a:t>
            </a:r>
            <a:r>
              <a:rPr lang="en-US" spc="-50" dirty="0"/>
              <a:t>users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35" dirty="0"/>
              <a:t>execute</a:t>
            </a:r>
            <a:r>
              <a:rPr lang="en-US" spc="15" dirty="0"/>
              <a:t> </a:t>
            </a:r>
            <a:r>
              <a:rPr lang="en-US" spc="-40" dirty="0"/>
              <a:t>commands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45" dirty="0"/>
              <a:t>servers</a:t>
            </a:r>
            <a:r>
              <a:rPr lang="en-US" spc="15" dirty="0"/>
              <a:t> </a:t>
            </a:r>
            <a:r>
              <a:rPr lang="en-US" spc="-45" dirty="0"/>
              <a:t>as</a:t>
            </a:r>
            <a:r>
              <a:rPr lang="en-US" spc="15" dirty="0"/>
              <a:t> </a:t>
            </a:r>
            <a:r>
              <a:rPr lang="en-US" dirty="0"/>
              <a:t>if</a:t>
            </a:r>
            <a:r>
              <a:rPr lang="en-US" spc="15" dirty="0"/>
              <a:t> </a:t>
            </a:r>
            <a:r>
              <a:rPr lang="en-US" dirty="0"/>
              <a:t>they</a:t>
            </a:r>
            <a:r>
              <a:rPr lang="en-US" spc="15" dirty="0"/>
              <a:t> </a:t>
            </a:r>
            <a:r>
              <a:rPr lang="en-US" spc="-45" dirty="0"/>
              <a:t>were</a:t>
            </a:r>
            <a:r>
              <a:rPr lang="en-US" spc="15" dirty="0"/>
              <a:t> </a:t>
            </a:r>
            <a:r>
              <a:rPr lang="en-US" spc="-20" dirty="0"/>
              <a:t>physically</a:t>
            </a:r>
            <a:r>
              <a:rPr lang="en-US" spc="20" dirty="0"/>
              <a:t> </a:t>
            </a:r>
            <a:r>
              <a:rPr lang="en-US" spc="-10" dirty="0"/>
              <a:t>present.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dirty="0">
                <a:latin typeface="Arial"/>
                <a:cs typeface="Arial"/>
              </a:rPr>
              <a:t>a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Terminal?</a:t>
            </a:r>
          </a:p>
          <a:p>
            <a:pPr marL="17780" marR="65405" indent="-4445">
              <a:lnSpc>
                <a:spcPct val="116199"/>
              </a:lnSpc>
              <a:spcBef>
                <a:spcPts val="670"/>
              </a:spcBef>
            </a:pP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25" dirty="0"/>
              <a:t> </a:t>
            </a:r>
            <a:r>
              <a:rPr lang="en-US" dirty="0"/>
              <a:t>an</a:t>
            </a:r>
            <a:r>
              <a:rPr lang="en-US" spc="20" dirty="0"/>
              <a:t> </a:t>
            </a:r>
            <a:r>
              <a:rPr lang="en-US" spc="-10" dirty="0"/>
              <a:t>interface</a:t>
            </a:r>
            <a:r>
              <a:rPr lang="en-US" spc="25" dirty="0"/>
              <a:t> </a:t>
            </a:r>
            <a:r>
              <a:rPr lang="en-US" dirty="0"/>
              <a:t>that</a:t>
            </a:r>
            <a:r>
              <a:rPr lang="en-US" spc="25" dirty="0"/>
              <a:t> </a:t>
            </a:r>
            <a:r>
              <a:rPr lang="en-US" spc="-25" dirty="0"/>
              <a:t>allows</a:t>
            </a:r>
            <a:r>
              <a:rPr lang="en-US" spc="25" dirty="0"/>
              <a:t> </a:t>
            </a:r>
            <a:r>
              <a:rPr lang="en-US" spc="-50" dirty="0"/>
              <a:t>users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5" dirty="0"/>
              <a:t> </a:t>
            </a:r>
            <a:r>
              <a:rPr lang="en-US" dirty="0"/>
              <a:t>interact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25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computer</a:t>
            </a:r>
            <a:r>
              <a:rPr lang="en-US" spc="25" dirty="0"/>
              <a:t> </a:t>
            </a:r>
            <a:r>
              <a:rPr lang="en-US" spc="-20" dirty="0"/>
              <a:t>using</a:t>
            </a:r>
            <a:r>
              <a:rPr lang="en-US" spc="25" dirty="0"/>
              <a:t> </a:t>
            </a:r>
            <a:r>
              <a:rPr lang="en-US" dirty="0"/>
              <a:t>text</a:t>
            </a:r>
            <a:r>
              <a:rPr lang="en-US" spc="25" dirty="0"/>
              <a:t> </a:t>
            </a:r>
            <a:r>
              <a:rPr lang="en-US" spc="-30" dirty="0"/>
              <a:t>commands.</a:t>
            </a:r>
            <a:r>
              <a:rPr lang="en-US" spc="110" dirty="0"/>
              <a:t> </a:t>
            </a:r>
            <a:r>
              <a:rPr lang="en-US" spc="-10" dirty="0"/>
              <a:t>Unlike </a:t>
            </a:r>
            <a:r>
              <a:rPr lang="en-US" spc="-20" dirty="0"/>
              <a:t>graphical</a:t>
            </a:r>
            <a:r>
              <a:rPr lang="en-US" spc="10" dirty="0"/>
              <a:t> </a:t>
            </a:r>
            <a:r>
              <a:rPr lang="en-US" spc="-35" dirty="0"/>
              <a:t>user</a:t>
            </a:r>
            <a:r>
              <a:rPr lang="en-US" spc="10" dirty="0"/>
              <a:t> </a:t>
            </a:r>
            <a:r>
              <a:rPr lang="en-US" spc="-25" dirty="0"/>
              <a:t>interfaces</a:t>
            </a:r>
            <a:r>
              <a:rPr lang="en-US" spc="15" dirty="0"/>
              <a:t> </a:t>
            </a:r>
            <a:r>
              <a:rPr lang="en-US" dirty="0"/>
              <a:t>(GUIs),</a:t>
            </a:r>
            <a:r>
              <a:rPr lang="en-US" spc="10" dirty="0"/>
              <a:t> </a:t>
            </a:r>
            <a:r>
              <a:rPr lang="en-US" spc="-10" dirty="0"/>
              <a:t>terminals</a:t>
            </a:r>
            <a:r>
              <a:rPr lang="en-US" spc="15" dirty="0"/>
              <a:t> </a:t>
            </a:r>
            <a:r>
              <a:rPr lang="en-US" spc="-10" dirty="0"/>
              <a:t>allow</a:t>
            </a:r>
            <a:r>
              <a:rPr lang="en-US" spc="10" dirty="0"/>
              <a:t> </a:t>
            </a:r>
            <a:r>
              <a:rPr lang="en-US" dirty="0"/>
              <a:t>direct</a:t>
            </a:r>
            <a:r>
              <a:rPr lang="en-US" spc="15" dirty="0"/>
              <a:t> </a:t>
            </a:r>
            <a:r>
              <a:rPr lang="en-US" spc="-20" dirty="0"/>
              <a:t>communication</a:t>
            </a:r>
            <a:r>
              <a:rPr lang="en-US" spc="10" dirty="0"/>
              <a:t> </a:t>
            </a:r>
            <a:r>
              <a:rPr lang="en-US" dirty="0"/>
              <a:t>with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operating</a:t>
            </a:r>
            <a:r>
              <a:rPr lang="en-US" spc="15" dirty="0"/>
              <a:t> </a:t>
            </a:r>
            <a:r>
              <a:rPr lang="en-US" spc="-10" dirty="0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SSH?</a:t>
            </a:r>
          </a:p>
          <a:p>
            <a:pPr marL="17780" marR="122555">
              <a:lnSpc>
                <a:spcPct val="116199"/>
              </a:lnSpc>
              <a:spcBef>
                <a:spcPts val="670"/>
              </a:spcBef>
            </a:pPr>
            <a:r>
              <a:rPr lang="en-US" b="1" dirty="0">
                <a:latin typeface="Arial"/>
                <a:cs typeface="Arial"/>
              </a:rPr>
              <a:t>SSH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(Secure</a:t>
            </a:r>
            <a:r>
              <a:rPr lang="en-US" b="1" spc="3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Shell)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protocol</a:t>
            </a:r>
            <a:r>
              <a:rPr lang="en-US" spc="15" dirty="0"/>
              <a:t> </a:t>
            </a:r>
            <a:r>
              <a:rPr lang="en-US" dirty="0"/>
              <a:t>that</a:t>
            </a:r>
            <a:r>
              <a:rPr lang="en-US" spc="15" dirty="0"/>
              <a:t> </a:t>
            </a:r>
            <a:r>
              <a:rPr lang="en-US" spc="-25" dirty="0"/>
              <a:t>allows</a:t>
            </a:r>
            <a:r>
              <a:rPr lang="en-US" spc="15" dirty="0"/>
              <a:t> </a:t>
            </a:r>
            <a:r>
              <a:rPr lang="en-US" spc="-50" dirty="0"/>
              <a:t>secure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75" dirty="0"/>
              <a:t>access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40" dirty="0"/>
              <a:t>machines</a:t>
            </a:r>
            <a:r>
              <a:rPr lang="en-US" spc="15" dirty="0"/>
              <a:t> </a:t>
            </a:r>
            <a:r>
              <a:rPr lang="en-US" spc="-10" dirty="0"/>
              <a:t>over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internet.</a:t>
            </a:r>
            <a:r>
              <a:rPr lang="en-US" spc="105" dirty="0"/>
              <a:t> </a:t>
            </a:r>
            <a:r>
              <a:rPr lang="en-US" spc="-25" dirty="0"/>
              <a:t>It </a:t>
            </a:r>
            <a:r>
              <a:rPr lang="en-US" spc="-45" dirty="0"/>
              <a:t>enables</a:t>
            </a:r>
            <a:r>
              <a:rPr lang="en-US" spc="15" dirty="0"/>
              <a:t> </a:t>
            </a:r>
            <a:r>
              <a:rPr lang="en-US" spc="-50" dirty="0"/>
              <a:t>users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35" dirty="0"/>
              <a:t>execute</a:t>
            </a:r>
            <a:r>
              <a:rPr lang="en-US" spc="15" dirty="0"/>
              <a:t> </a:t>
            </a:r>
            <a:r>
              <a:rPr lang="en-US" spc="-40" dirty="0"/>
              <a:t>commands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45" dirty="0"/>
              <a:t>servers</a:t>
            </a:r>
            <a:r>
              <a:rPr lang="en-US" spc="15" dirty="0"/>
              <a:t> </a:t>
            </a:r>
            <a:r>
              <a:rPr lang="en-US" spc="-45" dirty="0"/>
              <a:t>as</a:t>
            </a:r>
            <a:r>
              <a:rPr lang="en-US" spc="15" dirty="0"/>
              <a:t> </a:t>
            </a:r>
            <a:r>
              <a:rPr lang="en-US" dirty="0"/>
              <a:t>if</a:t>
            </a:r>
            <a:r>
              <a:rPr lang="en-US" spc="15" dirty="0"/>
              <a:t> </a:t>
            </a:r>
            <a:r>
              <a:rPr lang="en-US" dirty="0"/>
              <a:t>they</a:t>
            </a:r>
            <a:r>
              <a:rPr lang="en-US" spc="15" dirty="0"/>
              <a:t> </a:t>
            </a:r>
            <a:r>
              <a:rPr lang="en-US" spc="-45" dirty="0"/>
              <a:t>were</a:t>
            </a:r>
            <a:r>
              <a:rPr lang="en-US" spc="15" dirty="0"/>
              <a:t> </a:t>
            </a:r>
            <a:r>
              <a:rPr lang="en-US" spc="-20" dirty="0"/>
              <a:t>physically</a:t>
            </a:r>
            <a:r>
              <a:rPr lang="en-US" spc="20" dirty="0"/>
              <a:t> </a:t>
            </a:r>
            <a:r>
              <a:rPr lang="en-US" spc="-10" dirty="0"/>
              <a:t>present.</a:t>
            </a:r>
          </a:p>
          <a:p>
            <a:pPr marL="17780" marR="5080" indent="-5715">
              <a:lnSpc>
                <a:spcPct val="116199"/>
              </a:lnSpc>
              <a:spcBef>
                <a:spcPts val="450"/>
              </a:spcBef>
            </a:pPr>
            <a:r>
              <a:rPr lang="en-US" spc="-10" dirty="0"/>
              <a:t>When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20" dirty="0"/>
              <a:t>connect</a:t>
            </a:r>
            <a:r>
              <a:rPr lang="en-US" spc="-5" dirty="0"/>
              <a:t> </a:t>
            </a:r>
            <a:r>
              <a:rPr lang="en-US" dirty="0"/>
              <a:t>to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spc="-20" dirty="0"/>
              <a:t>remote</a:t>
            </a:r>
            <a:r>
              <a:rPr lang="en-US" spc="-5" dirty="0"/>
              <a:t> </a:t>
            </a:r>
            <a:r>
              <a:rPr lang="en-US" spc="-25" dirty="0"/>
              <a:t>machine</a:t>
            </a:r>
            <a:r>
              <a:rPr lang="en-US" spc="-5" dirty="0"/>
              <a:t> </a:t>
            </a:r>
            <a:r>
              <a:rPr lang="en-US" dirty="0"/>
              <a:t>through</a:t>
            </a:r>
            <a:r>
              <a:rPr lang="en-US" spc="-5" dirty="0"/>
              <a:t> </a:t>
            </a:r>
            <a:r>
              <a:rPr lang="en-US" spc="-25" dirty="0"/>
              <a:t>SSH,</a:t>
            </a:r>
            <a:r>
              <a:rPr lang="en-US" spc="-5" dirty="0"/>
              <a:t>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30" dirty="0"/>
              <a:t>are</a:t>
            </a:r>
            <a:r>
              <a:rPr lang="en-US" spc="-5" dirty="0"/>
              <a:t> </a:t>
            </a:r>
            <a:r>
              <a:rPr lang="en-US" spc="-30" dirty="0"/>
              <a:t>essentially</a:t>
            </a:r>
            <a:r>
              <a:rPr lang="en-US" spc="-5" dirty="0"/>
              <a:t> </a:t>
            </a:r>
            <a:r>
              <a:rPr lang="en-US" spc="-25" dirty="0"/>
              <a:t>opening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b="1" spc="-10" dirty="0">
                <a:latin typeface="Arial"/>
                <a:cs typeface="Arial"/>
              </a:rPr>
              <a:t>remote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spc="-25" dirty="0"/>
              <a:t>on </a:t>
            </a:r>
            <a:r>
              <a:rPr lang="en-US" dirty="0"/>
              <a:t>that</a:t>
            </a:r>
            <a:r>
              <a:rPr lang="en-US" spc="120" dirty="0"/>
              <a:t> </a:t>
            </a:r>
            <a:r>
              <a:rPr lang="en-US" spc="-10" dirty="0"/>
              <a:t>machine.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How</a:t>
            </a:r>
            <a:r>
              <a:rPr lang="en-US" spc="10" dirty="0"/>
              <a:t> </a:t>
            </a:r>
            <a:r>
              <a:rPr lang="en-US" spc="-45" dirty="0"/>
              <a:t>does</a:t>
            </a:r>
            <a:r>
              <a:rPr lang="en-US" spc="10" dirty="0"/>
              <a:t> </a:t>
            </a:r>
            <a:r>
              <a:rPr lang="en-US" dirty="0"/>
              <a:t>SSH</a:t>
            </a:r>
            <a:r>
              <a:rPr lang="en-US" spc="15" dirty="0"/>
              <a:t> </a:t>
            </a:r>
            <a:r>
              <a:rPr lang="en-US" spc="-45" dirty="0"/>
              <a:t>work?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47294" y="846814"/>
            <a:ext cx="506793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works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keys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establish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connection.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eliminates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65" dirty="0">
                <a:solidFill>
                  <a:srgbClr val="22373A"/>
                </a:solidFill>
                <a:latin typeface="Arial"/>
                <a:cs typeface="Arial"/>
              </a:rPr>
              <a:t>password-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authentication,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security.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How</a:t>
            </a:r>
            <a:r>
              <a:rPr lang="en-US" spc="10" dirty="0"/>
              <a:t> </a:t>
            </a:r>
            <a:r>
              <a:rPr lang="en-US" spc="-45" dirty="0"/>
              <a:t>does</a:t>
            </a:r>
            <a:r>
              <a:rPr lang="en-US" spc="10" dirty="0"/>
              <a:t> </a:t>
            </a:r>
            <a:r>
              <a:rPr lang="en-US" dirty="0"/>
              <a:t>SSH</a:t>
            </a:r>
            <a:r>
              <a:rPr lang="en-US" spc="15" dirty="0"/>
              <a:t> </a:t>
            </a:r>
            <a:r>
              <a:rPr lang="en-US" spc="-45" dirty="0"/>
              <a:t>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46814"/>
            <a:ext cx="5067935" cy="983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works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keys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establish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connection.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eliminates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65" dirty="0">
                <a:solidFill>
                  <a:srgbClr val="22373A"/>
                </a:solidFill>
                <a:latin typeface="Arial"/>
                <a:cs typeface="Arial"/>
              </a:rPr>
              <a:t>password-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authentication,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security.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70"/>
              </a:spcBef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Keys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kept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secret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How</a:t>
            </a:r>
            <a:r>
              <a:rPr lang="en-US" spc="10" dirty="0"/>
              <a:t> </a:t>
            </a:r>
            <a:r>
              <a:rPr lang="en-US" spc="-45" dirty="0"/>
              <a:t>does</a:t>
            </a:r>
            <a:r>
              <a:rPr lang="en-US" spc="10" dirty="0"/>
              <a:t> </a:t>
            </a:r>
            <a:r>
              <a:rPr lang="en-US" dirty="0"/>
              <a:t>SSH</a:t>
            </a:r>
            <a:r>
              <a:rPr lang="en-US" spc="15" dirty="0"/>
              <a:t> </a:t>
            </a:r>
            <a:r>
              <a:rPr lang="en-US" spc="-45" dirty="0"/>
              <a:t>work?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5" dirty="0"/>
              <a:t>SSH</a:t>
            </a:r>
            <a:r>
              <a:rPr lang="en-US" spc="5" dirty="0"/>
              <a:t> </a:t>
            </a:r>
            <a:r>
              <a:rPr lang="en-US" spc="-30" dirty="0"/>
              <a:t>works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b="1" spc="-35" dirty="0">
                <a:latin typeface="Arial"/>
                <a:cs typeface="Arial"/>
              </a:rPr>
              <a:t>public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private</a:t>
            </a:r>
            <a:r>
              <a:rPr lang="en-US" b="1" spc="20" dirty="0">
                <a:latin typeface="Arial"/>
                <a:cs typeface="Arial"/>
              </a:rPr>
              <a:t> </a:t>
            </a:r>
            <a:r>
              <a:rPr lang="en-US" b="1" spc="-60" dirty="0">
                <a:latin typeface="Arial"/>
                <a:cs typeface="Arial"/>
              </a:rPr>
              <a:t>keys</a:t>
            </a:r>
            <a:r>
              <a:rPr lang="en-US" b="1" spc="10" dirty="0">
                <a:latin typeface="Arial"/>
                <a:cs typeface="Arial"/>
              </a:rPr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5" dirty="0"/>
              <a:t>establish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spc="-50" dirty="0"/>
              <a:t>secure</a:t>
            </a:r>
            <a:r>
              <a:rPr lang="en-US" spc="5" dirty="0"/>
              <a:t> </a:t>
            </a:r>
            <a:r>
              <a:rPr lang="en-US" spc="-10" dirty="0"/>
              <a:t>connection.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20" dirty="0"/>
              <a:t>eliminates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50" dirty="0"/>
              <a:t>need</a:t>
            </a:r>
            <a:r>
              <a:rPr lang="en-US" spc="5" dirty="0"/>
              <a:t> </a:t>
            </a:r>
            <a:r>
              <a:rPr lang="en-US" spc="-25" dirty="0"/>
              <a:t>for </a:t>
            </a:r>
            <a:r>
              <a:rPr lang="en-US" spc="-65" dirty="0"/>
              <a:t>password-</a:t>
            </a:r>
            <a:r>
              <a:rPr lang="en-US" spc="-30" dirty="0"/>
              <a:t>based</a:t>
            </a:r>
            <a:r>
              <a:rPr lang="en-US" spc="60" dirty="0"/>
              <a:t> </a:t>
            </a:r>
            <a:r>
              <a:rPr lang="en-US" spc="-10" dirty="0"/>
              <a:t>authentication,</a:t>
            </a:r>
            <a:r>
              <a:rPr lang="en-US" spc="65" dirty="0"/>
              <a:t> </a:t>
            </a:r>
            <a:r>
              <a:rPr lang="en-US" spc="-35" dirty="0"/>
              <a:t>enhancing</a:t>
            </a:r>
            <a:r>
              <a:rPr lang="en-US" spc="65" dirty="0"/>
              <a:t> </a:t>
            </a:r>
            <a:r>
              <a:rPr lang="en-US" spc="-10" dirty="0"/>
              <a:t>security.</a:t>
            </a:r>
          </a:p>
          <a:p>
            <a:pPr marL="17780">
              <a:lnSpc>
                <a:spcPct val="100000"/>
              </a:lnSpc>
              <a:spcBef>
                <a:spcPts val="770"/>
              </a:spcBef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 </a:t>
            </a: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1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Keys</a:t>
            </a:r>
          </a:p>
          <a:p>
            <a:pPr marL="245110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95" dirty="0"/>
              <a:t> </a:t>
            </a:r>
            <a:r>
              <a:rPr lang="en-US" spc="-10" dirty="0"/>
              <a:t>We</a:t>
            </a:r>
            <a:r>
              <a:rPr lang="en-US" spc="15" dirty="0"/>
              <a:t> </a:t>
            </a:r>
            <a:r>
              <a:rPr lang="en-US" spc="-30" dirty="0"/>
              <a:t>are</a:t>
            </a:r>
            <a:r>
              <a:rPr lang="en-US" spc="15" dirty="0"/>
              <a:t> </a:t>
            </a:r>
            <a:r>
              <a:rPr lang="en-US" spc="-10" dirty="0"/>
              <a:t>going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55" dirty="0"/>
              <a:t>share</a:t>
            </a:r>
            <a:r>
              <a:rPr lang="en-US" spc="10" dirty="0"/>
              <a:t> </a:t>
            </a:r>
            <a:r>
              <a:rPr lang="en-US" dirty="0"/>
              <a:t>this</a:t>
            </a:r>
            <a:r>
              <a:rPr lang="en-US" spc="15" dirty="0"/>
              <a:t> </a:t>
            </a:r>
            <a:r>
              <a:rPr lang="en-US" dirty="0"/>
              <a:t>with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10" dirty="0"/>
              <a:t>server.</a:t>
            </a: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60" dirty="0"/>
              <a:t> </a:t>
            </a:r>
            <a:r>
              <a:rPr lang="en-US" dirty="0"/>
              <a:t>This</a:t>
            </a:r>
            <a:r>
              <a:rPr lang="en-US" spc="-15" dirty="0"/>
              <a:t> </a:t>
            </a:r>
            <a:r>
              <a:rPr lang="en-US" spc="-25" dirty="0"/>
              <a:t>one</a:t>
            </a:r>
            <a:r>
              <a:rPr lang="en-US" spc="-15" dirty="0"/>
              <a:t> </a:t>
            </a:r>
            <a:r>
              <a:rPr lang="en-US" dirty="0"/>
              <a:t>is</a:t>
            </a:r>
            <a:r>
              <a:rPr lang="en-US" spc="-20" dirty="0"/>
              <a:t> </a:t>
            </a:r>
            <a:r>
              <a:rPr lang="en-US" dirty="0"/>
              <a:t>kept</a:t>
            </a:r>
            <a:r>
              <a:rPr lang="en-US" spc="-15" dirty="0"/>
              <a:t> </a:t>
            </a:r>
            <a:r>
              <a:rPr lang="en-US" spc="-25" dirty="0"/>
              <a:t>secret</a:t>
            </a:r>
            <a:r>
              <a:rPr lang="en-US" spc="-15" dirty="0"/>
              <a:t> </a:t>
            </a:r>
            <a:r>
              <a:rPr lang="en-US" dirty="0"/>
              <a:t>on</a:t>
            </a:r>
            <a:r>
              <a:rPr lang="en-US" spc="-20" dirty="0"/>
              <a:t> </a:t>
            </a:r>
            <a:r>
              <a:rPr lang="en-US" dirty="0"/>
              <a:t>our</a:t>
            </a:r>
            <a:r>
              <a:rPr lang="en-US" spc="-15" dirty="0"/>
              <a:t> </a:t>
            </a:r>
            <a:r>
              <a:rPr lang="en-US" dirty="0"/>
              <a:t>local</a:t>
            </a:r>
            <a:r>
              <a:rPr lang="en-US" spc="-15" dirty="0"/>
              <a:t> </a:t>
            </a:r>
            <a:r>
              <a:rPr lang="en-US" spc="-10" dirty="0"/>
              <a:t>machine.</a:t>
            </a:r>
          </a:p>
          <a:p>
            <a:pPr marL="17780">
              <a:lnSpc>
                <a:spcPct val="100000"/>
              </a:lnSpc>
              <a:spcBef>
                <a:spcPts val="1035"/>
              </a:spcBef>
            </a:pPr>
            <a:r>
              <a:rPr lang="en-US" b="1" spc="-35" dirty="0">
                <a:latin typeface="Arial"/>
                <a:cs typeface="Arial"/>
              </a:rPr>
              <a:t>Key-</a:t>
            </a:r>
            <a:r>
              <a:rPr lang="en-US" b="1" spc="-10" dirty="0">
                <a:latin typeface="Arial"/>
                <a:cs typeface="Arial"/>
              </a:rPr>
              <a:t>Based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Authentication</a:t>
            </a:r>
          </a:p>
          <a:p>
            <a:pPr marL="17780" marR="385445" indent="-5715">
              <a:lnSpc>
                <a:spcPct val="116199"/>
              </a:lnSpc>
              <a:spcBef>
                <a:spcPts val="670"/>
              </a:spcBef>
            </a:pPr>
            <a:r>
              <a:rPr lang="en-US" spc="-10" dirty="0"/>
              <a:t>When</a:t>
            </a:r>
            <a:r>
              <a:rPr lang="en-US" spc="5" dirty="0"/>
              <a:t> </a:t>
            </a:r>
            <a:r>
              <a:rPr lang="en-US" spc="-40" dirty="0"/>
              <a:t>we</a:t>
            </a:r>
            <a:r>
              <a:rPr lang="en-US" spc="5" dirty="0"/>
              <a:t> </a:t>
            </a:r>
            <a:r>
              <a:rPr lang="en-US" spc="-20" dirty="0"/>
              <a:t>connect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spc="-20" dirty="0"/>
              <a:t>using</a:t>
            </a:r>
            <a:r>
              <a:rPr lang="en-US" spc="5" dirty="0"/>
              <a:t> </a:t>
            </a:r>
            <a:r>
              <a:rPr lang="en-US" spc="-25" dirty="0"/>
              <a:t>SSH,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dirty="0"/>
              <a:t>(the</a:t>
            </a:r>
            <a:r>
              <a:rPr lang="en-US" spc="5" dirty="0"/>
              <a:t> </a:t>
            </a:r>
            <a:r>
              <a:rPr lang="en-US" spc="-25" dirty="0"/>
              <a:t>EC2</a:t>
            </a:r>
            <a:r>
              <a:rPr lang="en-US" spc="5" dirty="0"/>
              <a:t> </a:t>
            </a:r>
            <a:r>
              <a:rPr lang="en-US" spc="-10" dirty="0"/>
              <a:t>machine)</a:t>
            </a:r>
            <a:r>
              <a:rPr lang="en-US" spc="5" dirty="0"/>
              <a:t> </a:t>
            </a:r>
            <a:r>
              <a:rPr lang="en-US" spc="-40" dirty="0"/>
              <a:t>checks</a:t>
            </a:r>
            <a:r>
              <a:rPr lang="en-US" spc="5" dirty="0"/>
              <a:t> </a:t>
            </a:r>
            <a:r>
              <a:rPr lang="en-US" dirty="0"/>
              <a:t>if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dirty="0"/>
              <a:t>public</a:t>
            </a:r>
            <a:r>
              <a:rPr lang="en-US" spc="5" dirty="0"/>
              <a:t> </a:t>
            </a:r>
            <a:r>
              <a:rPr lang="en-US" spc="-25" dirty="0"/>
              <a:t>key </a:t>
            </a:r>
            <a:r>
              <a:rPr lang="en-US" spc="-30" dirty="0"/>
              <a:t>matches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private</a:t>
            </a:r>
            <a:r>
              <a:rPr lang="en-US" spc="10" dirty="0"/>
              <a:t> </a:t>
            </a:r>
            <a:r>
              <a:rPr lang="en-US" spc="-30" dirty="0"/>
              <a:t>key.</a:t>
            </a:r>
            <a:r>
              <a:rPr lang="en-US" spc="95" dirty="0"/>
              <a:t> </a:t>
            </a:r>
            <a:r>
              <a:rPr lang="en-US" dirty="0"/>
              <a:t>If</a:t>
            </a:r>
            <a:r>
              <a:rPr lang="en-US" spc="10" dirty="0"/>
              <a:t> </a:t>
            </a:r>
            <a:r>
              <a:rPr lang="en-US" dirty="0"/>
              <a:t>they</a:t>
            </a:r>
            <a:r>
              <a:rPr lang="en-US" spc="10" dirty="0"/>
              <a:t> </a:t>
            </a:r>
            <a:r>
              <a:rPr lang="en-US" dirty="0"/>
              <a:t>match,</a:t>
            </a:r>
            <a:r>
              <a:rPr lang="en-US" spc="10" dirty="0"/>
              <a:t> </a:t>
            </a:r>
            <a:r>
              <a:rPr lang="en-US" spc="-75" dirty="0"/>
              <a:t>access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spc="-10" dirty="0"/>
              <a:t>granted.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-5" dirty="0"/>
              <a:t> </a:t>
            </a:r>
            <a:r>
              <a:rPr lang="en-US" dirty="0"/>
              <a:t>do</a:t>
            </a:r>
            <a:r>
              <a:rPr lang="en-US" spc="-5" dirty="0"/>
              <a:t> </a:t>
            </a:r>
            <a:r>
              <a:rPr lang="en-US" spc="-35" dirty="0"/>
              <a:t>you</a:t>
            </a:r>
            <a:r>
              <a:rPr lang="en-US" spc="-5" dirty="0"/>
              <a:t> </a:t>
            </a:r>
            <a:r>
              <a:rPr lang="en-US" spc="-10" dirty="0"/>
              <a:t>mean</a:t>
            </a:r>
            <a:r>
              <a:rPr lang="en-US" dirty="0"/>
              <a:t> </a:t>
            </a:r>
            <a:r>
              <a:rPr lang="en-US" spc="-10" dirty="0"/>
              <a:t>by</a:t>
            </a:r>
            <a:r>
              <a:rPr lang="en-US" spc="-5" dirty="0"/>
              <a:t> </a:t>
            </a:r>
            <a:r>
              <a:rPr lang="en-US" spc="-10" dirty="0"/>
              <a:t>client</a:t>
            </a:r>
            <a:r>
              <a:rPr lang="en-US" spc="-5" dirty="0"/>
              <a:t> </a:t>
            </a:r>
            <a:r>
              <a:rPr lang="en-US" spc="-10" dirty="0"/>
              <a:t>and</a:t>
            </a:r>
            <a:r>
              <a:rPr lang="en-US" spc="-5" dirty="0"/>
              <a:t> </a:t>
            </a:r>
            <a:r>
              <a:rPr lang="en-US" spc="-40" dirty="0"/>
              <a:t>server?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951809"/>
            <a:ext cx="4371975" cy="782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describes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b="1" spc="-6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87120" cy="5080"/>
            </a:xfrm>
            <a:custGeom>
              <a:avLst/>
              <a:gdLst/>
              <a:ahLst/>
              <a:cxnLst/>
              <a:rect l="l" t="t" r="r" b="b"/>
              <a:pathLst>
                <a:path w="1087120" h="5080">
                  <a:moveTo>
                    <a:pt x="0" y="5060"/>
                  </a:moveTo>
                  <a:lnTo>
                    <a:pt x="0" y="0"/>
                  </a:lnTo>
                  <a:lnTo>
                    <a:pt x="1086781" y="0"/>
                  </a:lnTo>
                  <a:lnTo>
                    <a:pt x="10867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-5" dirty="0"/>
              <a:t> </a:t>
            </a:r>
            <a:r>
              <a:rPr lang="en-US" dirty="0"/>
              <a:t>do</a:t>
            </a:r>
            <a:r>
              <a:rPr lang="en-US" spc="-5" dirty="0"/>
              <a:t> </a:t>
            </a:r>
            <a:r>
              <a:rPr lang="en-US" spc="-35" dirty="0"/>
              <a:t>you</a:t>
            </a:r>
            <a:r>
              <a:rPr lang="en-US" spc="-5" dirty="0"/>
              <a:t> </a:t>
            </a:r>
            <a:r>
              <a:rPr lang="en-US" spc="-10" dirty="0"/>
              <a:t>mean</a:t>
            </a:r>
            <a:r>
              <a:rPr lang="en-US" dirty="0"/>
              <a:t> </a:t>
            </a:r>
            <a:r>
              <a:rPr lang="en-US" spc="-10" dirty="0"/>
              <a:t>by</a:t>
            </a:r>
            <a:r>
              <a:rPr lang="en-US" spc="-5" dirty="0"/>
              <a:t> </a:t>
            </a:r>
            <a:r>
              <a:rPr lang="en-US" spc="-10" dirty="0"/>
              <a:t>client</a:t>
            </a:r>
            <a:r>
              <a:rPr lang="en-US" spc="-5" dirty="0"/>
              <a:t> </a:t>
            </a:r>
            <a:r>
              <a:rPr lang="en-US" spc="-10" dirty="0"/>
              <a:t>and</a:t>
            </a:r>
            <a:r>
              <a:rPr lang="en-US" spc="-5" dirty="0"/>
              <a:t> </a:t>
            </a:r>
            <a:r>
              <a:rPr lang="en-US" spc="-40" dirty="0"/>
              <a:t>server?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951809"/>
            <a:ext cx="4915535" cy="1460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endParaRPr lang="en-US" sz="900" dirty="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844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describes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b="1" spc="-6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Watching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endParaRPr lang="en-US" sz="900" dirty="0">
              <a:latin typeface="Arial"/>
              <a:cs typeface="Arial"/>
            </a:endParaRPr>
          </a:p>
          <a:p>
            <a:pPr marL="13335" marR="5080" indent="-1270">
              <a:lnSpc>
                <a:spcPct val="116199"/>
              </a:lnSpc>
              <a:spcBef>
                <a:spcPts val="67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video,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client)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request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YouTube’s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server)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stream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video.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87120" cy="5080"/>
            </a:xfrm>
            <a:custGeom>
              <a:avLst/>
              <a:gdLst/>
              <a:ahLst/>
              <a:cxnLst/>
              <a:rect l="l" t="t" r="r" b="b"/>
              <a:pathLst>
                <a:path w="1087120" h="5080">
                  <a:moveTo>
                    <a:pt x="0" y="5060"/>
                  </a:moveTo>
                  <a:lnTo>
                    <a:pt x="0" y="0"/>
                  </a:lnTo>
                  <a:lnTo>
                    <a:pt x="1086781" y="0"/>
                  </a:lnTo>
                  <a:lnTo>
                    <a:pt x="10867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86191" y="2420174"/>
            <a:ext cx="23882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model when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watching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95705" cy="5080"/>
            </a:xfrm>
            <a:custGeom>
              <a:avLst/>
              <a:gdLst/>
              <a:ahLst/>
              <a:cxnLst/>
              <a:rect l="l" t="t" r="r" b="b"/>
              <a:pathLst>
                <a:path w="1195705" h="5080">
                  <a:moveTo>
                    <a:pt x="0" y="5060"/>
                  </a:moveTo>
                  <a:lnTo>
                    <a:pt x="0" y="0"/>
                  </a:lnTo>
                  <a:lnTo>
                    <a:pt x="1195503" y="0"/>
                  </a:lnTo>
                  <a:lnTo>
                    <a:pt x="11955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8541" y="596950"/>
            <a:ext cx="3182925" cy="17991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27339" y="2530092"/>
            <a:ext cx="230568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 model when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sending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emails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304290" cy="5080"/>
            </a:xfrm>
            <a:custGeom>
              <a:avLst/>
              <a:gdLst/>
              <a:ahLst/>
              <a:cxnLst/>
              <a:rect l="l" t="t" r="r" b="b"/>
              <a:pathLst>
                <a:path w="1304290" h="5080">
                  <a:moveTo>
                    <a:pt x="0" y="5060"/>
                  </a:moveTo>
                  <a:lnTo>
                    <a:pt x="0" y="0"/>
                  </a:lnTo>
                  <a:lnTo>
                    <a:pt x="1304137" y="0"/>
                  </a:lnTo>
                  <a:lnTo>
                    <a:pt x="1304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9494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Why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do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6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need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open</a:t>
            </a:r>
            <a:r>
              <a:rPr lang="en-US" sz="1100" b="1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ports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?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567690" cy="5080"/>
            </a:xfrm>
            <a:custGeom>
              <a:avLst/>
              <a:gdLst/>
              <a:ahLst/>
              <a:cxnLst/>
              <a:rect l="l" t="t" r="r" b="b"/>
              <a:pathLst>
                <a:path w="567689" h="5080">
                  <a:moveTo>
                    <a:pt x="0" y="5060"/>
                  </a:moveTo>
                  <a:lnTo>
                    <a:pt x="0" y="0"/>
                  </a:lnTo>
                  <a:lnTo>
                    <a:pt x="567210" y="0"/>
                  </a:lnTo>
                  <a:lnTo>
                    <a:pt x="5672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Ports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576219"/>
            <a:ext cx="3973829" cy="40703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Ports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76219"/>
            <a:ext cx="3973829" cy="1158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dirty="0">
              <a:latin typeface="Arial"/>
              <a:cs typeface="Arial"/>
            </a:endParaRPr>
          </a:p>
          <a:p>
            <a:pPr marL="12700" marR="5080">
              <a:lnSpc>
                <a:spcPct val="157700"/>
              </a:lnSpc>
              <a:spcBef>
                <a:spcPts val="22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services.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(Remote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Login)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(Web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(Secure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Ports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76219"/>
            <a:ext cx="3977640" cy="2211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57700"/>
              </a:lnSpc>
              <a:spcBef>
                <a:spcPts val="22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services.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(Remote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Login)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(Web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(Secure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Analogy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rooms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reception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(SSH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restaurant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lounge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60" dirty="0"/>
              <a:t>groups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54527"/>
            <a:ext cx="4290695" cy="782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60" dirty="0"/>
              <a:t>groups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54527"/>
            <a:ext cx="4294505" cy="1663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44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69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firewall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configure: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Outbound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60" dirty="0"/>
              <a:t>groups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72246" y="2696844"/>
            <a:ext cx="563880" cy="139700"/>
            <a:chOff x="1972246" y="2696844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354527"/>
            <a:ext cx="4706620" cy="264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44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69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firewall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configure: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Outbound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30"/>
              </a:spcBef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Opening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(SSH)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endParaRPr lang="en-US" sz="900" dirty="0">
              <a:latin typeface="Arial"/>
              <a:cs typeface="Arial"/>
            </a:endParaRPr>
          </a:p>
          <a:p>
            <a:pPr marL="243840" marR="5080" lvl="1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0.0.0.0/0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(not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recommended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reasons).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4674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Today’s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on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62305" cy="5080"/>
            </a:xfrm>
            <a:custGeom>
              <a:avLst/>
              <a:gdLst/>
              <a:ahLst/>
              <a:cxnLst/>
              <a:rect l="l" t="t" r="r" b="b"/>
              <a:pathLst>
                <a:path w="662305" h="5080">
                  <a:moveTo>
                    <a:pt x="0" y="5060"/>
                  </a:moveTo>
                  <a:lnTo>
                    <a:pt x="0" y="0"/>
                  </a:lnTo>
                  <a:lnTo>
                    <a:pt x="661745" y="0"/>
                  </a:lnTo>
                  <a:lnTo>
                    <a:pt x="6617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5" dirty="0">
                <a:solidFill>
                  <a:srgbClr val="F9F9F9"/>
                </a:solidFill>
                <a:latin typeface="Arial"/>
                <a:cs typeface="Arial"/>
              </a:rPr>
              <a:t>Goals</a:t>
            </a: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today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132250"/>
            <a:ext cx="7505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5" dirty="0">
                <a:solidFill>
                  <a:srgbClr val="F9F9F9"/>
                </a:solidFill>
                <a:latin typeface="Arial"/>
                <a:cs typeface="Arial"/>
              </a:rPr>
              <a:t>Goals</a:t>
            </a: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today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132250"/>
            <a:ext cx="1441450" cy="401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5" dirty="0">
                <a:solidFill>
                  <a:srgbClr val="F9F9F9"/>
                </a:solidFill>
                <a:latin typeface="Arial"/>
                <a:cs typeface="Arial"/>
              </a:rPr>
              <a:t>Goals</a:t>
            </a: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today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132250"/>
            <a:ext cx="1610995" cy="64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Goals</a:t>
            </a:r>
            <a:r>
              <a:rPr lang="en-US" spc="-20" dirty="0"/>
              <a:t> </a:t>
            </a:r>
            <a:r>
              <a:rPr lang="en-US" dirty="0"/>
              <a:t>for</a:t>
            </a:r>
            <a:r>
              <a:rPr lang="en-US" spc="-15" dirty="0"/>
              <a:t> </a:t>
            </a:r>
            <a:r>
              <a:rPr lang="en-US" spc="-10" dirty="0"/>
              <a:t>today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32250"/>
            <a:ext cx="1734185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Goals</a:t>
            </a:r>
            <a:r>
              <a:rPr lang="en-US" spc="-20" dirty="0"/>
              <a:t> </a:t>
            </a:r>
            <a:r>
              <a:rPr lang="en-US" dirty="0"/>
              <a:t>for</a:t>
            </a:r>
            <a:r>
              <a:rPr lang="en-US" spc="-15" dirty="0"/>
              <a:t> </a:t>
            </a:r>
            <a:r>
              <a:rPr lang="en-US" spc="-10" dirty="0"/>
              <a:t>today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32250"/>
            <a:ext cx="3851910" cy="11182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103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Introduction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Academy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3433" y="383365"/>
            <a:ext cx="493458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educators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limited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budget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restricted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579" y="807701"/>
            <a:ext cx="3598862" cy="17994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304199" y="2741115"/>
            <a:ext cx="11518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9: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739264" cy="5080"/>
            </a:xfrm>
            <a:custGeom>
              <a:avLst/>
              <a:gdLst/>
              <a:ahLst/>
              <a:cxnLst/>
              <a:rect l="l" t="t" r="r" b="b"/>
              <a:pathLst>
                <a:path w="1739264" h="5080">
                  <a:moveTo>
                    <a:pt x="0" y="5060"/>
                  </a:moveTo>
                  <a:lnTo>
                    <a:pt x="0" y="0"/>
                  </a:lnTo>
                  <a:lnTo>
                    <a:pt x="1738850" y="0"/>
                  </a:lnTo>
                  <a:lnTo>
                    <a:pt x="1738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74" y="297443"/>
            <a:ext cx="5687226" cy="263667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79052" y="3020336"/>
            <a:ext cx="14427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10: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Accepting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invite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847850" cy="5080"/>
            </a:xfrm>
            <a:custGeom>
              <a:avLst/>
              <a:gdLst/>
              <a:ahLst/>
              <a:cxnLst/>
              <a:rect l="l" t="t" r="r" b="b"/>
              <a:pathLst>
                <a:path w="1847850" h="5080">
                  <a:moveTo>
                    <a:pt x="0" y="5060"/>
                  </a:moveTo>
                  <a:lnTo>
                    <a:pt x="0" y="0"/>
                  </a:lnTo>
                  <a:lnTo>
                    <a:pt x="1847572" y="0"/>
                  </a:lnTo>
                  <a:lnTo>
                    <a:pt x="18475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79425"/>
            <a:ext cx="3429000" cy="15419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11070" y="2155328"/>
            <a:ext cx="15379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11: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account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956435" cy="5080"/>
            </a:xfrm>
            <a:custGeom>
              <a:avLst/>
              <a:gdLst/>
              <a:ahLst/>
              <a:cxnLst/>
              <a:rect l="l" t="t" r="r" b="b"/>
              <a:pathLst>
                <a:path w="1956435" h="5080">
                  <a:moveTo>
                    <a:pt x="0" y="5060"/>
                  </a:moveTo>
                  <a:lnTo>
                    <a:pt x="0" y="0"/>
                  </a:lnTo>
                  <a:lnTo>
                    <a:pt x="1956206" y="0"/>
                  </a:lnTo>
                  <a:lnTo>
                    <a:pt x="19562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3242"/>
            <a:ext cx="5083810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https://awsacademy.instructure.com/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student.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9900" y="730602"/>
            <a:ext cx="2133600" cy="21694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00529" y="2917825"/>
            <a:ext cx="17589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12: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65020" cy="5080"/>
            </a:xfrm>
            <a:custGeom>
              <a:avLst/>
              <a:gdLst/>
              <a:ahLst/>
              <a:cxnLst/>
              <a:rect l="l" t="t" r="r" b="b"/>
              <a:pathLst>
                <a:path w="2065020" h="5080">
                  <a:moveTo>
                    <a:pt x="0" y="5060"/>
                  </a:moveTo>
                  <a:lnTo>
                    <a:pt x="0" y="0"/>
                  </a:lnTo>
                  <a:lnTo>
                    <a:pt x="2064928" y="0"/>
                  </a:lnTo>
                  <a:lnTo>
                    <a:pt x="20649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5706"/>
            <a:ext cx="41821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receive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email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300" y="648266"/>
            <a:ext cx="4182110" cy="22416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4841" y="2917825"/>
            <a:ext cx="15576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13:</a:t>
            </a:r>
            <a:r>
              <a:rPr lang="en-US"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4240" cy="5080"/>
            </a:xfrm>
            <a:custGeom>
              <a:avLst/>
              <a:gdLst/>
              <a:ahLst/>
              <a:cxnLst/>
              <a:rect l="l" t="t" r="r" b="b"/>
              <a:pathLst>
                <a:path w="2174240" h="5080">
                  <a:moveTo>
                    <a:pt x="0" y="5060"/>
                  </a:moveTo>
                  <a:lnTo>
                    <a:pt x="0" y="0"/>
                  </a:lnTo>
                  <a:lnTo>
                    <a:pt x="2173650" y="0"/>
                  </a:lnTo>
                  <a:lnTo>
                    <a:pt x="21736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30" dirty="0"/>
              <a:t> </a:t>
            </a:r>
            <a:r>
              <a:rPr lang="en-US" spc="-65" dirty="0"/>
              <a:t>courses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2387067" cy="15177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Foundation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>
              <a:lnSpc>
                <a:spcPct val="100000"/>
              </a:lnSpc>
              <a:spcBef>
                <a:spcPts val="800"/>
              </a:spcBef>
              <a:tabLst>
                <a:tab pos="239395" algn="l"/>
              </a:tabLst>
            </a:pP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(Theory-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learning).</a:t>
            </a: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endParaRPr lang="en-US" sz="900" dirty="0">
              <a:latin typeface="Arial"/>
              <a:cs typeface="Arial"/>
            </a:endParaRP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          2.    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	      (Hands-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experience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      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30500" y="332104"/>
            <a:ext cx="2514600" cy="261576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27262" y="2950411"/>
            <a:ext cx="13055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14: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courses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282825" cy="5080"/>
            </a:xfrm>
            <a:custGeom>
              <a:avLst/>
              <a:gdLst/>
              <a:ahLst/>
              <a:cxnLst/>
              <a:rect l="l" t="t" r="r" b="b"/>
              <a:pathLst>
                <a:path w="2282825" h="5080">
                  <a:moveTo>
                    <a:pt x="0" y="5060"/>
                  </a:moveTo>
                  <a:lnTo>
                    <a:pt x="0" y="0"/>
                  </a:lnTo>
                  <a:lnTo>
                    <a:pt x="2282285" y="0"/>
                  </a:lnTo>
                  <a:lnTo>
                    <a:pt x="22822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Flecha derecha 9">
            <a:extLst>
              <a:ext uri="{FF2B5EF4-FFF2-40B4-BE49-F238E27FC236}">
                <a16:creationId xmlns:a16="http://schemas.microsoft.com/office/drawing/2014/main" id="{94DB57A0-D61C-F006-F732-E3D21F3580C9}"/>
              </a:ext>
            </a:extLst>
          </p:cNvPr>
          <p:cNvSpPr/>
          <p:nvPr/>
        </p:nvSpPr>
        <p:spPr>
          <a:xfrm>
            <a:off x="63500" y="762499"/>
            <a:ext cx="304800" cy="175585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echa derecha 10">
            <a:extLst>
              <a:ext uri="{FF2B5EF4-FFF2-40B4-BE49-F238E27FC236}">
                <a16:creationId xmlns:a16="http://schemas.microsoft.com/office/drawing/2014/main" id="{3848A72E-B31A-BFC0-6DD4-3EBE22F7E4EE}"/>
              </a:ext>
            </a:extLst>
          </p:cNvPr>
          <p:cNvSpPr/>
          <p:nvPr/>
        </p:nvSpPr>
        <p:spPr>
          <a:xfrm>
            <a:off x="444500" y="1419862"/>
            <a:ext cx="228600" cy="118642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5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0" dirty="0"/>
              <a:t>Cloud</a:t>
            </a:r>
            <a:r>
              <a:rPr lang="en-US" spc="10" dirty="0"/>
              <a:t> </a:t>
            </a:r>
            <a:r>
              <a:rPr lang="en-US" spc="-30" dirty="0"/>
              <a:t>Foundation</a:t>
            </a:r>
            <a:r>
              <a:rPr lang="en-US" spc="5" dirty="0"/>
              <a:t> </a:t>
            </a:r>
            <a:r>
              <a:rPr lang="en-US" spc="-35" dirty="0"/>
              <a:t>Course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846814"/>
            <a:ext cx="5073650" cy="1519006"/>
          </a:xfrm>
          <a:prstGeom prst="rect">
            <a:avLst/>
          </a:prstGeom>
        </p:spPr>
        <p:txBody>
          <a:bodyPr vert="horz" wrap="square" lIns="0" tIns="315277" rIns="0" bIns="0" rtlCol="0">
            <a:spAutoFit/>
          </a:bodyPr>
          <a:lstStyle/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/>
              <a:t>All the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spc="-30" dirty="0"/>
              <a:t>are</a:t>
            </a:r>
            <a:r>
              <a:rPr lang="en-US" spc="5" dirty="0"/>
              <a:t> </a:t>
            </a:r>
            <a:r>
              <a:rPr lang="en-US" dirty="0"/>
              <a:t>invited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0" dirty="0"/>
              <a:t>complete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b="1" spc="-30" dirty="0">
                <a:solidFill>
                  <a:srgbClr val="0070C0"/>
                </a:solidFill>
              </a:rPr>
              <a:t>AWS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10" dirty="0">
                <a:solidFill>
                  <a:srgbClr val="0070C0"/>
                </a:solidFill>
              </a:rPr>
              <a:t>Cloud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25" dirty="0">
                <a:solidFill>
                  <a:srgbClr val="0070C0"/>
                </a:solidFill>
              </a:rPr>
              <a:t>Foundations</a:t>
            </a:r>
            <a:r>
              <a:rPr lang="en-US" dirty="0"/>
              <a:t> </a:t>
            </a:r>
            <a:r>
              <a:rPr lang="en-US" spc="-30" dirty="0"/>
              <a:t>course.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/>
              <a:t>available</a:t>
            </a:r>
            <a:r>
              <a:rPr lang="en-US" spc="5" dirty="0"/>
              <a:t> </a:t>
            </a:r>
            <a:r>
              <a:rPr lang="en-US" spc="-25" dirty="0"/>
              <a:t>in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25" dirty="0"/>
              <a:t>Educate</a:t>
            </a:r>
            <a:r>
              <a:rPr lang="en-US" spc="10" dirty="0"/>
              <a:t> </a:t>
            </a:r>
            <a:r>
              <a:rPr lang="en-US" dirty="0"/>
              <a:t>platform</a:t>
            </a:r>
            <a:r>
              <a:rPr lang="en-US" spc="10" dirty="0"/>
              <a:t> </a:t>
            </a:r>
            <a:r>
              <a:rPr lang="en-US" dirty="0"/>
              <a:t>and</a:t>
            </a:r>
            <a:r>
              <a:rPr lang="en-US" spc="10" dirty="0"/>
              <a:t> </a:t>
            </a:r>
            <a:r>
              <a:rPr lang="en-US" dirty="0"/>
              <a:t>it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dirty="0"/>
              <a:t>great</a:t>
            </a:r>
            <a:r>
              <a:rPr lang="en-US" spc="5" dirty="0"/>
              <a:t> </a:t>
            </a:r>
            <a:r>
              <a:rPr lang="en-US" dirty="0"/>
              <a:t>introduction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40" dirty="0"/>
              <a:t>services.</a:t>
            </a:r>
            <a:r>
              <a:rPr lang="en-US" spc="9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course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>
                <a:solidFill>
                  <a:srgbClr val="0070C0"/>
                </a:solidFill>
              </a:rPr>
              <a:t>not mandatory</a:t>
            </a:r>
            <a:r>
              <a:rPr lang="en-US" spc="-25" dirty="0"/>
              <a:t>,</a:t>
            </a:r>
            <a:r>
              <a:rPr lang="en-US" spc="40" dirty="0"/>
              <a:t> </a:t>
            </a:r>
            <a:r>
              <a:rPr lang="en-US" dirty="0"/>
              <a:t>but</a:t>
            </a:r>
            <a:r>
              <a:rPr lang="en-US" spc="45" dirty="0"/>
              <a:t> </a:t>
            </a:r>
            <a:r>
              <a:rPr lang="en-US" dirty="0"/>
              <a:t>it</a:t>
            </a:r>
            <a:r>
              <a:rPr lang="en-US" spc="45" dirty="0"/>
              <a:t> </a:t>
            </a:r>
            <a:r>
              <a:rPr lang="en-US" dirty="0"/>
              <a:t>is</a:t>
            </a:r>
            <a:r>
              <a:rPr lang="en-US" spc="40" dirty="0"/>
              <a:t> </a:t>
            </a:r>
            <a:r>
              <a:rPr lang="en-US" dirty="0"/>
              <a:t>highly</a:t>
            </a:r>
            <a:r>
              <a:rPr lang="en-US" spc="45" dirty="0"/>
              <a:t> </a:t>
            </a:r>
            <a:r>
              <a:rPr lang="en-US" spc="-10" dirty="0"/>
              <a:t>recommended.</a:t>
            </a:r>
          </a:p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pc="-10" dirty="0"/>
          </a:p>
          <a:p>
            <a:pPr marL="184785" marR="14859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dirty="0"/>
              <a:t>This introductory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 </a:t>
            </a:r>
            <a:r>
              <a:rPr lang="en-US" spc="-20" dirty="0"/>
              <a:t>intended</a:t>
            </a:r>
            <a:r>
              <a:rPr lang="en-US" spc="5" dirty="0"/>
              <a:t> </a:t>
            </a:r>
            <a:r>
              <a:rPr lang="en-US" dirty="0"/>
              <a:t>for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dirty="0"/>
              <a:t>who </a:t>
            </a:r>
            <a:r>
              <a:rPr lang="en-US" spc="-60" dirty="0"/>
              <a:t>seek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spc="-10" dirty="0"/>
              <a:t>overall</a:t>
            </a:r>
            <a:r>
              <a:rPr lang="en-US" dirty="0"/>
              <a:t> </a:t>
            </a:r>
            <a:r>
              <a:rPr lang="en-US" spc="-25" dirty="0"/>
              <a:t>understanding</a:t>
            </a:r>
            <a:r>
              <a:rPr lang="en-US" spc="5" dirty="0"/>
              <a:t> </a:t>
            </a:r>
            <a:r>
              <a:rPr lang="en-US" dirty="0"/>
              <a:t>of</a:t>
            </a:r>
            <a:r>
              <a:rPr lang="en-US" spc="5" dirty="0"/>
              <a:t> </a:t>
            </a:r>
            <a:r>
              <a:rPr lang="en-US" spc="-10" dirty="0"/>
              <a:t>cloud computing</a:t>
            </a:r>
            <a:r>
              <a:rPr lang="en-US" spc="15" dirty="0"/>
              <a:t> </a:t>
            </a:r>
            <a:r>
              <a:rPr lang="en-US" spc="-25" dirty="0"/>
              <a:t>concepts,</a:t>
            </a:r>
            <a:r>
              <a:rPr lang="en-US" spc="15" dirty="0"/>
              <a:t> </a:t>
            </a:r>
            <a:r>
              <a:rPr lang="en-US" spc="-25" dirty="0"/>
              <a:t>independent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20" dirty="0"/>
              <a:t>specific</a:t>
            </a:r>
            <a:r>
              <a:rPr lang="en-US" spc="15" dirty="0"/>
              <a:t> </a:t>
            </a:r>
            <a:r>
              <a:rPr lang="en-US" spc="-10" dirty="0"/>
              <a:t>technical</a:t>
            </a:r>
            <a:r>
              <a:rPr lang="en-US" spc="15" dirty="0"/>
              <a:t> </a:t>
            </a:r>
            <a:r>
              <a:rPr lang="en-US" spc="-10" dirty="0"/>
              <a:t>roles.</a:t>
            </a:r>
            <a:r>
              <a:rPr lang="en-US" spc="105" dirty="0"/>
              <a:t> </a:t>
            </a:r>
            <a:r>
              <a:rPr lang="en-US" dirty="0"/>
              <a:t>It</a:t>
            </a:r>
            <a:r>
              <a:rPr lang="en-US" spc="15" dirty="0"/>
              <a:t> </a:t>
            </a:r>
            <a:r>
              <a:rPr lang="en-US" spc="-35" dirty="0"/>
              <a:t>provides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spc="-20" dirty="0"/>
              <a:t>detailed</a:t>
            </a:r>
            <a:r>
              <a:rPr lang="en-US" spc="15" dirty="0"/>
              <a:t> </a:t>
            </a:r>
            <a:r>
              <a:rPr lang="en-US" spc="-30" dirty="0"/>
              <a:t>overview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10" dirty="0"/>
              <a:t>cloud </a:t>
            </a:r>
            <a:r>
              <a:rPr lang="en-US" spc="-25" dirty="0"/>
              <a:t>concepts,</a:t>
            </a:r>
            <a:r>
              <a:rPr lang="en-US" spc="-10" dirty="0"/>
              <a:t> </a:t>
            </a:r>
            <a:r>
              <a:rPr lang="en-US" spc="-25" dirty="0"/>
              <a:t>AWS</a:t>
            </a:r>
            <a:r>
              <a:rPr lang="en-US" spc="-10" dirty="0"/>
              <a:t> </a:t>
            </a:r>
            <a:r>
              <a:rPr lang="en-US" spc="-30" dirty="0"/>
              <a:t>core</a:t>
            </a:r>
            <a:r>
              <a:rPr lang="en-US" spc="-10" dirty="0"/>
              <a:t> </a:t>
            </a:r>
            <a:r>
              <a:rPr lang="en-US" spc="-45" dirty="0"/>
              <a:t>services,</a:t>
            </a:r>
            <a:r>
              <a:rPr lang="en-US" spc="-5" dirty="0"/>
              <a:t> </a:t>
            </a:r>
            <a:r>
              <a:rPr lang="en-US" spc="-30" dirty="0"/>
              <a:t>security,</a:t>
            </a:r>
            <a:r>
              <a:rPr lang="en-US" spc="-10" dirty="0"/>
              <a:t> architecture, </a:t>
            </a:r>
            <a:r>
              <a:rPr lang="en-US" dirty="0"/>
              <a:t>pricing,</a:t>
            </a:r>
            <a:r>
              <a:rPr lang="en-US" spc="-10" dirty="0"/>
              <a:t> </a:t>
            </a:r>
            <a:r>
              <a:rPr lang="en-US" dirty="0"/>
              <a:t>and</a:t>
            </a:r>
            <a:r>
              <a:rPr lang="en-US" spc="-5" dirty="0"/>
              <a:t> </a:t>
            </a:r>
            <a:r>
              <a:rPr lang="en-US" spc="-10" dirty="0"/>
              <a:t>support.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91410" cy="5080"/>
            </a:xfrm>
            <a:custGeom>
              <a:avLst/>
              <a:gdLst/>
              <a:ahLst/>
              <a:cxnLst/>
              <a:rect l="l" t="t" r="r" b="b"/>
              <a:pathLst>
                <a:path w="2391410" h="5080">
                  <a:moveTo>
                    <a:pt x="0" y="5060"/>
                  </a:moveTo>
                  <a:lnTo>
                    <a:pt x="0" y="0"/>
                  </a:lnTo>
                  <a:lnTo>
                    <a:pt x="2391006" y="0"/>
                  </a:lnTo>
                  <a:lnTo>
                    <a:pt x="23910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10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Learner</a:t>
            </a:r>
            <a:r>
              <a:rPr lang="en-US" spc="10" dirty="0"/>
              <a:t> </a:t>
            </a:r>
            <a:r>
              <a:rPr lang="en-US" spc="-25" dirty="0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1092423"/>
            <a:ext cx="5093970" cy="195694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 be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0070C0"/>
                </a:solidFill>
                <a:latin typeface="Arial"/>
                <a:cs typeface="Arial"/>
              </a:rPr>
              <a:t>Learner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 Lab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today’s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future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deliverables.</a:t>
            </a:r>
          </a:p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84785" marR="14732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limited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set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of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55" dirty="0">
                <a:solidFill>
                  <a:srgbClr val="0070C0"/>
                </a:solidFill>
                <a:latin typeface="Arial"/>
                <a:cs typeface="Arial"/>
              </a:rPr>
              <a:t>services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and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0070C0"/>
                </a:solidFill>
                <a:latin typeface="Arial"/>
                <a:cs typeface="Arial"/>
              </a:rPr>
              <a:t>budget</a:t>
            </a:r>
            <a:r>
              <a:rPr lang="en-US" sz="900" b="1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dirty="0"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opportunity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learn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dashboard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professionals.</a:t>
            </a:r>
            <a:endParaRPr lang="en-US" sz="900" dirty="0"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Getting</a:t>
            </a:r>
            <a:r>
              <a:rPr lang="en-US" sz="900" spc="-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tricky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99995" cy="5080"/>
            </a:xfrm>
            <a:custGeom>
              <a:avLst/>
              <a:gdLst/>
              <a:ahLst/>
              <a:cxnLst/>
              <a:rect l="l" t="t" r="r" b="b"/>
              <a:pathLst>
                <a:path w="2499995" h="5080">
                  <a:moveTo>
                    <a:pt x="0" y="5060"/>
                  </a:moveTo>
                  <a:lnTo>
                    <a:pt x="0" y="0"/>
                  </a:lnTo>
                  <a:lnTo>
                    <a:pt x="2499641" y="0"/>
                  </a:lnTo>
                  <a:lnTo>
                    <a:pt x="24996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85466"/>
            <a:ext cx="2438400" cy="2549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6100" y="3012717"/>
            <a:ext cx="19551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608580" cy="5080"/>
            </a:xfrm>
            <a:custGeom>
              <a:avLst/>
              <a:gdLst/>
              <a:ahLst/>
              <a:cxnLst/>
              <a:rect l="l" t="t" r="r" b="b"/>
              <a:pathLst>
                <a:path w="2608580" h="5080">
                  <a:moveTo>
                    <a:pt x="0" y="5060"/>
                  </a:moveTo>
                  <a:lnTo>
                    <a:pt x="0" y="0"/>
                  </a:lnTo>
                  <a:lnTo>
                    <a:pt x="2608363" y="0"/>
                  </a:lnTo>
                  <a:lnTo>
                    <a:pt x="26083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70349"/>
            <a:ext cx="2514600" cy="25449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80590" y="2917825"/>
            <a:ext cx="19989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16: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module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17165" cy="5080"/>
            </a:xfrm>
            <a:custGeom>
              <a:avLst/>
              <a:gdLst/>
              <a:ahLst/>
              <a:cxnLst/>
              <a:rect l="l" t="t" r="r" b="b"/>
              <a:pathLst>
                <a:path w="2717165" h="5080">
                  <a:moveTo>
                    <a:pt x="0" y="5060"/>
                  </a:moveTo>
                  <a:lnTo>
                    <a:pt x="0" y="0"/>
                  </a:lnTo>
                  <a:lnTo>
                    <a:pt x="2716997" y="0"/>
                  </a:lnTo>
                  <a:lnTo>
                    <a:pt x="2716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5900" y="370349"/>
            <a:ext cx="5184023" cy="24560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35976" y="2999105"/>
            <a:ext cx="26885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down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agree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terms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conditions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825750" cy="5080"/>
            </a:xfrm>
            <a:custGeom>
              <a:avLst/>
              <a:gdLst/>
              <a:ahLst/>
              <a:cxnLst/>
              <a:rect l="l" t="t" r="r" b="b"/>
              <a:pathLst>
                <a:path w="2825750" h="5080">
                  <a:moveTo>
                    <a:pt x="0" y="5060"/>
                  </a:moveTo>
                  <a:lnTo>
                    <a:pt x="0" y="0"/>
                  </a:lnTo>
                  <a:lnTo>
                    <a:pt x="2825719" y="0"/>
                  </a:lnTo>
                  <a:lnTo>
                    <a:pt x="28257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446941"/>
            <a:ext cx="5086618" cy="24792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66137" y="2999105"/>
            <a:ext cx="12280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18: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‘Start’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934970" cy="5080"/>
            </a:xfrm>
            <a:custGeom>
              <a:avLst/>
              <a:gdLst/>
              <a:ahLst/>
              <a:cxnLst/>
              <a:rect l="l" t="t" r="r" b="b"/>
              <a:pathLst>
                <a:path w="2934970" h="5080">
                  <a:moveTo>
                    <a:pt x="0" y="5060"/>
                  </a:moveTo>
                  <a:lnTo>
                    <a:pt x="0" y="0"/>
                  </a:lnTo>
                  <a:lnTo>
                    <a:pt x="2934353" y="0"/>
                  </a:lnTo>
                  <a:lnTo>
                    <a:pt x="29343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370350"/>
            <a:ext cx="5257800" cy="25300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9960" y="2999105"/>
            <a:ext cx="21202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19:</a:t>
            </a:r>
            <a:r>
              <a:rPr lang="en-US" sz="800" b="1" spc="1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043555" cy="5080"/>
            </a:xfrm>
            <a:custGeom>
              <a:avLst/>
              <a:gdLst/>
              <a:ahLst/>
              <a:cxnLst/>
              <a:rect l="l" t="t" r="r" b="b"/>
              <a:pathLst>
                <a:path w="3043555" h="5080">
                  <a:moveTo>
                    <a:pt x="0" y="5060"/>
                  </a:moveTo>
                  <a:lnTo>
                    <a:pt x="0" y="0"/>
                  </a:lnTo>
                  <a:lnTo>
                    <a:pt x="3043076" y="0"/>
                  </a:lnTo>
                  <a:lnTo>
                    <a:pt x="3043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" y="370350"/>
            <a:ext cx="5760085" cy="244079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49300" y="2888021"/>
            <a:ext cx="365760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20: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ready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(the AWS </a:t>
            </a:r>
            <a:r>
              <a:rPr lang="en-US" sz="800" spc="15" dirty="0" err="1">
                <a:solidFill>
                  <a:srgbClr val="22373A"/>
                </a:solidFill>
                <a:latin typeface="Arial"/>
                <a:cs typeface="Arial"/>
              </a:rPr>
              <a:t>buttom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becomes green)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‘AWS’. </a:t>
            </a:r>
            <a:r>
              <a:rPr lang="en-US" sz="800" b="1" spc="-10" dirty="0">
                <a:solidFill>
                  <a:srgbClr val="FF0000"/>
                </a:solidFill>
                <a:latin typeface="Arial"/>
                <a:cs typeface="Arial"/>
              </a:rPr>
              <a:t>Current Budget usage: $0 spent out of a $50 limit</a:t>
            </a:r>
            <a:r>
              <a:rPr lang="en-US" sz="800" b="1" spc="-10" dirty="0">
                <a:solidFill>
                  <a:schemeClr val="tx1"/>
                </a:solidFill>
                <a:latin typeface="Arial"/>
                <a:cs typeface="Arial"/>
              </a:rPr>
              <a:t>.</a:t>
            </a:r>
            <a:endParaRPr lang="en-US" sz="8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52140" cy="5080"/>
            </a:xfrm>
            <a:custGeom>
              <a:avLst/>
              <a:gdLst/>
              <a:ahLst/>
              <a:cxnLst/>
              <a:rect l="l" t="t" r="r" b="b"/>
              <a:pathLst>
                <a:path w="3152140" h="5080">
                  <a:moveTo>
                    <a:pt x="0" y="5060"/>
                  </a:moveTo>
                  <a:lnTo>
                    <a:pt x="0" y="0"/>
                  </a:lnTo>
                  <a:lnTo>
                    <a:pt x="3151710" y="0"/>
                  </a:lnTo>
                  <a:lnTo>
                    <a:pt x="31517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700" y="446907"/>
            <a:ext cx="5257800" cy="24709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62506" y="2922905"/>
            <a:ext cx="243522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21: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presented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0725" cy="5080"/>
            </a:xfrm>
            <a:custGeom>
              <a:avLst/>
              <a:gdLst/>
              <a:ahLst/>
              <a:cxnLst/>
              <a:rect l="l" t="t" r="r" b="b"/>
              <a:pathLst>
                <a:path w="3260725" h="5080">
                  <a:moveTo>
                    <a:pt x="0" y="5060"/>
                  </a:moveTo>
                  <a:lnTo>
                    <a:pt x="0" y="0"/>
                  </a:lnTo>
                  <a:lnTo>
                    <a:pt x="3260432" y="0"/>
                  </a:lnTo>
                  <a:lnTo>
                    <a:pt x="32604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23863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r>
              <a:rPr lang="en-US" sz="1100" b="1" spc="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Deploying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Jupyter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Notebook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418590" cy="5080"/>
            </a:xfrm>
            <a:custGeom>
              <a:avLst/>
              <a:gdLst/>
              <a:ahLst/>
              <a:cxnLst/>
              <a:rect l="l" t="t" r="r" b="b"/>
              <a:pathLst>
                <a:path w="1418589" h="5080">
                  <a:moveTo>
                    <a:pt x="0" y="5060"/>
                  </a:moveTo>
                  <a:lnTo>
                    <a:pt x="0" y="0"/>
                  </a:lnTo>
                  <a:lnTo>
                    <a:pt x="1418064" y="0"/>
                  </a:lnTo>
                  <a:lnTo>
                    <a:pt x="1418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6734"/>
            <a:ext cx="5015230" cy="442595"/>
            <a:chOff x="372646" y="876734"/>
            <a:chExt cx="5015230" cy="442595"/>
          </a:xfrm>
        </p:grpSpPr>
        <p:sp>
          <p:nvSpPr>
            <p:cNvPr id="4" name="object 4"/>
            <p:cNvSpPr/>
            <p:nvPr/>
          </p:nvSpPr>
          <p:spPr>
            <a:xfrm>
              <a:off x="377994" y="882081"/>
              <a:ext cx="5004435" cy="432434"/>
            </a:xfrm>
            <a:custGeom>
              <a:avLst/>
              <a:gdLst/>
              <a:ahLst/>
              <a:cxnLst/>
              <a:rect l="l" t="t" r="r" b="b"/>
              <a:pathLst>
                <a:path w="5004435" h="43243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5881"/>
                  </a:lnTo>
                  <a:lnTo>
                    <a:pt x="2829" y="409894"/>
                  </a:lnTo>
                  <a:lnTo>
                    <a:pt x="10544" y="421337"/>
                  </a:lnTo>
                  <a:lnTo>
                    <a:pt x="21987" y="429052"/>
                  </a:lnTo>
                  <a:lnTo>
                    <a:pt x="36000" y="431882"/>
                  </a:lnTo>
                  <a:lnTo>
                    <a:pt x="4968064" y="431882"/>
                  </a:lnTo>
                  <a:lnTo>
                    <a:pt x="4982077" y="429052"/>
                  </a:lnTo>
                  <a:lnTo>
                    <a:pt x="4993521" y="421337"/>
                  </a:lnTo>
                  <a:lnTo>
                    <a:pt x="5001236" y="409894"/>
                  </a:lnTo>
                  <a:lnTo>
                    <a:pt x="5004065" y="3958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83060"/>
              <a:ext cx="5002530" cy="430530"/>
            </a:xfrm>
            <a:custGeom>
              <a:avLst/>
              <a:gdLst/>
              <a:ahLst/>
              <a:cxnLst/>
              <a:rect l="l" t="t" r="r" b="b"/>
              <a:pathLst>
                <a:path w="5002530" h="430530">
                  <a:moveTo>
                    <a:pt x="0" y="3949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4902"/>
                  </a:lnTo>
                  <a:lnTo>
                    <a:pt x="4999354" y="408534"/>
                  </a:lnTo>
                  <a:lnTo>
                    <a:pt x="4991849" y="419666"/>
                  </a:lnTo>
                  <a:lnTo>
                    <a:pt x="4980717" y="427171"/>
                  </a:lnTo>
                  <a:lnTo>
                    <a:pt x="4967085" y="429923"/>
                  </a:lnTo>
                  <a:lnTo>
                    <a:pt x="35021" y="429923"/>
                  </a:lnTo>
                  <a:lnTo>
                    <a:pt x="21389" y="427171"/>
                  </a:lnTo>
                  <a:lnTo>
                    <a:pt x="10257" y="419666"/>
                  </a:lnTo>
                  <a:lnTo>
                    <a:pt x="2752" y="408534"/>
                  </a:lnTo>
                  <a:lnTo>
                    <a:pt x="0" y="3949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685630" y="1422597"/>
            <a:ext cx="264795" cy="121285"/>
            <a:chOff x="2685630" y="1422597"/>
            <a:chExt cx="264795" cy="121285"/>
          </a:xfrm>
        </p:grpSpPr>
        <p:sp>
          <p:nvSpPr>
            <p:cNvPr id="7" name="object 7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7514" y="1668076"/>
            <a:ext cx="144873" cy="11426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587743" y="1920161"/>
            <a:ext cx="443865" cy="580390"/>
            <a:chOff x="587743" y="1920161"/>
            <a:chExt cx="443865" cy="58039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7743" y="1920161"/>
              <a:ext cx="204657" cy="10117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7743" y="2059909"/>
              <a:ext cx="204657" cy="12075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514" y="2616981"/>
            <a:ext cx="144873" cy="120757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343319" y="632747"/>
            <a:ext cx="4728210" cy="21151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.ssh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05287C"/>
                </a:solidFill>
                <a:latin typeface="Courier New"/>
                <a:cs typeface="Courier New"/>
              </a:rPr>
              <a:t>ssh-keygen</a:t>
            </a: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t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rsa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f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10" dirty="0">
                <a:latin typeface="Courier New"/>
                <a:cs typeface="Courier New"/>
              </a:rPr>
              <a:t>keypair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74200"/>
              </a:lnSpc>
              <a:spcBef>
                <a:spcPts val="7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might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ignore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create:</a:t>
            </a:r>
            <a:endParaRPr lang="en-US" sz="900" dirty="0">
              <a:latin typeface="Arial"/>
              <a:cs typeface="Arial"/>
            </a:endParaRPr>
          </a:p>
          <a:p>
            <a:pPr marL="255904" indent="-160020">
              <a:lnSpc>
                <a:spcPct val="100000"/>
              </a:lnSpc>
              <a:spcBef>
                <a:spcPts val="800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rsa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 err="1">
                <a:latin typeface="Courier New"/>
                <a:cs typeface="Courier New"/>
              </a:rPr>
              <a:t>ecdsa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>
                <a:latin typeface="Courier New"/>
                <a:cs typeface="Courier New"/>
              </a:rPr>
              <a:t>ed25519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-f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filename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3369310" cy="5080"/>
            </a:xfrm>
            <a:custGeom>
              <a:avLst/>
              <a:gdLst/>
              <a:ahLst/>
              <a:cxnLst/>
              <a:rect l="l" t="t" r="r" b="b"/>
              <a:pathLst>
                <a:path w="3369310" h="5080">
                  <a:moveTo>
                    <a:pt x="0" y="5060"/>
                  </a:moveTo>
                  <a:lnTo>
                    <a:pt x="0" y="0"/>
                  </a:lnTo>
                  <a:lnTo>
                    <a:pt x="3369066" y="0"/>
                  </a:lnTo>
                  <a:lnTo>
                    <a:pt x="33690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74915" y="1817773"/>
            <a:ext cx="1221105" cy="314960"/>
            <a:chOff x="1174915" y="1817773"/>
            <a:chExt cx="1221105" cy="314960"/>
          </a:xfrm>
        </p:grpSpPr>
        <p:sp>
          <p:nvSpPr>
            <p:cNvPr id="4" name="object 4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43319" y="1215202"/>
            <a:ext cx="5060950" cy="902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prompt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prompt 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passphrase.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empty.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and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default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location: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10" dirty="0" err="1">
                <a:latin typeface="Courier New"/>
                <a:cs typeface="Courier New"/>
              </a:rPr>
              <a:t>keypair.pub</a:t>
            </a:r>
            <a:endParaRPr lang="en-US" sz="900" dirty="0">
              <a:latin typeface="Courier New"/>
              <a:cs typeface="Courier New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endParaRPr lang="en-US" sz="900" dirty="0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3477895" cy="5080"/>
            </a:xfrm>
            <a:custGeom>
              <a:avLst/>
              <a:gdLst/>
              <a:ahLst/>
              <a:cxnLst/>
              <a:rect l="l" t="t" r="r" b="b"/>
              <a:pathLst>
                <a:path w="3477895" h="5080">
                  <a:moveTo>
                    <a:pt x="0" y="5060"/>
                  </a:moveTo>
                  <a:lnTo>
                    <a:pt x="0" y="0"/>
                  </a:lnTo>
                  <a:lnTo>
                    <a:pt x="3477788" y="0"/>
                  </a:lnTo>
                  <a:lnTo>
                    <a:pt x="347778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Importing</a:t>
            </a:r>
            <a:r>
              <a:rPr lang="en-US" spc="-25" dirty="0"/>
              <a:t> </a:t>
            </a:r>
            <a:r>
              <a:rPr lang="en-US" spc="-10" dirty="0"/>
              <a:t>our</a:t>
            </a:r>
            <a:r>
              <a:rPr lang="en-US" spc="-20" dirty="0"/>
              <a:t> </a:t>
            </a:r>
            <a:r>
              <a:rPr lang="en-US" spc="-25" dirty="0"/>
              <a:t>generated</a:t>
            </a:r>
            <a:r>
              <a:rPr lang="en-US" spc="-20" dirty="0"/>
              <a:t> </a:t>
            </a:r>
            <a:r>
              <a:rPr lang="en-US" spc="-10" dirty="0"/>
              <a:t>key</a:t>
            </a:r>
            <a:r>
              <a:rPr lang="en-US" spc="-20" dirty="0"/>
              <a:t> 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15492" y="2182029"/>
            <a:ext cx="1315720" cy="144145"/>
            <a:chOff x="815492" y="2182029"/>
            <a:chExt cx="1315720" cy="144145"/>
          </a:xfrm>
        </p:grpSpPr>
        <p:sp>
          <p:nvSpPr>
            <p:cNvPr id="4" name="object 4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910229"/>
            <a:ext cx="4542155" cy="15627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Actions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18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endParaRPr lang="en-US" sz="8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47180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Browse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the public key file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before.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(.ssh/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aws-keypair.pub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800" dirty="0">
              <a:latin typeface="Arial"/>
              <a:cs typeface="Arial"/>
            </a:endParaRPr>
          </a:p>
          <a:p>
            <a:pPr marL="46863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46863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field.</a:t>
            </a:r>
            <a:r>
              <a:rPr lang="en-US" sz="8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800" dirty="0">
              <a:latin typeface="Arial"/>
              <a:cs typeface="Arial"/>
            </a:endParaRPr>
          </a:p>
          <a:p>
            <a:pPr marL="48450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cat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aws-keypair.pub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endParaRPr lang="en-US" sz="8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95"/>
              </a:spcBef>
              <a:buAutoNum type="arabicPeriod" startAt="5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586479" cy="5080"/>
            </a:xfrm>
            <a:custGeom>
              <a:avLst/>
              <a:gdLst/>
              <a:ahLst/>
              <a:cxnLst/>
              <a:rect l="l" t="t" r="r" b="b"/>
              <a:pathLst>
                <a:path w="3586479" h="5080">
                  <a:moveTo>
                    <a:pt x="0" y="5060"/>
                  </a:moveTo>
                  <a:lnTo>
                    <a:pt x="0" y="0"/>
                  </a:lnTo>
                  <a:lnTo>
                    <a:pt x="3586422" y="0"/>
                  </a:lnTo>
                  <a:lnTo>
                    <a:pt x="35864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5" dirty="0"/>
              <a:t> </a:t>
            </a:r>
            <a:r>
              <a:rPr lang="en-US" dirty="0"/>
              <a:t>an EC2</a:t>
            </a:r>
            <a:r>
              <a:rPr lang="en-US" spc="-5" dirty="0"/>
              <a:t> </a:t>
            </a:r>
            <a:r>
              <a:rPr lang="en-US" spc="-35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1046572"/>
            <a:ext cx="3007995" cy="12871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Launch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Image:</a:t>
            </a:r>
            <a:r>
              <a:rPr lang="en-US" sz="8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AMI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(HVM)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SSD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Architecture:</a:t>
            </a:r>
            <a:r>
              <a:rPr lang="en-US" sz="800" spc="2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64-bit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(x86)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t2.micro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r>
              <a:rPr lang="en-US" sz="8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-keypair)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Network: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95700" cy="5080"/>
            </a:xfrm>
            <a:custGeom>
              <a:avLst/>
              <a:gdLst/>
              <a:ahLst/>
              <a:cxnLst/>
              <a:rect l="l" t="t" r="r" b="b"/>
              <a:pathLst>
                <a:path w="3695700" h="5080">
                  <a:moveTo>
                    <a:pt x="0" y="5060"/>
                  </a:moveTo>
                  <a:lnTo>
                    <a:pt x="0" y="0"/>
                  </a:lnTo>
                  <a:lnTo>
                    <a:pt x="3695145" y="0"/>
                  </a:lnTo>
                  <a:lnTo>
                    <a:pt x="36951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40" dirty="0"/>
              <a:t>Group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3316" y="856072"/>
            <a:ext cx="2534920" cy="1619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5244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allows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22 (SSH)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80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(HTTP).</a:t>
            </a:r>
            <a:endParaRPr lang="en-US" sz="900" dirty="0">
              <a:latin typeface="Arial"/>
              <a:cs typeface="Arial"/>
            </a:endParaRPr>
          </a:p>
          <a:p>
            <a:pPr marL="243840" marR="318135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endParaRPr lang="en-US" sz="900" dirty="0">
              <a:latin typeface="Arial"/>
              <a:cs typeface="Arial"/>
            </a:endParaRPr>
          </a:p>
          <a:p>
            <a:pPr marL="16510" marR="5143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Mark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checkbox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58236" y="860425"/>
            <a:ext cx="2910841" cy="15239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4285" cy="5080"/>
            </a:xfrm>
            <a:custGeom>
              <a:avLst/>
              <a:gdLst/>
              <a:ahLst/>
              <a:cxnLst/>
              <a:rect l="l" t="t" r="r" b="b"/>
              <a:pathLst>
                <a:path w="3804285" h="5080">
                  <a:moveTo>
                    <a:pt x="0" y="5060"/>
                  </a:moveTo>
                  <a:lnTo>
                    <a:pt x="0" y="0"/>
                  </a:lnTo>
                  <a:lnTo>
                    <a:pt x="3803779" y="0"/>
                  </a:lnTo>
                  <a:lnTo>
                    <a:pt x="38037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951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Connecting</a:t>
            </a:r>
            <a:r>
              <a:rPr lang="en-US"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700" y="331651"/>
            <a:ext cx="5742633" cy="2524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2883597"/>
            <a:ext cx="37338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22: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 instance created. Getting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021454" cy="5080"/>
            </a:xfrm>
            <a:custGeom>
              <a:avLst/>
              <a:gdLst/>
              <a:ahLst/>
              <a:cxnLst/>
              <a:rect l="l" t="t" r="r" b="b"/>
              <a:pathLst>
                <a:path w="4021454" h="5080">
                  <a:moveTo>
                    <a:pt x="0" y="5060"/>
                  </a:moveTo>
                  <a:lnTo>
                    <a:pt x="0" y="0"/>
                  </a:lnTo>
                  <a:lnTo>
                    <a:pt x="4021223" y="0"/>
                  </a:lnTo>
                  <a:lnTo>
                    <a:pt x="4021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Connecting</a:t>
            </a:r>
            <a:r>
              <a:rPr lang="en-US" spc="50" dirty="0"/>
              <a:t> </a:t>
            </a:r>
            <a:r>
              <a:rPr lang="en-US" dirty="0"/>
              <a:t>to</a:t>
            </a:r>
            <a:r>
              <a:rPr lang="en-US" spc="65" dirty="0"/>
              <a:t> </a:t>
            </a:r>
            <a:r>
              <a:rPr lang="en-US" dirty="0"/>
              <a:t>the</a:t>
            </a:r>
            <a:r>
              <a:rPr lang="en-US" spc="65" dirty="0"/>
              <a:t> </a:t>
            </a:r>
            <a:r>
              <a:rPr lang="en-US" spc="-4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3411" y="1320936"/>
            <a:ext cx="982344" cy="155575"/>
            <a:chOff x="1233411" y="1320936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39310"/>
            <a:ext cx="5015230" cy="451484"/>
            <a:chOff x="372646" y="2339310"/>
            <a:chExt cx="5015230" cy="451484"/>
          </a:xfrm>
        </p:grpSpPr>
        <p:sp>
          <p:nvSpPr>
            <p:cNvPr id="7" name="object 7"/>
            <p:cNvSpPr/>
            <p:nvPr/>
          </p:nvSpPr>
          <p:spPr>
            <a:xfrm>
              <a:off x="377994" y="2344657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283"/>
                  </a:lnTo>
                  <a:lnTo>
                    <a:pt x="2829" y="418296"/>
                  </a:lnTo>
                  <a:lnTo>
                    <a:pt x="10544" y="429739"/>
                  </a:lnTo>
                  <a:lnTo>
                    <a:pt x="21987" y="437454"/>
                  </a:lnTo>
                  <a:lnTo>
                    <a:pt x="36000" y="440283"/>
                  </a:lnTo>
                  <a:lnTo>
                    <a:pt x="4968064" y="440283"/>
                  </a:lnTo>
                  <a:lnTo>
                    <a:pt x="4982077" y="437454"/>
                  </a:lnTo>
                  <a:lnTo>
                    <a:pt x="4993521" y="429739"/>
                  </a:lnTo>
                  <a:lnTo>
                    <a:pt x="5001236" y="418296"/>
                  </a:lnTo>
                  <a:lnTo>
                    <a:pt x="5004065" y="40428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45636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30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303"/>
                  </a:lnTo>
                  <a:lnTo>
                    <a:pt x="4999354" y="416935"/>
                  </a:lnTo>
                  <a:lnTo>
                    <a:pt x="4991849" y="428067"/>
                  </a:lnTo>
                  <a:lnTo>
                    <a:pt x="4980717" y="435572"/>
                  </a:lnTo>
                  <a:lnTo>
                    <a:pt x="4967085" y="438325"/>
                  </a:lnTo>
                  <a:lnTo>
                    <a:pt x="35021" y="438325"/>
                  </a:lnTo>
                  <a:lnTo>
                    <a:pt x="21389" y="435572"/>
                  </a:lnTo>
                  <a:lnTo>
                    <a:pt x="10257" y="428067"/>
                  </a:lnTo>
                  <a:lnTo>
                    <a:pt x="2752" y="416935"/>
                  </a:lnTo>
                  <a:lnTo>
                    <a:pt x="0" y="40330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27012" y="559057"/>
            <a:ext cx="4986020" cy="2127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mac,linux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(windows).</a:t>
            </a:r>
            <a:endParaRPr lang="en-US" sz="900" dirty="0">
              <a:latin typeface="Arial"/>
              <a:cs typeface="Arial"/>
            </a:endParaRPr>
          </a:p>
          <a:p>
            <a:pPr marL="159385" marR="109855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public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 of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55575" marR="93345" lvl="1" indent="-143510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55575" algn="l"/>
                <a:tab pos="15938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spc="-4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introduce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file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(for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dirty="0">
              <a:latin typeface="Arial"/>
              <a:cs typeface="Arial"/>
            </a:endParaRPr>
          </a:p>
          <a:p>
            <a:pPr marL="160020" lvl="1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50" dirty="0">
                <a:solidFill>
                  <a:srgbClr val="22373A"/>
                </a:solidFill>
                <a:latin typeface="Arial"/>
                <a:cs typeface="Arial"/>
              </a:rPr>
              <a:t>ec2-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160655" marR="5080" lvl="1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655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ec2-3-87-76-117.compute-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1.amazonaws.com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DNS of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own.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console.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184150" marR="923290">
              <a:lnSpc>
                <a:spcPct val="1074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4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 err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5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-keypair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  <a:hlinkClick r:id="rId2"/>
              </a:rPr>
              <a:t>ec2-user@ec2-3-87-76-117.compute-1.amazonaws.com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sure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want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continue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connecting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dirty="0">
                <a:latin typeface="Courier New"/>
                <a:cs typeface="Courier New"/>
              </a:rPr>
              <a:t>yes/no/[fingerprint]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spc="-60" dirty="0">
                <a:latin typeface="Courier New"/>
                <a:cs typeface="Courier New"/>
              </a:rPr>
              <a:t>?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35" dirty="0">
                <a:latin typeface="Courier New"/>
                <a:cs typeface="Courier New"/>
              </a:rPr>
              <a:t>yes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2870" cy="5080"/>
            </a:xfrm>
            <a:custGeom>
              <a:avLst/>
              <a:gdLst/>
              <a:ahLst/>
              <a:cxnLst/>
              <a:rect l="l" t="t" r="r" b="b"/>
              <a:pathLst>
                <a:path w="3912870" h="5080">
                  <a:moveTo>
                    <a:pt x="0" y="5060"/>
                  </a:moveTo>
                  <a:lnTo>
                    <a:pt x="0" y="0"/>
                  </a:lnTo>
                  <a:lnTo>
                    <a:pt x="3912501" y="0"/>
                  </a:lnTo>
                  <a:lnTo>
                    <a:pt x="3912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14703" y="1256865"/>
            <a:ext cx="2792197" cy="18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25" dirty="0">
                <a:solidFill>
                  <a:srgbClr val="22373A"/>
                </a:solidFill>
                <a:hlinkClick r:id="rId2" action="ppaction://hlinksldjump"/>
              </a:rPr>
              <a:t>Managing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10" dirty="0">
                <a:solidFill>
                  <a:srgbClr val="22373A"/>
                </a:solidFill>
                <a:hlinkClick r:id="rId2" action="ppaction://hlinksldjump"/>
              </a:rPr>
              <a:t>Python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50" dirty="0">
                <a:solidFill>
                  <a:srgbClr val="22373A"/>
                </a:solidFill>
                <a:hlinkClick r:id="rId2" action="ppaction://hlinksldjump"/>
              </a:rPr>
              <a:t>environments</a:t>
            </a:r>
            <a:r>
              <a:rPr lang="en-US"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20" dirty="0">
                <a:solidFill>
                  <a:srgbClr val="22373A"/>
                </a:solidFill>
                <a:hlinkClick r:id="rId2" action="ppaction://hlinksldjump"/>
              </a:rPr>
              <a:t>with</a:t>
            </a:r>
            <a:r>
              <a:rPr lang="en-US" sz="1100" spc="-20" dirty="0">
                <a:solidFill>
                  <a:srgbClr val="22373A"/>
                </a:solidFill>
              </a:rPr>
              <a:t> </a:t>
            </a:r>
            <a:r>
              <a:rPr lang="en-US" sz="1100" spc="-25" dirty="0">
                <a:solidFill>
                  <a:schemeClr val="accent3">
                    <a:lumMod val="50000"/>
                  </a:schemeClr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</a:t>
            </a:r>
            <a:endParaRPr lang="en-US" sz="1100" dirty="0">
              <a:solidFill>
                <a:schemeClr val="accent3">
                  <a:lumMod val="50000"/>
                </a:schemeClr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740808"/>
            <a:ext cx="2505710" cy="5080"/>
            <a:chOff x="1627403" y="1740808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740808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740808"/>
              <a:ext cx="1749425" cy="5080"/>
            </a:xfrm>
            <a:custGeom>
              <a:avLst/>
              <a:gdLst/>
              <a:ahLst/>
              <a:cxnLst/>
              <a:rect l="l" t="t" r="r" b="b"/>
              <a:pathLst>
                <a:path w="1749425" h="5080">
                  <a:moveTo>
                    <a:pt x="0" y="5060"/>
                  </a:moveTo>
                  <a:lnTo>
                    <a:pt x="0" y="0"/>
                  </a:lnTo>
                  <a:lnTo>
                    <a:pt x="1748956" y="0"/>
                  </a:lnTo>
                  <a:lnTo>
                    <a:pt x="17489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Why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dirty="0">
                <a:solidFill>
                  <a:srgbClr val="F9F9F9"/>
                </a:solidFill>
                <a:latin typeface="Arial"/>
                <a:cs typeface="Arial"/>
              </a:rPr>
              <a:t>use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dirty="0" err="1">
                <a:solidFill>
                  <a:srgbClr val="F9F9F9"/>
                </a:solidFill>
                <a:latin typeface="Arial"/>
                <a:cs typeface="Arial"/>
              </a:rPr>
              <a:t>uv</a:t>
            </a:r>
            <a:r>
              <a:rPr lang="en-US" sz="1000" b="1" spc="-45" dirty="0">
                <a:solidFill>
                  <a:srgbClr val="F9F9F9"/>
                </a:solidFill>
                <a:latin typeface="Arial"/>
                <a:cs typeface="Arial"/>
              </a:rPr>
              <a:t>?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27126" y="1371290"/>
            <a:ext cx="3608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20" dirty="0"/>
              <a:t> </a:t>
            </a:r>
            <a:r>
              <a:rPr lang="en-US" spc="-45" dirty="0"/>
              <a:t>use</a:t>
            </a:r>
            <a:r>
              <a:rPr lang="en-US" spc="20" dirty="0"/>
              <a:t> </a:t>
            </a:r>
            <a:r>
              <a:rPr lang="en-US" spc="-45" dirty="0" err="1"/>
              <a:t>uv</a:t>
            </a:r>
            <a:r>
              <a:rPr lang="en-US" spc="-45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71290"/>
            <a:ext cx="3608070" cy="401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Dependency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isolation: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independent.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20" dirty="0"/>
              <a:t> </a:t>
            </a:r>
            <a:r>
              <a:rPr lang="en-US" spc="-45" dirty="0"/>
              <a:t>use</a:t>
            </a:r>
            <a:r>
              <a:rPr lang="en-US" spc="20" dirty="0"/>
              <a:t> </a:t>
            </a:r>
            <a:r>
              <a:rPr lang="en-US" spc="-45" dirty="0" err="1"/>
              <a:t>uv</a:t>
            </a:r>
            <a:r>
              <a:rPr lang="en-US" spc="-45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71290"/>
            <a:ext cx="3608070" cy="64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Dependency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isolation: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independent.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Reproducibility: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Ensures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dependencies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remain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consistent.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277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5" dirty="0"/>
              <a:t> </a:t>
            </a:r>
            <a:r>
              <a:rPr lang="en-US" spc="-25" dirty="0" err="1"/>
              <a:t>uv</a:t>
            </a:r>
            <a:endParaRPr lang="en-US" spc="-25" dirty="0"/>
          </a:p>
        </p:txBody>
      </p:sp>
      <p:grpSp>
        <p:nvGrpSpPr>
          <p:cNvPr id="3" name="object 3"/>
          <p:cNvGrpSpPr/>
          <p:nvPr/>
        </p:nvGrpSpPr>
        <p:grpSpPr>
          <a:xfrm>
            <a:off x="372646" y="1453577"/>
            <a:ext cx="5015230" cy="320040"/>
            <a:chOff x="372646" y="14535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892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5990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88577"/>
            <a:ext cx="5015230" cy="313055"/>
            <a:chOff x="372646" y="2088577"/>
            <a:chExt cx="5015230" cy="313055"/>
          </a:xfrm>
        </p:grpSpPr>
        <p:sp>
          <p:nvSpPr>
            <p:cNvPr id="7" name="object 7"/>
            <p:cNvSpPr/>
            <p:nvPr/>
          </p:nvSpPr>
          <p:spPr>
            <a:xfrm>
              <a:off x="377994" y="2093925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141"/>
                  </a:lnTo>
                  <a:lnTo>
                    <a:pt x="2829" y="280154"/>
                  </a:lnTo>
                  <a:lnTo>
                    <a:pt x="10544" y="291597"/>
                  </a:lnTo>
                  <a:lnTo>
                    <a:pt x="21987" y="299312"/>
                  </a:lnTo>
                  <a:lnTo>
                    <a:pt x="36000" y="302141"/>
                  </a:lnTo>
                  <a:lnTo>
                    <a:pt x="4968064" y="302141"/>
                  </a:lnTo>
                  <a:lnTo>
                    <a:pt x="4982077" y="299312"/>
                  </a:lnTo>
                  <a:lnTo>
                    <a:pt x="4993521" y="291597"/>
                  </a:lnTo>
                  <a:lnTo>
                    <a:pt x="5001236" y="280154"/>
                  </a:lnTo>
                  <a:lnTo>
                    <a:pt x="5004065" y="2661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94904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51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162"/>
                  </a:lnTo>
                  <a:lnTo>
                    <a:pt x="4999354" y="278794"/>
                  </a:lnTo>
                  <a:lnTo>
                    <a:pt x="4991849" y="289925"/>
                  </a:lnTo>
                  <a:lnTo>
                    <a:pt x="4980717" y="297431"/>
                  </a:lnTo>
                  <a:lnTo>
                    <a:pt x="4967085" y="300183"/>
                  </a:lnTo>
                  <a:lnTo>
                    <a:pt x="35021" y="300183"/>
                  </a:lnTo>
                  <a:lnTo>
                    <a:pt x="21389" y="297431"/>
                  </a:lnTo>
                  <a:lnTo>
                    <a:pt x="10257" y="289925"/>
                  </a:lnTo>
                  <a:lnTo>
                    <a:pt x="2752" y="278794"/>
                  </a:lnTo>
                  <a:lnTo>
                    <a:pt x="0" y="2651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970605"/>
            <a:ext cx="4086225" cy="13277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encourage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oﬀicial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documentation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curl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LsSf</a:t>
            </a:r>
            <a:r>
              <a:rPr lang="en-US" sz="800" spc="-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https://</a:t>
            </a:r>
            <a:r>
              <a:rPr lang="en-US" sz="800" spc="-60" dirty="0" err="1">
                <a:latin typeface="Courier New"/>
                <a:cs typeface="Courier New"/>
              </a:rPr>
              <a:t>astral.sh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uv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install.sh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|</a:t>
            </a:r>
            <a:r>
              <a:rPr lang="en-US" sz="800" b="1" spc="-5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solidFill>
                  <a:srgbClr val="05287C"/>
                </a:solidFill>
                <a:latin typeface="Courier New"/>
                <a:cs typeface="Courier New"/>
              </a:rPr>
              <a:t>sh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worked,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everything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's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installed!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238625" cy="5080"/>
            </a:xfrm>
            <a:custGeom>
              <a:avLst/>
              <a:gdLst/>
              <a:ahLst/>
              <a:cxnLst/>
              <a:rect l="l" t="t" r="r" b="b"/>
              <a:pathLst>
                <a:path w="4238625" h="5080">
                  <a:moveTo>
                    <a:pt x="0" y="5060"/>
                  </a:moveTo>
                  <a:lnTo>
                    <a:pt x="0" y="0"/>
                  </a:lnTo>
                  <a:lnTo>
                    <a:pt x="4238579" y="0"/>
                  </a:lnTo>
                  <a:lnTo>
                    <a:pt x="42385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7304" y="873992"/>
            <a:ext cx="4163695" cy="147828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210185" marR="292354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5310" y="1409725"/>
            <a:ext cx="2282825" cy="942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1003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5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12700" marR="124079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873992"/>
            <a:ext cx="4965700" cy="40132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  <a:tabLst>
                <a:tab pos="27724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Project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12646" y="1356903"/>
            <a:ext cx="2494915" cy="1076325"/>
            <a:chOff x="3012646" y="1356903"/>
            <a:chExt cx="2494915" cy="1076325"/>
          </a:xfrm>
        </p:grpSpPr>
        <p:sp>
          <p:nvSpPr>
            <p:cNvPr id="9" name="object 9"/>
            <p:cNvSpPr/>
            <p:nvPr/>
          </p:nvSpPr>
          <p:spPr>
            <a:xfrm>
              <a:off x="3017993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01897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185299" y="1419210"/>
            <a:ext cx="7778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85299" y="1550160"/>
            <a:ext cx="617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85299" y="1681110"/>
            <a:ext cx="23368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2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3.10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30" dirty="0">
                <a:latin typeface="Courier New"/>
                <a:cs typeface="Courier New"/>
              </a:rPr>
              <a:t>venv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85299" y="1802561"/>
            <a:ext cx="1852930" cy="549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.project2-venv/bin/activate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pandas 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6" name="object 1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615498"/>
            <a:ext cx="5015230" cy="443865"/>
            <a:chOff x="372646" y="61549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620846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621825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162278"/>
            <a:ext cx="384175" cy="146050"/>
            <a:chOff x="1252423" y="1162278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64749" y="116273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1772878"/>
            <a:ext cx="5015230" cy="574040"/>
            <a:chOff x="372646" y="1772878"/>
            <a:chExt cx="5015230" cy="574040"/>
          </a:xfrm>
        </p:grpSpPr>
        <p:sp>
          <p:nvSpPr>
            <p:cNvPr id="11" name="object 11"/>
            <p:cNvSpPr/>
            <p:nvPr/>
          </p:nvSpPr>
          <p:spPr>
            <a:xfrm>
              <a:off x="377994" y="1778226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6735"/>
                  </a:lnTo>
                  <a:lnTo>
                    <a:pt x="2829" y="540748"/>
                  </a:lnTo>
                  <a:lnTo>
                    <a:pt x="10544" y="552191"/>
                  </a:lnTo>
                  <a:lnTo>
                    <a:pt x="21987" y="559906"/>
                  </a:lnTo>
                  <a:lnTo>
                    <a:pt x="36000" y="562735"/>
                  </a:lnTo>
                  <a:lnTo>
                    <a:pt x="4968064" y="562735"/>
                  </a:lnTo>
                  <a:lnTo>
                    <a:pt x="4982077" y="559906"/>
                  </a:lnTo>
                  <a:lnTo>
                    <a:pt x="4993521" y="552191"/>
                  </a:lnTo>
                  <a:lnTo>
                    <a:pt x="5001236" y="540748"/>
                  </a:lnTo>
                  <a:lnTo>
                    <a:pt x="5004065" y="5267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79205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57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5756"/>
                  </a:lnTo>
                  <a:lnTo>
                    <a:pt x="4999354" y="539387"/>
                  </a:lnTo>
                  <a:lnTo>
                    <a:pt x="4991849" y="550519"/>
                  </a:lnTo>
                  <a:lnTo>
                    <a:pt x="4980717" y="558025"/>
                  </a:lnTo>
                  <a:lnTo>
                    <a:pt x="4967085" y="560777"/>
                  </a:lnTo>
                  <a:lnTo>
                    <a:pt x="35021" y="560777"/>
                  </a:lnTo>
                  <a:lnTo>
                    <a:pt x="21389" y="558025"/>
                  </a:lnTo>
                  <a:lnTo>
                    <a:pt x="10257" y="550519"/>
                  </a:lnTo>
                  <a:lnTo>
                    <a:pt x="2752" y="539387"/>
                  </a:lnTo>
                  <a:lnTo>
                    <a:pt x="0" y="5257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372646" y="2661888"/>
            <a:ext cx="5015230" cy="420370"/>
            <a:chOff x="372646" y="2661888"/>
            <a:chExt cx="5015230" cy="420370"/>
          </a:xfrm>
        </p:grpSpPr>
        <p:sp>
          <p:nvSpPr>
            <p:cNvPr id="14" name="object 14"/>
            <p:cNvSpPr/>
            <p:nvPr/>
          </p:nvSpPr>
          <p:spPr>
            <a:xfrm>
              <a:off x="377994" y="2667236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378973" y="2668215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41718" y="371520"/>
            <a:ext cx="4972050" cy="2685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26543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version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Output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spc="-1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3.8.20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21005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8" name="object 1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4456430" cy="5080"/>
            </a:xfrm>
            <a:custGeom>
              <a:avLst/>
              <a:gdLst/>
              <a:ahLst/>
              <a:cxnLst/>
              <a:rect l="l" t="t" r="r" b="b"/>
              <a:pathLst>
                <a:path w="4456430" h="5080">
                  <a:moveTo>
                    <a:pt x="0" y="5060"/>
                  </a:moveTo>
                  <a:lnTo>
                    <a:pt x="0" y="0"/>
                  </a:lnTo>
                  <a:lnTo>
                    <a:pt x="4455935" y="0"/>
                  </a:lnTo>
                  <a:lnTo>
                    <a:pt x="44559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19308"/>
            <a:ext cx="5015230" cy="443865"/>
            <a:chOff x="372646" y="101930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024655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25634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566087"/>
            <a:ext cx="384175" cy="146050"/>
            <a:chOff x="1252423" y="1566087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3283" y="156654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2176685"/>
            <a:ext cx="5015230" cy="420370"/>
            <a:chOff x="372646" y="2176685"/>
            <a:chExt cx="5015230" cy="420370"/>
          </a:xfrm>
        </p:grpSpPr>
        <p:sp>
          <p:nvSpPr>
            <p:cNvPr id="11" name="object 11"/>
            <p:cNvSpPr/>
            <p:nvPr/>
          </p:nvSpPr>
          <p:spPr>
            <a:xfrm>
              <a:off x="377994" y="2182032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2183011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41718" y="775329"/>
            <a:ext cx="4770120" cy="176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00812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4565015" cy="5080"/>
            </a:xfrm>
            <a:custGeom>
              <a:avLst/>
              <a:gdLst/>
              <a:ahLst/>
              <a:cxnLst/>
              <a:rect l="l" t="t" r="r" b="b"/>
              <a:pathLst>
                <a:path w="4565015" h="5080">
                  <a:moveTo>
                    <a:pt x="0" y="5060"/>
                  </a:moveTo>
                  <a:lnTo>
                    <a:pt x="0" y="0"/>
                  </a:lnTo>
                  <a:lnTo>
                    <a:pt x="4564570" y="0"/>
                  </a:lnTo>
                  <a:lnTo>
                    <a:pt x="45645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86261"/>
            <a:ext cx="5015230" cy="443865"/>
            <a:chOff x="372646" y="1586261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591608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92587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1342270"/>
            <a:ext cx="3759835" cy="584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activated.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673600" cy="5080"/>
            </a:xfrm>
            <a:custGeom>
              <a:avLst/>
              <a:gdLst/>
              <a:ahLst/>
              <a:cxnLst/>
              <a:rect l="l" t="t" r="r" b="b"/>
              <a:pathLst>
                <a:path w="4673600" h="5080">
                  <a:moveTo>
                    <a:pt x="0" y="5060"/>
                  </a:moveTo>
                  <a:lnTo>
                    <a:pt x="0" y="0"/>
                  </a:lnTo>
                  <a:lnTo>
                    <a:pt x="4673292" y="0"/>
                  </a:lnTo>
                  <a:lnTo>
                    <a:pt x="46732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06088"/>
            <a:ext cx="5015230" cy="311785"/>
            <a:chOff x="372646" y="1006088"/>
            <a:chExt cx="5015230" cy="311785"/>
          </a:xfrm>
        </p:grpSpPr>
        <p:sp>
          <p:nvSpPr>
            <p:cNvPr id="4" name="object 4"/>
            <p:cNvSpPr/>
            <p:nvPr/>
          </p:nvSpPr>
          <p:spPr>
            <a:xfrm>
              <a:off x="377994" y="1011435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9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825"/>
                  </a:lnTo>
                  <a:lnTo>
                    <a:pt x="2829" y="278838"/>
                  </a:lnTo>
                  <a:lnTo>
                    <a:pt x="10544" y="290281"/>
                  </a:lnTo>
                  <a:lnTo>
                    <a:pt x="21987" y="297996"/>
                  </a:lnTo>
                  <a:lnTo>
                    <a:pt x="36000" y="300825"/>
                  </a:lnTo>
                  <a:lnTo>
                    <a:pt x="4968064" y="300825"/>
                  </a:lnTo>
                  <a:lnTo>
                    <a:pt x="4982077" y="297996"/>
                  </a:lnTo>
                  <a:lnTo>
                    <a:pt x="4993521" y="290281"/>
                  </a:lnTo>
                  <a:lnTo>
                    <a:pt x="5001236" y="278838"/>
                  </a:lnTo>
                  <a:lnTo>
                    <a:pt x="5004065" y="2648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241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4">
                  <a:moveTo>
                    <a:pt x="0" y="2638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846"/>
                  </a:lnTo>
                  <a:lnTo>
                    <a:pt x="4999354" y="277478"/>
                  </a:lnTo>
                  <a:lnTo>
                    <a:pt x="4991849" y="288610"/>
                  </a:lnTo>
                  <a:lnTo>
                    <a:pt x="4980717" y="296115"/>
                  </a:lnTo>
                  <a:lnTo>
                    <a:pt x="4967085" y="298867"/>
                  </a:lnTo>
                  <a:lnTo>
                    <a:pt x="35021" y="298867"/>
                  </a:lnTo>
                  <a:lnTo>
                    <a:pt x="21389" y="296115"/>
                  </a:lnTo>
                  <a:lnTo>
                    <a:pt x="10257" y="288610"/>
                  </a:lnTo>
                  <a:lnTo>
                    <a:pt x="2752" y="277478"/>
                  </a:lnTo>
                  <a:lnTo>
                    <a:pt x="0" y="2638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633191"/>
            <a:ext cx="5015230" cy="312420"/>
            <a:chOff x="372646" y="163319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163853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331"/>
                  </a:lnTo>
                  <a:lnTo>
                    <a:pt x="2829" y="279344"/>
                  </a:lnTo>
                  <a:lnTo>
                    <a:pt x="10544" y="290787"/>
                  </a:lnTo>
                  <a:lnTo>
                    <a:pt x="21987" y="298502"/>
                  </a:lnTo>
                  <a:lnTo>
                    <a:pt x="36000" y="301331"/>
                  </a:lnTo>
                  <a:lnTo>
                    <a:pt x="4968064" y="301331"/>
                  </a:lnTo>
                  <a:lnTo>
                    <a:pt x="4982077" y="298502"/>
                  </a:lnTo>
                  <a:lnTo>
                    <a:pt x="4993521" y="290787"/>
                  </a:lnTo>
                  <a:lnTo>
                    <a:pt x="5001236" y="279344"/>
                  </a:lnTo>
                  <a:lnTo>
                    <a:pt x="5004065" y="26533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3951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35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352"/>
                  </a:lnTo>
                  <a:lnTo>
                    <a:pt x="4999354" y="277984"/>
                  </a:lnTo>
                  <a:lnTo>
                    <a:pt x="4991849" y="289115"/>
                  </a:lnTo>
                  <a:lnTo>
                    <a:pt x="4980717" y="296621"/>
                  </a:lnTo>
                  <a:lnTo>
                    <a:pt x="4967085" y="299373"/>
                  </a:lnTo>
                  <a:lnTo>
                    <a:pt x="35021" y="299373"/>
                  </a:lnTo>
                  <a:lnTo>
                    <a:pt x="21389" y="296621"/>
                  </a:lnTo>
                  <a:lnTo>
                    <a:pt x="10257" y="289115"/>
                  </a:lnTo>
                  <a:lnTo>
                    <a:pt x="2752" y="277984"/>
                  </a:lnTo>
                  <a:lnTo>
                    <a:pt x="0" y="26435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523107"/>
            <a:ext cx="5013325" cy="2336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ways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server:</a:t>
            </a:r>
            <a:endParaRPr lang="en-US" sz="9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localhost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notebook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Font typeface="Arial"/>
              <a:buChar char="•"/>
              <a:tabLst>
                <a:tab pos="245110" algn="l"/>
              </a:tabLst>
            </a:pPr>
            <a:r>
              <a:rPr lang="en-US" sz="900" b="1" spc="-25" dirty="0" err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307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Listen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8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7307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8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709" marR="5080" lvl="1" indent="-140970">
              <a:lnSpc>
                <a:spcPts val="1030"/>
              </a:lnSpc>
              <a:spcBef>
                <a:spcPts val="30"/>
              </a:spcBef>
              <a:buChar char="•"/>
              <a:tabLst>
                <a:tab pos="47370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8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opened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 group.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82185" cy="5080"/>
            </a:xfrm>
            <a:custGeom>
              <a:avLst/>
              <a:gdLst/>
              <a:ahLst/>
              <a:cxnLst/>
              <a:rect l="l" t="t" r="r" b="b"/>
              <a:pathLst>
                <a:path w="4782185" h="5080">
                  <a:moveTo>
                    <a:pt x="0" y="5060"/>
                  </a:moveTo>
                  <a:lnTo>
                    <a:pt x="0" y="0"/>
                  </a:lnTo>
                  <a:lnTo>
                    <a:pt x="4781926" y="0"/>
                  </a:lnTo>
                  <a:lnTo>
                    <a:pt x="4781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Opening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5" dirty="0"/>
              <a:t> </a:t>
            </a:r>
            <a:r>
              <a:rPr lang="en-US" dirty="0"/>
              <a:t>port</a:t>
            </a:r>
            <a:r>
              <a:rPr lang="en-US" spc="20" dirty="0"/>
              <a:t> </a:t>
            </a:r>
            <a:r>
              <a:rPr lang="en-US" spc="-20" dirty="0"/>
              <a:t>8888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395634"/>
            <a:ext cx="3601720" cy="105600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(EC2).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launch-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wizard-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(0.0.0.0/0)</a:t>
            </a:r>
            <a:endParaRPr lang="en-US" sz="8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old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80).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68" y="1575063"/>
            <a:ext cx="2519863" cy="119768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19" y="1575061"/>
            <a:ext cx="2519968" cy="1377104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890770" cy="5080"/>
            </a:xfrm>
            <a:custGeom>
              <a:avLst/>
              <a:gdLst/>
              <a:ahLst/>
              <a:cxnLst/>
              <a:rect l="l" t="t" r="r" b="b"/>
              <a:pathLst>
                <a:path w="4890770" h="5080">
                  <a:moveTo>
                    <a:pt x="0" y="5060"/>
                  </a:moveTo>
                  <a:lnTo>
                    <a:pt x="0" y="0"/>
                  </a:lnTo>
                  <a:lnTo>
                    <a:pt x="4890648" y="0"/>
                  </a:lnTo>
                  <a:lnTo>
                    <a:pt x="48906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5" dirty="0"/>
              <a:t>(II)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376515"/>
            <a:ext cx="5015230" cy="574040"/>
            <a:chOff x="372646" y="376515"/>
            <a:chExt cx="5015230" cy="574040"/>
          </a:xfrm>
        </p:grpSpPr>
        <p:sp>
          <p:nvSpPr>
            <p:cNvPr id="4" name="object 4"/>
            <p:cNvSpPr/>
            <p:nvPr/>
          </p:nvSpPr>
          <p:spPr>
            <a:xfrm>
              <a:off x="377994" y="381862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382841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40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45299" y="429310"/>
            <a:ext cx="2766695" cy="41846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0.0.0.0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8888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In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browser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  <a:hlinkClick r:id="rId2"/>
              </a:rPr>
              <a:t>http://ec2-3-87-76-117.compute-</a:t>
            </a:r>
            <a:r>
              <a:rPr lang="en-US" sz="800" spc="-55" dirty="0">
                <a:latin typeface="Courier New"/>
                <a:cs typeface="Courier New"/>
                <a:hlinkClick r:id="rId2"/>
              </a:rPr>
              <a:t>1.amazonaws.com:8888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1053142"/>
            <a:ext cx="155130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17" y="1277768"/>
            <a:ext cx="2519972" cy="185925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987294" y="1053142"/>
            <a:ext cx="148018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After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00108" y="1277764"/>
            <a:ext cx="2519795" cy="180112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999355" cy="5080"/>
            </a:xfrm>
            <a:custGeom>
              <a:avLst/>
              <a:gdLst/>
              <a:ahLst/>
              <a:cxnLst/>
              <a:rect l="l" t="t" r="r" b="b"/>
              <a:pathLst>
                <a:path w="4999355" h="5080">
                  <a:moveTo>
                    <a:pt x="0" y="5060"/>
                  </a:moveTo>
                  <a:lnTo>
                    <a:pt x="0" y="0"/>
                  </a:lnTo>
                  <a:lnTo>
                    <a:pt x="4999282" y="0"/>
                  </a:lnTo>
                  <a:lnTo>
                    <a:pt x="499928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59367" y="703200"/>
            <a:ext cx="384175" cy="123189"/>
            <a:chOff x="2459367" y="703200"/>
            <a:chExt cx="384175" cy="123189"/>
          </a:xfrm>
        </p:grpSpPr>
        <p:sp>
          <p:nvSpPr>
            <p:cNvPr id="4" name="object 4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111423" y="703200"/>
            <a:ext cx="742950" cy="123189"/>
            <a:chOff x="3111423" y="703200"/>
            <a:chExt cx="742950" cy="123189"/>
          </a:xfrm>
        </p:grpSpPr>
        <p:sp>
          <p:nvSpPr>
            <p:cNvPr id="7" name="object 7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90744"/>
            <a:ext cx="48761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token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trouble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copying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token,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 err="1">
                <a:latin typeface="Courier New"/>
                <a:cs typeface="Courier New"/>
              </a:rPr>
              <a:t>Ctrl+C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Ctrl+Shift+C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958650"/>
            <a:ext cx="2519990" cy="18950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32" y="958660"/>
            <a:ext cx="2519946" cy="189839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108575" cy="5080"/>
            </a:xfrm>
            <a:custGeom>
              <a:avLst/>
              <a:gdLst/>
              <a:ahLst/>
              <a:cxnLst/>
              <a:rect l="l" t="t" r="r" b="b"/>
              <a:pathLst>
                <a:path w="5108575" h="5080">
                  <a:moveTo>
                    <a:pt x="0" y="5060"/>
                  </a:moveTo>
                  <a:lnTo>
                    <a:pt x="0" y="0"/>
                  </a:lnTo>
                  <a:lnTo>
                    <a:pt x="5108005" y="0"/>
                  </a:lnTo>
                  <a:lnTo>
                    <a:pt x="51080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55483" y="1012816"/>
            <a:ext cx="504190" cy="147320"/>
            <a:chOff x="1355483" y="1012816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200093" y="1012816"/>
            <a:ext cx="504190" cy="147320"/>
            <a:chOff x="4200093" y="101281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24746"/>
            <a:ext cx="49923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Notebook, to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  <a:p>
            <a:pPr marL="239395" indent="-147320" algn="just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  <a:p>
            <a:pPr marL="234950" marR="5080" indent="-143510" algn="just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prompted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kernel.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fail,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fine,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demonstration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9209" y="1388954"/>
            <a:ext cx="2261587" cy="119948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912772" y="2722408"/>
            <a:ext cx="19348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23:</a:t>
            </a:r>
            <a:r>
              <a:rPr lang="en-US" sz="800" b="1" spc="1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kernel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217160" cy="5080"/>
            </a:xfrm>
            <a:custGeom>
              <a:avLst/>
              <a:gdLst/>
              <a:ahLst/>
              <a:cxnLst/>
              <a:rect l="l" t="t" r="r" b="b"/>
              <a:pathLst>
                <a:path w="5217160" h="5080">
                  <a:moveTo>
                    <a:pt x="0" y="5060"/>
                  </a:moveTo>
                  <a:lnTo>
                    <a:pt x="0" y="0"/>
                  </a:lnTo>
                  <a:lnTo>
                    <a:pt x="5216639" y="0"/>
                  </a:lnTo>
                  <a:lnTo>
                    <a:pt x="52166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30" dirty="0"/>
              <a:t>python</a:t>
            </a:r>
            <a:r>
              <a:rPr lang="en-US" spc="15" dirty="0"/>
              <a:t> </a:t>
            </a:r>
            <a:r>
              <a:rPr lang="en-US" spc="-25" dirty="0"/>
              <a:t>code</a:t>
            </a:r>
            <a:r>
              <a:rPr lang="en-US" spc="10" dirty="0"/>
              <a:t> </a:t>
            </a:r>
            <a:r>
              <a:rPr lang="en-US" dirty="0"/>
              <a:t>in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735520"/>
            <a:ext cx="2494915" cy="1490980"/>
            <a:chOff x="252657" y="735520"/>
            <a:chExt cx="2494915" cy="1490980"/>
          </a:xfrm>
        </p:grpSpPr>
        <p:sp>
          <p:nvSpPr>
            <p:cNvPr id="4" name="object 4"/>
            <p:cNvSpPr/>
            <p:nvPr/>
          </p:nvSpPr>
          <p:spPr>
            <a:xfrm>
              <a:off x="258004" y="740868"/>
              <a:ext cx="2484120" cy="1480185"/>
            </a:xfrm>
            <a:custGeom>
              <a:avLst/>
              <a:gdLst/>
              <a:ahLst/>
              <a:cxnLst/>
              <a:rect l="l" t="t" r="r" b="b"/>
              <a:pathLst>
                <a:path w="2484120" h="1480185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2448032" y="1479926"/>
                  </a:lnTo>
                  <a:lnTo>
                    <a:pt x="2462045" y="1477097"/>
                  </a:lnTo>
                  <a:lnTo>
                    <a:pt x="2473488" y="1469381"/>
                  </a:lnTo>
                  <a:lnTo>
                    <a:pt x="2481203" y="1457938"/>
                  </a:lnTo>
                  <a:lnTo>
                    <a:pt x="2484032" y="144392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741847"/>
              <a:ext cx="2482215" cy="1478280"/>
            </a:xfrm>
            <a:custGeom>
              <a:avLst/>
              <a:gdLst/>
              <a:ahLst/>
              <a:cxnLst/>
              <a:rect l="l" t="t" r="r" b="b"/>
              <a:pathLst>
                <a:path w="2482215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442946"/>
                  </a:lnTo>
                  <a:lnTo>
                    <a:pt x="2479321" y="1456578"/>
                  </a:lnTo>
                  <a:lnTo>
                    <a:pt x="2471816" y="1467710"/>
                  </a:lnTo>
                  <a:lnTo>
                    <a:pt x="2460684" y="1475215"/>
                  </a:lnTo>
                  <a:lnTo>
                    <a:pt x="2447052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371520"/>
            <a:ext cx="3636010" cy="17519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4"/>
              </a:spcBef>
            </a:pPr>
            <a:endParaRPr lang="en-US" sz="9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matplotlib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numpy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matplotlib.pyplot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2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plt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numpy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np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085339">
              <a:lnSpc>
                <a:spcPct val="107400"/>
              </a:lnSpc>
            </a:pPr>
            <a:r>
              <a:rPr lang="en-US" sz="800" dirty="0">
                <a:latin typeface="Courier New"/>
                <a:cs typeface="Courier New"/>
              </a:rPr>
              <a:t>x</a:t>
            </a:r>
            <a:r>
              <a:rPr lang="en-US" sz="800" spc="-10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8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np.linspace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0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A070"/>
                </a:solidFill>
                <a:latin typeface="Courier New"/>
                <a:cs typeface="Courier New"/>
              </a:rPr>
              <a:t>10</a:t>
            </a:r>
            <a:r>
              <a:rPr lang="en-US" sz="800" spc="-50" dirty="0">
                <a:latin typeface="Courier New"/>
                <a:cs typeface="Courier New"/>
              </a:rPr>
              <a:t>,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100</a:t>
            </a:r>
            <a:r>
              <a:rPr lang="en-US" sz="800" spc="-55" dirty="0">
                <a:latin typeface="Courier New"/>
                <a:cs typeface="Courier New"/>
              </a:rPr>
              <a:t>) </a:t>
            </a:r>
            <a:r>
              <a:rPr lang="en-US" sz="800" dirty="0">
                <a:latin typeface="Courier New"/>
                <a:cs typeface="Courier New"/>
              </a:rPr>
              <a:t>y</a:t>
            </a:r>
            <a:r>
              <a:rPr lang="en-US" sz="800" spc="-114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np.sin</a:t>
            </a:r>
            <a:r>
              <a:rPr lang="en-US" sz="800" spc="-10" dirty="0">
                <a:latin typeface="Courier New"/>
                <a:cs typeface="Courier New"/>
              </a:rPr>
              <a:t>(x)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784475">
              <a:lnSpc>
                <a:spcPct val="1074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plt.plot</a:t>
            </a:r>
            <a:r>
              <a:rPr lang="en-US" sz="800" spc="-55" dirty="0">
                <a:latin typeface="Courier New"/>
                <a:cs typeface="Courier New"/>
              </a:rPr>
              <a:t>(x,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70" dirty="0">
                <a:latin typeface="Courier New"/>
                <a:cs typeface="Courier New"/>
              </a:rPr>
              <a:t>y) </a:t>
            </a:r>
            <a:r>
              <a:rPr lang="en-US" sz="800" spc="-10" dirty="0" err="1">
                <a:latin typeface="Courier New"/>
                <a:cs typeface="Courier New"/>
              </a:rPr>
              <a:t>plt.show</a:t>
            </a:r>
            <a:r>
              <a:rPr lang="en-US" sz="800" spc="-10" dirty="0">
                <a:latin typeface="Courier New"/>
                <a:cs typeface="Courier New"/>
              </a:rPr>
              <a:t>()</a:t>
            </a:r>
            <a:endParaRPr lang="en-US" sz="800" dirty="0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0778" y="657405"/>
            <a:ext cx="1958437" cy="239915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325745" cy="5080"/>
            </a:xfrm>
            <a:custGeom>
              <a:avLst/>
              <a:gdLst/>
              <a:ahLst/>
              <a:cxnLst/>
              <a:rect l="l" t="t" r="r" b="b"/>
              <a:pathLst>
                <a:path w="5325745" h="5080">
                  <a:moveTo>
                    <a:pt x="0" y="5060"/>
                  </a:moveTo>
                  <a:lnTo>
                    <a:pt x="0" y="0"/>
                  </a:lnTo>
                  <a:lnTo>
                    <a:pt x="5325361" y="0"/>
                  </a:lnTo>
                  <a:lnTo>
                    <a:pt x="53253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763160"/>
            <a:ext cx="2536825" cy="466090"/>
            <a:chOff x="587743" y="763160"/>
            <a:chExt cx="2536825" cy="466090"/>
          </a:xfrm>
        </p:grpSpPr>
        <p:sp>
          <p:nvSpPr>
            <p:cNvPr id="4" name="object 4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4826" y="1081815"/>
            <a:ext cx="862330" cy="147320"/>
            <a:chOff x="3364826" y="1081815"/>
            <a:chExt cx="862330" cy="147320"/>
          </a:xfrm>
        </p:grpSpPr>
        <p:sp>
          <p:nvSpPr>
            <p:cNvPr id="11" name="object 11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587743" y="1401724"/>
            <a:ext cx="1161415" cy="146050"/>
            <a:chOff x="587743" y="1401724"/>
            <a:chExt cx="1161415" cy="146050"/>
          </a:xfrm>
        </p:grpSpPr>
        <p:sp>
          <p:nvSpPr>
            <p:cNvPr id="14" name="object 14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587743" y="1720377"/>
            <a:ext cx="1520190" cy="305435"/>
            <a:chOff x="587743" y="1720377"/>
            <a:chExt cx="1520190" cy="305435"/>
          </a:xfrm>
        </p:grpSpPr>
        <p:sp>
          <p:nvSpPr>
            <p:cNvPr id="17" name="object 17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587743" y="2197104"/>
            <a:ext cx="2476500" cy="147320"/>
            <a:chOff x="587743" y="2197104"/>
            <a:chExt cx="2476500" cy="147320"/>
          </a:xfrm>
        </p:grpSpPr>
        <p:sp>
          <p:nvSpPr>
            <p:cNvPr id="22" name="object 22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587743" y="2517007"/>
            <a:ext cx="623570" cy="121285"/>
            <a:chOff x="587743" y="2517007"/>
            <a:chExt cx="623570" cy="121285"/>
          </a:xfrm>
        </p:grpSpPr>
        <p:sp>
          <p:nvSpPr>
            <p:cNvPr id="25" name="object 25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427126" y="710035"/>
            <a:ext cx="4786630" cy="19373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uv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venv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--seed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--python</a:t>
            </a:r>
            <a:r>
              <a:rPr lang="en-US" sz="900" spc="-70" dirty="0">
                <a:latin typeface="Courier New"/>
                <a:cs typeface="Courier New"/>
              </a:rPr>
              <a:t> 3.8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endParaRPr lang="en-US" sz="900" dirty="0">
              <a:latin typeface="Arial"/>
              <a:cs typeface="Arial"/>
            </a:endParaRPr>
          </a:p>
          <a:p>
            <a:pPr marL="172720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marR="209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5" dirty="0">
                <a:latin typeface="Courier New"/>
                <a:cs typeface="Courier New"/>
              </a:rPr>
              <a:t>source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60" dirty="0">
                <a:latin typeface="Courier New"/>
                <a:cs typeface="Courier New"/>
              </a:rPr>
              <a:t>venv/bin/activate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.project1-venv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(You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environment).</a:t>
            </a:r>
            <a:endParaRPr lang="en-US" sz="900" dirty="0">
              <a:latin typeface="Arial"/>
              <a:cs typeface="Arial"/>
            </a:endParaRPr>
          </a:p>
          <a:p>
            <a:pPr marL="160020" marR="96520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40" dirty="0" err="1">
                <a:latin typeface="Courier New"/>
                <a:cs typeface="Courier New"/>
              </a:rPr>
              <a:t>jupyter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first).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35" dirty="0">
                <a:latin typeface="Courier New"/>
                <a:cs typeface="Courier New"/>
              </a:rPr>
              <a:t>pandas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57480" marR="92710" indent="-145415">
              <a:lnSpc>
                <a:spcPct val="116199"/>
              </a:lnSpc>
              <a:buFont typeface="Arial"/>
              <a:buChar char="•"/>
              <a:tabLst>
                <a:tab pos="15748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75" dirty="0" err="1">
                <a:latin typeface="Courier New"/>
                <a:cs typeface="Courier New"/>
              </a:rPr>
              <a:t>numpy</a:t>
            </a:r>
            <a:r>
              <a:rPr lang="en-US" sz="900" spc="-75" dirty="0">
                <a:latin typeface="Courier New"/>
                <a:cs typeface="Courier New"/>
              </a:rPr>
              <a:t>==1.21.0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package.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case,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Numpy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1.21.0).</a:t>
            </a:r>
            <a:endParaRPr lang="en-US" sz="900" dirty="0">
              <a:latin typeface="Arial"/>
              <a:cs typeface="Arial"/>
            </a:endParaRPr>
          </a:p>
          <a:p>
            <a:pPr marL="160020" marR="590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 err="1">
                <a:latin typeface="Courier New"/>
                <a:cs typeface="Courier New"/>
              </a:rPr>
              <a:t>jupyter</a:t>
            </a:r>
            <a:r>
              <a:rPr lang="en-US" sz="900" spc="-70" dirty="0">
                <a:latin typeface="Courier New"/>
                <a:cs typeface="Courier New"/>
              </a:rPr>
              <a:t> notebook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0" dirty="0">
                <a:latin typeface="Courier New"/>
                <a:cs typeface="Courier New"/>
              </a:rPr>
              <a:t>port=8888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5" dirty="0" err="1">
                <a:latin typeface="Courier New"/>
                <a:cs typeface="Courier New"/>
              </a:rPr>
              <a:t>ip</a:t>
            </a:r>
            <a:r>
              <a:rPr lang="en-US" sz="900" spc="-75" dirty="0">
                <a:latin typeface="Courier New"/>
                <a:cs typeface="Courier New"/>
              </a:rPr>
              <a:t>=0.0.0.0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listen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50" dirty="0">
                <a:latin typeface="Courier New"/>
                <a:cs typeface="Courier New"/>
              </a:rPr>
              <a:t>deactivate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Deactivate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current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5434330" cy="5080"/>
            </a:xfrm>
            <a:custGeom>
              <a:avLst/>
              <a:gdLst/>
              <a:ahLst/>
              <a:cxnLst/>
              <a:rect l="l" t="t" r="r" b="b"/>
              <a:pathLst>
                <a:path w="5434330" h="5080">
                  <a:moveTo>
                    <a:pt x="0" y="5060"/>
                  </a:moveTo>
                  <a:lnTo>
                    <a:pt x="0" y="0"/>
                  </a:lnTo>
                  <a:lnTo>
                    <a:pt x="5433995" y="0"/>
                  </a:lnTo>
                  <a:lnTo>
                    <a:pt x="54339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10497" y="1387822"/>
            <a:ext cx="504190" cy="147320"/>
            <a:chOff x="2810497" y="1387822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994827" y="1547156"/>
            <a:ext cx="504190" cy="147320"/>
            <a:chOff x="1994827" y="154715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87743" y="1387822"/>
            <a:ext cx="1460500" cy="625475"/>
            <a:chOff x="587743" y="1387822"/>
            <a:chExt cx="1460500" cy="625475"/>
          </a:xfrm>
        </p:grpSpPr>
        <p:sp>
          <p:nvSpPr>
            <p:cNvPr id="10" name="object 10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3922471" y="1857613"/>
            <a:ext cx="1221105" cy="155575"/>
            <a:chOff x="3922471" y="1857613"/>
            <a:chExt cx="1221105" cy="155575"/>
          </a:xfrm>
        </p:grpSpPr>
        <p:sp>
          <p:nvSpPr>
            <p:cNvPr id="19" name="object 19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27126" y="1334722"/>
            <a:ext cx="4761865" cy="66294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65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13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dirty="0">
                <a:latin typeface="Courier New"/>
                <a:cs typeface="Courier New"/>
              </a:rPr>
              <a:t>..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parent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cat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50" dirty="0" err="1">
                <a:latin typeface="Courier New"/>
                <a:cs typeface="Courier New"/>
              </a:rPr>
              <a:t>keypair.pub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Show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40" dirty="0" err="1">
                <a:latin typeface="Courier New"/>
                <a:cs typeface="Courier New"/>
              </a:rPr>
              <a:t>keypair.pub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3" name="object 2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3234963"/>
              <a:ext cx="5542915" cy="5080"/>
            </a:xfrm>
            <a:custGeom>
              <a:avLst/>
              <a:gdLst/>
              <a:ahLst/>
              <a:cxnLst/>
              <a:rect l="l" t="t" r="r" b="b"/>
              <a:pathLst>
                <a:path w="5542915" h="5080">
                  <a:moveTo>
                    <a:pt x="0" y="5060"/>
                  </a:moveTo>
                  <a:lnTo>
                    <a:pt x="0" y="0"/>
                  </a:lnTo>
                  <a:lnTo>
                    <a:pt x="5542717" y="0"/>
                  </a:lnTo>
                  <a:lnTo>
                    <a:pt x="55427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411095" cy="5080"/>
            </a:xfrm>
            <a:custGeom>
              <a:avLst/>
              <a:gdLst/>
              <a:ahLst/>
              <a:cxnLst/>
              <a:rect l="l" t="t" r="r" b="b"/>
              <a:pathLst>
                <a:path w="2411095" h="5080">
                  <a:moveTo>
                    <a:pt x="0" y="5060"/>
                  </a:moveTo>
                  <a:lnTo>
                    <a:pt x="0" y="0"/>
                  </a:lnTo>
                  <a:lnTo>
                    <a:pt x="2410702" y="0"/>
                  </a:lnTo>
                  <a:lnTo>
                    <a:pt x="24107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278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RECAP: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Summary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70" dirty="0">
                <a:solidFill>
                  <a:srgbClr val="F9F9F9"/>
                </a:solidFill>
                <a:latin typeface="Arial"/>
                <a:cs typeface="Arial"/>
              </a:rPr>
              <a:t>session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44335" y="1291572"/>
            <a:ext cx="31718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1.</a:t>
            </a:r>
            <a:r>
              <a:rPr lang="en-US" sz="900" b="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b="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dirty="0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35" dirty="0"/>
              <a:t>Summary</a:t>
            </a:r>
            <a:r>
              <a:rPr lang="en-US" spc="20" dirty="0"/>
              <a:t> </a:t>
            </a:r>
            <a:r>
              <a:rPr lang="en-US" dirty="0"/>
              <a:t>of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70" dirty="0"/>
              <a:t>session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335" y="1291572"/>
            <a:ext cx="5039360" cy="560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940" indent="-14224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15494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5240" marR="5080" indent="14224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25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35" dirty="0"/>
              <a:t>Summary</a:t>
            </a:r>
            <a:r>
              <a:rPr lang="en-US" spc="20" dirty="0"/>
              <a:t> </a:t>
            </a:r>
            <a:r>
              <a:rPr lang="en-US" dirty="0"/>
              <a:t>of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70" dirty="0"/>
              <a:t>session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335" y="1291572"/>
            <a:ext cx="5039360" cy="799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940" indent="-14224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15494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5240" marR="5080" indent="14224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25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7480" indent="-14224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about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groups,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Why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dirty="0">
                <a:solidFill>
                  <a:srgbClr val="F9F9F9"/>
                </a:solidFill>
                <a:latin typeface="Arial"/>
                <a:cs typeface="Arial"/>
              </a:rPr>
              <a:t>use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dirty="0" err="1">
                <a:solidFill>
                  <a:srgbClr val="F9F9F9"/>
                </a:solidFill>
                <a:latin typeface="Arial"/>
                <a:cs typeface="Arial"/>
              </a:rPr>
              <a:t>Jupyter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Cloud?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4799330" cy="560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10" dirty="0"/>
              <a:t> </a:t>
            </a:r>
            <a:r>
              <a:rPr lang="en-US" spc="-45" dirty="0"/>
              <a:t>use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5008245" cy="9588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dirty="0">
              <a:latin typeface="Arial"/>
              <a:cs typeface="Arial"/>
            </a:endParaRPr>
          </a:p>
          <a:p>
            <a:pPr marL="240029" marR="213995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30"/>
              </a:spcBef>
              <a:buChar char="•"/>
              <a:tabLst>
                <a:tab pos="240029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Requirements: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GPUs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memory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machines,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which can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rented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via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10" dirty="0"/>
              <a:t> </a:t>
            </a:r>
            <a:r>
              <a:rPr lang="en-US" spc="-45" dirty="0"/>
              <a:t>use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5008245" cy="13569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dirty="0">
              <a:latin typeface="Arial"/>
              <a:cs typeface="Arial"/>
            </a:endParaRPr>
          </a:p>
          <a:p>
            <a:pPr marL="240029" marR="213995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30"/>
              </a:spcBef>
              <a:buChar char="•"/>
              <a:tabLst>
                <a:tab pos="240029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Requirements: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GPUs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memory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machines,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which can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rented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via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240029" marR="124460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Collaboration: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</TotalTime>
  <Words>3816</Words>
  <Application>Microsoft Macintosh PowerPoint</Application>
  <PresentationFormat>Custom</PresentationFormat>
  <Paragraphs>405</Paragraphs>
  <Slides>81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5" baseType="lpstr">
      <vt:lpstr>Aptos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Website deployment</vt:lpstr>
      <vt:lpstr>Cloud services everywhere</vt:lpstr>
      <vt:lpstr>Cloud services everywhere</vt:lpstr>
      <vt:lpstr>Amazon Web Services</vt:lpstr>
      <vt:lpstr>Amazon Web Services: EC2</vt:lpstr>
      <vt:lpstr>PowerPoint Presentation</vt:lpstr>
      <vt:lpstr>A remote terminal through SSH</vt:lpstr>
      <vt:lpstr>A remote terminal through SSH</vt:lpstr>
      <vt:lpstr>A remote terminal through SSH</vt:lpstr>
      <vt:lpstr>A remote terminal through SSH</vt:lpstr>
      <vt:lpstr>How does SSH work?</vt:lpstr>
      <vt:lpstr>How does SSH work?</vt:lpstr>
      <vt:lpstr>How does SSH work?</vt:lpstr>
      <vt:lpstr>What do you mean by client and server?</vt:lpstr>
      <vt:lpstr>What do you mean by client and server?</vt:lpstr>
      <vt:lpstr>PowerPoint Presentation</vt:lpstr>
      <vt:lpstr>PowerPoint Presentation</vt:lpstr>
      <vt:lpstr>PowerPoint Presentation</vt:lpstr>
      <vt:lpstr>PowerPoint Presentation</vt:lpstr>
      <vt:lpstr>Ports</vt:lpstr>
      <vt:lpstr>Ports</vt:lpstr>
      <vt:lpstr>Security groups</vt:lpstr>
      <vt:lpstr>Security groups</vt:lpstr>
      <vt:lpstr>Security groups</vt:lpstr>
      <vt:lpstr>PowerPoint Presentation</vt:lpstr>
      <vt:lpstr>PowerPoint Presentation</vt:lpstr>
      <vt:lpstr>PowerPoint Presentation</vt:lpstr>
      <vt:lpstr>PowerPoint Presentation</vt:lpstr>
      <vt:lpstr>Goals for today</vt:lpstr>
      <vt:lpstr>Goals for today</vt:lpstr>
      <vt:lpstr>PowerPoint Presentation</vt:lpstr>
      <vt:lpstr>PowerPoint Presentation</vt:lpstr>
      <vt:lpstr>PowerPoint Presentation</vt:lpstr>
      <vt:lpstr>Logging in from now on</vt:lpstr>
      <vt:lpstr>Logging in from now on</vt:lpstr>
      <vt:lpstr>Available courses</vt:lpstr>
      <vt:lpstr>Available courses: AWS Cloud Foundation Course</vt:lpstr>
      <vt:lpstr>Available courses: AWS Learner Lab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an SSH Key Pair</vt:lpstr>
      <vt:lpstr>Creating an SSH Key Pair</vt:lpstr>
      <vt:lpstr>Importing our generated key pair</vt:lpstr>
      <vt:lpstr>Creating an EC2 instance</vt:lpstr>
      <vt:lpstr>Security Group</vt:lpstr>
      <vt:lpstr>PowerPoint Presentation</vt:lpstr>
      <vt:lpstr>Connecting to the instance</vt:lpstr>
      <vt:lpstr>Managing Python environments with uv</vt:lpstr>
      <vt:lpstr>PowerPoint Presentation</vt:lpstr>
      <vt:lpstr>Why use uv?</vt:lpstr>
      <vt:lpstr>Why use uv?</vt:lpstr>
      <vt:lpstr>Installing uv</vt:lpstr>
      <vt:lpstr>Creating two example uv Projects</vt:lpstr>
      <vt:lpstr>Creating two example uv Projects</vt:lpstr>
      <vt:lpstr>Working with the environments</vt:lpstr>
      <vt:lpstr>Working with the environments</vt:lpstr>
      <vt:lpstr>Running Jupyter Notebook (I)</vt:lpstr>
      <vt:lpstr>Running Jupyter Notebook (I)</vt:lpstr>
      <vt:lpstr>Opening the port 8888</vt:lpstr>
      <vt:lpstr>Running Jupyter Notebook (II)</vt:lpstr>
      <vt:lpstr>Accessing the Jupyter Notebook</vt:lpstr>
      <vt:lpstr>Accessing the Jupyter Notebook</vt:lpstr>
      <vt:lpstr>Running python code in the notebook</vt:lpstr>
      <vt:lpstr>Commands to remember</vt:lpstr>
      <vt:lpstr>Commands to remember</vt:lpstr>
      <vt:lpstr>PowerPoint Presentation</vt:lpstr>
      <vt:lpstr>1. We have learned the about services in AWS, specifically EC2.</vt:lpstr>
      <vt:lpstr>RECAP: Summary of the session</vt:lpstr>
      <vt:lpstr>RECAP: Summary of the session</vt:lpstr>
      <vt:lpstr>PowerPoint Presentation</vt:lpstr>
      <vt:lpstr>Why use Jupyter on the Cloud?</vt:lpstr>
      <vt:lpstr>Why use Jupyter on the Cloud?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Hands-On AWS Setup</dc:title>
  <dc:creator>Ferran Aran Domingo ` `%%%`#`&amp;12_`__~~~ౡ氀猀攀</dc:creator>
  <cp:keywords>Cloud Computing, AWS, EC2, Jupyter, Security Groups</cp:keywords>
  <cp:lastModifiedBy>Francesc Xavier Solsona Tehas</cp:lastModifiedBy>
  <cp:revision>2</cp:revision>
  <dcterms:created xsi:type="dcterms:W3CDTF">2025-05-19T16:09:11Z</dcterms:created>
  <dcterms:modified xsi:type="dcterms:W3CDTF">2026-03-16T11:01:13Z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2025-02-26T00:00:00Z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2025-02-26T00:00:00Z</vt:filetime>
  </property>
</Properties>
</file>