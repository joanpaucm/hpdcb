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6"/>
  </p:notesMasterIdLst>
  <p:sldIdLst>
    <p:sldId id="256" r:id="rId2"/>
    <p:sldId id="262" r:id="rId3"/>
    <p:sldId id="263" r:id="rId4"/>
    <p:sldId id="264" r:id="rId5"/>
    <p:sldId id="268" r:id="rId6"/>
    <p:sldId id="271" r:id="rId7"/>
    <p:sldId id="273" r:id="rId8"/>
    <p:sldId id="276" r:id="rId9"/>
    <p:sldId id="279" r:id="rId10"/>
    <p:sldId id="282" r:id="rId11"/>
    <p:sldId id="283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1" r:id="rId35"/>
    <p:sldId id="310" r:id="rId36"/>
    <p:sldId id="312" r:id="rId37"/>
    <p:sldId id="315" r:id="rId38"/>
    <p:sldId id="316" r:id="rId39"/>
    <p:sldId id="317" r:id="rId40"/>
    <p:sldId id="318" r:id="rId41"/>
    <p:sldId id="319" r:id="rId42"/>
    <p:sldId id="320" r:id="rId43"/>
    <p:sldId id="321" r:id="rId44"/>
    <p:sldId id="322" r:id="rId45"/>
    <p:sldId id="323" r:id="rId46"/>
    <p:sldId id="324" r:id="rId47"/>
    <p:sldId id="325" r:id="rId48"/>
    <p:sldId id="326" r:id="rId49"/>
    <p:sldId id="327" r:id="rId50"/>
    <p:sldId id="328" r:id="rId51"/>
    <p:sldId id="329" r:id="rId52"/>
    <p:sldId id="330" r:id="rId53"/>
    <p:sldId id="333" r:id="rId54"/>
    <p:sldId id="336" r:id="rId55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3"/>
    <p:restoredTop sz="94585"/>
  </p:normalViewPr>
  <p:slideViewPr>
    <p:cSldViewPr>
      <p:cViewPr varScale="1">
        <p:scale>
          <a:sx n="202" d="100"/>
          <a:sy n="202" d="100"/>
        </p:scale>
        <p:origin x="66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18/4/26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941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5934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5546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892851"/>
            <a:ext cx="42120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90CA936B-5C45-2987-25C0-8E389B91997C}"/>
              </a:ext>
            </a:extLst>
          </p:cNvPr>
          <p:cNvSpPr txBox="1"/>
          <p:nvPr/>
        </p:nvSpPr>
        <p:spPr>
          <a:xfrm>
            <a:off x="347293" y="1226764"/>
            <a:ext cx="2459407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Session 3 - Introduction to AWS + EC2</a:t>
            </a:r>
            <a:endParaRPr lang="en-US" sz="10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Amazon</a:t>
            </a:r>
            <a:r>
              <a:rPr lang="en-US" spc="15" noProof="1"/>
              <a:t> </a:t>
            </a:r>
            <a:r>
              <a:rPr lang="en-US" noProof="1"/>
              <a:t>Web</a:t>
            </a:r>
            <a:r>
              <a:rPr lang="en-US" spc="20" noProof="1"/>
              <a:t> </a:t>
            </a:r>
            <a:r>
              <a:rPr lang="en-US" spc="-50" noProof="1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35100" y="613747"/>
            <a:ext cx="2494525" cy="23196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999105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Amazon</a:t>
            </a:r>
            <a:r>
              <a:rPr lang="en-US" spc="20" noProof="1"/>
              <a:t> </a:t>
            </a:r>
            <a:r>
              <a:rPr lang="en-US" noProof="1"/>
              <a:t>Web</a:t>
            </a:r>
            <a:r>
              <a:rPr lang="en-US" spc="20" noProof="1"/>
              <a:t> </a:t>
            </a:r>
            <a:r>
              <a:rPr lang="en-US" spc="-45" noProof="1"/>
              <a:t>Services:</a:t>
            </a:r>
            <a:r>
              <a:rPr lang="en-US" spc="120" noProof="1"/>
              <a:t> </a:t>
            </a:r>
            <a:r>
              <a:rPr lang="en-US" spc="-25" noProof="1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remote</a:t>
            </a:r>
            <a:r>
              <a:rPr lang="en-US" spc="25" noProof="1"/>
              <a:t> </a:t>
            </a:r>
            <a:r>
              <a:rPr lang="en-US" spc="-10" noProof="1"/>
              <a:t>terminal</a:t>
            </a:r>
            <a:r>
              <a:rPr lang="en-US" spc="25" noProof="1"/>
              <a:t> </a:t>
            </a:r>
            <a:r>
              <a:rPr lang="en-US" spc="-25" noProof="1"/>
              <a:t>through</a:t>
            </a:r>
            <a:r>
              <a:rPr lang="en-US" spc="25" noProof="1"/>
              <a:t> </a:t>
            </a:r>
            <a:r>
              <a:rPr lang="en-US" spc="-25" noProof="1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noProof="1">
                <a:latin typeface="Arial"/>
                <a:cs typeface="Arial"/>
              </a:rPr>
              <a:t>What</a:t>
            </a:r>
            <a:r>
              <a:rPr lang="en-US" b="1" spc="5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5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5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b="1" spc="-10" noProof="1">
                <a:latin typeface="Arial"/>
                <a:cs typeface="Arial"/>
              </a:rPr>
              <a:t>terminal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0" noProof="1"/>
              <a:t> </a:t>
            </a:r>
            <a:r>
              <a:rPr lang="en-US" spc="-10" noProof="1"/>
              <a:t>interface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25" noProof="1"/>
              <a:t>allows</a:t>
            </a:r>
            <a:r>
              <a:rPr lang="en-US" spc="25" noProof="1"/>
              <a:t> </a:t>
            </a:r>
            <a:r>
              <a:rPr lang="en-US" spc="-50" noProof="1"/>
              <a:t>users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interact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20" noProof="1"/>
              <a:t>using</a:t>
            </a:r>
            <a:r>
              <a:rPr lang="en-US" spc="25" noProof="1"/>
              <a:t> </a:t>
            </a:r>
            <a:r>
              <a:rPr lang="en-US" noProof="1"/>
              <a:t>text</a:t>
            </a:r>
            <a:r>
              <a:rPr lang="en-US" spc="25" noProof="1"/>
              <a:t> </a:t>
            </a:r>
            <a:r>
              <a:rPr lang="en-US" spc="-30" noProof="1"/>
              <a:t>commands.</a:t>
            </a:r>
            <a:r>
              <a:rPr lang="en-US" spc="110" noProof="1"/>
              <a:t> </a:t>
            </a:r>
            <a:r>
              <a:rPr lang="en-US" spc="-10" noProof="1"/>
              <a:t>Unlike </a:t>
            </a:r>
            <a:r>
              <a:rPr lang="en-US" spc="-20" noProof="1"/>
              <a:t>graphical</a:t>
            </a:r>
            <a:r>
              <a:rPr lang="en-US" spc="10" noProof="1"/>
              <a:t> </a:t>
            </a:r>
            <a:r>
              <a:rPr lang="en-US" spc="-35" noProof="1"/>
              <a:t>user</a:t>
            </a:r>
            <a:r>
              <a:rPr lang="en-US" spc="10" noProof="1"/>
              <a:t> </a:t>
            </a:r>
            <a:r>
              <a:rPr lang="en-US" spc="-25" noProof="1"/>
              <a:t>interfaces</a:t>
            </a:r>
            <a:r>
              <a:rPr lang="en-US" spc="15" noProof="1"/>
              <a:t> </a:t>
            </a:r>
            <a:r>
              <a:rPr lang="en-US" noProof="1"/>
              <a:t>(GUIs),</a:t>
            </a:r>
            <a:r>
              <a:rPr lang="en-US" spc="10" noProof="1"/>
              <a:t> </a:t>
            </a:r>
            <a:r>
              <a:rPr lang="en-US" spc="-10" noProof="1"/>
              <a:t>terminals</a:t>
            </a:r>
            <a:r>
              <a:rPr lang="en-US" spc="15" noProof="1"/>
              <a:t> </a:t>
            </a:r>
            <a:r>
              <a:rPr lang="en-US" spc="-10" noProof="1"/>
              <a:t>allow</a:t>
            </a:r>
            <a:r>
              <a:rPr lang="en-US" spc="10" noProof="1"/>
              <a:t> </a:t>
            </a:r>
            <a:r>
              <a:rPr lang="en-US" noProof="1"/>
              <a:t>direct</a:t>
            </a:r>
            <a:r>
              <a:rPr lang="en-US" spc="15" noProof="1"/>
              <a:t> </a:t>
            </a:r>
            <a:r>
              <a:rPr lang="en-US" spc="-20" noProof="1"/>
              <a:t>communication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operating</a:t>
            </a:r>
            <a:r>
              <a:rPr lang="en-US" spc="15" noProof="1"/>
              <a:t> </a:t>
            </a:r>
            <a:r>
              <a:rPr lang="en-US" spc="-10" noProof="1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noProof="1">
                <a:latin typeface="Arial"/>
                <a:cs typeface="Arial"/>
              </a:rPr>
              <a:t>What</a:t>
            </a:r>
            <a:r>
              <a:rPr lang="en-US" b="1" spc="5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5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noProof="1">
                <a:latin typeface="Arial"/>
                <a:cs typeface="Arial"/>
              </a:rPr>
              <a:t>SSH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(Secure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Shell)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protocol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25" noProof="1"/>
              <a:t>allows</a:t>
            </a:r>
            <a:r>
              <a:rPr lang="en-US" spc="15" noProof="1"/>
              <a:t> </a:t>
            </a:r>
            <a:r>
              <a:rPr lang="en-US" spc="-50" noProof="1"/>
              <a:t>secure</a:t>
            </a:r>
            <a:r>
              <a:rPr lang="en-US" spc="15" noProof="1"/>
              <a:t> </a:t>
            </a:r>
            <a:r>
              <a:rPr lang="en-US" spc="-20" noProof="1"/>
              <a:t>remote</a:t>
            </a:r>
            <a:r>
              <a:rPr lang="en-US" spc="20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5" noProof="1"/>
              <a:t> </a:t>
            </a:r>
            <a:r>
              <a:rPr lang="en-US" spc="-10" noProof="1"/>
              <a:t>over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internet.</a:t>
            </a:r>
            <a:r>
              <a:rPr lang="en-US" spc="105" noProof="1"/>
              <a:t> </a:t>
            </a:r>
            <a:r>
              <a:rPr lang="en-US" spc="-25" noProof="1"/>
              <a:t>It </a:t>
            </a: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50" noProof="1"/>
              <a:t>users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35" noProof="1"/>
              <a:t>execute</a:t>
            </a:r>
            <a:r>
              <a:rPr lang="en-US" spc="15" noProof="1"/>
              <a:t> </a:t>
            </a:r>
            <a:r>
              <a:rPr lang="en-US" spc="-40" noProof="1"/>
              <a:t>commands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5" noProof="1"/>
              <a:t> </a:t>
            </a:r>
            <a:r>
              <a:rPr lang="en-US" spc="-20" noProof="1"/>
              <a:t>remote</a:t>
            </a:r>
            <a:r>
              <a:rPr lang="en-US" spc="20" noProof="1"/>
              <a:t> </a:t>
            </a:r>
            <a:r>
              <a:rPr lang="en-US" spc="-45" noProof="1"/>
              <a:t>servers</a:t>
            </a:r>
            <a:r>
              <a:rPr lang="en-US" spc="15" noProof="1"/>
              <a:t> </a:t>
            </a:r>
            <a:r>
              <a:rPr lang="en-US" spc="-45" noProof="1"/>
              <a:t>as</a:t>
            </a:r>
            <a:r>
              <a:rPr lang="en-US" spc="15" noProof="1"/>
              <a:t> </a:t>
            </a:r>
            <a:r>
              <a:rPr lang="en-US" noProof="1"/>
              <a:t>if</a:t>
            </a:r>
            <a:r>
              <a:rPr lang="en-US" spc="15" noProof="1"/>
              <a:t> </a:t>
            </a:r>
            <a:r>
              <a:rPr lang="en-US" noProof="1"/>
              <a:t>they</a:t>
            </a:r>
            <a:r>
              <a:rPr lang="en-US" spc="15" noProof="1"/>
              <a:t> </a:t>
            </a:r>
            <a:r>
              <a:rPr lang="en-US" spc="-45" noProof="1"/>
              <a:t>were</a:t>
            </a:r>
            <a:r>
              <a:rPr lang="en-US" spc="15" noProof="1"/>
              <a:t> </a:t>
            </a:r>
            <a:r>
              <a:rPr lang="en-US" spc="-20" noProof="1"/>
              <a:t>physically</a:t>
            </a:r>
            <a:r>
              <a:rPr lang="en-US" spc="20" noProof="1"/>
              <a:t> </a:t>
            </a:r>
            <a:r>
              <a:rPr lang="en-US" spc="-10" noProof="1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noProof="1"/>
              <a:t>When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connect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</a:t>
            </a:r>
            <a:r>
              <a:rPr lang="en-US" spc="-5" noProof="1"/>
              <a:t> </a:t>
            </a:r>
            <a:r>
              <a:rPr lang="en-US" spc="-20" noProof="1"/>
              <a:t>remote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noProof="1"/>
              <a:t>through</a:t>
            </a:r>
            <a:r>
              <a:rPr lang="en-US" spc="-5" noProof="1"/>
              <a:t> </a:t>
            </a:r>
            <a:r>
              <a:rPr lang="en-US" spc="-25" noProof="1"/>
              <a:t>SSH,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30" noProof="1"/>
              <a:t>essentially</a:t>
            </a:r>
            <a:r>
              <a:rPr lang="en-US" spc="-5" noProof="1"/>
              <a:t> </a:t>
            </a:r>
            <a:r>
              <a:rPr lang="en-US" spc="-25" noProof="1"/>
              <a:t>opening</a:t>
            </a:r>
            <a:r>
              <a:rPr lang="en-US" spc="-5" noProof="1"/>
              <a:t> </a:t>
            </a:r>
            <a:r>
              <a:rPr lang="en-US" noProof="1"/>
              <a:t>a</a:t>
            </a:r>
            <a:r>
              <a:rPr lang="en-US" spc="-5" noProof="1"/>
              <a:t> </a:t>
            </a:r>
            <a:r>
              <a:rPr lang="en-US" b="1" spc="-10" noProof="1">
                <a:latin typeface="Arial"/>
                <a:cs typeface="Arial"/>
              </a:rPr>
              <a:t>remote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terminal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5" noProof="1"/>
              <a:t>on </a:t>
            </a:r>
            <a:r>
              <a:rPr lang="en-US" noProof="1"/>
              <a:t>that</a:t>
            </a:r>
            <a:r>
              <a:rPr lang="en-US" spc="120" noProof="1"/>
              <a:t> </a:t>
            </a:r>
            <a:r>
              <a:rPr lang="en-US" spc="-10" noProof="1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10" noProof="1"/>
              <a:t> </a:t>
            </a:r>
            <a:r>
              <a:rPr lang="en-US" spc="-45" noProof="1"/>
              <a:t>does</a:t>
            </a:r>
            <a:r>
              <a:rPr lang="en-US" spc="10" noProof="1"/>
              <a:t> </a:t>
            </a:r>
            <a:r>
              <a:rPr lang="en-US" noProof="1"/>
              <a:t>SSH</a:t>
            </a:r>
            <a:r>
              <a:rPr lang="en-US" spc="15" noProof="1"/>
              <a:t> </a:t>
            </a:r>
            <a:r>
              <a:rPr lang="en-US" spc="-45" noProof="1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30" noProof="1"/>
              <a:t>works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public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and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60" noProof="1">
                <a:latin typeface="Arial"/>
                <a:cs typeface="Arial"/>
              </a:rPr>
              <a:t>keys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25" noProof="1"/>
              <a:t>establish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50" noProof="1"/>
              <a:t>secure</a:t>
            </a:r>
            <a:r>
              <a:rPr lang="en-US" spc="5" noProof="1"/>
              <a:t> </a:t>
            </a:r>
            <a:r>
              <a:rPr lang="en-US" spc="-10" noProof="1"/>
              <a:t>connection.</a:t>
            </a:r>
            <a:r>
              <a:rPr lang="en-US" spc="95" noProof="1"/>
              <a:t> </a:t>
            </a:r>
            <a:r>
              <a:rPr lang="en-US" noProof="1"/>
              <a:t>This</a:t>
            </a:r>
            <a:r>
              <a:rPr lang="en-US" spc="5" noProof="1"/>
              <a:t> </a:t>
            </a:r>
            <a:r>
              <a:rPr lang="en-US" spc="-20" noProof="1"/>
              <a:t>eliminates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50" noProof="1"/>
              <a:t>need</a:t>
            </a:r>
            <a:r>
              <a:rPr lang="en-US" spc="5" noProof="1"/>
              <a:t> </a:t>
            </a:r>
            <a:r>
              <a:rPr lang="en-US" spc="-25" noProof="1"/>
              <a:t>for </a:t>
            </a:r>
            <a:r>
              <a:rPr lang="en-US" spc="-65" noProof="1"/>
              <a:t>password-</a:t>
            </a:r>
            <a:r>
              <a:rPr lang="en-US" spc="-30" noProof="1"/>
              <a:t>based</a:t>
            </a:r>
            <a:r>
              <a:rPr lang="en-US" spc="60" noProof="1"/>
              <a:t> </a:t>
            </a:r>
            <a:r>
              <a:rPr lang="en-US" spc="-10" noProof="1"/>
              <a:t>authentication,</a:t>
            </a:r>
            <a:r>
              <a:rPr lang="en-US" spc="65" noProof="1"/>
              <a:t> </a:t>
            </a:r>
            <a:r>
              <a:rPr lang="en-US" spc="-35" noProof="1"/>
              <a:t>enhancing</a:t>
            </a:r>
            <a:r>
              <a:rPr lang="en-US" spc="65" noProof="1"/>
              <a:t> </a:t>
            </a:r>
            <a:r>
              <a:rPr lang="en-US" spc="-10" noProof="1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noProof="1">
                <a:latin typeface="Arial"/>
                <a:cs typeface="Arial"/>
              </a:rPr>
              <a:t>Public</a:t>
            </a:r>
            <a:r>
              <a:rPr lang="en-US" b="1" spc="-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and </a:t>
            </a:r>
            <a:r>
              <a:rPr lang="en-US" b="1" noProof="1">
                <a:latin typeface="Arial"/>
                <a:cs typeface="Arial"/>
              </a:rPr>
              <a:t>Private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noProof="1">
                <a:latin typeface="Arial"/>
                <a:cs typeface="Arial"/>
              </a:rPr>
              <a:t>Public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key</a:t>
            </a:r>
            <a:r>
              <a:rPr lang="en-US" spc="-10" noProof="1"/>
              <a:t>:</a:t>
            </a:r>
            <a:r>
              <a:rPr lang="en-US" spc="95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30" noProof="1"/>
              <a:t>are</a:t>
            </a:r>
            <a:r>
              <a:rPr lang="en-US" spc="15" noProof="1"/>
              <a:t> </a:t>
            </a:r>
            <a:r>
              <a:rPr lang="en-US" spc="-10" noProof="1"/>
              <a:t>going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55" noProof="1"/>
              <a:t>share</a:t>
            </a:r>
            <a:r>
              <a:rPr lang="en-US" spc="10" noProof="1"/>
              <a:t> </a:t>
            </a:r>
            <a:r>
              <a:rPr lang="en-US" noProof="1"/>
              <a:t>this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key</a:t>
            </a:r>
            <a:r>
              <a:rPr lang="en-US" spc="-10" noProof="1"/>
              <a:t>:</a:t>
            </a:r>
            <a:r>
              <a:rPr lang="en-US" spc="60" noProof="1"/>
              <a:t> </a:t>
            </a:r>
            <a:r>
              <a:rPr lang="en-US" noProof="1"/>
              <a:t>This</a:t>
            </a:r>
            <a:r>
              <a:rPr lang="en-US" spc="-15" noProof="1"/>
              <a:t> </a:t>
            </a:r>
            <a:r>
              <a:rPr lang="en-US" spc="-25" noProof="1"/>
              <a:t>one</a:t>
            </a:r>
            <a:r>
              <a:rPr lang="en-US" spc="-15" noProof="1"/>
              <a:t> </a:t>
            </a:r>
            <a:r>
              <a:rPr lang="en-US" noProof="1"/>
              <a:t>is</a:t>
            </a:r>
            <a:r>
              <a:rPr lang="en-US" spc="-20" noProof="1"/>
              <a:t> </a:t>
            </a:r>
            <a:r>
              <a:rPr lang="en-US" noProof="1"/>
              <a:t>kept</a:t>
            </a:r>
            <a:r>
              <a:rPr lang="en-US" spc="-15" noProof="1"/>
              <a:t> </a:t>
            </a:r>
            <a:r>
              <a:rPr lang="en-US" spc="-25" noProof="1"/>
              <a:t>secret</a:t>
            </a:r>
            <a:r>
              <a:rPr lang="en-US" spc="-15" noProof="1"/>
              <a:t> </a:t>
            </a:r>
            <a:r>
              <a:rPr lang="en-US" noProof="1"/>
              <a:t>on</a:t>
            </a:r>
            <a:r>
              <a:rPr lang="en-US" spc="-20" noProof="1"/>
              <a:t> </a:t>
            </a:r>
            <a:r>
              <a:rPr lang="en-US" noProof="1"/>
              <a:t>our</a:t>
            </a:r>
            <a:r>
              <a:rPr lang="en-US" spc="-15" noProof="1"/>
              <a:t> </a:t>
            </a:r>
            <a:r>
              <a:rPr lang="en-US" noProof="1"/>
              <a:t>local</a:t>
            </a:r>
            <a:r>
              <a:rPr lang="en-US" spc="-15" noProof="1"/>
              <a:t> </a:t>
            </a:r>
            <a:r>
              <a:rPr lang="en-US" spc="-10" noProof="1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noProof="1">
                <a:latin typeface="Arial"/>
                <a:cs typeface="Arial"/>
              </a:rPr>
              <a:t>Key-</a:t>
            </a:r>
            <a:r>
              <a:rPr lang="en-US" b="1" spc="-10" noProof="1">
                <a:latin typeface="Arial"/>
                <a:cs typeface="Arial"/>
              </a:rPr>
              <a:t>Based</a:t>
            </a:r>
            <a:r>
              <a:rPr lang="en-US" b="1" spc="-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noProof="1"/>
              <a:t>When</a:t>
            </a:r>
            <a:r>
              <a:rPr lang="en-US" spc="5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20" noProof="1"/>
              <a:t>connect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spc="-25" noProof="1"/>
              <a:t>SSH,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(the</a:t>
            </a:r>
            <a:r>
              <a:rPr lang="en-US" spc="5" noProof="1"/>
              <a:t> </a:t>
            </a:r>
            <a:r>
              <a:rPr lang="en-US" spc="-25" noProof="1"/>
              <a:t>EC2</a:t>
            </a:r>
            <a:r>
              <a:rPr lang="en-US" spc="5" noProof="1"/>
              <a:t> </a:t>
            </a:r>
            <a:r>
              <a:rPr lang="en-US" spc="-10" noProof="1"/>
              <a:t>machine)</a:t>
            </a:r>
            <a:r>
              <a:rPr lang="en-US" spc="5" noProof="1"/>
              <a:t> </a:t>
            </a:r>
            <a:r>
              <a:rPr lang="en-US" spc="-40" noProof="1"/>
              <a:t>checks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public</a:t>
            </a:r>
            <a:r>
              <a:rPr lang="en-US" spc="5" noProof="1"/>
              <a:t> </a:t>
            </a:r>
            <a:r>
              <a:rPr lang="en-US" spc="-25" noProof="1"/>
              <a:t>key </a:t>
            </a:r>
            <a:r>
              <a:rPr lang="en-US" spc="-30" noProof="1"/>
              <a:t>matches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30" noProof="1"/>
              <a:t>key.</a:t>
            </a:r>
            <a:r>
              <a:rPr lang="en-US" spc="9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noProof="1"/>
              <a:t>they</a:t>
            </a:r>
            <a:r>
              <a:rPr lang="en-US" spc="10" noProof="1"/>
              <a:t> </a:t>
            </a:r>
            <a:r>
              <a:rPr lang="en-US" noProof="1"/>
              <a:t>match,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10" noProof="1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spc="-35" noProof="1"/>
              <a:t>you</a:t>
            </a:r>
            <a:r>
              <a:rPr lang="en-US" spc="-5" noProof="1"/>
              <a:t> </a:t>
            </a:r>
            <a:r>
              <a:rPr lang="en-US" spc="-10" noProof="1"/>
              <a:t>mean</a:t>
            </a:r>
            <a:r>
              <a:rPr lang="en-US" noProof="1"/>
              <a:t> </a:t>
            </a:r>
            <a:r>
              <a:rPr lang="en-US" spc="-10" noProof="1"/>
              <a:t>by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spc="-5" noProof="1"/>
              <a:t> </a:t>
            </a:r>
            <a:r>
              <a:rPr lang="en-US" spc="-40" noProof="1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93860"/>
            <a:ext cx="4915535" cy="7713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noProof="1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8" name="object 4">
            <a:extLst>
              <a:ext uri="{FF2B5EF4-FFF2-40B4-BE49-F238E27FC236}">
                <a16:creationId xmlns:a16="http://schemas.microsoft.com/office/drawing/2014/main" id="{9A881F27-DB1D-C9F4-A2B8-EA5E2864C02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421611"/>
            <a:ext cx="5040019" cy="1420014"/>
          </a:xfrm>
          <a:prstGeom prst="rect">
            <a:avLst/>
          </a:prstGeom>
        </p:spPr>
      </p:pic>
      <p:sp>
        <p:nvSpPr>
          <p:cNvPr id="9" name="object 5">
            <a:extLst>
              <a:ext uri="{FF2B5EF4-FFF2-40B4-BE49-F238E27FC236}">
                <a16:creationId xmlns:a16="http://schemas.microsoft.com/office/drawing/2014/main" id="{F093C5B4-9390-A7A6-0AD7-C4F886F59628}"/>
              </a:ext>
            </a:extLst>
          </p:cNvPr>
          <p:cNvSpPr txBox="1"/>
          <p:nvPr/>
        </p:nvSpPr>
        <p:spPr>
          <a:xfrm>
            <a:off x="1686191" y="2922905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0682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Port/harbor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Analogy: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ships dock at different quays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MSC cruises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Quay 20: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fishing boat.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Security</a:t>
            </a:r>
            <a:r>
              <a:rPr lang="en-US" spc="35" noProof="1"/>
              <a:t> </a:t>
            </a:r>
            <a:r>
              <a:rPr lang="en-US" spc="-60" noProof="1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noProof="1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noProof="1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noProof="1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noProof="1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Goals</a:t>
            </a:r>
            <a:r>
              <a:rPr lang="en-US" spc="-20" noProof="1"/>
              <a:t> </a:t>
            </a:r>
            <a:r>
              <a:rPr lang="en-US" noProof="1"/>
              <a:t>for</a:t>
            </a:r>
            <a:r>
              <a:rPr lang="en-US" spc="-15" noProof="1"/>
              <a:t> </a:t>
            </a:r>
            <a:r>
              <a:rPr lang="en-US" spc="-10" noProof="1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Logging</a:t>
            </a:r>
            <a:r>
              <a:rPr lang="en-US" spc="-10" noProof="1"/>
              <a:t> </a:t>
            </a:r>
            <a:r>
              <a:rPr lang="en-US" noProof="1"/>
              <a:t>in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spc="-30" noProof="1"/>
              <a:t>now</a:t>
            </a:r>
            <a:r>
              <a:rPr lang="en-US" spc="-10" noProof="1"/>
              <a:t> </a:t>
            </a:r>
            <a:r>
              <a:rPr lang="en-US" spc="-25" noProof="1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Logging</a:t>
            </a:r>
            <a:r>
              <a:rPr lang="en-US" spc="-10" noProof="1"/>
              <a:t> </a:t>
            </a:r>
            <a:r>
              <a:rPr lang="en-US" noProof="1"/>
              <a:t>in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spc="-30" noProof="1"/>
              <a:t>now</a:t>
            </a:r>
            <a:r>
              <a:rPr lang="en-US" spc="-10" noProof="1"/>
              <a:t> </a:t>
            </a:r>
            <a:r>
              <a:rPr lang="en-US" spc="-25" noProof="1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Available</a:t>
            </a:r>
            <a:r>
              <a:rPr lang="en-US" spc="30" noProof="1"/>
              <a:t> </a:t>
            </a:r>
            <a:r>
              <a:rPr lang="en-US" spc="-65" noProof="1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Available</a:t>
            </a:r>
            <a:r>
              <a:rPr lang="en-US" spc="5" noProof="1"/>
              <a:t> </a:t>
            </a:r>
            <a:r>
              <a:rPr lang="en-US" spc="-55" noProof="1"/>
              <a:t>courses:</a:t>
            </a:r>
            <a:r>
              <a:rPr lang="en-US" spc="10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10" noProof="1"/>
              <a:t> </a:t>
            </a:r>
            <a:r>
              <a:rPr lang="en-US" spc="-30" noProof="1"/>
              <a:t>Foundation</a:t>
            </a:r>
            <a:r>
              <a:rPr lang="en-US" spc="5" noProof="1"/>
              <a:t> </a:t>
            </a:r>
            <a:r>
              <a:rPr lang="en-US" spc="-35" noProof="1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noProof="1"/>
              <a:t>All the</a:t>
            </a:r>
            <a:r>
              <a:rPr lang="en-US" spc="5" noProof="1"/>
              <a:t> </a:t>
            </a:r>
            <a:r>
              <a:rPr lang="en-US" spc="-20" noProof="1"/>
              <a:t>students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5" noProof="1"/>
              <a:t> </a:t>
            </a:r>
            <a:r>
              <a:rPr lang="en-US" noProof="1"/>
              <a:t>invited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20" noProof="1"/>
              <a:t>complete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b="1" spc="-30" noProof="1">
                <a:solidFill>
                  <a:srgbClr val="0070C0"/>
                </a:solidFill>
              </a:rPr>
              <a:t>AWS</a:t>
            </a:r>
            <a:r>
              <a:rPr lang="en-US" b="1" spc="5" noProof="1">
                <a:solidFill>
                  <a:srgbClr val="0070C0"/>
                </a:solidFill>
              </a:rPr>
              <a:t> </a:t>
            </a:r>
            <a:r>
              <a:rPr lang="en-US" b="1" spc="-10" noProof="1">
                <a:solidFill>
                  <a:srgbClr val="0070C0"/>
                </a:solidFill>
              </a:rPr>
              <a:t>Cloud</a:t>
            </a:r>
            <a:r>
              <a:rPr lang="en-US" b="1" spc="5" noProof="1">
                <a:solidFill>
                  <a:srgbClr val="0070C0"/>
                </a:solidFill>
              </a:rPr>
              <a:t> </a:t>
            </a:r>
            <a:r>
              <a:rPr lang="en-US" b="1" spc="-25" noProof="1">
                <a:solidFill>
                  <a:srgbClr val="0070C0"/>
                </a:solidFill>
              </a:rPr>
              <a:t>Foundations</a:t>
            </a:r>
            <a:r>
              <a:rPr lang="en-US" noProof="1"/>
              <a:t> </a:t>
            </a:r>
            <a:r>
              <a:rPr lang="en-US" spc="-30" noProof="1"/>
              <a:t>course.</a:t>
            </a:r>
            <a:r>
              <a:rPr lang="en-US" spc="95" noProof="1"/>
              <a:t> </a:t>
            </a:r>
            <a:r>
              <a:rPr lang="en-US" noProof="1"/>
              <a:t>This</a:t>
            </a:r>
            <a:r>
              <a:rPr lang="en-US" spc="5" noProof="1"/>
              <a:t> </a:t>
            </a:r>
            <a:r>
              <a:rPr lang="en-US" spc="-40" noProof="1"/>
              <a:t>course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25" noProof="1"/>
              <a:t>available</a:t>
            </a:r>
            <a:r>
              <a:rPr lang="en-US" spc="5" noProof="1"/>
              <a:t> </a:t>
            </a:r>
            <a:r>
              <a:rPr lang="en-US" spc="-25" noProof="1"/>
              <a:t>in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AWS</a:t>
            </a:r>
            <a:r>
              <a:rPr lang="en-US" spc="10" noProof="1"/>
              <a:t> </a:t>
            </a:r>
            <a:r>
              <a:rPr lang="en-US" spc="-25" noProof="1"/>
              <a:t>Educate</a:t>
            </a:r>
            <a:r>
              <a:rPr lang="en-US" spc="10" noProof="1"/>
              <a:t> </a:t>
            </a:r>
            <a:r>
              <a:rPr lang="en-US" noProof="1"/>
              <a:t>platform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it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great</a:t>
            </a:r>
            <a:r>
              <a:rPr lang="en-US" spc="5" noProof="1"/>
              <a:t> </a:t>
            </a:r>
            <a:r>
              <a:rPr lang="en-US" noProof="1"/>
              <a:t>introduction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5" noProof="1"/>
              <a:t>AWS</a:t>
            </a:r>
            <a:r>
              <a:rPr lang="en-US" spc="10" noProof="1"/>
              <a:t> </a:t>
            </a:r>
            <a:r>
              <a:rPr lang="en-US" spc="-40" noProof="1"/>
              <a:t>services.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0" noProof="1"/>
              <a:t>course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25" noProof="1">
                <a:solidFill>
                  <a:srgbClr val="0070C0"/>
                </a:solidFill>
              </a:rPr>
              <a:t>not mandatory</a:t>
            </a:r>
            <a:r>
              <a:rPr lang="en-US" spc="-25" noProof="1"/>
              <a:t>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5" noProof="1"/>
              <a:t> </a:t>
            </a:r>
            <a:r>
              <a:rPr lang="en-US" noProof="1"/>
              <a:t>it</a:t>
            </a:r>
            <a:r>
              <a:rPr lang="en-US" spc="45" noProof="1"/>
              <a:t> </a:t>
            </a:r>
            <a:r>
              <a:rPr lang="en-US" noProof="1"/>
              <a:t>is</a:t>
            </a:r>
            <a:r>
              <a:rPr lang="en-US" spc="40" noProof="1"/>
              <a:t> </a:t>
            </a:r>
            <a:r>
              <a:rPr lang="en-US" noProof="1"/>
              <a:t>highly</a:t>
            </a:r>
            <a:r>
              <a:rPr lang="en-US" spc="45" noProof="1"/>
              <a:t> </a:t>
            </a:r>
            <a:r>
              <a:rPr lang="en-US" spc="-10" noProof="1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noProof="1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noProof="1"/>
              <a:t>This introductory</a:t>
            </a:r>
            <a:r>
              <a:rPr lang="en-US" spc="5" noProof="1"/>
              <a:t> </a:t>
            </a:r>
            <a:r>
              <a:rPr lang="en-US" spc="-40" noProof="1"/>
              <a:t>course</a:t>
            </a:r>
            <a:r>
              <a:rPr lang="en-US" spc="5" noProof="1"/>
              <a:t> </a:t>
            </a:r>
            <a:r>
              <a:rPr lang="en-US" noProof="1"/>
              <a:t>is </a:t>
            </a:r>
            <a:r>
              <a:rPr lang="en-US" spc="-20" noProof="1"/>
              <a:t>intended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spc="-20" noProof="1"/>
              <a:t>students</a:t>
            </a:r>
            <a:r>
              <a:rPr lang="en-US" spc="5" noProof="1"/>
              <a:t> </a:t>
            </a:r>
            <a:r>
              <a:rPr lang="en-US" noProof="1"/>
              <a:t>who </a:t>
            </a:r>
            <a:r>
              <a:rPr lang="en-US" spc="-60" noProof="1"/>
              <a:t>seek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10" noProof="1"/>
              <a:t>overall</a:t>
            </a:r>
            <a:r>
              <a:rPr lang="en-US" noProof="1"/>
              <a:t> </a:t>
            </a:r>
            <a:r>
              <a:rPr lang="en-US" spc="-25" noProof="1"/>
              <a:t>understanding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10" noProof="1"/>
              <a:t>cloud computing</a:t>
            </a:r>
            <a:r>
              <a:rPr lang="en-US" spc="15" noProof="1"/>
              <a:t> </a:t>
            </a:r>
            <a:r>
              <a:rPr lang="en-US" spc="-25" noProof="1"/>
              <a:t>concepts,</a:t>
            </a:r>
            <a:r>
              <a:rPr lang="en-US" spc="15" noProof="1"/>
              <a:t> </a:t>
            </a:r>
            <a:r>
              <a:rPr lang="en-US" spc="-25" noProof="1"/>
              <a:t>independent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spc="-20" noProof="1"/>
              <a:t>specific</a:t>
            </a:r>
            <a:r>
              <a:rPr lang="en-US" spc="15" noProof="1"/>
              <a:t> </a:t>
            </a:r>
            <a:r>
              <a:rPr lang="en-US" spc="-10" noProof="1"/>
              <a:t>technical</a:t>
            </a:r>
            <a:r>
              <a:rPr lang="en-US" spc="15" noProof="1"/>
              <a:t> </a:t>
            </a:r>
            <a:r>
              <a:rPr lang="en-US" spc="-10" noProof="1"/>
              <a:t>roles.</a:t>
            </a:r>
            <a:r>
              <a:rPr lang="en-US" spc="105" noProof="1"/>
              <a:t> </a:t>
            </a:r>
            <a:r>
              <a:rPr lang="en-US" noProof="1"/>
              <a:t>It</a:t>
            </a:r>
            <a:r>
              <a:rPr lang="en-US" spc="15" noProof="1"/>
              <a:t> </a:t>
            </a:r>
            <a:r>
              <a:rPr lang="en-US" spc="-35" noProof="1"/>
              <a:t>provides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0" noProof="1"/>
              <a:t>detailed</a:t>
            </a:r>
            <a:r>
              <a:rPr lang="en-US" spc="15" noProof="1"/>
              <a:t> </a:t>
            </a:r>
            <a:r>
              <a:rPr lang="en-US" spc="-30" noProof="1"/>
              <a:t>overview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spc="-10" noProof="1"/>
              <a:t>cloud </a:t>
            </a:r>
            <a:r>
              <a:rPr lang="en-US" spc="-25" noProof="1"/>
              <a:t>concepts,</a:t>
            </a:r>
            <a:r>
              <a:rPr lang="en-US" spc="-10" noProof="1"/>
              <a:t> </a:t>
            </a:r>
            <a:r>
              <a:rPr lang="en-US" spc="-25" noProof="1"/>
              <a:t>AWS</a:t>
            </a:r>
            <a:r>
              <a:rPr lang="en-US" spc="-10" noProof="1"/>
              <a:t> </a:t>
            </a:r>
            <a:r>
              <a:rPr lang="en-US" spc="-30" noProof="1"/>
              <a:t>core</a:t>
            </a:r>
            <a:r>
              <a:rPr lang="en-US" spc="-10" noProof="1"/>
              <a:t> </a:t>
            </a:r>
            <a:r>
              <a:rPr lang="en-US" spc="-45" noProof="1"/>
              <a:t>services,</a:t>
            </a:r>
            <a:r>
              <a:rPr lang="en-US" spc="-5" noProof="1"/>
              <a:t> </a:t>
            </a:r>
            <a:r>
              <a:rPr lang="en-US" spc="-30" noProof="1"/>
              <a:t>security,</a:t>
            </a:r>
            <a:r>
              <a:rPr lang="en-US" spc="-10" noProof="1"/>
              <a:t> architecture, </a:t>
            </a:r>
            <a:r>
              <a:rPr lang="en-US" noProof="1"/>
              <a:t>pricing,</a:t>
            </a:r>
            <a:r>
              <a:rPr lang="en-US" spc="-10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Available</a:t>
            </a:r>
            <a:r>
              <a:rPr lang="en-US" spc="10" noProof="1"/>
              <a:t> </a:t>
            </a:r>
            <a:r>
              <a:rPr lang="en-US" spc="-55" noProof="1"/>
              <a:t>courses:</a:t>
            </a:r>
            <a:r>
              <a:rPr lang="en-US" spc="10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Learner</a:t>
            </a:r>
            <a:r>
              <a:rPr lang="en-US" spc="1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noProof="1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noProof="1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(the AWS buttom becomes green)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noProof="1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noProof="1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noProof="1"/>
              <a:t> an SSH Key </a:t>
            </a:r>
            <a:r>
              <a:rPr lang="en-US" spc="-20" noProof="1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.ssh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rsa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.ssh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-t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noProof="1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noProof="1">
                <a:latin typeface="Courier New"/>
                <a:cs typeface="Courier New"/>
              </a:rPr>
              <a:t>rsa</a:t>
            </a:r>
            <a:endParaRPr lang="en-US" sz="900" noProof="1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noProof="1">
                <a:latin typeface="Courier New"/>
                <a:cs typeface="Courier New"/>
              </a:rPr>
              <a:t>dsa</a:t>
            </a:r>
            <a:endParaRPr lang="en-US" sz="900" noProof="1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noProof="1">
                <a:latin typeface="Courier New"/>
                <a:cs typeface="Courier New"/>
              </a:rPr>
              <a:t>ecdsa</a:t>
            </a:r>
            <a:endParaRPr lang="en-US" sz="900" noProof="1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noProof="1">
                <a:latin typeface="Courier New"/>
                <a:cs typeface="Courier New"/>
              </a:rPr>
              <a:t>ed25519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-f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noProof="1"/>
              <a:t> an SSH Key </a:t>
            </a:r>
            <a:r>
              <a:rPr lang="en-US" spc="-20" noProof="1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.ssh/aws-</a:t>
            </a:r>
            <a:r>
              <a:rPr lang="en-US" sz="900" spc="-10" noProof="1">
                <a:latin typeface="Courier New"/>
                <a:cs typeface="Courier New"/>
              </a:rPr>
              <a:t>keypair.pub</a:t>
            </a:r>
            <a:endParaRPr lang="en-US" sz="900" noProof="1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.ssh/aws-</a:t>
            </a:r>
            <a:r>
              <a:rPr lang="en-US" sz="900" spc="-10" noProof="1">
                <a:latin typeface="Courier New"/>
                <a:cs typeface="Courier New"/>
              </a:rPr>
              <a:t>keypair</a:t>
            </a:r>
            <a:endParaRPr lang="en-US" sz="900" noProof="1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Importing</a:t>
            </a:r>
            <a:r>
              <a:rPr lang="en-US" spc="-25" noProof="1"/>
              <a:t> </a:t>
            </a:r>
            <a:r>
              <a:rPr lang="en-US" spc="-10" noProof="1"/>
              <a:t>our</a:t>
            </a:r>
            <a:r>
              <a:rPr lang="en-US" spc="-20" noProof="1"/>
              <a:t> </a:t>
            </a:r>
            <a:r>
              <a:rPr lang="en-US" spc="-25" noProof="1"/>
              <a:t>generated</a:t>
            </a:r>
            <a:r>
              <a:rPr lang="en-US" spc="-20" noProof="1"/>
              <a:t> </a:t>
            </a:r>
            <a:r>
              <a:rPr lang="en-US" spc="-10" noProof="1"/>
              <a:t>key</a:t>
            </a:r>
            <a:r>
              <a:rPr lang="en-US" spc="-20" noProof="1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aws-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noProof="1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(.ssh/aws-keypair.pub)</a:t>
            </a:r>
            <a:endParaRPr lang="en-US" sz="800" noProof="1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noProof="1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cat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.ssh/aws-keypair.pub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-5" noProof="1"/>
              <a:t> </a:t>
            </a:r>
            <a:r>
              <a:rPr lang="en-US" noProof="1"/>
              <a:t>an EC2</a:t>
            </a:r>
            <a:r>
              <a:rPr lang="en-US" spc="-5" noProof="1"/>
              <a:t> </a:t>
            </a:r>
            <a:r>
              <a:rPr lang="en-US" spc="-3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31766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Jupyter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kernel-6.1 AMI</a:t>
            </a:r>
            <a:endParaRPr lang="en-US" sz="800" noProof="1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noProof="1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(aws-keypair)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Security</a:t>
            </a:r>
            <a:r>
              <a:rPr lang="en-US" spc="35" noProof="1"/>
              <a:t> </a:t>
            </a:r>
            <a:r>
              <a:rPr lang="en-US" spc="-40" noProof="1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noProof="1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noProof="1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Connecting</a:t>
            </a:r>
            <a:r>
              <a:rPr lang="en-US" spc="50" noProof="1"/>
              <a:t> </a:t>
            </a:r>
            <a:r>
              <a:rPr lang="en-US" noProof="1"/>
              <a:t>to</a:t>
            </a:r>
            <a:r>
              <a:rPr lang="en-US" spc="65" noProof="1"/>
              <a:t> </a:t>
            </a:r>
            <a:r>
              <a:rPr lang="en-US" noProof="1"/>
              <a:t>the</a:t>
            </a:r>
            <a:r>
              <a:rPr lang="en-US" spc="65" noProof="1"/>
              <a:t> </a:t>
            </a:r>
            <a:r>
              <a:rPr lang="en-US" spc="-4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(mac,linux)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noProof="1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aws-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.ssh/aws-</a:t>
            </a:r>
            <a:r>
              <a:rPr lang="en-US" sz="900" spc="-10" noProof="1">
                <a:latin typeface="Courier New"/>
                <a:cs typeface="Courier New"/>
              </a:rPr>
              <a:t>keypair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.ssh/aws-keypair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sure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want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continue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connecting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yes/no/[fingerprint]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noProof="1">
                <a:latin typeface="Courier New"/>
                <a:cs typeface="Courier New"/>
              </a:rPr>
              <a:t>?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noProof="1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noProof="1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noProof="1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noProof="1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noProof="1">
                <a:solidFill>
                  <a:srgbClr val="22373A"/>
                </a:solidFill>
              </a:rPr>
              <a:t> </a:t>
            </a:r>
            <a:r>
              <a:rPr lang="en-US" sz="1100" spc="-25" noProof="1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noProof="1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0" noProof="1"/>
              <a:t> </a:t>
            </a:r>
            <a:r>
              <a:rPr lang="en-US" spc="-45" noProof="1"/>
              <a:t>use</a:t>
            </a:r>
            <a:r>
              <a:rPr lang="en-US" spc="20" noProof="1"/>
              <a:t> </a:t>
            </a:r>
            <a:r>
              <a:rPr lang="en-US" spc="-45" noProof="1"/>
              <a:t>uv?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5" noProof="1"/>
              <a:t> </a:t>
            </a:r>
            <a:r>
              <a:rPr lang="en-US" spc="-25" noProof="1"/>
              <a:t>uv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curl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https://astral.sh/uv/install.sh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everything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-20" noProof="1"/>
              <a:t> </a:t>
            </a:r>
            <a:r>
              <a:rPr lang="en-US" noProof="1"/>
              <a:t>two</a:t>
            </a:r>
            <a:r>
              <a:rPr lang="en-US" spc="-20" noProof="1"/>
              <a:t> </a:t>
            </a:r>
            <a:r>
              <a:rPr lang="en-US" spc="-30" noProof="1"/>
              <a:t>example</a:t>
            </a:r>
            <a:r>
              <a:rPr lang="en-US" spc="-20" noProof="1"/>
              <a:t> </a:t>
            </a:r>
            <a:r>
              <a:rPr lang="en-US" noProof="1"/>
              <a:t>uv</a:t>
            </a:r>
            <a:r>
              <a:rPr lang="en-US" spc="-15" noProof="1"/>
              <a:t> </a:t>
            </a:r>
            <a:r>
              <a:rPr lang="en-US" spc="-10" noProof="1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project1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uv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venv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3.8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55" noProof="1">
                <a:latin typeface="Courier New"/>
                <a:cs typeface="Courier New"/>
              </a:rPr>
              <a:t>venv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jupyter </a:t>
            </a:r>
            <a:r>
              <a:rPr lang="en-US" sz="800" spc="-10" noProof="1">
                <a:latin typeface="Courier New"/>
                <a:cs typeface="Courier New"/>
              </a:rPr>
              <a:t>deactivate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..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-20" noProof="1"/>
              <a:t> </a:t>
            </a:r>
            <a:r>
              <a:rPr lang="en-US" noProof="1"/>
              <a:t>two</a:t>
            </a:r>
            <a:r>
              <a:rPr lang="en-US" spc="-20" noProof="1"/>
              <a:t> </a:t>
            </a:r>
            <a:r>
              <a:rPr lang="en-US" spc="-30" noProof="1"/>
              <a:t>example</a:t>
            </a:r>
            <a:r>
              <a:rPr lang="en-US" spc="-20" noProof="1"/>
              <a:t> </a:t>
            </a:r>
            <a:r>
              <a:rPr lang="en-US" noProof="1"/>
              <a:t>uv</a:t>
            </a:r>
            <a:r>
              <a:rPr lang="en-US" spc="-15" noProof="1"/>
              <a:t> </a:t>
            </a:r>
            <a:r>
              <a:rPr lang="en-US" spc="-10" noProof="1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noProof="1">
                <a:latin typeface="Courier New"/>
                <a:cs typeface="Courier New"/>
              </a:rPr>
              <a:t>project1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uv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venv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3.8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55" noProof="1">
                <a:latin typeface="Courier New"/>
                <a:cs typeface="Courier New"/>
              </a:rPr>
              <a:t>venv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jupyter </a:t>
            </a:r>
            <a:r>
              <a:rPr lang="en-US" sz="800" spc="-10" noProof="1">
                <a:latin typeface="Courier New"/>
                <a:cs typeface="Courier New"/>
              </a:rPr>
              <a:t>deactivate</a:t>
            </a: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..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project2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project2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noProof="1">
                <a:latin typeface="Courier New"/>
                <a:cs typeface="Courier New"/>
              </a:rPr>
              <a:t>uv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venv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3.10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.project2-</a:t>
            </a:r>
            <a:r>
              <a:rPr lang="en-US" sz="800" spc="-30" noProof="1">
                <a:latin typeface="Courier New"/>
                <a:cs typeface="Courier New"/>
              </a:rPr>
              <a:t>venv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.project2-venv/bin/activate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pandas deactivate</a:t>
            </a: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..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Working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40" noProof="1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latin typeface="Courier New"/>
                <a:cs typeface="Courier New"/>
              </a:rPr>
              <a:t>python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pip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python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Python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3.8.20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noProof="1">
                <a:latin typeface="Courier New"/>
                <a:cs typeface="Courier New"/>
              </a:rPr>
              <a:t>deactivate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..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Working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40" noProof="1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project2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.project2-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latin typeface="Courier New"/>
                <a:cs typeface="Courier New"/>
              </a:rPr>
              <a:t>python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pip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noProof="1">
                <a:latin typeface="Courier New"/>
                <a:cs typeface="Courier New"/>
              </a:rPr>
              <a:t>deactivate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..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Running</a:t>
            </a:r>
            <a:r>
              <a:rPr lang="en-US" spc="10" noProof="1"/>
              <a:t> </a:t>
            </a:r>
            <a:r>
              <a:rPr lang="en-US" spc="-20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50" noProof="1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Running</a:t>
            </a:r>
            <a:r>
              <a:rPr lang="en-US" spc="10" noProof="1"/>
              <a:t> </a:t>
            </a:r>
            <a:r>
              <a:rPr lang="en-US" spc="-20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50" noProof="1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10" noProof="1">
                <a:latin typeface="Courier New"/>
                <a:cs typeface="Courier New"/>
              </a:rPr>
              <a:t> notebook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noProof="1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Opening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port</a:t>
            </a:r>
            <a:r>
              <a:rPr lang="en-US" spc="20" noProof="1"/>
              <a:t> </a:t>
            </a:r>
            <a:r>
              <a:rPr lang="en-US" spc="-20" noProof="1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35300" y="1403984"/>
            <a:ext cx="2743200" cy="153516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326" y="1327785"/>
            <a:ext cx="3012974" cy="170406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Running</a:t>
            </a:r>
            <a:r>
              <a:rPr lang="en-US" spc="10" noProof="1"/>
              <a:t> </a:t>
            </a:r>
            <a:r>
              <a:rPr lang="en-US" spc="-20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55" noProof="1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0.0.0.0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8888</a:t>
            </a: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noProof="1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Jupyter</a:t>
            </a:r>
            <a:r>
              <a:rPr lang="en-US" spc="30" noProof="1"/>
              <a:t> </a:t>
            </a:r>
            <a:r>
              <a:rPr lang="en-US" spc="-1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latin typeface="Courier New"/>
                <a:cs typeface="Courier New"/>
              </a:rPr>
              <a:t>Ctrl+C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Ctrl+Shift+C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Jupyter</a:t>
            </a:r>
            <a:r>
              <a:rPr lang="en-US" spc="30" noProof="1"/>
              <a:t> </a:t>
            </a:r>
            <a:r>
              <a:rPr lang="en-US" spc="-1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Python</a:t>
            </a:r>
            <a:r>
              <a:rPr lang="en-US" sz="900" spc="-7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3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Python</a:t>
            </a:r>
            <a:r>
              <a:rPr lang="en-US" sz="900" spc="-7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3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2700" y="1388954"/>
            <a:ext cx="2728097" cy="15720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999105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Running</a:t>
            </a:r>
            <a:r>
              <a:rPr lang="en-US" spc="10" noProof="1"/>
              <a:t> </a:t>
            </a:r>
            <a:r>
              <a:rPr lang="en-US" spc="-30" noProof="1"/>
              <a:t>python</a:t>
            </a:r>
            <a:r>
              <a:rPr lang="en-US" spc="15" noProof="1"/>
              <a:t> </a:t>
            </a:r>
            <a:r>
              <a:rPr lang="en-US" spc="-25" noProof="1"/>
              <a:t>code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5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noProof="1">
                <a:latin typeface="Courier New"/>
                <a:cs typeface="Courier New"/>
              </a:rPr>
              <a:t>pip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matplotlib</a:t>
            </a:r>
            <a:endParaRPr lang="en-US" sz="800" noProof="1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noProof="1">
                <a:latin typeface="Courier New"/>
                <a:cs typeface="Courier New"/>
              </a:rPr>
              <a:t>pip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numpy</a:t>
            </a:r>
            <a:endParaRPr lang="en-US" sz="800" noProof="1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matplotlib.pyplot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plt</a:t>
            </a:r>
            <a:endParaRPr lang="en-US" sz="800" noProof="1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numpy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np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noProof="1">
                <a:latin typeface="Courier New"/>
                <a:cs typeface="Courier New"/>
              </a:rPr>
              <a:t>x</a:t>
            </a:r>
            <a:r>
              <a:rPr lang="en-US" sz="800" spc="-10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np.linspace(</a:t>
            </a:r>
            <a:r>
              <a:rPr lang="en-US" sz="800" spc="-55" noProof="1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noProof="1">
                <a:latin typeface="Courier New"/>
                <a:cs typeface="Courier New"/>
              </a:rPr>
              <a:t>,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noProof="1">
                <a:latin typeface="Courier New"/>
                <a:cs typeface="Courier New"/>
              </a:rPr>
              <a:t>) </a:t>
            </a:r>
            <a:r>
              <a:rPr lang="en-US" sz="800" noProof="1">
                <a:latin typeface="Courier New"/>
                <a:cs typeface="Courier New"/>
              </a:rPr>
              <a:t>y</a:t>
            </a:r>
            <a:r>
              <a:rPr lang="en-US" sz="800" spc="-114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np.sin(x)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plt.plot(x,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70" noProof="1">
                <a:latin typeface="Courier New"/>
                <a:cs typeface="Courier New"/>
              </a:rPr>
              <a:t>y) </a:t>
            </a:r>
            <a:r>
              <a:rPr lang="en-US" sz="800" spc="-10" noProof="1">
                <a:latin typeface="Courier New"/>
                <a:cs typeface="Courier New"/>
              </a:rPr>
              <a:t>plt.show()</a:t>
            </a:r>
            <a:endParaRPr lang="en-US" sz="800" noProof="1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Commands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50" noProof="1"/>
              <a:t> </a:t>
            </a:r>
            <a:r>
              <a:rPr lang="en-US" spc="-25" noProof="1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noProof="1">
                <a:latin typeface="Courier New"/>
                <a:cs typeface="Courier New"/>
              </a:rPr>
              <a:t>uv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venv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--seed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--python</a:t>
            </a:r>
            <a:r>
              <a:rPr lang="en-US" sz="900" spc="-70" noProof="1">
                <a:latin typeface="Courier New"/>
                <a:cs typeface="Courier New"/>
              </a:rPr>
              <a:t> 3.8 </a:t>
            </a:r>
            <a:r>
              <a:rPr lang="en-US" sz="900" spc="-75" noProof="1">
                <a:latin typeface="Courier New"/>
                <a:cs typeface="Courier New"/>
              </a:rPr>
              <a:t>.project1-</a:t>
            </a:r>
            <a:r>
              <a:rPr lang="en-US" sz="900" spc="-10" noProof="1">
                <a:latin typeface="Courier New"/>
                <a:cs typeface="Courier New"/>
              </a:rPr>
              <a:t>venv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noProof="1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.project1-</a:t>
            </a:r>
            <a:r>
              <a:rPr lang="en-US" sz="900" spc="-10" noProof="1">
                <a:latin typeface="Courier New"/>
                <a:cs typeface="Courier New"/>
              </a:rPr>
              <a:t>venv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noProof="1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noProof="1">
                <a:latin typeface="Courier New"/>
                <a:cs typeface="Courier New"/>
              </a:rPr>
              <a:t>source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.project1-</a:t>
            </a:r>
            <a:r>
              <a:rPr lang="en-US" sz="900" spc="-60" noProof="1">
                <a:latin typeface="Courier New"/>
                <a:cs typeface="Courier New"/>
              </a:rPr>
              <a:t>venv/bin/activate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.project1-venv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noProof="1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noProof="1">
                <a:latin typeface="Courier New"/>
                <a:cs typeface="Courier New"/>
              </a:rPr>
              <a:t>pip install </a:t>
            </a:r>
            <a:r>
              <a:rPr lang="en-US" sz="900" spc="-40" noProof="1">
                <a:latin typeface="Courier New"/>
                <a:cs typeface="Courier New"/>
              </a:rPr>
              <a:t>jupyter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noProof="1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noProof="1">
                <a:latin typeface="Courier New"/>
                <a:cs typeface="Courier New"/>
              </a:rPr>
              <a:t>pip install </a:t>
            </a:r>
            <a:r>
              <a:rPr lang="en-US" sz="900" spc="-35" noProof="1">
                <a:latin typeface="Courier New"/>
                <a:cs typeface="Courier New"/>
              </a:rPr>
              <a:t>pandas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noProof="1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noProof="1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noProof="1">
                <a:latin typeface="Courier New"/>
                <a:cs typeface="Courier New"/>
              </a:rPr>
              <a:t>pip install </a:t>
            </a:r>
            <a:r>
              <a:rPr lang="en-US" sz="900" spc="-75" noProof="1">
                <a:latin typeface="Courier New"/>
                <a:cs typeface="Courier New"/>
              </a:rPr>
              <a:t>numpy==1.21.0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Numpy 1.21.0).</a:t>
            </a:r>
            <a:endParaRPr lang="en-US" sz="900" noProof="1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noProof="1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noProof="1">
                <a:latin typeface="Courier New"/>
                <a:cs typeface="Courier New"/>
              </a:rPr>
              <a:t>jupyter notebook </a:t>
            </a:r>
            <a:r>
              <a:rPr lang="en-US" sz="900" spc="-75" noProof="1">
                <a:latin typeface="Courier New"/>
                <a:cs typeface="Courier New"/>
              </a:rPr>
              <a:t>--</a:t>
            </a:r>
            <a:r>
              <a:rPr lang="en-US" sz="900" spc="-70" noProof="1">
                <a:latin typeface="Courier New"/>
                <a:cs typeface="Courier New"/>
              </a:rPr>
              <a:t>port=8888 </a:t>
            </a:r>
            <a:r>
              <a:rPr lang="en-US" sz="900" spc="-75" noProof="1">
                <a:latin typeface="Courier New"/>
                <a:cs typeface="Courier New"/>
              </a:rPr>
              <a:t>--ip=0.0.0.0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noProof="1">
                <a:latin typeface="Courier New"/>
                <a:cs typeface="Courier New"/>
              </a:rPr>
              <a:t>deactivate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Commands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50" noProof="1"/>
              <a:t> </a:t>
            </a:r>
            <a:r>
              <a:rPr lang="en-US" spc="-25" noProof="1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project1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project1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project1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project1</a:t>
            </a:r>
            <a:r>
              <a:rPr lang="en-US" sz="900" spc="-13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noProof="1">
                <a:latin typeface="Courier New"/>
                <a:cs typeface="Courier New"/>
              </a:rPr>
              <a:t>..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noProof="1">
                <a:latin typeface="Courier New"/>
                <a:cs typeface="Courier New"/>
              </a:rPr>
              <a:t>cat </a:t>
            </a:r>
            <a:r>
              <a:rPr lang="en-US" sz="900" spc="-75" noProof="1">
                <a:latin typeface="Courier New"/>
                <a:cs typeface="Courier New"/>
              </a:rPr>
              <a:t>.ssh/aws-</a:t>
            </a:r>
            <a:r>
              <a:rPr lang="en-US" sz="900" spc="-50" noProof="1">
                <a:latin typeface="Courier New"/>
                <a:cs typeface="Courier New"/>
              </a:rPr>
              <a:t>keypair.pub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.ssh/aws-</a:t>
            </a:r>
            <a:r>
              <a:rPr lang="en-US" sz="900" spc="-40" noProof="1">
                <a:latin typeface="Courier New"/>
                <a:cs typeface="Courier New"/>
              </a:rPr>
              <a:t>keypair.pub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35" noProof="1"/>
              <a:t>Summary</a:t>
            </a:r>
            <a:r>
              <a:rPr lang="en-US" spc="20" noProof="1"/>
              <a:t> </a:t>
            </a:r>
            <a:r>
              <a:rPr lang="en-US" noProof="1"/>
              <a:t>of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70" noProof="1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uv.</a:t>
            </a:r>
            <a:endParaRPr lang="en-US" sz="900" noProof="1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10" noProof="1"/>
              <a:t> </a:t>
            </a:r>
            <a:r>
              <a:rPr lang="en-US" spc="-45" noProof="1"/>
              <a:t>use</a:t>
            </a:r>
            <a:r>
              <a:rPr lang="en-US" spc="10" noProof="1"/>
              <a:t> </a:t>
            </a:r>
            <a:r>
              <a:rPr lang="en-US" spc="-20" noProof="1"/>
              <a:t>Jupyter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0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noProof="1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Words>2840</Words>
  <Application>Microsoft Macintosh PowerPoint</Application>
  <PresentationFormat>Custom</PresentationFormat>
  <Paragraphs>309</Paragraphs>
  <Slides>54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Aptos</vt:lpstr>
      <vt:lpstr>Arial</vt:lpstr>
      <vt:lpstr>Courier New</vt:lpstr>
      <vt:lpstr>Office Theme</vt:lpstr>
      <vt:lpstr>PowerPoint Presentation</vt:lpstr>
      <vt:lpstr>Amazon Web Services</vt:lpstr>
      <vt:lpstr>Amazon Web Services: EC2</vt:lpstr>
      <vt:lpstr>PowerPoint Presentation</vt:lpstr>
      <vt:lpstr>A remote terminal through SSH</vt:lpstr>
      <vt:lpstr>How does SSH work?</vt:lpstr>
      <vt:lpstr>What do you mean by client and server?</vt:lpstr>
      <vt:lpstr>PowerPoint Presentation</vt:lpstr>
      <vt:lpstr>Ports</vt:lpstr>
      <vt:lpstr>Security groups</vt:lpstr>
      <vt:lpstr>PowerPoint Presentation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RECAP: Summary of the session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21</cp:revision>
  <dcterms:created xsi:type="dcterms:W3CDTF">2025-05-19T16:09:11Z</dcterms:created>
  <dcterms:modified xsi:type="dcterms:W3CDTF">2026-04-18T12:44:41Z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