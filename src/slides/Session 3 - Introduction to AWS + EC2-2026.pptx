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6"/>
  </p:notesMasterIdLst>
  <p:sldIdLst>
    <p:sldId id="256" r:id="rId2"/>
    <p:sldId id="262" r:id="rId3"/>
    <p:sldId id="263" r:id="rId4"/>
    <p:sldId id="264" r:id="rId5"/>
    <p:sldId id="268" r:id="rId6"/>
    <p:sldId id="271" r:id="rId7"/>
    <p:sldId id="273" r:id="rId8"/>
    <p:sldId id="276" r:id="rId9"/>
    <p:sldId id="279" r:id="rId10"/>
    <p:sldId id="282" r:id="rId11"/>
    <p:sldId id="283" r:id="rId12"/>
    <p:sldId id="288" r:id="rId13"/>
    <p:sldId id="289" r:id="rId14"/>
    <p:sldId id="290" r:id="rId15"/>
    <p:sldId id="291" r:id="rId16"/>
    <p:sldId id="292" r:id="rId17"/>
    <p:sldId id="293" r:id="rId18"/>
    <p:sldId id="294" r:id="rId19"/>
    <p:sldId id="295" r:id="rId20"/>
    <p:sldId id="296" r:id="rId21"/>
    <p:sldId id="297" r:id="rId22"/>
    <p:sldId id="298" r:id="rId23"/>
    <p:sldId id="299" r:id="rId24"/>
    <p:sldId id="300" r:id="rId25"/>
    <p:sldId id="301" r:id="rId26"/>
    <p:sldId id="302" r:id="rId27"/>
    <p:sldId id="303" r:id="rId28"/>
    <p:sldId id="304" r:id="rId29"/>
    <p:sldId id="305" r:id="rId30"/>
    <p:sldId id="306" r:id="rId31"/>
    <p:sldId id="307" r:id="rId32"/>
    <p:sldId id="308" r:id="rId33"/>
    <p:sldId id="309" r:id="rId34"/>
    <p:sldId id="311" r:id="rId35"/>
    <p:sldId id="310" r:id="rId36"/>
    <p:sldId id="312" r:id="rId37"/>
    <p:sldId id="315" r:id="rId38"/>
    <p:sldId id="316" r:id="rId39"/>
    <p:sldId id="317" r:id="rId40"/>
    <p:sldId id="318" r:id="rId41"/>
    <p:sldId id="319" r:id="rId42"/>
    <p:sldId id="320" r:id="rId43"/>
    <p:sldId id="321" r:id="rId44"/>
    <p:sldId id="322" r:id="rId45"/>
    <p:sldId id="323" r:id="rId46"/>
    <p:sldId id="324" r:id="rId47"/>
    <p:sldId id="325" r:id="rId48"/>
    <p:sldId id="326" r:id="rId49"/>
    <p:sldId id="327" r:id="rId50"/>
    <p:sldId id="328" r:id="rId51"/>
    <p:sldId id="329" r:id="rId52"/>
    <p:sldId id="330" r:id="rId53"/>
    <p:sldId id="333" r:id="rId54"/>
    <p:sldId id="336" r:id="rId55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31"/>
    <p:restoredTop sz="94585"/>
  </p:normalViewPr>
  <p:slideViewPr>
    <p:cSldViewPr>
      <p:cViewPr>
        <p:scale>
          <a:sx n="400" d="100"/>
          <a:sy n="400" d="100"/>
        </p:scale>
        <p:origin x="-16" y="1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esc Xavier Solsona Tehas" userId="1f95e2c3-a25c-4efc-a37b-de93ab79e53c" providerId="ADAL" clId="{C51773D9-DD29-5A84-A509-762D3F3EA38B}"/>
    <pc:docChg chg="undo custSel modSld sldOrd">
      <pc:chgData name="Francesc Xavier Solsona Tehas" userId="1f95e2c3-a25c-4efc-a37b-de93ab79e53c" providerId="ADAL" clId="{C51773D9-DD29-5A84-A509-762D3F3EA38B}" dt="2026-02-25T11:51:49.140" v="615" actId="20577"/>
      <pc:docMkLst>
        <pc:docMk/>
      </pc:docMkLst>
      <pc:sldChg chg="modSp mod">
        <pc:chgData name="Francesc Xavier Solsona Tehas" userId="1f95e2c3-a25c-4efc-a37b-de93ab79e53c" providerId="ADAL" clId="{C51773D9-DD29-5A84-A509-762D3F3EA38B}" dt="2026-02-14T10:56:35.911" v="41" actId="14100"/>
        <pc:sldMkLst>
          <pc:docMk/>
          <pc:sldMk cId="0" sldId="256"/>
        </pc:sldMkLst>
        <pc:spChg chg="mod">
          <ac:chgData name="Francesc Xavier Solsona Tehas" userId="1f95e2c3-a25c-4efc-a37b-de93ab79e53c" providerId="ADAL" clId="{C51773D9-DD29-5A84-A509-762D3F3EA38B}" dt="2026-02-14T10:56:35.911" v="41" actId="14100"/>
          <ac:spMkLst>
            <pc:docMk/>
            <pc:sldMk cId="0" sldId="256"/>
            <ac:spMk id="6" creationId="{00000000-0000-0000-0000-000000000000}"/>
          </ac:spMkLst>
        </pc:spChg>
      </pc:sldChg>
      <pc:sldChg chg="modSp mod">
        <pc:chgData name="Francesc Xavier Solsona Tehas" userId="1f95e2c3-a25c-4efc-a37b-de93ab79e53c" providerId="ADAL" clId="{C51773D9-DD29-5A84-A509-762D3F3EA38B}" dt="2026-02-14T11:12:10.087" v="59" actId="14100"/>
        <pc:sldMkLst>
          <pc:docMk/>
          <pc:sldMk cId="0" sldId="290"/>
        </pc:sldMkLst>
        <pc:spChg chg="mod">
          <ac:chgData name="Francesc Xavier Solsona Tehas" userId="1f95e2c3-a25c-4efc-a37b-de93ab79e53c" providerId="ADAL" clId="{C51773D9-DD29-5A84-A509-762D3F3EA38B}" dt="2026-02-14T11:12:05.887" v="58" actId="1076"/>
          <ac:spMkLst>
            <pc:docMk/>
            <pc:sldMk cId="0" sldId="290"/>
            <ac:spMk id="5" creationId="{00000000-0000-0000-0000-000000000000}"/>
          </ac:spMkLst>
        </pc:spChg>
        <pc:picChg chg="mod">
          <ac:chgData name="Francesc Xavier Solsona Tehas" userId="1f95e2c3-a25c-4efc-a37b-de93ab79e53c" providerId="ADAL" clId="{C51773D9-DD29-5A84-A509-762D3F3EA38B}" dt="2026-02-14T11:12:10.087" v="59" actId="14100"/>
          <ac:picMkLst>
            <pc:docMk/>
            <pc:sldMk cId="0" sldId="290"/>
            <ac:picMk id="4" creationId="{00000000-0000-0000-0000-000000000000}"/>
          </ac:picMkLst>
        </pc:picChg>
      </pc:sldChg>
      <pc:sldChg chg="modSp mod">
        <pc:chgData name="Francesc Xavier Solsona Tehas" userId="1f95e2c3-a25c-4efc-a37b-de93ab79e53c" providerId="ADAL" clId="{C51773D9-DD29-5A84-A509-762D3F3EA38B}" dt="2026-02-14T11:12:24.963" v="61" actId="14100"/>
        <pc:sldMkLst>
          <pc:docMk/>
          <pc:sldMk cId="0" sldId="291"/>
        </pc:sldMkLst>
        <pc:picChg chg="mod">
          <ac:chgData name="Francesc Xavier Solsona Tehas" userId="1f95e2c3-a25c-4efc-a37b-de93ab79e53c" providerId="ADAL" clId="{C51773D9-DD29-5A84-A509-762D3F3EA38B}" dt="2026-02-14T11:12:24.963" v="61" actId="14100"/>
          <ac:picMkLst>
            <pc:docMk/>
            <pc:sldMk cId="0" sldId="291"/>
            <ac:picMk id="4" creationId="{00000000-0000-0000-0000-000000000000}"/>
          </ac:picMkLst>
        </pc:picChg>
      </pc:sldChg>
      <pc:sldChg chg="modSp mod">
        <pc:chgData name="Francesc Xavier Solsona Tehas" userId="1f95e2c3-a25c-4efc-a37b-de93ab79e53c" providerId="ADAL" clId="{C51773D9-DD29-5A84-A509-762D3F3EA38B}" dt="2026-02-14T11:14:27.712" v="77" actId="14100"/>
        <pc:sldMkLst>
          <pc:docMk/>
          <pc:sldMk cId="0" sldId="292"/>
        </pc:sldMkLst>
        <pc:spChg chg="mod">
          <ac:chgData name="Francesc Xavier Solsona Tehas" userId="1f95e2c3-a25c-4efc-a37b-de93ab79e53c" providerId="ADAL" clId="{C51773D9-DD29-5A84-A509-762D3F3EA38B}" dt="2026-02-14T11:13:57.663" v="62"/>
          <ac:spMkLst>
            <pc:docMk/>
            <pc:sldMk cId="0" sldId="292"/>
            <ac:spMk id="3" creationId="{00000000-0000-0000-0000-000000000000}"/>
          </ac:spMkLst>
        </pc:spChg>
        <pc:spChg chg="mod">
          <ac:chgData name="Francesc Xavier Solsona Tehas" userId="1f95e2c3-a25c-4efc-a37b-de93ab79e53c" providerId="ADAL" clId="{C51773D9-DD29-5A84-A509-762D3F3EA38B}" dt="2026-02-14T11:14:21.178" v="75" actId="1035"/>
          <ac:spMkLst>
            <pc:docMk/>
            <pc:sldMk cId="0" sldId="292"/>
            <ac:spMk id="5" creationId="{00000000-0000-0000-0000-000000000000}"/>
          </ac:spMkLst>
        </pc:spChg>
        <pc:picChg chg="mod">
          <ac:chgData name="Francesc Xavier Solsona Tehas" userId="1f95e2c3-a25c-4efc-a37b-de93ab79e53c" providerId="ADAL" clId="{C51773D9-DD29-5A84-A509-762D3F3EA38B}" dt="2026-02-14T11:14:27.712" v="77" actId="14100"/>
          <ac:picMkLst>
            <pc:docMk/>
            <pc:sldMk cId="0" sldId="292"/>
            <ac:picMk id="4" creationId="{00000000-0000-0000-0000-000000000000}"/>
          </ac:picMkLst>
        </pc:picChg>
      </pc:sldChg>
      <pc:sldChg chg="modSp mod">
        <pc:chgData name="Francesc Xavier Solsona Tehas" userId="1f95e2c3-a25c-4efc-a37b-de93ab79e53c" providerId="ADAL" clId="{C51773D9-DD29-5A84-A509-762D3F3EA38B}" dt="2026-02-14T11:14:57.711" v="82" actId="14100"/>
        <pc:sldMkLst>
          <pc:docMk/>
          <pc:sldMk cId="0" sldId="293"/>
        </pc:sldMkLst>
        <pc:spChg chg="mod">
          <ac:chgData name="Francesc Xavier Solsona Tehas" userId="1f95e2c3-a25c-4efc-a37b-de93ab79e53c" providerId="ADAL" clId="{C51773D9-DD29-5A84-A509-762D3F3EA38B}" dt="2026-02-14T11:14:45.903" v="78" actId="1076"/>
          <ac:spMkLst>
            <pc:docMk/>
            <pc:sldMk cId="0" sldId="293"/>
            <ac:spMk id="5" creationId="{00000000-0000-0000-0000-000000000000}"/>
          </ac:spMkLst>
        </pc:spChg>
        <pc:picChg chg="mod">
          <ac:chgData name="Francesc Xavier Solsona Tehas" userId="1f95e2c3-a25c-4efc-a37b-de93ab79e53c" providerId="ADAL" clId="{C51773D9-DD29-5A84-A509-762D3F3EA38B}" dt="2026-02-14T11:14:57.711" v="82" actId="14100"/>
          <ac:picMkLst>
            <pc:docMk/>
            <pc:sldMk cId="0" sldId="293"/>
            <ac:picMk id="4" creationId="{00000000-0000-0000-0000-000000000000}"/>
          </ac:picMkLst>
        </pc:picChg>
      </pc:sldChg>
      <pc:sldChg chg="addSp modSp mod">
        <pc:chgData name="Francesc Xavier Solsona Tehas" userId="1f95e2c3-a25c-4efc-a37b-de93ab79e53c" providerId="ADAL" clId="{C51773D9-DD29-5A84-A509-762D3F3EA38B}" dt="2026-02-14T11:19:17.730" v="206" actId="14100"/>
        <pc:sldMkLst>
          <pc:docMk/>
          <pc:sldMk cId="0" sldId="294"/>
        </pc:sldMkLst>
        <pc:spChg chg="mod">
          <ac:chgData name="Francesc Xavier Solsona Tehas" userId="1f95e2c3-a25c-4efc-a37b-de93ab79e53c" providerId="ADAL" clId="{C51773D9-DD29-5A84-A509-762D3F3EA38B}" dt="2026-02-14T11:18:38.767" v="195" actId="5793"/>
          <ac:spMkLst>
            <pc:docMk/>
            <pc:sldMk cId="0" sldId="294"/>
            <ac:spMk id="3" creationId="{00000000-0000-0000-0000-000000000000}"/>
          </ac:spMkLst>
        </pc:spChg>
        <pc:spChg chg="add mod">
          <ac:chgData name="Francesc Xavier Solsona Tehas" userId="1f95e2c3-a25c-4efc-a37b-de93ab79e53c" providerId="ADAL" clId="{C51773D9-DD29-5A84-A509-762D3F3EA38B}" dt="2026-02-14T11:18:59.632" v="202" actId="1037"/>
          <ac:spMkLst>
            <pc:docMk/>
            <pc:sldMk cId="0" sldId="294"/>
            <ac:spMk id="10" creationId="{94DB57A0-D61C-F006-F732-E3D21F3580C9}"/>
          </ac:spMkLst>
        </pc:spChg>
        <pc:spChg chg="add mod">
          <ac:chgData name="Francesc Xavier Solsona Tehas" userId="1f95e2c3-a25c-4efc-a37b-de93ab79e53c" providerId="ADAL" clId="{C51773D9-DD29-5A84-A509-762D3F3EA38B}" dt="2026-02-14T11:18:53.680" v="199" actId="1076"/>
          <ac:spMkLst>
            <pc:docMk/>
            <pc:sldMk cId="0" sldId="294"/>
            <ac:spMk id="11" creationId="{3848A72E-B31A-BFC0-6DD4-3EBE22F7E4EE}"/>
          </ac:spMkLst>
        </pc:spChg>
        <pc:picChg chg="mod">
          <ac:chgData name="Francesc Xavier Solsona Tehas" userId="1f95e2c3-a25c-4efc-a37b-de93ab79e53c" providerId="ADAL" clId="{C51773D9-DD29-5A84-A509-762D3F3EA38B}" dt="2026-02-14T11:19:17.730" v="206" actId="14100"/>
          <ac:picMkLst>
            <pc:docMk/>
            <pc:sldMk cId="0" sldId="294"/>
            <ac:picMk id="4" creationId="{00000000-0000-0000-0000-000000000000}"/>
          </ac:picMkLst>
        </pc:picChg>
      </pc:sldChg>
      <pc:sldChg chg="modSp mod">
        <pc:chgData name="Francesc Xavier Solsona Tehas" userId="1f95e2c3-a25c-4efc-a37b-de93ab79e53c" providerId="ADAL" clId="{C51773D9-DD29-5A84-A509-762D3F3EA38B}" dt="2026-02-14T11:20:02.297" v="211" actId="207"/>
        <pc:sldMkLst>
          <pc:docMk/>
          <pc:sldMk cId="0" sldId="295"/>
        </pc:sldMkLst>
        <pc:spChg chg="mod">
          <ac:chgData name="Francesc Xavier Solsona Tehas" userId="1f95e2c3-a25c-4efc-a37b-de93ab79e53c" providerId="ADAL" clId="{C51773D9-DD29-5A84-A509-762D3F3EA38B}" dt="2026-02-14T11:20:02.297" v="211" actId="207"/>
          <ac:spMkLst>
            <pc:docMk/>
            <pc:sldMk cId="0" sldId="295"/>
            <ac:spMk id="3" creationId="{00000000-0000-0000-0000-000000000000}"/>
          </ac:spMkLst>
        </pc:spChg>
      </pc:sldChg>
      <pc:sldChg chg="modSp mod">
        <pc:chgData name="Francesc Xavier Solsona Tehas" userId="1f95e2c3-a25c-4efc-a37b-de93ab79e53c" providerId="ADAL" clId="{C51773D9-DD29-5A84-A509-762D3F3EA38B}" dt="2026-02-14T11:24:31.313" v="220" actId="207"/>
        <pc:sldMkLst>
          <pc:docMk/>
          <pc:sldMk cId="0" sldId="296"/>
        </pc:sldMkLst>
        <pc:spChg chg="mod">
          <ac:chgData name="Francesc Xavier Solsona Tehas" userId="1f95e2c3-a25c-4efc-a37b-de93ab79e53c" providerId="ADAL" clId="{C51773D9-DD29-5A84-A509-762D3F3EA38B}" dt="2026-02-14T11:24:31.313" v="220" actId="207"/>
          <ac:spMkLst>
            <pc:docMk/>
            <pc:sldMk cId="0" sldId="296"/>
            <ac:spMk id="3" creationId="{00000000-0000-0000-0000-000000000000}"/>
          </ac:spMkLst>
        </pc:spChg>
      </pc:sldChg>
      <pc:sldChg chg="modSp mod">
        <pc:chgData name="Francesc Xavier Solsona Tehas" userId="1f95e2c3-a25c-4efc-a37b-de93ab79e53c" providerId="ADAL" clId="{C51773D9-DD29-5A84-A509-762D3F3EA38B}" dt="2026-02-14T11:26:47.451" v="224" actId="14100"/>
        <pc:sldMkLst>
          <pc:docMk/>
          <pc:sldMk cId="0" sldId="297"/>
        </pc:sldMkLst>
        <pc:spChg chg="mod">
          <ac:chgData name="Francesc Xavier Solsona Tehas" userId="1f95e2c3-a25c-4efc-a37b-de93ab79e53c" providerId="ADAL" clId="{C51773D9-DD29-5A84-A509-762D3F3EA38B}" dt="2026-02-14T11:26:39.696" v="221" actId="1076"/>
          <ac:spMkLst>
            <pc:docMk/>
            <pc:sldMk cId="0" sldId="297"/>
            <ac:spMk id="5" creationId="{00000000-0000-0000-0000-000000000000}"/>
          </ac:spMkLst>
        </pc:spChg>
        <pc:picChg chg="mod">
          <ac:chgData name="Francesc Xavier Solsona Tehas" userId="1f95e2c3-a25c-4efc-a37b-de93ab79e53c" providerId="ADAL" clId="{C51773D9-DD29-5A84-A509-762D3F3EA38B}" dt="2026-02-14T11:26:47.451" v="224" actId="14100"/>
          <ac:picMkLst>
            <pc:docMk/>
            <pc:sldMk cId="0" sldId="297"/>
            <ac:picMk id="4" creationId="{00000000-0000-0000-0000-000000000000}"/>
          </ac:picMkLst>
        </pc:picChg>
      </pc:sldChg>
      <pc:sldChg chg="modSp mod">
        <pc:chgData name="Francesc Xavier Solsona Tehas" userId="1f95e2c3-a25c-4efc-a37b-de93ab79e53c" providerId="ADAL" clId="{C51773D9-DD29-5A84-A509-762D3F3EA38B}" dt="2026-02-14T11:27:16.148" v="236" actId="14100"/>
        <pc:sldMkLst>
          <pc:docMk/>
          <pc:sldMk cId="0" sldId="298"/>
        </pc:sldMkLst>
        <pc:spChg chg="mod">
          <ac:chgData name="Francesc Xavier Solsona Tehas" userId="1f95e2c3-a25c-4efc-a37b-de93ab79e53c" providerId="ADAL" clId="{C51773D9-DD29-5A84-A509-762D3F3EA38B}" dt="2026-02-14T11:27:04.993" v="233" actId="1035"/>
          <ac:spMkLst>
            <pc:docMk/>
            <pc:sldMk cId="0" sldId="298"/>
            <ac:spMk id="5" creationId="{00000000-0000-0000-0000-000000000000}"/>
          </ac:spMkLst>
        </pc:spChg>
        <pc:picChg chg="mod">
          <ac:chgData name="Francesc Xavier Solsona Tehas" userId="1f95e2c3-a25c-4efc-a37b-de93ab79e53c" providerId="ADAL" clId="{C51773D9-DD29-5A84-A509-762D3F3EA38B}" dt="2026-02-14T11:27:16.148" v="236" actId="14100"/>
          <ac:picMkLst>
            <pc:docMk/>
            <pc:sldMk cId="0" sldId="298"/>
            <ac:picMk id="4" creationId="{00000000-0000-0000-0000-000000000000}"/>
          </ac:picMkLst>
        </pc:picChg>
      </pc:sldChg>
      <pc:sldChg chg="modSp mod">
        <pc:chgData name="Francesc Xavier Solsona Tehas" userId="1f95e2c3-a25c-4efc-a37b-de93ab79e53c" providerId="ADAL" clId="{C51773D9-DD29-5A84-A509-762D3F3EA38B}" dt="2026-02-14T11:27:47.032" v="244" actId="14100"/>
        <pc:sldMkLst>
          <pc:docMk/>
          <pc:sldMk cId="0" sldId="299"/>
        </pc:sldMkLst>
        <pc:spChg chg="mod">
          <ac:chgData name="Francesc Xavier Solsona Tehas" userId="1f95e2c3-a25c-4efc-a37b-de93ab79e53c" providerId="ADAL" clId="{C51773D9-DD29-5A84-A509-762D3F3EA38B}" dt="2026-02-14T11:27:38.391" v="242" actId="1036"/>
          <ac:spMkLst>
            <pc:docMk/>
            <pc:sldMk cId="0" sldId="299"/>
            <ac:spMk id="5" creationId="{00000000-0000-0000-0000-000000000000}"/>
          </ac:spMkLst>
        </pc:spChg>
        <pc:picChg chg="mod">
          <ac:chgData name="Francesc Xavier Solsona Tehas" userId="1f95e2c3-a25c-4efc-a37b-de93ab79e53c" providerId="ADAL" clId="{C51773D9-DD29-5A84-A509-762D3F3EA38B}" dt="2026-02-14T11:27:47.032" v="244" actId="14100"/>
          <ac:picMkLst>
            <pc:docMk/>
            <pc:sldMk cId="0" sldId="299"/>
            <ac:picMk id="4" creationId="{00000000-0000-0000-0000-000000000000}"/>
          </ac:picMkLst>
        </pc:picChg>
      </pc:sldChg>
      <pc:sldChg chg="modSp mod">
        <pc:chgData name="Francesc Xavier Solsona Tehas" userId="1f95e2c3-a25c-4efc-a37b-de93ab79e53c" providerId="ADAL" clId="{C51773D9-DD29-5A84-A509-762D3F3EA38B}" dt="2026-02-14T11:28:05.957" v="250" actId="14100"/>
        <pc:sldMkLst>
          <pc:docMk/>
          <pc:sldMk cId="0" sldId="300"/>
        </pc:sldMkLst>
        <pc:spChg chg="mod">
          <ac:chgData name="Francesc Xavier Solsona Tehas" userId="1f95e2c3-a25c-4efc-a37b-de93ab79e53c" providerId="ADAL" clId="{C51773D9-DD29-5A84-A509-762D3F3EA38B}" dt="2026-02-14T11:28:01.900" v="249" actId="1036"/>
          <ac:spMkLst>
            <pc:docMk/>
            <pc:sldMk cId="0" sldId="300"/>
            <ac:spMk id="5" creationId="{00000000-0000-0000-0000-000000000000}"/>
          </ac:spMkLst>
        </pc:spChg>
        <pc:picChg chg="mod">
          <ac:chgData name="Francesc Xavier Solsona Tehas" userId="1f95e2c3-a25c-4efc-a37b-de93ab79e53c" providerId="ADAL" clId="{C51773D9-DD29-5A84-A509-762D3F3EA38B}" dt="2026-02-14T11:28:05.957" v="250" actId="14100"/>
          <ac:picMkLst>
            <pc:docMk/>
            <pc:sldMk cId="0" sldId="300"/>
            <ac:picMk id="4" creationId="{00000000-0000-0000-0000-000000000000}"/>
          </ac:picMkLst>
        </pc:picChg>
      </pc:sldChg>
      <pc:sldChg chg="modSp mod">
        <pc:chgData name="Francesc Xavier Solsona Tehas" userId="1f95e2c3-a25c-4efc-a37b-de93ab79e53c" providerId="ADAL" clId="{C51773D9-DD29-5A84-A509-762D3F3EA38B}" dt="2026-02-14T11:28:29.735" v="258" actId="14100"/>
        <pc:sldMkLst>
          <pc:docMk/>
          <pc:sldMk cId="0" sldId="301"/>
        </pc:sldMkLst>
        <pc:spChg chg="mod">
          <ac:chgData name="Francesc Xavier Solsona Tehas" userId="1f95e2c3-a25c-4efc-a37b-de93ab79e53c" providerId="ADAL" clId="{C51773D9-DD29-5A84-A509-762D3F3EA38B}" dt="2026-02-14T11:28:23.380" v="256" actId="1036"/>
          <ac:spMkLst>
            <pc:docMk/>
            <pc:sldMk cId="0" sldId="301"/>
            <ac:spMk id="5" creationId="{00000000-0000-0000-0000-000000000000}"/>
          </ac:spMkLst>
        </pc:spChg>
        <pc:picChg chg="mod">
          <ac:chgData name="Francesc Xavier Solsona Tehas" userId="1f95e2c3-a25c-4efc-a37b-de93ab79e53c" providerId="ADAL" clId="{C51773D9-DD29-5A84-A509-762D3F3EA38B}" dt="2026-02-14T11:28:29.735" v="258" actId="14100"/>
          <ac:picMkLst>
            <pc:docMk/>
            <pc:sldMk cId="0" sldId="301"/>
            <ac:picMk id="4" creationId="{00000000-0000-0000-0000-000000000000}"/>
          </ac:picMkLst>
        </pc:picChg>
      </pc:sldChg>
      <pc:sldChg chg="modSp mod modNotesTx">
        <pc:chgData name="Francesc Xavier Solsona Tehas" userId="1f95e2c3-a25c-4efc-a37b-de93ab79e53c" providerId="ADAL" clId="{C51773D9-DD29-5A84-A509-762D3F3EA38B}" dt="2026-02-25T11:30:24.535" v="546" actId="20577"/>
        <pc:sldMkLst>
          <pc:docMk/>
          <pc:sldMk cId="0" sldId="302"/>
        </pc:sldMkLst>
        <pc:spChg chg="mod">
          <ac:chgData name="Francesc Xavier Solsona Tehas" userId="1f95e2c3-a25c-4efc-a37b-de93ab79e53c" providerId="ADAL" clId="{C51773D9-DD29-5A84-A509-762D3F3EA38B}" dt="2026-02-25T11:30:24.535" v="546" actId="20577"/>
          <ac:spMkLst>
            <pc:docMk/>
            <pc:sldMk cId="0" sldId="302"/>
            <ac:spMk id="5" creationId="{00000000-0000-0000-0000-000000000000}"/>
          </ac:spMkLst>
        </pc:spChg>
        <pc:picChg chg="mod">
          <ac:chgData name="Francesc Xavier Solsona Tehas" userId="1f95e2c3-a25c-4efc-a37b-de93ab79e53c" providerId="ADAL" clId="{C51773D9-DD29-5A84-A509-762D3F3EA38B}" dt="2026-02-14T11:29:35.252" v="278" actId="14100"/>
          <ac:picMkLst>
            <pc:docMk/>
            <pc:sldMk cId="0" sldId="302"/>
            <ac:picMk id="4" creationId="{00000000-0000-0000-0000-000000000000}"/>
          </ac:picMkLst>
        </pc:picChg>
      </pc:sldChg>
      <pc:sldChg chg="modSp mod modNotesTx">
        <pc:chgData name="Francesc Xavier Solsona Tehas" userId="1f95e2c3-a25c-4efc-a37b-de93ab79e53c" providerId="ADAL" clId="{C51773D9-DD29-5A84-A509-762D3F3EA38B}" dt="2026-02-14T11:35:42.126" v="353" actId="20577"/>
        <pc:sldMkLst>
          <pc:docMk/>
          <pc:sldMk cId="0" sldId="303"/>
        </pc:sldMkLst>
        <pc:spChg chg="mod">
          <ac:chgData name="Francesc Xavier Solsona Tehas" userId="1f95e2c3-a25c-4efc-a37b-de93ab79e53c" providerId="ADAL" clId="{C51773D9-DD29-5A84-A509-762D3F3EA38B}" dt="2026-02-14T11:35:16.467" v="323" actId="1036"/>
          <ac:spMkLst>
            <pc:docMk/>
            <pc:sldMk cId="0" sldId="303"/>
            <ac:spMk id="5" creationId="{00000000-0000-0000-0000-000000000000}"/>
          </ac:spMkLst>
        </pc:spChg>
        <pc:picChg chg="mod">
          <ac:chgData name="Francesc Xavier Solsona Tehas" userId="1f95e2c3-a25c-4efc-a37b-de93ab79e53c" providerId="ADAL" clId="{C51773D9-DD29-5A84-A509-762D3F3EA38B}" dt="2026-02-14T11:35:23.501" v="325" actId="14100"/>
          <ac:picMkLst>
            <pc:docMk/>
            <pc:sldMk cId="0" sldId="303"/>
            <ac:picMk id="4" creationId="{00000000-0000-0000-0000-000000000000}"/>
          </ac:picMkLst>
        </pc:picChg>
      </pc:sldChg>
      <pc:sldChg chg="addSp delSp modSp mod">
        <pc:chgData name="Francesc Xavier Solsona Tehas" userId="1f95e2c3-a25c-4efc-a37b-de93ab79e53c" providerId="ADAL" clId="{C51773D9-DD29-5A84-A509-762D3F3EA38B}" dt="2026-02-14T13:22:16.306" v="359" actId="478"/>
        <pc:sldMkLst>
          <pc:docMk/>
          <pc:sldMk cId="0" sldId="305"/>
        </pc:sldMkLst>
      </pc:sldChg>
      <pc:sldChg chg="modSp mod">
        <pc:chgData name="Francesc Xavier Solsona Tehas" userId="1f95e2c3-a25c-4efc-a37b-de93ab79e53c" providerId="ADAL" clId="{C51773D9-DD29-5A84-A509-762D3F3EA38B}" dt="2026-02-14T11:08:51.314" v="48" actId="14100"/>
        <pc:sldMkLst>
          <pc:docMk/>
          <pc:sldMk cId="0" sldId="309"/>
        </pc:sldMkLst>
        <pc:picChg chg="mod">
          <ac:chgData name="Francesc Xavier Solsona Tehas" userId="1f95e2c3-a25c-4efc-a37b-de93ab79e53c" providerId="ADAL" clId="{C51773D9-DD29-5A84-A509-762D3F3EA38B}" dt="2026-02-14T11:08:51.314" v="48" actId="14100"/>
          <ac:picMkLst>
            <pc:docMk/>
            <pc:sldMk cId="0" sldId="309"/>
            <ac:picMk id="4" creationId="{00000000-0000-0000-0000-000000000000}"/>
          </ac:picMkLst>
        </pc:picChg>
      </pc:sldChg>
      <pc:sldChg chg="modSp mod ord">
        <pc:chgData name="Francesc Xavier Solsona Tehas" userId="1f95e2c3-a25c-4efc-a37b-de93ab79e53c" providerId="ADAL" clId="{C51773D9-DD29-5A84-A509-762D3F3EA38B}" dt="2026-02-25T11:38:29.922" v="590" actId="14100"/>
        <pc:sldMkLst>
          <pc:docMk/>
          <pc:sldMk cId="0" sldId="311"/>
        </pc:sldMkLst>
        <pc:spChg chg="mod">
          <ac:chgData name="Francesc Xavier Solsona Tehas" userId="1f95e2c3-a25c-4efc-a37b-de93ab79e53c" providerId="ADAL" clId="{C51773D9-DD29-5A84-A509-762D3F3EA38B}" dt="2026-02-25T11:38:29.922" v="590" actId="14100"/>
          <ac:spMkLst>
            <pc:docMk/>
            <pc:sldMk cId="0" sldId="311"/>
            <ac:spMk id="5" creationId="{00000000-0000-0000-0000-000000000000}"/>
          </ac:spMkLst>
        </pc:spChg>
        <pc:picChg chg="mod">
          <ac:chgData name="Francesc Xavier Solsona Tehas" userId="1f95e2c3-a25c-4efc-a37b-de93ab79e53c" providerId="ADAL" clId="{C51773D9-DD29-5A84-A509-762D3F3EA38B}" dt="2026-02-14T11:09:19.999" v="55" actId="1037"/>
          <ac:picMkLst>
            <pc:docMk/>
            <pc:sldMk cId="0" sldId="311"/>
            <ac:picMk id="4" creationId="{00000000-0000-0000-0000-000000000000}"/>
          </ac:picMkLst>
        </pc:picChg>
      </pc:sldChg>
      <pc:sldChg chg="modSp mod">
        <pc:chgData name="Francesc Xavier Solsona Tehas" userId="1f95e2c3-a25c-4efc-a37b-de93ab79e53c" providerId="ADAL" clId="{C51773D9-DD29-5A84-A509-762D3F3EA38B}" dt="2026-02-25T11:39:08.221" v="593" actId="207"/>
        <pc:sldMkLst>
          <pc:docMk/>
          <pc:sldMk cId="0" sldId="312"/>
        </pc:sldMkLst>
        <pc:spChg chg="mod">
          <ac:chgData name="Francesc Xavier Solsona Tehas" userId="1f95e2c3-a25c-4efc-a37b-de93ab79e53c" providerId="ADAL" clId="{C51773D9-DD29-5A84-A509-762D3F3EA38B}" dt="2026-02-25T11:39:08.221" v="593" actId="207"/>
          <ac:spMkLst>
            <pc:docMk/>
            <pc:sldMk cId="0" sldId="312"/>
            <ac:spMk id="2" creationId="{00000000-0000-0000-0000-000000000000}"/>
          </ac:spMkLst>
        </pc:spChg>
      </pc:sldChg>
      <pc:sldChg chg="modSp mod">
        <pc:chgData name="Francesc Xavier Solsona Tehas" userId="1f95e2c3-a25c-4efc-a37b-de93ab79e53c" providerId="ADAL" clId="{C51773D9-DD29-5A84-A509-762D3F3EA38B}" dt="2026-02-14T11:06:42.846" v="43" actId="20577"/>
        <pc:sldMkLst>
          <pc:docMk/>
          <pc:sldMk cId="0" sldId="319"/>
        </pc:sldMkLst>
        <pc:spChg chg="mod">
          <ac:chgData name="Francesc Xavier Solsona Tehas" userId="1f95e2c3-a25c-4efc-a37b-de93ab79e53c" providerId="ADAL" clId="{C51773D9-DD29-5A84-A509-762D3F3EA38B}" dt="2026-02-14T11:06:42.846" v="43" actId="20577"/>
          <ac:spMkLst>
            <pc:docMk/>
            <pc:sldMk cId="0" sldId="319"/>
            <ac:spMk id="16" creationId="{00000000-0000-0000-0000-000000000000}"/>
          </ac:spMkLst>
        </pc:spChg>
      </pc:sldChg>
      <pc:sldChg chg="modSp mod">
        <pc:chgData name="Francesc Xavier Solsona Tehas" userId="1f95e2c3-a25c-4efc-a37b-de93ab79e53c" providerId="ADAL" clId="{C51773D9-DD29-5A84-A509-762D3F3EA38B}" dt="2026-02-14T11:06:45.996" v="45" actId="20577"/>
        <pc:sldMkLst>
          <pc:docMk/>
          <pc:sldMk cId="0" sldId="320"/>
        </pc:sldMkLst>
        <pc:spChg chg="mod">
          <ac:chgData name="Francesc Xavier Solsona Tehas" userId="1f95e2c3-a25c-4efc-a37b-de93ab79e53c" providerId="ADAL" clId="{C51773D9-DD29-5A84-A509-762D3F3EA38B}" dt="2026-02-14T11:06:45.996" v="45" actId="20577"/>
          <ac:spMkLst>
            <pc:docMk/>
            <pc:sldMk cId="0" sldId="320"/>
            <ac:spMk id="13" creationId="{00000000-0000-0000-0000-000000000000}"/>
          </ac:spMkLst>
        </pc:spChg>
      </pc:sldChg>
      <pc:sldChg chg="modSp mod">
        <pc:chgData name="Francesc Xavier Solsona Tehas" userId="1f95e2c3-a25c-4efc-a37b-de93ab79e53c" providerId="ADAL" clId="{C51773D9-DD29-5A84-A509-762D3F3EA38B}" dt="2026-02-25T11:51:49.140" v="615" actId="20577"/>
        <pc:sldMkLst>
          <pc:docMk/>
          <pc:sldMk cId="0" sldId="328"/>
        </pc:sldMkLst>
        <pc:spChg chg="mod">
          <ac:chgData name="Francesc Xavier Solsona Tehas" userId="1f95e2c3-a25c-4efc-a37b-de93ab79e53c" providerId="ADAL" clId="{C51773D9-DD29-5A84-A509-762D3F3EA38B}" dt="2026-02-25T11:51:49.140" v="615" actId="20577"/>
          <ac:spMkLst>
            <pc:docMk/>
            <pc:sldMk cId="0" sldId="328"/>
            <ac:spMk id="2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265488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66EEFB-8C2A-5C47-9353-657B625C444F}" type="datetimeFigureOut">
              <a:rPr lang="es-ES" smtClean="0"/>
              <a:t>21/4/26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911350" y="406400"/>
            <a:ext cx="1943100" cy="10937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265488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A9EDAF-B4A8-2B48-B3B4-4F936485687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02810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9EDAF-B4A8-2B48-B3B4-4F936485687B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449418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err="1"/>
              <a:t>Notice</a:t>
            </a:r>
            <a:r>
              <a:rPr lang="es-ES" dirty="0"/>
              <a:t> </a:t>
            </a:r>
            <a:r>
              <a:rPr lang="es-ES" dirty="0" err="1"/>
              <a:t>on</a:t>
            </a:r>
            <a:r>
              <a:rPr lang="es-ES" dirty="0"/>
              <a:t> </a:t>
            </a:r>
            <a:r>
              <a:rPr lang="es-ES" dirty="0" err="1"/>
              <a:t>your</a:t>
            </a:r>
            <a:r>
              <a:rPr lang="es-ES" dirty="0"/>
              <a:t> Budget. </a:t>
            </a:r>
            <a:r>
              <a:rPr lang="es-ES" dirty="0" err="1"/>
              <a:t>Underlined</a:t>
            </a:r>
            <a:r>
              <a:rPr lang="es-ES" dirty="0"/>
              <a:t> in red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9EDAF-B4A8-2B48-B3B4-4F936485687B}" type="slidenum">
              <a:rPr lang="es-ES" smtClean="0"/>
              <a:t>26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232364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Here </a:t>
            </a:r>
            <a:r>
              <a:rPr lang="es-ES" dirty="0" err="1"/>
              <a:t>you</a:t>
            </a:r>
            <a:r>
              <a:rPr lang="es-ES" dirty="0"/>
              <a:t> are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dashboard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9EDAF-B4A8-2B48-B3B4-4F936485687B}" type="slidenum">
              <a:rPr lang="es-ES" smtClean="0"/>
              <a:t>27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71824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9EDAF-B4A8-2B48-B3B4-4F936485687B}" type="slidenum">
              <a:rPr lang="es-ES" smtClean="0"/>
              <a:t>32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43760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9EDAF-B4A8-2B48-B3B4-4F936485687B}" type="slidenum">
              <a:rPr lang="es-ES" smtClean="0"/>
              <a:t>38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90289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8526" y="59834"/>
            <a:ext cx="192786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47294" y="1824239"/>
            <a:ext cx="1904364" cy="3771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22373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22373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5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5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5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8526" y="59834"/>
            <a:ext cx="291084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1718" y="846814"/>
            <a:ext cx="5073650" cy="16567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22373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151376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francescsolsonatehas.github.io/HPDCB/session3.html" TargetMode="External"/><Relationship Id="rId2" Type="http://schemas.openxmlformats.org/officeDocument/2006/relationships/hyperlink" Target="mailto:francesc.solsona@udl.cat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awsacademy.instructure.com/" TargetMode="Externa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mailto:ec2-user@ec2-3-87-76-117.compute-1.amazonaws.com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stral.sh/uv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hyperlink" Target="http://ec2-3-87-76-117.compute-1.amazonaws.com:8888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" Target="slide52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934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 lang="en-US" noProof="1"/>
          </a:p>
        </p:txBody>
      </p:sp>
      <p:sp>
        <p:nvSpPr>
          <p:cNvPr id="3" name="object 3"/>
          <p:cNvSpPr txBox="1"/>
          <p:nvPr/>
        </p:nvSpPr>
        <p:spPr>
          <a:xfrm>
            <a:off x="347294" y="554655"/>
            <a:ext cx="37998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b="1" noProof="1">
                <a:solidFill>
                  <a:srgbClr val="22373A"/>
                </a:solidFill>
                <a:latin typeface="Arial"/>
                <a:cs typeface="Arial"/>
              </a:rPr>
              <a:t>High</a:t>
            </a:r>
            <a:r>
              <a:rPr lang="en-US" sz="1100" b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1100" b="1" spc="-40" noProof="1">
                <a:solidFill>
                  <a:srgbClr val="22373A"/>
                </a:solidFill>
                <a:latin typeface="Arial"/>
                <a:cs typeface="Arial"/>
              </a:rPr>
              <a:t>Performance</a:t>
            </a:r>
            <a:r>
              <a:rPr lang="en-US" sz="1100" b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1100" b="1" spc="-2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1100" b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1100" b="1" spc="-20" noProof="1">
                <a:solidFill>
                  <a:srgbClr val="22373A"/>
                </a:solidFill>
                <a:latin typeface="Arial"/>
                <a:cs typeface="Arial"/>
              </a:rPr>
              <a:t>Distributed</a:t>
            </a:r>
            <a:r>
              <a:rPr lang="en-US" sz="1100" b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1100" b="1" spc="-30" noProof="1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lang="en-US" sz="1100" b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1100" b="1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1100" b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1100" b="1" noProof="1">
                <a:solidFill>
                  <a:srgbClr val="22373A"/>
                </a:solidFill>
                <a:latin typeface="Arial"/>
                <a:cs typeface="Arial"/>
              </a:rPr>
              <a:t>Big</a:t>
            </a:r>
            <a:r>
              <a:rPr lang="en-US" sz="1100" b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1100" b="1" spc="-20" noProof="1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endParaRPr lang="en-US" sz="1100" noProof="1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7294" y="892851"/>
            <a:ext cx="4212006" cy="33278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lang="en-US" sz="1000" noProof="1">
                <a:solidFill>
                  <a:srgbClr val="22373A"/>
                </a:solidFill>
                <a:latin typeface="Arial"/>
                <a:cs typeface="Arial"/>
              </a:rPr>
              <a:t>Unit</a:t>
            </a:r>
            <a:r>
              <a:rPr lang="en-US" sz="10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1000" noProof="1">
                <a:solidFill>
                  <a:srgbClr val="22373A"/>
                </a:solidFill>
                <a:latin typeface="Arial"/>
                <a:cs typeface="Arial"/>
              </a:rPr>
              <a:t>3:</a:t>
            </a:r>
            <a:r>
              <a:rPr lang="en-US" sz="1000" spc="1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1000" noProof="1">
                <a:solidFill>
                  <a:srgbClr val="22373A"/>
                </a:solidFill>
                <a:latin typeface="Arial"/>
                <a:cs typeface="Arial"/>
              </a:rPr>
              <a:t>Unit</a:t>
            </a:r>
            <a:r>
              <a:rPr lang="en-US" sz="10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1000" noProof="1">
                <a:solidFill>
                  <a:srgbClr val="22373A"/>
                </a:solidFill>
                <a:latin typeface="Arial"/>
                <a:cs typeface="Arial"/>
              </a:rPr>
              <a:t>3:</a:t>
            </a:r>
            <a:r>
              <a:rPr lang="en-US" sz="1000" spc="1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1000" noProof="1"/>
              <a:t>Cloud Systems and Big Data Management</a:t>
            </a:r>
            <a:endParaRPr lang="en-US" sz="1000" noProof="1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en-US" sz="1000" noProof="1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9994" y="1599698"/>
            <a:ext cx="5040630" cy="5080"/>
          </a:xfrm>
          <a:custGeom>
            <a:avLst/>
            <a:gdLst/>
            <a:ahLst/>
            <a:cxnLst/>
            <a:rect l="l" t="t" r="r" b="b"/>
            <a:pathLst>
              <a:path w="5040630" h="5080">
                <a:moveTo>
                  <a:pt x="0" y="5060"/>
                </a:moveTo>
                <a:lnTo>
                  <a:pt x="0" y="0"/>
                </a:lnTo>
                <a:lnTo>
                  <a:pt x="5040064" y="0"/>
                </a:lnTo>
                <a:lnTo>
                  <a:pt x="5040064" y="5060"/>
                </a:lnTo>
                <a:lnTo>
                  <a:pt x="0" y="5060"/>
                </a:lnTo>
                <a:close/>
              </a:path>
            </a:pathLst>
          </a:custGeom>
          <a:solidFill>
            <a:srgbClr val="EB811B"/>
          </a:solidFill>
        </p:spPr>
        <p:txBody>
          <a:bodyPr wrap="square" lIns="0" tIns="0" rIns="0" bIns="0" rtlCol="0"/>
          <a:lstStyle/>
          <a:p>
            <a:endParaRPr lang="en-US" noProof="1"/>
          </a:p>
        </p:txBody>
      </p:sp>
      <p:sp>
        <p:nvSpPr>
          <p:cNvPr id="6" name="object 6"/>
          <p:cNvSpPr txBox="1">
            <a:spLocks noGrp="1"/>
          </p:cNvSpPr>
          <p:nvPr>
            <p:ph type="subTitle" idx="4"/>
          </p:nvPr>
        </p:nvSpPr>
        <p:spPr>
          <a:xfrm>
            <a:off x="347294" y="1824239"/>
            <a:ext cx="2383206" cy="3763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800" spc="-10" noProof="1"/>
              <a:t>Francesc Solsona Tehas </a:t>
            </a:r>
            <a:r>
              <a:rPr lang="en-US" sz="800" spc="-20" noProof="1">
                <a:hlinkClick r:id="rId2"/>
              </a:rPr>
              <a:t>francesc.solsona@udl.cat</a:t>
            </a:r>
            <a:endParaRPr lang="en-US" sz="800" noProof="1"/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lang="en-US" sz="800" noProof="1"/>
          </a:p>
          <a:p>
            <a:pPr marL="12700">
              <a:lnSpc>
                <a:spcPct val="100000"/>
              </a:lnSpc>
            </a:pPr>
            <a:r>
              <a:rPr lang="en-US" sz="600" noProof="1"/>
              <a:t>Universitat</a:t>
            </a:r>
            <a:r>
              <a:rPr lang="en-US" sz="600" spc="20" noProof="1"/>
              <a:t> </a:t>
            </a:r>
            <a:r>
              <a:rPr lang="en-US" sz="600" noProof="1"/>
              <a:t>Rovira</a:t>
            </a:r>
            <a:r>
              <a:rPr lang="en-US" sz="600" spc="25" noProof="1"/>
              <a:t> </a:t>
            </a:r>
            <a:r>
              <a:rPr lang="en-US" sz="600" noProof="1"/>
              <a:t>i</a:t>
            </a:r>
            <a:r>
              <a:rPr lang="en-US" sz="600" spc="25" noProof="1"/>
              <a:t> </a:t>
            </a:r>
            <a:r>
              <a:rPr lang="en-US" sz="600" noProof="1"/>
              <a:t>Virgili</a:t>
            </a:r>
            <a:r>
              <a:rPr lang="en-US" sz="600" spc="25" noProof="1"/>
              <a:t> </a:t>
            </a:r>
            <a:r>
              <a:rPr lang="en-US" sz="600" noProof="1"/>
              <a:t>and</a:t>
            </a:r>
            <a:r>
              <a:rPr lang="en-US" sz="600" spc="25" noProof="1"/>
              <a:t> </a:t>
            </a:r>
            <a:r>
              <a:rPr lang="en-US" sz="600" noProof="1"/>
              <a:t>Universitat</a:t>
            </a:r>
            <a:r>
              <a:rPr lang="en-US" sz="600" spc="20" noProof="1"/>
              <a:t> </a:t>
            </a:r>
            <a:r>
              <a:rPr lang="en-US" sz="600" noProof="1"/>
              <a:t>de</a:t>
            </a:r>
            <a:r>
              <a:rPr lang="en-US" sz="600" spc="25" noProof="1"/>
              <a:t> </a:t>
            </a:r>
            <a:r>
              <a:rPr lang="en-US" sz="600" spc="-10" noProof="1"/>
              <a:t>Lleida</a:t>
            </a:r>
            <a:endParaRPr lang="en-US" sz="600" noProof="1"/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109220" cy="5080"/>
            </a:xfrm>
            <a:custGeom>
              <a:avLst/>
              <a:gdLst/>
              <a:ahLst/>
              <a:cxnLst/>
              <a:rect l="l" t="t" r="r" b="b"/>
              <a:pathLst>
                <a:path w="109220" h="5080">
                  <a:moveTo>
                    <a:pt x="0" y="5060"/>
                  </a:moveTo>
                  <a:lnTo>
                    <a:pt x="0" y="0"/>
                  </a:lnTo>
                  <a:lnTo>
                    <a:pt x="108634" y="0"/>
                  </a:lnTo>
                  <a:lnTo>
                    <a:pt x="10863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11" name="object 4">
            <a:extLst>
              <a:ext uri="{FF2B5EF4-FFF2-40B4-BE49-F238E27FC236}">
                <a16:creationId xmlns:a16="http://schemas.microsoft.com/office/drawing/2014/main" id="{90CA936B-5C45-2987-25C0-8E389B91997C}"/>
              </a:ext>
            </a:extLst>
          </p:cNvPr>
          <p:cNvSpPr txBox="1"/>
          <p:nvPr/>
        </p:nvSpPr>
        <p:spPr>
          <a:xfrm>
            <a:off x="347293" y="1226764"/>
            <a:ext cx="2459407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000" u="sng" noProof="1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Session 3 - Introduction to AWS + EC2</a:t>
            </a:r>
            <a:endParaRPr lang="en-US" sz="1000" noProof="1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20" noProof="1"/>
              <a:t>Amazon</a:t>
            </a:r>
            <a:r>
              <a:rPr lang="en-US" spc="15" noProof="1"/>
              <a:t> </a:t>
            </a:r>
            <a:r>
              <a:rPr lang="en-US" noProof="1"/>
              <a:t>Web</a:t>
            </a:r>
            <a:r>
              <a:rPr lang="en-US" spc="20" noProof="1"/>
              <a:t> </a:t>
            </a:r>
            <a:r>
              <a:rPr lang="en-US" spc="-50" noProof="1"/>
              <a:t>Services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1718" y="371520"/>
            <a:ext cx="378777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will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focus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session.</a:t>
            </a:r>
            <a:r>
              <a:rPr lang="en-US" sz="900" spc="8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offers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variety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services.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5100" y="613747"/>
            <a:ext cx="2494525" cy="231969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128469" y="2999105"/>
            <a:ext cx="150304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800" b="1" spc="-20" noProof="1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lang="en-US" sz="800" b="1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5:</a:t>
            </a:r>
            <a:r>
              <a:rPr lang="en-US" sz="800" b="1" spc="1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lang="en-US" sz="8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30" noProof="1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lang="en-US" sz="8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overview</a:t>
            </a:r>
            <a:endParaRPr lang="en-US" sz="800" noProof="1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652145" cy="5080"/>
            </a:xfrm>
            <a:custGeom>
              <a:avLst/>
              <a:gdLst/>
              <a:ahLst/>
              <a:cxnLst/>
              <a:rect l="l" t="t" r="r" b="b"/>
              <a:pathLst>
                <a:path w="652145" h="5080">
                  <a:moveTo>
                    <a:pt x="0" y="5060"/>
                  </a:moveTo>
                  <a:lnTo>
                    <a:pt x="0" y="0"/>
                  </a:lnTo>
                  <a:lnTo>
                    <a:pt x="652068" y="0"/>
                  </a:lnTo>
                  <a:lnTo>
                    <a:pt x="65206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20" noProof="1"/>
              <a:t>Amazon</a:t>
            </a:r>
            <a:r>
              <a:rPr lang="en-US" spc="20" noProof="1"/>
              <a:t> </a:t>
            </a:r>
            <a:r>
              <a:rPr lang="en-US" noProof="1"/>
              <a:t>Web</a:t>
            </a:r>
            <a:r>
              <a:rPr lang="en-US" spc="20" noProof="1"/>
              <a:t> </a:t>
            </a:r>
            <a:r>
              <a:rPr lang="en-US" spc="-45" noProof="1"/>
              <a:t>Services:</a:t>
            </a:r>
            <a:r>
              <a:rPr lang="en-US" spc="120" noProof="1"/>
              <a:t> </a:t>
            </a:r>
            <a:r>
              <a:rPr lang="en-US" spc="-25" noProof="1"/>
              <a:t>EC2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633229"/>
            <a:ext cx="476313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Today,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(Elastic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Compute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Cloud)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configure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virtual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machine.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0540" y="880478"/>
            <a:ext cx="2998927" cy="149946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413914" y="2513912"/>
            <a:ext cx="9321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800" b="1" spc="-20" noProof="1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lang="en-US" sz="800" b="1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6:</a:t>
            </a:r>
            <a:r>
              <a:rPr lang="en-US" sz="800" b="1" spc="10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lang="en-US" sz="8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endParaRPr lang="en-US" sz="800" noProof="1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761365" cy="5080"/>
            </a:xfrm>
            <a:custGeom>
              <a:avLst/>
              <a:gdLst/>
              <a:ahLst/>
              <a:cxnLst/>
              <a:rect l="l" t="t" r="r" b="b"/>
              <a:pathLst>
                <a:path w="761365" h="5080">
                  <a:moveTo>
                    <a:pt x="0" y="5060"/>
                  </a:moveTo>
                  <a:lnTo>
                    <a:pt x="0" y="0"/>
                  </a:lnTo>
                  <a:lnTo>
                    <a:pt x="760790" y="0"/>
                  </a:lnTo>
                  <a:lnTo>
                    <a:pt x="76079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5865"/>
            <a:ext cx="12350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b="1" spc="-40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Connecting</a:t>
            </a:r>
            <a:r>
              <a:rPr lang="en-US" sz="1100" b="1" spc="35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lang="en-US" sz="1100" b="1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to</a:t>
            </a:r>
            <a:r>
              <a:rPr lang="en-US" sz="1100" b="1" spc="50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lang="en-US" sz="1100" b="1" spc="-25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EC2</a:t>
            </a:r>
            <a:endParaRPr lang="en-US" sz="1100" noProof="1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7755"/>
            <a:ext cx="2505710" cy="5080"/>
            <a:chOff x="1627403" y="1647755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7755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7755"/>
              <a:ext cx="331470" cy="5080"/>
            </a:xfrm>
            <a:custGeom>
              <a:avLst/>
              <a:gdLst/>
              <a:ahLst/>
              <a:cxnLst/>
              <a:rect l="l" t="t" r="r" b="b"/>
              <a:pathLst>
                <a:path w="331469" h="5080">
                  <a:moveTo>
                    <a:pt x="0" y="5060"/>
                  </a:moveTo>
                  <a:lnTo>
                    <a:pt x="0" y="0"/>
                  </a:lnTo>
                  <a:lnTo>
                    <a:pt x="330891" y="0"/>
                  </a:lnTo>
                  <a:lnTo>
                    <a:pt x="33089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A</a:t>
            </a:r>
            <a:r>
              <a:rPr lang="en-US" spc="25" noProof="1"/>
              <a:t> </a:t>
            </a:r>
            <a:r>
              <a:rPr lang="en-US" spc="-10" noProof="1"/>
              <a:t>remote</a:t>
            </a:r>
            <a:r>
              <a:rPr lang="en-US" spc="25" noProof="1"/>
              <a:t> </a:t>
            </a:r>
            <a:r>
              <a:rPr lang="en-US" spc="-10" noProof="1"/>
              <a:t>terminal</a:t>
            </a:r>
            <a:r>
              <a:rPr lang="en-US" spc="25" noProof="1"/>
              <a:t> </a:t>
            </a:r>
            <a:r>
              <a:rPr lang="en-US" spc="-25" noProof="1"/>
              <a:t>through</a:t>
            </a:r>
            <a:r>
              <a:rPr lang="en-US" spc="25" noProof="1"/>
              <a:t> </a:t>
            </a:r>
            <a:r>
              <a:rPr lang="en-US" spc="-25" noProof="1"/>
              <a:t>SSH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5116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lang="en-US" b="1" noProof="1">
                <a:latin typeface="Arial"/>
                <a:cs typeface="Arial"/>
              </a:rPr>
              <a:t>What</a:t>
            </a:r>
            <a:r>
              <a:rPr lang="en-US" b="1" spc="50" noProof="1">
                <a:latin typeface="Arial"/>
                <a:cs typeface="Arial"/>
              </a:rPr>
              <a:t> </a:t>
            </a:r>
            <a:r>
              <a:rPr lang="en-US" b="1" spc="-20" noProof="1">
                <a:latin typeface="Arial"/>
                <a:cs typeface="Arial"/>
              </a:rPr>
              <a:t>is</a:t>
            </a:r>
            <a:r>
              <a:rPr lang="en-US" b="1" spc="55" noProof="1">
                <a:latin typeface="Arial"/>
                <a:cs typeface="Arial"/>
              </a:rPr>
              <a:t> </a:t>
            </a:r>
            <a:r>
              <a:rPr lang="en-US" b="1" noProof="1">
                <a:latin typeface="Arial"/>
                <a:cs typeface="Arial"/>
              </a:rPr>
              <a:t>a</a:t>
            </a:r>
            <a:r>
              <a:rPr lang="en-US" b="1" spc="50" noProof="1">
                <a:latin typeface="Arial"/>
                <a:cs typeface="Arial"/>
              </a:rPr>
              <a:t> </a:t>
            </a:r>
            <a:r>
              <a:rPr lang="en-US" b="1" spc="-10" noProof="1">
                <a:latin typeface="Arial"/>
                <a:cs typeface="Arial"/>
              </a:rPr>
              <a:t>Terminal?</a:t>
            </a:r>
          </a:p>
          <a:p>
            <a:pPr marL="17780" marR="65405" indent="-4445">
              <a:lnSpc>
                <a:spcPct val="116199"/>
              </a:lnSpc>
              <a:spcBef>
                <a:spcPts val="670"/>
              </a:spcBef>
            </a:pPr>
            <a:r>
              <a:rPr lang="en-US" noProof="1"/>
              <a:t>A</a:t>
            </a:r>
            <a:r>
              <a:rPr lang="en-US" spc="20" noProof="1"/>
              <a:t> </a:t>
            </a:r>
            <a:r>
              <a:rPr lang="en-US" b="1" spc="-10" noProof="1">
                <a:latin typeface="Arial"/>
                <a:cs typeface="Arial"/>
              </a:rPr>
              <a:t>terminal</a:t>
            </a:r>
            <a:r>
              <a:rPr lang="en-US" b="1" spc="25" noProof="1">
                <a:latin typeface="Arial"/>
                <a:cs typeface="Arial"/>
              </a:rPr>
              <a:t> </a:t>
            </a:r>
            <a:r>
              <a:rPr lang="en-US" noProof="1"/>
              <a:t>is</a:t>
            </a:r>
            <a:r>
              <a:rPr lang="en-US" spc="25" noProof="1"/>
              <a:t> </a:t>
            </a:r>
            <a:r>
              <a:rPr lang="en-US" noProof="1"/>
              <a:t>an</a:t>
            </a:r>
            <a:r>
              <a:rPr lang="en-US" spc="20" noProof="1"/>
              <a:t> </a:t>
            </a:r>
            <a:r>
              <a:rPr lang="en-US" spc="-10" noProof="1"/>
              <a:t>interface</a:t>
            </a:r>
            <a:r>
              <a:rPr lang="en-US" spc="25" noProof="1"/>
              <a:t> </a:t>
            </a:r>
            <a:r>
              <a:rPr lang="en-US" noProof="1"/>
              <a:t>that</a:t>
            </a:r>
            <a:r>
              <a:rPr lang="en-US" spc="25" noProof="1"/>
              <a:t> </a:t>
            </a:r>
            <a:r>
              <a:rPr lang="en-US" spc="-25" noProof="1"/>
              <a:t>allows</a:t>
            </a:r>
            <a:r>
              <a:rPr lang="en-US" spc="25" noProof="1"/>
              <a:t> </a:t>
            </a:r>
            <a:r>
              <a:rPr lang="en-US" spc="-50" noProof="1"/>
              <a:t>users</a:t>
            </a:r>
            <a:r>
              <a:rPr lang="en-US" spc="20" noProof="1"/>
              <a:t> </a:t>
            </a:r>
            <a:r>
              <a:rPr lang="en-US" noProof="1"/>
              <a:t>to</a:t>
            </a:r>
            <a:r>
              <a:rPr lang="en-US" spc="25" noProof="1"/>
              <a:t> </a:t>
            </a:r>
            <a:r>
              <a:rPr lang="en-US" noProof="1"/>
              <a:t>interact</a:t>
            </a:r>
            <a:r>
              <a:rPr lang="en-US" spc="25" noProof="1"/>
              <a:t> </a:t>
            </a:r>
            <a:r>
              <a:rPr lang="en-US" noProof="1"/>
              <a:t>with</a:t>
            </a:r>
            <a:r>
              <a:rPr lang="en-US" spc="25" noProof="1"/>
              <a:t> </a:t>
            </a:r>
            <a:r>
              <a:rPr lang="en-US" noProof="1"/>
              <a:t>a</a:t>
            </a:r>
            <a:r>
              <a:rPr lang="en-US" spc="20" noProof="1"/>
              <a:t> </a:t>
            </a:r>
            <a:r>
              <a:rPr lang="en-US" spc="-10" noProof="1"/>
              <a:t>computer</a:t>
            </a:r>
            <a:r>
              <a:rPr lang="en-US" spc="25" noProof="1"/>
              <a:t> </a:t>
            </a:r>
            <a:r>
              <a:rPr lang="en-US" spc="-20" noProof="1"/>
              <a:t>using</a:t>
            </a:r>
            <a:r>
              <a:rPr lang="en-US" spc="25" noProof="1"/>
              <a:t> </a:t>
            </a:r>
            <a:r>
              <a:rPr lang="en-US" noProof="1"/>
              <a:t>text</a:t>
            </a:r>
            <a:r>
              <a:rPr lang="en-US" spc="25" noProof="1"/>
              <a:t> </a:t>
            </a:r>
            <a:r>
              <a:rPr lang="en-US" spc="-30" noProof="1"/>
              <a:t>commands.</a:t>
            </a:r>
            <a:r>
              <a:rPr lang="en-US" spc="110" noProof="1"/>
              <a:t> </a:t>
            </a:r>
            <a:r>
              <a:rPr lang="en-US" spc="-10" noProof="1"/>
              <a:t>Unlike </a:t>
            </a:r>
            <a:r>
              <a:rPr lang="en-US" spc="-20" noProof="1"/>
              <a:t>graphical</a:t>
            </a:r>
            <a:r>
              <a:rPr lang="en-US" spc="10" noProof="1"/>
              <a:t> </a:t>
            </a:r>
            <a:r>
              <a:rPr lang="en-US" spc="-35" noProof="1"/>
              <a:t>user</a:t>
            </a:r>
            <a:r>
              <a:rPr lang="en-US" spc="10" noProof="1"/>
              <a:t> </a:t>
            </a:r>
            <a:r>
              <a:rPr lang="en-US" spc="-25" noProof="1"/>
              <a:t>interfaces</a:t>
            </a:r>
            <a:r>
              <a:rPr lang="en-US" spc="15" noProof="1"/>
              <a:t> </a:t>
            </a:r>
            <a:r>
              <a:rPr lang="en-US" noProof="1"/>
              <a:t>(GUIs),</a:t>
            </a:r>
            <a:r>
              <a:rPr lang="en-US" spc="10" noProof="1"/>
              <a:t> </a:t>
            </a:r>
            <a:r>
              <a:rPr lang="en-US" spc="-10" noProof="1"/>
              <a:t>terminals</a:t>
            </a:r>
            <a:r>
              <a:rPr lang="en-US" spc="15" noProof="1"/>
              <a:t> </a:t>
            </a:r>
            <a:r>
              <a:rPr lang="en-US" spc="-10" noProof="1"/>
              <a:t>allow</a:t>
            </a:r>
            <a:r>
              <a:rPr lang="en-US" spc="10" noProof="1"/>
              <a:t> </a:t>
            </a:r>
            <a:r>
              <a:rPr lang="en-US" noProof="1"/>
              <a:t>direct</a:t>
            </a:r>
            <a:r>
              <a:rPr lang="en-US" spc="15" noProof="1"/>
              <a:t> </a:t>
            </a:r>
            <a:r>
              <a:rPr lang="en-US" spc="-20" noProof="1"/>
              <a:t>communication</a:t>
            </a:r>
            <a:r>
              <a:rPr lang="en-US" spc="10" noProof="1"/>
              <a:t> </a:t>
            </a:r>
            <a:r>
              <a:rPr lang="en-US" noProof="1"/>
              <a:t>with</a:t>
            </a:r>
            <a:r>
              <a:rPr lang="en-US" spc="15" noProof="1"/>
              <a:t> </a:t>
            </a:r>
            <a:r>
              <a:rPr lang="en-US" noProof="1"/>
              <a:t>the</a:t>
            </a:r>
            <a:r>
              <a:rPr lang="en-US" spc="10" noProof="1"/>
              <a:t> </a:t>
            </a:r>
            <a:r>
              <a:rPr lang="en-US" spc="-10" noProof="1"/>
              <a:t>operating</a:t>
            </a:r>
            <a:r>
              <a:rPr lang="en-US" spc="15" noProof="1"/>
              <a:t> </a:t>
            </a:r>
            <a:r>
              <a:rPr lang="en-US" spc="-10" noProof="1"/>
              <a:t>system.</a:t>
            </a:r>
          </a:p>
          <a:p>
            <a:pPr marL="17780">
              <a:lnSpc>
                <a:spcPct val="100000"/>
              </a:lnSpc>
              <a:spcBef>
                <a:spcPts val="855"/>
              </a:spcBef>
            </a:pPr>
            <a:r>
              <a:rPr lang="en-US" b="1" noProof="1">
                <a:latin typeface="Arial"/>
                <a:cs typeface="Arial"/>
              </a:rPr>
              <a:t>What</a:t>
            </a:r>
            <a:r>
              <a:rPr lang="en-US" b="1" spc="55" noProof="1">
                <a:latin typeface="Arial"/>
                <a:cs typeface="Arial"/>
              </a:rPr>
              <a:t> </a:t>
            </a:r>
            <a:r>
              <a:rPr lang="en-US" b="1" spc="-20" noProof="1">
                <a:latin typeface="Arial"/>
                <a:cs typeface="Arial"/>
              </a:rPr>
              <a:t>is</a:t>
            </a:r>
            <a:r>
              <a:rPr lang="en-US" b="1" spc="55" noProof="1">
                <a:latin typeface="Arial"/>
                <a:cs typeface="Arial"/>
              </a:rPr>
              <a:t> </a:t>
            </a:r>
            <a:r>
              <a:rPr lang="en-US" b="1" spc="-20" noProof="1">
                <a:latin typeface="Arial"/>
                <a:cs typeface="Arial"/>
              </a:rPr>
              <a:t>SSH?</a:t>
            </a:r>
          </a:p>
          <a:p>
            <a:pPr marL="17780" marR="122555">
              <a:lnSpc>
                <a:spcPct val="116199"/>
              </a:lnSpc>
              <a:spcBef>
                <a:spcPts val="670"/>
              </a:spcBef>
            </a:pPr>
            <a:r>
              <a:rPr lang="en-US" b="1" noProof="1">
                <a:latin typeface="Arial"/>
                <a:cs typeface="Arial"/>
              </a:rPr>
              <a:t>SSH</a:t>
            </a:r>
            <a:r>
              <a:rPr lang="en-US" b="1" spc="30" noProof="1">
                <a:latin typeface="Arial"/>
                <a:cs typeface="Arial"/>
              </a:rPr>
              <a:t> </a:t>
            </a:r>
            <a:r>
              <a:rPr lang="en-US" b="1" spc="-20" noProof="1">
                <a:latin typeface="Arial"/>
                <a:cs typeface="Arial"/>
              </a:rPr>
              <a:t>(Secure</a:t>
            </a:r>
            <a:r>
              <a:rPr lang="en-US" b="1" spc="35" noProof="1">
                <a:latin typeface="Arial"/>
                <a:cs typeface="Arial"/>
              </a:rPr>
              <a:t> </a:t>
            </a:r>
            <a:r>
              <a:rPr lang="en-US" b="1" spc="-10" noProof="1">
                <a:latin typeface="Arial"/>
                <a:cs typeface="Arial"/>
              </a:rPr>
              <a:t>Shell)</a:t>
            </a:r>
            <a:r>
              <a:rPr lang="en-US" b="1" spc="15" noProof="1">
                <a:latin typeface="Arial"/>
                <a:cs typeface="Arial"/>
              </a:rPr>
              <a:t> </a:t>
            </a:r>
            <a:r>
              <a:rPr lang="en-US" noProof="1"/>
              <a:t>is</a:t>
            </a:r>
            <a:r>
              <a:rPr lang="en-US" spc="15" noProof="1"/>
              <a:t> </a:t>
            </a:r>
            <a:r>
              <a:rPr lang="en-US" noProof="1"/>
              <a:t>a</a:t>
            </a:r>
            <a:r>
              <a:rPr lang="en-US" spc="15" noProof="1"/>
              <a:t> </a:t>
            </a:r>
            <a:r>
              <a:rPr lang="en-US" noProof="1"/>
              <a:t>protocol</a:t>
            </a:r>
            <a:r>
              <a:rPr lang="en-US" spc="15" noProof="1"/>
              <a:t> </a:t>
            </a:r>
            <a:r>
              <a:rPr lang="en-US" noProof="1"/>
              <a:t>that</a:t>
            </a:r>
            <a:r>
              <a:rPr lang="en-US" spc="15" noProof="1"/>
              <a:t> </a:t>
            </a:r>
            <a:r>
              <a:rPr lang="en-US" spc="-25" noProof="1"/>
              <a:t>allows</a:t>
            </a:r>
            <a:r>
              <a:rPr lang="en-US" spc="15" noProof="1"/>
              <a:t> </a:t>
            </a:r>
            <a:r>
              <a:rPr lang="en-US" spc="-50" noProof="1"/>
              <a:t>secure</a:t>
            </a:r>
            <a:r>
              <a:rPr lang="en-US" spc="15" noProof="1"/>
              <a:t> </a:t>
            </a:r>
            <a:r>
              <a:rPr lang="en-US" spc="-20" noProof="1"/>
              <a:t>remote</a:t>
            </a:r>
            <a:r>
              <a:rPr lang="en-US" spc="20" noProof="1"/>
              <a:t> </a:t>
            </a:r>
            <a:r>
              <a:rPr lang="en-US" spc="-75" noProof="1"/>
              <a:t>access</a:t>
            </a:r>
            <a:r>
              <a:rPr lang="en-US" spc="15" noProof="1"/>
              <a:t> </a:t>
            </a:r>
            <a:r>
              <a:rPr lang="en-US" noProof="1"/>
              <a:t>to</a:t>
            </a:r>
            <a:r>
              <a:rPr lang="en-US" spc="15" noProof="1"/>
              <a:t> </a:t>
            </a:r>
            <a:r>
              <a:rPr lang="en-US" spc="-40" noProof="1"/>
              <a:t>machines</a:t>
            </a:r>
            <a:r>
              <a:rPr lang="en-US" spc="15" noProof="1"/>
              <a:t> </a:t>
            </a:r>
            <a:r>
              <a:rPr lang="en-US" spc="-10" noProof="1"/>
              <a:t>over</a:t>
            </a:r>
            <a:r>
              <a:rPr lang="en-US" spc="15" noProof="1"/>
              <a:t> </a:t>
            </a:r>
            <a:r>
              <a:rPr lang="en-US" noProof="1"/>
              <a:t>the</a:t>
            </a:r>
            <a:r>
              <a:rPr lang="en-US" spc="15" noProof="1"/>
              <a:t> </a:t>
            </a:r>
            <a:r>
              <a:rPr lang="en-US" noProof="1"/>
              <a:t>internet.</a:t>
            </a:r>
            <a:r>
              <a:rPr lang="en-US" spc="105" noProof="1"/>
              <a:t> </a:t>
            </a:r>
            <a:r>
              <a:rPr lang="en-US" spc="-25" noProof="1"/>
              <a:t>It </a:t>
            </a:r>
            <a:r>
              <a:rPr lang="en-US" spc="-45" noProof="1"/>
              <a:t>enables</a:t>
            </a:r>
            <a:r>
              <a:rPr lang="en-US" spc="15" noProof="1"/>
              <a:t> </a:t>
            </a:r>
            <a:r>
              <a:rPr lang="en-US" spc="-50" noProof="1"/>
              <a:t>users</a:t>
            </a:r>
            <a:r>
              <a:rPr lang="en-US" spc="15" noProof="1"/>
              <a:t> </a:t>
            </a:r>
            <a:r>
              <a:rPr lang="en-US" noProof="1"/>
              <a:t>to</a:t>
            </a:r>
            <a:r>
              <a:rPr lang="en-US" spc="15" noProof="1"/>
              <a:t> </a:t>
            </a:r>
            <a:r>
              <a:rPr lang="en-US" spc="-35" noProof="1"/>
              <a:t>execute</a:t>
            </a:r>
            <a:r>
              <a:rPr lang="en-US" spc="15" noProof="1"/>
              <a:t> </a:t>
            </a:r>
            <a:r>
              <a:rPr lang="en-US" spc="-40" noProof="1"/>
              <a:t>commands</a:t>
            </a:r>
            <a:r>
              <a:rPr lang="en-US" spc="15" noProof="1"/>
              <a:t> </a:t>
            </a:r>
            <a:r>
              <a:rPr lang="en-US" noProof="1"/>
              <a:t>on</a:t>
            </a:r>
            <a:r>
              <a:rPr lang="en-US" spc="15" noProof="1"/>
              <a:t> </a:t>
            </a:r>
            <a:r>
              <a:rPr lang="en-US" spc="-20" noProof="1"/>
              <a:t>remote</a:t>
            </a:r>
            <a:r>
              <a:rPr lang="en-US" spc="20" noProof="1"/>
              <a:t> </a:t>
            </a:r>
            <a:r>
              <a:rPr lang="en-US" spc="-45" noProof="1"/>
              <a:t>servers</a:t>
            </a:r>
            <a:r>
              <a:rPr lang="en-US" spc="15" noProof="1"/>
              <a:t> </a:t>
            </a:r>
            <a:r>
              <a:rPr lang="en-US" spc="-45" noProof="1"/>
              <a:t>as</a:t>
            </a:r>
            <a:r>
              <a:rPr lang="en-US" spc="15" noProof="1"/>
              <a:t> </a:t>
            </a:r>
            <a:r>
              <a:rPr lang="en-US" noProof="1"/>
              <a:t>if</a:t>
            </a:r>
            <a:r>
              <a:rPr lang="en-US" spc="15" noProof="1"/>
              <a:t> </a:t>
            </a:r>
            <a:r>
              <a:rPr lang="en-US" noProof="1"/>
              <a:t>they</a:t>
            </a:r>
            <a:r>
              <a:rPr lang="en-US" spc="15" noProof="1"/>
              <a:t> </a:t>
            </a:r>
            <a:r>
              <a:rPr lang="en-US" spc="-45" noProof="1"/>
              <a:t>were</a:t>
            </a:r>
            <a:r>
              <a:rPr lang="en-US" spc="15" noProof="1"/>
              <a:t> </a:t>
            </a:r>
            <a:r>
              <a:rPr lang="en-US" spc="-20" noProof="1"/>
              <a:t>physically</a:t>
            </a:r>
            <a:r>
              <a:rPr lang="en-US" spc="20" noProof="1"/>
              <a:t> </a:t>
            </a:r>
            <a:r>
              <a:rPr lang="en-US" spc="-10" noProof="1"/>
              <a:t>present.</a:t>
            </a:r>
          </a:p>
          <a:p>
            <a:pPr marL="17780" marR="5080" indent="-5715">
              <a:lnSpc>
                <a:spcPct val="116199"/>
              </a:lnSpc>
              <a:spcBef>
                <a:spcPts val="450"/>
              </a:spcBef>
            </a:pPr>
            <a:r>
              <a:rPr lang="en-US" spc="-10" noProof="1"/>
              <a:t>When </a:t>
            </a:r>
            <a:r>
              <a:rPr lang="en-US" spc="-40" noProof="1"/>
              <a:t>we</a:t>
            </a:r>
            <a:r>
              <a:rPr lang="en-US" spc="-5" noProof="1"/>
              <a:t> </a:t>
            </a:r>
            <a:r>
              <a:rPr lang="en-US" spc="-20" noProof="1"/>
              <a:t>connect</a:t>
            </a:r>
            <a:r>
              <a:rPr lang="en-US" spc="-5" noProof="1"/>
              <a:t> </a:t>
            </a:r>
            <a:r>
              <a:rPr lang="en-US" noProof="1"/>
              <a:t>to</a:t>
            </a:r>
            <a:r>
              <a:rPr lang="en-US" spc="-5" noProof="1"/>
              <a:t> </a:t>
            </a:r>
            <a:r>
              <a:rPr lang="en-US" noProof="1"/>
              <a:t>a</a:t>
            </a:r>
            <a:r>
              <a:rPr lang="en-US" spc="-5" noProof="1"/>
              <a:t> </a:t>
            </a:r>
            <a:r>
              <a:rPr lang="en-US" spc="-20" noProof="1"/>
              <a:t>remote</a:t>
            </a:r>
            <a:r>
              <a:rPr lang="en-US" spc="-5" noProof="1"/>
              <a:t> </a:t>
            </a:r>
            <a:r>
              <a:rPr lang="en-US" spc="-25" noProof="1"/>
              <a:t>machine</a:t>
            </a:r>
            <a:r>
              <a:rPr lang="en-US" spc="-5" noProof="1"/>
              <a:t> </a:t>
            </a:r>
            <a:r>
              <a:rPr lang="en-US" noProof="1"/>
              <a:t>through</a:t>
            </a:r>
            <a:r>
              <a:rPr lang="en-US" spc="-5" noProof="1"/>
              <a:t> </a:t>
            </a:r>
            <a:r>
              <a:rPr lang="en-US" spc="-25" noProof="1"/>
              <a:t>SSH,</a:t>
            </a:r>
            <a:r>
              <a:rPr lang="en-US" spc="-5" noProof="1"/>
              <a:t> </a:t>
            </a:r>
            <a:r>
              <a:rPr lang="en-US" spc="-40" noProof="1"/>
              <a:t>we</a:t>
            </a:r>
            <a:r>
              <a:rPr lang="en-US" spc="-5" noProof="1"/>
              <a:t> </a:t>
            </a:r>
            <a:r>
              <a:rPr lang="en-US" spc="-30" noProof="1"/>
              <a:t>are</a:t>
            </a:r>
            <a:r>
              <a:rPr lang="en-US" spc="-5" noProof="1"/>
              <a:t> </a:t>
            </a:r>
            <a:r>
              <a:rPr lang="en-US" spc="-30" noProof="1"/>
              <a:t>essentially</a:t>
            </a:r>
            <a:r>
              <a:rPr lang="en-US" spc="-5" noProof="1"/>
              <a:t> </a:t>
            </a:r>
            <a:r>
              <a:rPr lang="en-US" spc="-25" noProof="1"/>
              <a:t>opening</a:t>
            </a:r>
            <a:r>
              <a:rPr lang="en-US" spc="-5" noProof="1"/>
              <a:t> </a:t>
            </a:r>
            <a:r>
              <a:rPr lang="en-US" noProof="1"/>
              <a:t>a</a:t>
            </a:r>
            <a:r>
              <a:rPr lang="en-US" spc="-5" noProof="1"/>
              <a:t> </a:t>
            </a:r>
            <a:r>
              <a:rPr lang="en-US" b="1" spc="-10" noProof="1">
                <a:latin typeface="Arial"/>
                <a:cs typeface="Arial"/>
              </a:rPr>
              <a:t>remote</a:t>
            </a:r>
            <a:r>
              <a:rPr lang="en-US" b="1" spc="15" noProof="1">
                <a:latin typeface="Arial"/>
                <a:cs typeface="Arial"/>
              </a:rPr>
              <a:t> </a:t>
            </a:r>
            <a:r>
              <a:rPr lang="en-US" b="1" spc="-10" noProof="1">
                <a:latin typeface="Arial"/>
                <a:cs typeface="Arial"/>
              </a:rPr>
              <a:t>terminal</a:t>
            </a:r>
            <a:r>
              <a:rPr lang="en-US" b="1" spc="-5" noProof="1">
                <a:latin typeface="Arial"/>
                <a:cs typeface="Arial"/>
              </a:rPr>
              <a:t> </a:t>
            </a:r>
            <a:r>
              <a:rPr lang="en-US" spc="-25" noProof="1"/>
              <a:t>on </a:t>
            </a:r>
            <a:r>
              <a:rPr lang="en-US" noProof="1"/>
              <a:t>that</a:t>
            </a:r>
            <a:r>
              <a:rPr lang="en-US" spc="120" noProof="1"/>
              <a:t> </a:t>
            </a:r>
            <a:r>
              <a:rPr lang="en-US" spc="-10" noProof="1"/>
              <a:t>machine.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869950" cy="5080"/>
            </a:xfrm>
            <a:custGeom>
              <a:avLst/>
              <a:gdLst/>
              <a:ahLst/>
              <a:cxnLst/>
              <a:rect l="l" t="t" r="r" b="b"/>
              <a:pathLst>
                <a:path w="869950" h="5080">
                  <a:moveTo>
                    <a:pt x="0" y="5060"/>
                  </a:moveTo>
                  <a:lnTo>
                    <a:pt x="0" y="0"/>
                  </a:lnTo>
                  <a:lnTo>
                    <a:pt x="869424" y="0"/>
                  </a:lnTo>
                  <a:lnTo>
                    <a:pt x="86942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12788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How</a:t>
            </a:r>
            <a:r>
              <a:rPr lang="en-US" spc="10" noProof="1"/>
              <a:t> </a:t>
            </a:r>
            <a:r>
              <a:rPr lang="en-US" spc="-45" noProof="1"/>
              <a:t>does</a:t>
            </a:r>
            <a:r>
              <a:rPr lang="en-US" spc="10" noProof="1"/>
              <a:t> </a:t>
            </a:r>
            <a:r>
              <a:rPr lang="en-US" noProof="1"/>
              <a:t>SSH</a:t>
            </a:r>
            <a:r>
              <a:rPr lang="en-US" spc="15" noProof="1"/>
              <a:t> </a:t>
            </a:r>
            <a:r>
              <a:rPr lang="en-US" spc="-45" noProof="1"/>
              <a:t>work?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 marR="5080">
              <a:lnSpc>
                <a:spcPct val="116199"/>
              </a:lnSpc>
              <a:spcBef>
                <a:spcPts val="100"/>
              </a:spcBef>
            </a:pPr>
            <a:r>
              <a:rPr lang="en-US" spc="-45" noProof="1"/>
              <a:t>SSH</a:t>
            </a:r>
            <a:r>
              <a:rPr lang="en-US" spc="5" noProof="1"/>
              <a:t> </a:t>
            </a:r>
            <a:r>
              <a:rPr lang="en-US" spc="-30" noProof="1"/>
              <a:t>works</a:t>
            </a:r>
            <a:r>
              <a:rPr lang="en-US" spc="5" noProof="1"/>
              <a:t> </a:t>
            </a:r>
            <a:r>
              <a:rPr lang="en-US" noProof="1"/>
              <a:t>with</a:t>
            </a:r>
            <a:r>
              <a:rPr lang="en-US" spc="5" noProof="1"/>
              <a:t> </a:t>
            </a:r>
            <a:r>
              <a:rPr lang="en-US" b="1" spc="-35" noProof="1">
                <a:latin typeface="Arial"/>
                <a:cs typeface="Arial"/>
              </a:rPr>
              <a:t>public</a:t>
            </a:r>
            <a:r>
              <a:rPr lang="en-US" b="1" spc="25" noProof="1">
                <a:latin typeface="Arial"/>
                <a:cs typeface="Arial"/>
              </a:rPr>
              <a:t> </a:t>
            </a:r>
            <a:r>
              <a:rPr lang="en-US" b="1" spc="-10" noProof="1">
                <a:latin typeface="Arial"/>
                <a:cs typeface="Arial"/>
              </a:rPr>
              <a:t>and</a:t>
            </a:r>
            <a:r>
              <a:rPr lang="en-US" b="1" spc="25" noProof="1">
                <a:latin typeface="Arial"/>
                <a:cs typeface="Arial"/>
              </a:rPr>
              <a:t> </a:t>
            </a:r>
            <a:r>
              <a:rPr lang="en-US" b="1" spc="-20" noProof="1">
                <a:latin typeface="Arial"/>
                <a:cs typeface="Arial"/>
              </a:rPr>
              <a:t>private</a:t>
            </a:r>
            <a:r>
              <a:rPr lang="en-US" b="1" spc="20" noProof="1">
                <a:latin typeface="Arial"/>
                <a:cs typeface="Arial"/>
              </a:rPr>
              <a:t> </a:t>
            </a:r>
            <a:r>
              <a:rPr lang="en-US" b="1" spc="-60" noProof="1">
                <a:latin typeface="Arial"/>
                <a:cs typeface="Arial"/>
              </a:rPr>
              <a:t>keys</a:t>
            </a:r>
            <a:r>
              <a:rPr lang="en-US" b="1" spc="10" noProof="1">
                <a:latin typeface="Arial"/>
                <a:cs typeface="Arial"/>
              </a:rPr>
              <a:t> </a:t>
            </a:r>
            <a:r>
              <a:rPr lang="en-US" noProof="1"/>
              <a:t>to</a:t>
            </a:r>
            <a:r>
              <a:rPr lang="en-US" spc="5" noProof="1"/>
              <a:t> </a:t>
            </a:r>
            <a:r>
              <a:rPr lang="en-US" spc="-25" noProof="1"/>
              <a:t>establish</a:t>
            </a:r>
            <a:r>
              <a:rPr lang="en-US" spc="5" noProof="1"/>
              <a:t> </a:t>
            </a:r>
            <a:r>
              <a:rPr lang="en-US" noProof="1"/>
              <a:t>a</a:t>
            </a:r>
            <a:r>
              <a:rPr lang="en-US" spc="10" noProof="1"/>
              <a:t> </a:t>
            </a:r>
            <a:r>
              <a:rPr lang="en-US" spc="-50" noProof="1"/>
              <a:t>secure</a:t>
            </a:r>
            <a:r>
              <a:rPr lang="en-US" spc="5" noProof="1"/>
              <a:t> </a:t>
            </a:r>
            <a:r>
              <a:rPr lang="en-US" spc="-10" noProof="1"/>
              <a:t>connection.</a:t>
            </a:r>
            <a:r>
              <a:rPr lang="en-US" spc="95" noProof="1"/>
              <a:t> </a:t>
            </a:r>
            <a:r>
              <a:rPr lang="en-US" noProof="1"/>
              <a:t>This</a:t>
            </a:r>
            <a:r>
              <a:rPr lang="en-US" spc="5" noProof="1"/>
              <a:t> </a:t>
            </a:r>
            <a:r>
              <a:rPr lang="en-US" spc="-20" noProof="1"/>
              <a:t>eliminates</a:t>
            </a:r>
            <a:r>
              <a:rPr lang="en-US" spc="10" noProof="1"/>
              <a:t> </a:t>
            </a:r>
            <a:r>
              <a:rPr lang="en-US" noProof="1"/>
              <a:t>the</a:t>
            </a:r>
            <a:r>
              <a:rPr lang="en-US" spc="5" noProof="1"/>
              <a:t> </a:t>
            </a:r>
            <a:r>
              <a:rPr lang="en-US" spc="-50" noProof="1"/>
              <a:t>need</a:t>
            </a:r>
            <a:r>
              <a:rPr lang="en-US" spc="5" noProof="1"/>
              <a:t> </a:t>
            </a:r>
            <a:r>
              <a:rPr lang="en-US" spc="-25" noProof="1"/>
              <a:t>for </a:t>
            </a:r>
            <a:r>
              <a:rPr lang="en-US" spc="-65" noProof="1"/>
              <a:t>password-</a:t>
            </a:r>
            <a:r>
              <a:rPr lang="en-US" spc="-30" noProof="1"/>
              <a:t>based</a:t>
            </a:r>
            <a:r>
              <a:rPr lang="en-US" spc="60" noProof="1"/>
              <a:t> </a:t>
            </a:r>
            <a:r>
              <a:rPr lang="en-US" spc="-10" noProof="1"/>
              <a:t>authentication,</a:t>
            </a:r>
            <a:r>
              <a:rPr lang="en-US" spc="65" noProof="1"/>
              <a:t> </a:t>
            </a:r>
            <a:r>
              <a:rPr lang="en-US" spc="-35" noProof="1"/>
              <a:t>enhancing</a:t>
            </a:r>
            <a:r>
              <a:rPr lang="en-US" spc="65" noProof="1"/>
              <a:t> </a:t>
            </a:r>
            <a:r>
              <a:rPr lang="en-US" spc="-10" noProof="1"/>
              <a:t>security.</a:t>
            </a:r>
          </a:p>
          <a:p>
            <a:pPr marL="17780">
              <a:lnSpc>
                <a:spcPct val="100000"/>
              </a:lnSpc>
              <a:spcBef>
                <a:spcPts val="770"/>
              </a:spcBef>
            </a:pPr>
            <a:r>
              <a:rPr lang="en-US" b="1" spc="-20" noProof="1">
                <a:latin typeface="Arial"/>
                <a:cs typeface="Arial"/>
              </a:rPr>
              <a:t>Public</a:t>
            </a:r>
            <a:r>
              <a:rPr lang="en-US" b="1" spc="-15" noProof="1">
                <a:latin typeface="Arial"/>
                <a:cs typeface="Arial"/>
              </a:rPr>
              <a:t> </a:t>
            </a:r>
            <a:r>
              <a:rPr lang="en-US" b="1" spc="-10" noProof="1">
                <a:latin typeface="Arial"/>
                <a:cs typeface="Arial"/>
              </a:rPr>
              <a:t>and </a:t>
            </a:r>
            <a:r>
              <a:rPr lang="en-US" b="1" noProof="1">
                <a:latin typeface="Arial"/>
                <a:cs typeface="Arial"/>
              </a:rPr>
              <a:t>Private</a:t>
            </a:r>
            <a:r>
              <a:rPr lang="en-US" b="1" spc="-10" noProof="1">
                <a:latin typeface="Arial"/>
                <a:cs typeface="Arial"/>
              </a:rPr>
              <a:t> </a:t>
            </a:r>
            <a:r>
              <a:rPr lang="en-US" b="1" spc="-20" noProof="1">
                <a:latin typeface="Arial"/>
                <a:cs typeface="Arial"/>
              </a:rPr>
              <a:t>Keys</a:t>
            </a:r>
          </a:p>
          <a:p>
            <a:pPr marL="245110" indent="-147320">
              <a:lnSpc>
                <a:spcPct val="100000"/>
              </a:lnSpc>
              <a:spcBef>
                <a:spcPts val="850"/>
              </a:spcBef>
              <a:buFont typeface="Arial"/>
              <a:buChar char="•"/>
              <a:tabLst>
                <a:tab pos="245110" algn="l"/>
              </a:tabLst>
            </a:pPr>
            <a:r>
              <a:rPr lang="en-US" b="1" spc="-20" noProof="1">
                <a:latin typeface="Arial"/>
                <a:cs typeface="Arial"/>
              </a:rPr>
              <a:t>Public</a:t>
            </a:r>
            <a:r>
              <a:rPr lang="en-US" b="1" spc="30" noProof="1">
                <a:latin typeface="Arial"/>
                <a:cs typeface="Arial"/>
              </a:rPr>
              <a:t> </a:t>
            </a:r>
            <a:r>
              <a:rPr lang="en-US" b="1" spc="-10" noProof="1">
                <a:latin typeface="Arial"/>
                <a:cs typeface="Arial"/>
              </a:rPr>
              <a:t>key</a:t>
            </a:r>
            <a:r>
              <a:rPr lang="en-US" spc="-10" noProof="1"/>
              <a:t>:</a:t>
            </a:r>
            <a:r>
              <a:rPr lang="en-US" spc="95" noProof="1"/>
              <a:t> </a:t>
            </a:r>
            <a:r>
              <a:rPr lang="en-US" spc="-10" noProof="1"/>
              <a:t>We</a:t>
            </a:r>
            <a:r>
              <a:rPr lang="en-US" spc="15" noProof="1"/>
              <a:t> </a:t>
            </a:r>
            <a:r>
              <a:rPr lang="en-US" spc="-30" noProof="1"/>
              <a:t>are</a:t>
            </a:r>
            <a:r>
              <a:rPr lang="en-US" spc="15" noProof="1"/>
              <a:t> </a:t>
            </a:r>
            <a:r>
              <a:rPr lang="en-US" spc="-10" noProof="1"/>
              <a:t>going</a:t>
            </a:r>
            <a:r>
              <a:rPr lang="en-US" spc="10" noProof="1"/>
              <a:t> </a:t>
            </a:r>
            <a:r>
              <a:rPr lang="en-US" noProof="1"/>
              <a:t>to</a:t>
            </a:r>
            <a:r>
              <a:rPr lang="en-US" spc="15" noProof="1"/>
              <a:t> </a:t>
            </a:r>
            <a:r>
              <a:rPr lang="en-US" spc="-55" noProof="1"/>
              <a:t>share</a:t>
            </a:r>
            <a:r>
              <a:rPr lang="en-US" spc="10" noProof="1"/>
              <a:t> </a:t>
            </a:r>
            <a:r>
              <a:rPr lang="en-US" noProof="1"/>
              <a:t>this</a:t>
            </a:r>
            <a:r>
              <a:rPr lang="en-US" spc="15" noProof="1"/>
              <a:t> </a:t>
            </a:r>
            <a:r>
              <a:rPr lang="en-US" noProof="1"/>
              <a:t>with</a:t>
            </a:r>
            <a:r>
              <a:rPr lang="en-US" spc="10" noProof="1"/>
              <a:t> </a:t>
            </a:r>
            <a:r>
              <a:rPr lang="en-US" noProof="1"/>
              <a:t>the</a:t>
            </a:r>
            <a:r>
              <a:rPr lang="en-US" spc="15" noProof="1"/>
              <a:t> </a:t>
            </a:r>
            <a:r>
              <a:rPr lang="en-US" spc="-10" noProof="1"/>
              <a:t>server.</a:t>
            </a:r>
          </a:p>
          <a:p>
            <a:pPr marL="245110" indent="-147320">
              <a:lnSpc>
                <a:spcPct val="100000"/>
              </a:lnSpc>
              <a:spcBef>
                <a:spcPts val="175"/>
              </a:spcBef>
              <a:buFont typeface="Arial"/>
              <a:buChar char="•"/>
              <a:tabLst>
                <a:tab pos="245110" algn="l"/>
              </a:tabLst>
            </a:pPr>
            <a:r>
              <a:rPr lang="en-US" b="1" noProof="1">
                <a:latin typeface="Arial"/>
                <a:cs typeface="Arial"/>
              </a:rPr>
              <a:t>Private</a:t>
            </a:r>
            <a:r>
              <a:rPr lang="en-US" b="1" spc="-5" noProof="1">
                <a:latin typeface="Arial"/>
                <a:cs typeface="Arial"/>
              </a:rPr>
              <a:t> </a:t>
            </a:r>
            <a:r>
              <a:rPr lang="en-US" b="1" spc="-10" noProof="1">
                <a:latin typeface="Arial"/>
                <a:cs typeface="Arial"/>
              </a:rPr>
              <a:t>key</a:t>
            </a:r>
            <a:r>
              <a:rPr lang="en-US" spc="-10" noProof="1"/>
              <a:t>:</a:t>
            </a:r>
            <a:r>
              <a:rPr lang="en-US" spc="60" noProof="1"/>
              <a:t> </a:t>
            </a:r>
            <a:r>
              <a:rPr lang="en-US" noProof="1"/>
              <a:t>This</a:t>
            </a:r>
            <a:r>
              <a:rPr lang="en-US" spc="-15" noProof="1"/>
              <a:t> </a:t>
            </a:r>
            <a:r>
              <a:rPr lang="en-US" spc="-25" noProof="1"/>
              <a:t>one</a:t>
            </a:r>
            <a:r>
              <a:rPr lang="en-US" spc="-15" noProof="1"/>
              <a:t> </a:t>
            </a:r>
            <a:r>
              <a:rPr lang="en-US" noProof="1"/>
              <a:t>is</a:t>
            </a:r>
            <a:r>
              <a:rPr lang="en-US" spc="-20" noProof="1"/>
              <a:t> </a:t>
            </a:r>
            <a:r>
              <a:rPr lang="en-US" noProof="1"/>
              <a:t>kept</a:t>
            </a:r>
            <a:r>
              <a:rPr lang="en-US" spc="-15" noProof="1"/>
              <a:t> </a:t>
            </a:r>
            <a:r>
              <a:rPr lang="en-US" spc="-25" noProof="1"/>
              <a:t>secret</a:t>
            </a:r>
            <a:r>
              <a:rPr lang="en-US" spc="-15" noProof="1"/>
              <a:t> </a:t>
            </a:r>
            <a:r>
              <a:rPr lang="en-US" noProof="1"/>
              <a:t>on</a:t>
            </a:r>
            <a:r>
              <a:rPr lang="en-US" spc="-20" noProof="1"/>
              <a:t> </a:t>
            </a:r>
            <a:r>
              <a:rPr lang="en-US" noProof="1"/>
              <a:t>our</a:t>
            </a:r>
            <a:r>
              <a:rPr lang="en-US" spc="-15" noProof="1"/>
              <a:t> </a:t>
            </a:r>
            <a:r>
              <a:rPr lang="en-US" noProof="1"/>
              <a:t>local</a:t>
            </a:r>
            <a:r>
              <a:rPr lang="en-US" spc="-15" noProof="1"/>
              <a:t> </a:t>
            </a:r>
            <a:r>
              <a:rPr lang="en-US" spc="-10" noProof="1"/>
              <a:t>machine.</a:t>
            </a:r>
          </a:p>
          <a:p>
            <a:pPr marL="17780">
              <a:lnSpc>
                <a:spcPct val="100000"/>
              </a:lnSpc>
              <a:spcBef>
                <a:spcPts val="1035"/>
              </a:spcBef>
            </a:pPr>
            <a:r>
              <a:rPr lang="en-US" b="1" spc="-35" noProof="1">
                <a:latin typeface="Arial"/>
                <a:cs typeface="Arial"/>
              </a:rPr>
              <a:t>Key-</a:t>
            </a:r>
            <a:r>
              <a:rPr lang="en-US" b="1" spc="-10" noProof="1">
                <a:latin typeface="Arial"/>
                <a:cs typeface="Arial"/>
              </a:rPr>
              <a:t>Based</a:t>
            </a:r>
            <a:r>
              <a:rPr lang="en-US" b="1" spc="-15" noProof="1">
                <a:latin typeface="Arial"/>
                <a:cs typeface="Arial"/>
              </a:rPr>
              <a:t> </a:t>
            </a:r>
            <a:r>
              <a:rPr lang="en-US" b="1" spc="-10" noProof="1">
                <a:latin typeface="Arial"/>
                <a:cs typeface="Arial"/>
              </a:rPr>
              <a:t>Authentication</a:t>
            </a:r>
          </a:p>
          <a:p>
            <a:pPr marL="17780" marR="385445" indent="-5715">
              <a:lnSpc>
                <a:spcPct val="116199"/>
              </a:lnSpc>
              <a:spcBef>
                <a:spcPts val="670"/>
              </a:spcBef>
            </a:pPr>
            <a:r>
              <a:rPr lang="en-US" spc="-10" noProof="1"/>
              <a:t>When</a:t>
            </a:r>
            <a:r>
              <a:rPr lang="en-US" spc="5" noProof="1"/>
              <a:t> </a:t>
            </a:r>
            <a:r>
              <a:rPr lang="en-US" spc="-40" noProof="1"/>
              <a:t>we</a:t>
            </a:r>
            <a:r>
              <a:rPr lang="en-US" spc="5" noProof="1"/>
              <a:t> </a:t>
            </a:r>
            <a:r>
              <a:rPr lang="en-US" spc="-20" noProof="1"/>
              <a:t>connect</a:t>
            </a:r>
            <a:r>
              <a:rPr lang="en-US" spc="5" noProof="1"/>
              <a:t> </a:t>
            </a:r>
            <a:r>
              <a:rPr lang="en-US" noProof="1"/>
              <a:t>to</a:t>
            </a:r>
            <a:r>
              <a:rPr lang="en-US" spc="5" noProof="1"/>
              <a:t> </a:t>
            </a:r>
            <a:r>
              <a:rPr lang="en-US" noProof="1"/>
              <a:t>a</a:t>
            </a:r>
            <a:r>
              <a:rPr lang="en-US" spc="5" noProof="1"/>
              <a:t> </a:t>
            </a:r>
            <a:r>
              <a:rPr lang="en-US" spc="-35" noProof="1"/>
              <a:t>server</a:t>
            </a:r>
            <a:r>
              <a:rPr lang="en-US" spc="5" noProof="1"/>
              <a:t> </a:t>
            </a:r>
            <a:r>
              <a:rPr lang="en-US" spc="-20" noProof="1"/>
              <a:t>using</a:t>
            </a:r>
            <a:r>
              <a:rPr lang="en-US" spc="5" noProof="1"/>
              <a:t> </a:t>
            </a:r>
            <a:r>
              <a:rPr lang="en-US" spc="-25" noProof="1"/>
              <a:t>SSH,</a:t>
            </a:r>
            <a:r>
              <a:rPr lang="en-US" spc="5" noProof="1"/>
              <a:t> </a:t>
            </a:r>
            <a:r>
              <a:rPr lang="en-US" noProof="1"/>
              <a:t>the</a:t>
            </a:r>
            <a:r>
              <a:rPr lang="en-US" spc="5" noProof="1"/>
              <a:t> </a:t>
            </a:r>
            <a:r>
              <a:rPr lang="en-US" spc="-35" noProof="1"/>
              <a:t>server</a:t>
            </a:r>
            <a:r>
              <a:rPr lang="en-US" spc="5" noProof="1"/>
              <a:t> </a:t>
            </a:r>
            <a:r>
              <a:rPr lang="en-US" noProof="1"/>
              <a:t>(the</a:t>
            </a:r>
            <a:r>
              <a:rPr lang="en-US" spc="5" noProof="1"/>
              <a:t> </a:t>
            </a:r>
            <a:r>
              <a:rPr lang="en-US" spc="-25" noProof="1"/>
              <a:t>EC2</a:t>
            </a:r>
            <a:r>
              <a:rPr lang="en-US" spc="5" noProof="1"/>
              <a:t> </a:t>
            </a:r>
            <a:r>
              <a:rPr lang="en-US" spc="-10" noProof="1"/>
              <a:t>machine)</a:t>
            </a:r>
            <a:r>
              <a:rPr lang="en-US" spc="5" noProof="1"/>
              <a:t> </a:t>
            </a:r>
            <a:r>
              <a:rPr lang="en-US" spc="-40" noProof="1"/>
              <a:t>checks</a:t>
            </a:r>
            <a:r>
              <a:rPr lang="en-US" spc="5" noProof="1"/>
              <a:t> </a:t>
            </a:r>
            <a:r>
              <a:rPr lang="en-US" noProof="1"/>
              <a:t>if</a:t>
            </a:r>
            <a:r>
              <a:rPr lang="en-US" spc="5" noProof="1"/>
              <a:t> </a:t>
            </a:r>
            <a:r>
              <a:rPr lang="en-US" noProof="1"/>
              <a:t>the</a:t>
            </a:r>
            <a:r>
              <a:rPr lang="en-US" spc="5" noProof="1"/>
              <a:t> </a:t>
            </a:r>
            <a:r>
              <a:rPr lang="en-US" noProof="1"/>
              <a:t>public</a:t>
            </a:r>
            <a:r>
              <a:rPr lang="en-US" spc="5" noProof="1"/>
              <a:t> </a:t>
            </a:r>
            <a:r>
              <a:rPr lang="en-US" spc="-25" noProof="1"/>
              <a:t>key </a:t>
            </a:r>
            <a:r>
              <a:rPr lang="en-US" spc="-30" noProof="1"/>
              <a:t>matches</a:t>
            </a:r>
            <a:r>
              <a:rPr lang="en-US" spc="5" noProof="1"/>
              <a:t> </a:t>
            </a:r>
            <a:r>
              <a:rPr lang="en-US" noProof="1"/>
              <a:t>the</a:t>
            </a:r>
            <a:r>
              <a:rPr lang="en-US" spc="10" noProof="1"/>
              <a:t> </a:t>
            </a:r>
            <a:r>
              <a:rPr lang="en-US" spc="-10" noProof="1"/>
              <a:t>private</a:t>
            </a:r>
            <a:r>
              <a:rPr lang="en-US" spc="10" noProof="1"/>
              <a:t> </a:t>
            </a:r>
            <a:r>
              <a:rPr lang="en-US" spc="-30" noProof="1"/>
              <a:t>key.</a:t>
            </a:r>
            <a:r>
              <a:rPr lang="en-US" spc="95" noProof="1"/>
              <a:t> </a:t>
            </a:r>
            <a:r>
              <a:rPr lang="en-US" noProof="1"/>
              <a:t>If</a:t>
            </a:r>
            <a:r>
              <a:rPr lang="en-US" spc="10" noProof="1"/>
              <a:t> </a:t>
            </a:r>
            <a:r>
              <a:rPr lang="en-US" noProof="1"/>
              <a:t>they</a:t>
            </a:r>
            <a:r>
              <a:rPr lang="en-US" spc="10" noProof="1"/>
              <a:t> </a:t>
            </a:r>
            <a:r>
              <a:rPr lang="en-US" noProof="1"/>
              <a:t>match,</a:t>
            </a:r>
            <a:r>
              <a:rPr lang="en-US" spc="10" noProof="1"/>
              <a:t> </a:t>
            </a:r>
            <a:r>
              <a:rPr lang="en-US" spc="-75" noProof="1"/>
              <a:t>access</a:t>
            </a:r>
            <a:r>
              <a:rPr lang="en-US" spc="10" noProof="1"/>
              <a:t> </a:t>
            </a:r>
            <a:r>
              <a:rPr lang="en-US" noProof="1"/>
              <a:t>is</a:t>
            </a:r>
            <a:r>
              <a:rPr lang="en-US" spc="10" noProof="1"/>
              <a:t> </a:t>
            </a:r>
            <a:r>
              <a:rPr lang="en-US" spc="-10" noProof="1"/>
              <a:t>granted.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978535" cy="5080"/>
            </a:xfrm>
            <a:custGeom>
              <a:avLst/>
              <a:gdLst/>
              <a:ahLst/>
              <a:cxnLst/>
              <a:rect l="l" t="t" r="r" b="b"/>
              <a:pathLst>
                <a:path w="978535" h="5080">
                  <a:moveTo>
                    <a:pt x="0" y="5060"/>
                  </a:moveTo>
                  <a:lnTo>
                    <a:pt x="0" y="0"/>
                  </a:lnTo>
                  <a:lnTo>
                    <a:pt x="978147" y="0"/>
                  </a:lnTo>
                  <a:lnTo>
                    <a:pt x="97814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What</a:t>
            </a:r>
            <a:r>
              <a:rPr lang="en-US" spc="-5" noProof="1"/>
              <a:t> </a:t>
            </a:r>
            <a:r>
              <a:rPr lang="en-US" noProof="1"/>
              <a:t>do</a:t>
            </a:r>
            <a:r>
              <a:rPr lang="en-US" spc="-5" noProof="1"/>
              <a:t> </a:t>
            </a:r>
            <a:r>
              <a:rPr lang="en-US" spc="-35" noProof="1"/>
              <a:t>you</a:t>
            </a:r>
            <a:r>
              <a:rPr lang="en-US" spc="-5" noProof="1"/>
              <a:t> </a:t>
            </a:r>
            <a:r>
              <a:rPr lang="en-US" spc="-10" noProof="1"/>
              <a:t>mean</a:t>
            </a:r>
            <a:r>
              <a:rPr lang="en-US" noProof="1"/>
              <a:t> </a:t>
            </a:r>
            <a:r>
              <a:rPr lang="en-US" spc="-10" noProof="1"/>
              <a:t>by</a:t>
            </a:r>
            <a:r>
              <a:rPr lang="en-US" spc="-5" noProof="1"/>
              <a:t> </a:t>
            </a:r>
            <a:r>
              <a:rPr lang="en-US" spc="-10" noProof="1"/>
              <a:t>client</a:t>
            </a:r>
            <a:r>
              <a:rPr lang="en-US" spc="-5" noProof="1"/>
              <a:t> </a:t>
            </a:r>
            <a:r>
              <a:rPr lang="en-US" spc="-10" noProof="1"/>
              <a:t>and</a:t>
            </a:r>
            <a:r>
              <a:rPr lang="en-US" spc="-5" noProof="1"/>
              <a:t> </a:t>
            </a:r>
            <a:r>
              <a:rPr lang="en-US" spc="-40" noProof="1"/>
              <a:t>server?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1718" y="393860"/>
            <a:ext cx="4915535" cy="771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b="1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Client-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Server</a:t>
            </a:r>
            <a:r>
              <a:rPr lang="en-US" sz="900" b="1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Model</a:t>
            </a:r>
            <a:endParaRPr lang="en-US" sz="900" noProof="1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  <a:spcBef>
                <a:spcPts val="844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b="1" spc="-40" noProof="1">
                <a:solidFill>
                  <a:srgbClr val="22373A"/>
                </a:solidFill>
                <a:latin typeface="Arial"/>
                <a:cs typeface="Arial"/>
              </a:rPr>
              <a:t>client-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server</a:t>
            </a:r>
            <a:r>
              <a:rPr lang="en-US" sz="900" b="1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model</a:t>
            </a:r>
            <a:r>
              <a:rPr lang="en-US" sz="900" b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describes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computers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communicate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over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network.</a:t>
            </a:r>
            <a:endParaRPr lang="en-US" sz="900" noProof="1">
              <a:latin typeface="Arial"/>
              <a:cs typeface="Arial"/>
            </a:endParaRPr>
          </a:p>
          <a:p>
            <a:pPr marL="241300" indent="-143510">
              <a:lnSpc>
                <a:spcPct val="100000"/>
              </a:lnSpc>
              <a:spcBef>
                <a:spcPts val="625"/>
              </a:spcBef>
              <a:buChar char="•"/>
              <a:tabLst>
                <a:tab pos="24130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client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(your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local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machine)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solidFill>
                  <a:srgbClr val="22373A"/>
                </a:solidFill>
                <a:latin typeface="Arial"/>
                <a:cs typeface="Arial"/>
              </a:rPr>
              <a:t>accesses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things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or </a:t>
            </a:r>
            <a:r>
              <a:rPr lang="en-US" sz="900" b="1" spc="-65" noProof="1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server.</a:t>
            </a:r>
            <a:endParaRPr lang="en-US" sz="900" noProof="1">
              <a:latin typeface="Arial"/>
              <a:cs typeface="Arial"/>
            </a:endParaRPr>
          </a:p>
          <a:p>
            <a:pPr marL="241300" indent="-143510">
              <a:lnSpc>
                <a:spcPct val="100000"/>
              </a:lnSpc>
              <a:spcBef>
                <a:spcPts val="175"/>
              </a:spcBef>
              <a:buChar char="•"/>
              <a:tabLst>
                <a:tab pos="24130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b="1" spc="-40" noProof="1">
                <a:solidFill>
                  <a:srgbClr val="22373A"/>
                </a:solidFill>
                <a:latin typeface="Arial"/>
                <a:cs typeface="Arial"/>
              </a:rPr>
              <a:t>server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(the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remote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machine)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 the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responsible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for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providing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those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services.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087120" cy="5080"/>
            </a:xfrm>
            <a:custGeom>
              <a:avLst/>
              <a:gdLst/>
              <a:ahLst/>
              <a:cxnLst/>
              <a:rect l="l" t="t" r="r" b="b"/>
              <a:pathLst>
                <a:path w="1087120" h="5080">
                  <a:moveTo>
                    <a:pt x="0" y="5060"/>
                  </a:moveTo>
                  <a:lnTo>
                    <a:pt x="0" y="0"/>
                  </a:lnTo>
                  <a:lnTo>
                    <a:pt x="1086781" y="0"/>
                  </a:lnTo>
                  <a:lnTo>
                    <a:pt x="108678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pic>
        <p:nvPicPr>
          <p:cNvPr id="8" name="object 4">
            <a:extLst>
              <a:ext uri="{FF2B5EF4-FFF2-40B4-BE49-F238E27FC236}">
                <a16:creationId xmlns:a16="http://schemas.microsoft.com/office/drawing/2014/main" id="{9A881F27-DB1D-C9F4-A2B8-EA5E2864C02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994" y="1421611"/>
            <a:ext cx="5040019" cy="1420014"/>
          </a:xfrm>
          <a:prstGeom prst="rect">
            <a:avLst/>
          </a:prstGeom>
        </p:spPr>
      </p:pic>
      <p:sp>
        <p:nvSpPr>
          <p:cNvPr id="9" name="object 5">
            <a:extLst>
              <a:ext uri="{FF2B5EF4-FFF2-40B4-BE49-F238E27FC236}">
                <a16:creationId xmlns:a16="http://schemas.microsoft.com/office/drawing/2014/main" id="{F093C5B4-9390-A7A6-0AD7-C4F886F59628}"/>
              </a:ext>
            </a:extLst>
          </p:cNvPr>
          <p:cNvSpPr txBox="1"/>
          <p:nvPr/>
        </p:nvSpPr>
        <p:spPr>
          <a:xfrm>
            <a:off x="1686191" y="2922905"/>
            <a:ext cx="238823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800" b="1" spc="-20" noProof="1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lang="en-US" sz="8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7:</a:t>
            </a:r>
            <a:r>
              <a:rPr lang="en-US" sz="800" b="1" spc="9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20" noProof="1">
                <a:solidFill>
                  <a:srgbClr val="22373A"/>
                </a:solidFill>
                <a:latin typeface="Arial"/>
                <a:cs typeface="Arial"/>
              </a:rPr>
              <a:t>Client-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server</a:t>
            </a:r>
            <a:r>
              <a:rPr lang="en-US" sz="8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model when</a:t>
            </a:r>
            <a:r>
              <a:rPr lang="en-US" sz="8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watching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Netflix</a:t>
            </a:r>
            <a:endParaRPr lang="en-US" sz="800" noProof="1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5103"/>
            <a:ext cx="19494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b="1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Why</a:t>
            </a:r>
            <a:r>
              <a:rPr lang="en-US" sz="1100" b="1" spc="25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lang="en-US" sz="1100" b="1" spc="-10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do</a:t>
            </a:r>
            <a:r>
              <a:rPr lang="en-US" sz="1100" b="1" spc="25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lang="en-US" sz="1100" b="1" spc="60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I</a:t>
            </a:r>
            <a:r>
              <a:rPr lang="en-US" sz="1100" b="1" spc="30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lang="en-US" sz="1100" b="1" spc="-40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need</a:t>
            </a:r>
            <a:r>
              <a:rPr lang="en-US" sz="1100" b="1" spc="25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lang="en-US" sz="1100" b="1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to</a:t>
            </a:r>
            <a:r>
              <a:rPr lang="en-US" sz="1100" b="1" spc="30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lang="en-US" sz="1100" b="1" i="1" spc="-35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open</a:t>
            </a:r>
            <a:r>
              <a:rPr lang="en-US" sz="1100" b="1" i="1" spc="30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lang="en-US" sz="1100" b="1" i="1" spc="-35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ports</a:t>
            </a:r>
            <a:r>
              <a:rPr lang="en-US" sz="1100" b="1" spc="-35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?</a:t>
            </a:r>
            <a:endParaRPr lang="en-US" sz="1100" noProof="1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6993"/>
            <a:ext cx="2505710" cy="5080"/>
            <a:chOff x="1627403" y="1646993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6993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6993"/>
              <a:ext cx="567690" cy="5080"/>
            </a:xfrm>
            <a:custGeom>
              <a:avLst/>
              <a:gdLst/>
              <a:ahLst/>
              <a:cxnLst/>
              <a:rect l="l" t="t" r="r" b="b"/>
              <a:pathLst>
                <a:path w="567689" h="5080">
                  <a:moveTo>
                    <a:pt x="0" y="5060"/>
                  </a:moveTo>
                  <a:lnTo>
                    <a:pt x="0" y="0"/>
                  </a:lnTo>
                  <a:lnTo>
                    <a:pt x="567210" y="0"/>
                  </a:lnTo>
                  <a:lnTo>
                    <a:pt x="56721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3282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0" noProof="1"/>
              <a:t>Ports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576219"/>
            <a:ext cx="3977640" cy="20682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95"/>
              </a:spcBef>
            </a:pP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lang="en-US" sz="900" b="1" spc="7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b="1" spc="8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Ports?</a:t>
            </a:r>
            <a:endParaRPr lang="en-US" sz="900" noProof="1">
              <a:latin typeface="Arial"/>
              <a:cs typeface="Arial"/>
            </a:endParaRPr>
          </a:p>
          <a:p>
            <a:pPr marL="16510" marR="5080">
              <a:lnSpc>
                <a:spcPct val="157700"/>
              </a:lnSpc>
              <a:spcBef>
                <a:spcPts val="225"/>
              </a:spcBef>
            </a:pP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Computers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ports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differentiate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between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different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types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services.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example:</a:t>
            </a:r>
            <a:endParaRPr lang="en-US" sz="900" noProof="1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243204" algn="l"/>
              </a:tabLst>
            </a:pP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Port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22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→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SSH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(Remote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Login)</a:t>
            </a:r>
            <a:endParaRPr lang="en-US" sz="900" noProof="1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Font typeface="Arial"/>
              <a:buChar char="•"/>
              <a:tabLst>
                <a:tab pos="243204" algn="l"/>
              </a:tabLst>
            </a:pP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Port</a:t>
            </a:r>
            <a:r>
              <a:rPr lang="en-US" sz="900" b="1" spc="7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80</a:t>
            </a:r>
            <a:r>
              <a:rPr lang="en-US" sz="900" b="1" spc="6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→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HTTP</a:t>
            </a:r>
            <a:r>
              <a:rPr lang="en-US" sz="900" spc="6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(Web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Traﬀic)</a:t>
            </a:r>
            <a:endParaRPr lang="en-US" sz="900" noProof="1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Font typeface="Arial"/>
              <a:buChar char="•"/>
              <a:tabLst>
                <a:tab pos="243204" algn="l"/>
              </a:tabLst>
            </a:pP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Port</a:t>
            </a:r>
            <a:r>
              <a:rPr lang="en-US" sz="900" b="1" spc="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443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→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HTTPS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(Secure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Web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Traﬀic)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22373A"/>
              </a:buClr>
              <a:buFont typeface="Arial"/>
              <a:buChar char="•"/>
            </a:pPr>
            <a:endParaRPr lang="en-US" sz="900" noProof="1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</a:pP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Port/harbor</a:t>
            </a:r>
            <a:r>
              <a:rPr lang="en-US" sz="900" b="1" spc="7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Analogy:</a:t>
            </a:r>
            <a:endParaRPr lang="en-US" sz="900" noProof="1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ships dock at different quays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endParaRPr lang="en-US" sz="900" noProof="1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243204" algn="l"/>
              </a:tabLst>
            </a:pP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Quay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22:</a:t>
            </a:r>
            <a:r>
              <a:rPr lang="en-US" sz="900" b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MSC cruises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Font typeface="Arial"/>
              <a:buChar char="•"/>
              <a:tabLst>
                <a:tab pos="243204" algn="l"/>
              </a:tabLst>
            </a:pP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Quay 20: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fishing boat.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412875" cy="5080"/>
            </a:xfrm>
            <a:custGeom>
              <a:avLst/>
              <a:gdLst/>
              <a:ahLst/>
              <a:cxnLst/>
              <a:rect l="l" t="t" r="r" b="b"/>
              <a:pathLst>
                <a:path w="1412875" h="5080">
                  <a:moveTo>
                    <a:pt x="0" y="5060"/>
                  </a:moveTo>
                  <a:lnTo>
                    <a:pt x="0" y="0"/>
                  </a:lnTo>
                  <a:lnTo>
                    <a:pt x="1412859" y="0"/>
                  </a:lnTo>
                  <a:lnTo>
                    <a:pt x="141285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0" noProof="1"/>
              <a:t>Security</a:t>
            </a:r>
            <a:r>
              <a:rPr lang="en-US" spc="35" noProof="1"/>
              <a:t> </a:t>
            </a:r>
            <a:r>
              <a:rPr lang="en-US" spc="-60" noProof="1"/>
              <a:t>groups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972246" y="2696844"/>
            <a:ext cx="563880" cy="139700"/>
            <a:chOff x="1972246" y="2696844"/>
            <a:chExt cx="563880" cy="139700"/>
          </a:xfrm>
        </p:grpSpPr>
        <p:sp>
          <p:nvSpPr>
            <p:cNvPr id="4" name="object 4"/>
            <p:cNvSpPr/>
            <p:nvPr/>
          </p:nvSpPr>
          <p:spPr>
            <a:xfrm>
              <a:off x="1972246" y="2696844"/>
              <a:ext cx="563880" cy="139700"/>
            </a:xfrm>
            <a:custGeom>
              <a:avLst/>
              <a:gdLst/>
              <a:ahLst/>
              <a:cxnLst/>
              <a:rect l="l" t="t" r="r" b="b"/>
              <a:pathLst>
                <a:path w="563880" h="139700">
                  <a:moveTo>
                    <a:pt x="52736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3090"/>
                  </a:lnTo>
                  <a:lnTo>
                    <a:pt x="2829" y="117103"/>
                  </a:lnTo>
                  <a:lnTo>
                    <a:pt x="10544" y="128546"/>
                  </a:lnTo>
                  <a:lnTo>
                    <a:pt x="21987" y="136261"/>
                  </a:lnTo>
                  <a:lnTo>
                    <a:pt x="36000" y="139090"/>
                  </a:lnTo>
                  <a:lnTo>
                    <a:pt x="527362" y="139090"/>
                  </a:lnTo>
                  <a:lnTo>
                    <a:pt x="541374" y="136261"/>
                  </a:lnTo>
                  <a:lnTo>
                    <a:pt x="552817" y="128546"/>
                  </a:lnTo>
                  <a:lnTo>
                    <a:pt x="560533" y="117103"/>
                  </a:lnTo>
                  <a:lnTo>
                    <a:pt x="563362" y="103090"/>
                  </a:lnTo>
                  <a:lnTo>
                    <a:pt x="563362" y="36000"/>
                  </a:lnTo>
                  <a:lnTo>
                    <a:pt x="560533" y="21987"/>
                  </a:lnTo>
                  <a:lnTo>
                    <a:pt x="552817" y="10544"/>
                  </a:lnTo>
                  <a:lnTo>
                    <a:pt x="541374" y="2829"/>
                  </a:lnTo>
                  <a:lnTo>
                    <a:pt x="527362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1972246" y="2696844"/>
              <a:ext cx="563880" cy="139700"/>
            </a:xfrm>
            <a:custGeom>
              <a:avLst/>
              <a:gdLst/>
              <a:ahLst/>
              <a:cxnLst/>
              <a:rect l="l" t="t" r="r" b="b"/>
              <a:pathLst>
                <a:path w="563880" h="139700">
                  <a:moveTo>
                    <a:pt x="52736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3090"/>
                  </a:lnTo>
                  <a:lnTo>
                    <a:pt x="2829" y="117103"/>
                  </a:lnTo>
                  <a:lnTo>
                    <a:pt x="10544" y="128546"/>
                  </a:lnTo>
                  <a:lnTo>
                    <a:pt x="21987" y="136261"/>
                  </a:lnTo>
                  <a:lnTo>
                    <a:pt x="36000" y="139090"/>
                  </a:lnTo>
                  <a:lnTo>
                    <a:pt x="527362" y="139090"/>
                  </a:lnTo>
                  <a:lnTo>
                    <a:pt x="541374" y="136261"/>
                  </a:lnTo>
                  <a:lnTo>
                    <a:pt x="552817" y="128546"/>
                  </a:lnTo>
                  <a:lnTo>
                    <a:pt x="560533" y="117103"/>
                  </a:lnTo>
                  <a:lnTo>
                    <a:pt x="563362" y="103090"/>
                  </a:lnTo>
                  <a:lnTo>
                    <a:pt x="563362" y="36000"/>
                  </a:lnTo>
                  <a:lnTo>
                    <a:pt x="560533" y="21987"/>
                  </a:lnTo>
                  <a:lnTo>
                    <a:pt x="552817" y="10544"/>
                  </a:lnTo>
                  <a:lnTo>
                    <a:pt x="541374" y="2829"/>
                  </a:lnTo>
                  <a:lnTo>
                    <a:pt x="52736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3433" y="354527"/>
            <a:ext cx="4706620" cy="264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95"/>
              </a:spcBef>
            </a:pP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Configuring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Groups</a:t>
            </a:r>
            <a:endParaRPr lang="en-US" sz="900" noProof="1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844"/>
              </a:spcBef>
            </a:pP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groups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in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define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0" noProof="1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lang="en-US" sz="900" b="1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ports</a:t>
            </a:r>
            <a:r>
              <a:rPr lang="en-US" sz="900" b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open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internet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 which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services.</a:t>
            </a:r>
            <a:endParaRPr lang="en-US" sz="900" noProof="1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625"/>
              </a:spcBef>
              <a:buAutoNum type="arabicPeriod"/>
              <a:tabLst>
                <a:tab pos="243204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default,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40" noProof="1">
                <a:solidFill>
                  <a:srgbClr val="22373A"/>
                </a:solidFill>
                <a:latin typeface="Arial"/>
                <a:cs typeface="Arial"/>
              </a:rPr>
              <a:t>blocks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all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40" noProof="1">
                <a:solidFill>
                  <a:srgbClr val="22373A"/>
                </a:solidFill>
                <a:latin typeface="Arial"/>
                <a:cs typeface="Arial"/>
              </a:rPr>
              <a:t>incoming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traﬀic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239395" indent="-14351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39395" algn="l"/>
              </a:tabLst>
            </a:pP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explicitly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allow</a:t>
            </a:r>
            <a:r>
              <a:rPr lang="en-US" sz="900" b="1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certain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ports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(e.g.,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SSH,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HTTP).</a:t>
            </a:r>
            <a:endParaRPr lang="en-US" sz="900" noProof="1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969"/>
              </a:spcBef>
            </a:pP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lang="en-US" sz="900" b="1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b="1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configure</a:t>
            </a:r>
            <a:r>
              <a:rPr lang="en-US" sz="900" b="1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b="1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b="1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lang="en-US" sz="900" b="1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Group</a:t>
            </a:r>
            <a:endParaRPr lang="en-US" sz="900" noProof="1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group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is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just a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set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of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firewall</a:t>
            </a:r>
            <a:r>
              <a:rPr lang="en-US" sz="900" b="1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rules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r>
              <a:rPr lang="en-US" sz="900" spc="8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configure:</a:t>
            </a:r>
            <a:endParaRPr lang="en-US" sz="900" noProof="1">
              <a:latin typeface="Arial"/>
              <a:cs typeface="Arial"/>
            </a:endParaRPr>
          </a:p>
          <a:p>
            <a:pPr marL="243204" lvl="1" indent="-14732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243204" algn="l"/>
              </a:tabLst>
            </a:pP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Inbound</a:t>
            </a:r>
            <a:r>
              <a:rPr lang="en-US" sz="900" b="1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rules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900" spc="9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Traﬀic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coming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server.</a:t>
            </a:r>
            <a:endParaRPr lang="en-US" sz="900" noProof="1">
              <a:latin typeface="Arial"/>
              <a:cs typeface="Arial"/>
            </a:endParaRPr>
          </a:p>
          <a:p>
            <a:pPr marL="243204" lvl="1" indent="-147320">
              <a:lnSpc>
                <a:spcPct val="100000"/>
              </a:lnSpc>
              <a:spcBef>
                <a:spcPts val="175"/>
              </a:spcBef>
              <a:buFont typeface="Arial"/>
              <a:buChar char="•"/>
              <a:tabLst>
                <a:tab pos="243204" algn="l"/>
              </a:tabLst>
            </a:pP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Outbound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rules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900" spc="1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Traﬀic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going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out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server.</a:t>
            </a:r>
            <a:endParaRPr lang="en-US" sz="900" noProof="1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930"/>
              </a:spcBef>
            </a:pP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Example:</a:t>
            </a:r>
            <a:r>
              <a:rPr lang="en-US" sz="900" b="1" spc="1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Opening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Port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22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(SSH)</a:t>
            </a:r>
            <a:endParaRPr lang="en-US" sz="900" noProof="1">
              <a:latin typeface="Arial"/>
              <a:cs typeface="Arial"/>
            </a:endParaRPr>
          </a:p>
          <a:p>
            <a:pPr marL="243204" lvl="1" indent="-147320">
              <a:lnSpc>
                <a:spcPct val="100000"/>
              </a:lnSpc>
              <a:spcBef>
                <a:spcPts val="850"/>
              </a:spcBef>
              <a:buFont typeface="Arial"/>
              <a:buChar char="•"/>
              <a:tabLst>
                <a:tab pos="243204" algn="l"/>
              </a:tabLst>
            </a:pP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Type: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SSH</a:t>
            </a:r>
            <a:endParaRPr lang="en-US" sz="900" noProof="1">
              <a:latin typeface="Arial"/>
              <a:cs typeface="Arial"/>
            </a:endParaRPr>
          </a:p>
          <a:p>
            <a:pPr marL="243204" lvl="1" indent="-147320">
              <a:lnSpc>
                <a:spcPct val="100000"/>
              </a:lnSpc>
              <a:spcBef>
                <a:spcPts val="175"/>
              </a:spcBef>
              <a:buFont typeface="Arial"/>
              <a:buChar char="•"/>
              <a:tabLst>
                <a:tab pos="243204" algn="l"/>
              </a:tabLst>
            </a:pP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Port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Range:</a:t>
            </a:r>
            <a:r>
              <a:rPr lang="en-US" sz="900" b="1" spc="8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22</a:t>
            </a:r>
            <a:endParaRPr lang="en-US" sz="900" noProof="1">
              <a:latin typeface="Arial"/>
              <a:cs typeface="Arial"/>
            </a:endParaRPr>
          </a:p>
          <a:p>
            <a:pPr marL="243840" marR="5080" lvl="1" indent="-147955">
              <a:lnSpc>
                <a:spcPct val="116199"/>
              </a:lnSpc>
              <a:buFont typeface="Arial"/>
              <a:buChar char="•"/>
              <a:tabLst>
                <a:tab pos="243840" algn="l"/>
              </a:tabLst>
            </a:pPr>
            <a:r>
              <a:rPr lang="en-US" sz="900" b="1" spc="-30" noProof="1">
                <a:solidFill>
                  <a:srgbClr val="22373A"/>
                </a:solidFill>
                <a:latin typeface="Arial"/>
                <a:cs typeface="Arial"/>
              </a:rPr>
              <a:t>Source:</a:t>
            </a:r>
            <a:r>
              <a:rPr lang="en-US" sz="900" b="1" spc="1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lang="en-US" sz="900" spc="1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0.0.0.0/0</a:t>
            </a:r>
            <a:r>
              <a:rPr lang="en-US" sz="900" spc="-13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(not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recommended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production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environments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for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reasons).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1522095" cy="5080"/>
            </a:xfrm>
            <a:custGeom>
              <a:avLst/>
              <a:gdLst/>
              <a:ahLst/>
              <a:cxnLst/>
              <a:rect l="l" t="t" r="r" b="b"/>
              <a:pathLst>
                <a:path w="1522095" h="5080">
                  <a:moveTo>
                    <a:pt x="0" y="5060"/>
                  </a:moveTo>
                  <a:lnTo>
                    <a:pt x="0" y="0"/>
                  </a:lnTo>
                  <a:lnTo>
                    <a:pt x="1521493" y="0"/>
                  </a:lnTo>
                  <a:lnTo>
                    <a:pt x="152149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5865"/>
            <a:ext cx="14674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b="1" spc="-40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Today’s</a:t>
            </a:r>
            <a:r>
              <a:rPr lang="en-US" sz="1100" b="1" spc="-25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lang="en-US" sz="1100" b="1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Work</a:t>
            </a:r>
            <a:r>
              <a:rPr lang="en-US" sz="1100" b="1" spc="-25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lang="en-US" sz="1100" b="1" spc="-10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on</a:t>
            </a:r>
            <a:r>
              <a:rPr lang="en-US" sz="1100" b="1" spc="-20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lang="en-US" sz="1100" b="1" spc="-25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AWS</a:t>
            </a:r>
            <a:endParaRPr lang="en-US" sz="1100" noProof="1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7755"/>
            <a:ext cx="2505710" cy="5080"/>
            <a:chOff x="1627403" y="1647755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7755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7755"/>
              <a:ext cx="662305" cy="5080"/>
            </a:xfrm>
            <a:custGeom>
              <a:avLst/>
              <a:gdLst/>
              <a:ahLst/>
              <a:cxnLst/>
              <a:rect l="l" t="t" r="r" b="b"/>
              <a:pathLst>
                <a:path w="662305" h="5080">
                  <a:moveTo>
                    <a:pt x="0" y="5060"/>
                  </a:moveTo>
                  <a:lnTo>
                    <a:pt x="0" y="0"/>
                  </a:lnTo>
                  <a:lnTo>
                    <a:pt x="661745" y="0"/>
                  </a:lnTo>
                  <a:lnTo>
                    <a:pt x="66174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9099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45" noProof="1"/>
              <a:t>Goals</a:t>
            </a:r>
            <a:r>
              <a:rPr lang="en-US" spc="-20" noProof="1"/>
              <a:t> </a:t>
            </a:r>
            <a:r>
              <a:rPr lang="en-US" noProof="1"/>
              <a:t>for</a:t>
            </a:r>
            <a:r>
              <a:rPr lang="en-US" spc="-15" noProof="1"/>
              <a:t> </a:t>
            </a:r>
            <a:r>
              <a:rPr lang="en-US" spc="-10" noProof="1"/>
              <a:t>today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1132250"/>
            <a:ext cx="3851910" cy="1118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Today,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will:</a:t>
            </a:r>
            <a:endParaRPr lang="en-US" sz="900" noProof="1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43204" algn="l"/>
              </a:tabLst>
            </a:pP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Create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 EC2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instance.</a:t>
            </a:r>
            <a:endParaRPr lang="en-US" sz="900" noProof="1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805"/>
              </a:spcBef>
              <a:buChar char="•"/>
              <a:tabLst>
                <a:tab pos="243204" algn="l"/>
              </a:tabLst>
            </a:pP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Connect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6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900" spc="6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through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SSH.</a:t>
            </a:r>
            <a:endParaRPr lang="en-US" sz="900" noProof="1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43204" algn="l"/>
              </a:tabLst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Set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up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environment.</a:t>
            </a:r>
            <a:endParaRPr lang="en-US" sz="900" noProof="1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43204" algn="l"/>
              </a:tabLst>
            </a:pP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Configure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Jupyter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server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local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machine.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630680" cy="5080"/>
            </a:xfrm>
            <a:custGeom>
              <a:avLst/>
              <a:gdLst/>
              <a:ahLst/>
              <a:cxnLst/>
              <a:rect l="l" t="t" r="r" b="b"/>
              <a:pathLst>
                <a:path w="1630680" h="5080">
                  <a:moveTo>
                    <a:pt x="0" y="5060"/>
                  </a:moveTo>
                  <a:lnTo>
                    <a:pt x="0" y="0"/>
                  </a:lnTo>
                  <a:lnTo>
                    <a:pt x="1630216" y="0"/>
                  </a:lnTo>
                  <a:lnTo>
                    <a:pt x="163021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526" y="59834"/>
            <a:ext cx="1810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000" b="1" spc="-10" noProof="1">
                <a:solidFill>
                  <a:srgbClr val="F9F9F9"/>
                </a:solidFill>
                <a:latin typeface="Arial"/>
                <a:cs typeface="Arial"/>
              </a:rPr>
              <a:t>Introduction</a:t>
            </a:r>
            <a:r>
              <a:rPr lang="en-US" sz="1000" b="1" spc="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to</a:t>
            </a:r>
            <a:r>
              <a:rPr lang="en-US" sz="1000" b="1" spc="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AWS</a:t>
            </a:r>
            <a:r>
              <a:rPr lang="en-US" sz="1000" b="1" spc="10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30" noProof="1">
                <a:solidFill>
                  <a:srgbClr val="F9F9F9"/>
                </a:solidFill>
                <a:latin typeface="Arial"/>
                <a:cs typeface="Arial"/>
              </a:rPr>
              <a:t>Academy</a:t>
            </a:r>
            <a:endParaRPr lang="en-US" sz="1000" noProof="1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3433" y="383365"/>
            <a:ext cx="4934585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5080" indent="-4445">
              <a:lnSpc>
                <a:spcPct val="116199"/>
              </a:lnSpc>
              <a:spcBef>
                <a:spcPts val="100"/>
              </a:spcBef>
            </a:pP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Academy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allows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educators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provide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students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real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b="1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limited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budget</a:t>
            </a:r>
            <a:r>
              <a:rPr lang="en-US" sz="900" b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restricted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45" noProof="1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0579" y="807701"/>
            <a:ext cx="3598862" cy="179943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304199" y="2741115"/>
            <a:ext cx="115189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800" b="1" spc="-20" noProof="1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lang="en-US" sz="8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9:</a:t>
            </a:r>
            <a:r>
              <a:rPr lang="en-US" sz="800" b="1" spc="10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lang="en-US" sz="8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20" noProof="1">
                <a:solidFill>
                  <a:srgbClr val="22373A"/>
                </a:solidFill>
                <a:latin typeface="Arial"/>
                <a:cs typeface="Arial"/>
              </a:rPr>
              <a:t>Academy</a:t>
            </a:r>
            <a:endParaRPr lang="en-US" sz="800" noProof="1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1739264" cy="5080"/>
            </a:xfrm>
            <a:custGeom>
              <a:avLst/>
              <a:gdLst/>
              <a:ahLst/>
              <a:cxnLst/>
              <a:rect l="l" t="t" r="r" b="b"/>
              <a:pathLst>
                <a:path w="1739264" h="5080">
                  <a:moveTo>
                    <a:pt x="0" y="5060"/>
                  </a:moveTo>
                  <a:lnTo>
                    <a:pt x="0" y="0"/>
                  </a:lnTo>
                  <a:lnTo>
                    <a:pt x="1738850" y="0"/>
                  </a:lnTo>
                  <a:lnTo>
                    <a:pt x="173885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 lang="en-US" noProof="1"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14065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000" b="1" spc="-20" noProof="1">
                <a:solidFill>
                  <a:srgbClr val="F9F9F9"/>
                </a:solidFill>
                <a:latin typeface="Arial"/>
                <a:cs typeface="Arial"/>
              </a:rPr>
              <a:t>Activating</a:t>
            </a:r>
            <a:r>
              <a:rPr lang="en-US" sz="1000" b="1" spc="20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35" noProof="1">
                <a:solidFill>
                  <a:srgbClr val="F9F9F9"/>
                </a:solidFill>
                <a:latin typeface="Arial"/>
                <a:cs typeface="Arial"/>
              </a:rPr>
              <a:t>your</a:t>
            </a:r>
            <a:r>
              <a:rPr lang="en-US" sz="1000" b="1" spc="20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30" noProof="1">
                <a:solidFill>
                  <a:srgbClr val="F9F9F9"/>
                </a:solidFill>
                <a:latin typeface="Arial"/>
                <a:cs typeface="Arial"/>
              </a:rPr>
              <a:t>account</a:t>
            </a:r>
            <a:endParaRPr lang="en-US" sz="10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74" y="297443"/>
            <a:ext cx="5687226" cy="263667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179052" y="3020336"/>
            <a:ext cx="14427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800" b="1" spc="-20" noProof="1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lang="en-US" sz="800" b="1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10:</a:t>
            </a:r>
            <a:r>
              <a:rPr lang="en-US" sz="800" b="1" spc="10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Accepting</a:t>
            </a:r>
            <a:r>
              <a:rPr lang="en-US" sz="8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8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invite</a:t>
            </a:r>
            <a:endParaRPr lang="en-US" sz="800" noProof="1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1847850" cy="5080"/>
            </a:xfrm>
            <a:custGeom>
              <a:avLst/>
              <a:gdLst/>
              <a:ahLst/>
              <a:cxnLst/>
              <a:rect l="l" t="t" r="r" b="b"/>
              <a:pathLst>
                <a:path w="1847850" h="5080">
                  <a:moveTo>
                    <a:pt x="0" y="5060"/>
                  </a:moveTo>
                  <a:lnTo>
                    <a:pt x="0" y="0"/>
                  </a:lnTo>
                  <a:lnTo>
                    <a:pt x="1847572" y="0"/>
                  </a:lnTo>
                  <a:lnTo>
                    <a:pt x="184757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 lang="en-US" noProof="1"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14065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000" b="1" spc="-20" noProof="1">
                <a:solidFill>
                  <a:srgbClr val="F9F9F9"/>
                </a:solidFill>
                <a:latin typeface="Arial"/>
                <a:cs typeface="Arial"/>
              </a:rPr>
              <a:t>Activating</a:t>
            </a:r>
            <a:r>
              <a:rPr lang="en-US" sz="1000" b="1" spc="20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35" noProof="1">
                <a:solidFill>
                  <a:srgbClr val="F9F9F9"/>
                </a:solidFill>
                <a:latin typeface="Arial"/>
                <a:cs typeface="Arial"/>
              </a:rPr>
              <a:t>your</a:t>
            </a:r>
            <a:r>
              <a:rPr lang="en-US" sz="1000" b="1" spc="20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30" noProof="1">
                <a:solidFill>
                  <a:srgbClr val="F9F9F9"/>
                </a:solidFill>
                <a:latin typeface="Arial"/>
                <a:cs typeface="Arial"/>
              </a:rPr>
              <a:t>account</a:t>
            </a:r>
            <a:endParaRPr lang="en-US" sz="10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7900" y="479425"/>
            <a:ext cx="3429000" cy="154193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111070" y="2155328"/>
            <a:ext cx="15379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800" b="1" spc="-20" noProof="1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lang="en-US" sz="8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11:</a:t>
            </a:r>
            <a:r>
              <a:rPr lang="en-US" sz="800" b="1" spc="1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Creating</a:t>
            </a:r>
            <a:r>
              <a:rPr lang="en-US" sz="8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lang="en-US" sz="8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account</a:t>
            </a:r>
            <a:endParaRPr lang="en-US" sz="800" noProof="1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1956435" cy="5080"/>
            </a:xfrm>
            <a:custGeom>
              <a:avLst/>
              <a:gdLst/>
              <a:ahLst/>
              <a:cxnLst/>
              <a:rect l="l" t="t" r="r" b="b"/>
              <a:pathLst>
                <a:path w="1956435" h="5080">
                  <a:moveTo>
                    <a:pt x="0" y="5060"/>
                  </a:moveTo>
                  <a:lnTo>
                    <a:pt x="0" y="0"/>
                  </a:lnTo>
                  <a:lnTo>
                    <a:pt x="1956206" y="0"/>
                  </a:lnTo>
                  <a:lnTo>
                    <a:pt x="195620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45" noProof="1"/>
              <a:t>Logging</a:t>
            </a:r>
            <a:r>
              <a:rPr lang="en-US" spc="-10" noProof="1"/>
              <a:t> </a:t>
            </a:r>
            <a:r>
              <a:rPr lang="en-US" noProof="1"/>
              <a:t>in</a:t>
            </a:r>
            <a:r>
              <a:rPr lang="en-US" spc="-10" noProof="1"/>
              <a:t> </a:t>
            </a:r>
            <a:r>
              <a:rPr lang="en-US" noProof="1"/>
              <a:t>from</a:t>
            </a:r>
            <a:r>
              <a:rPr lang="en-US" spc="-5" noProof="1"/>
              <a:t> </a:t>
            </a:r>
            <a:r>
              <a:rPr lang="en-US" spc="-30" noProof="1"/>
              <a:t>now</a:t>
            </a:r>
            <a:r>
              <a:rPr lang="en-US" spc="-10" noProof="1"/>
              <a:t> </a:t>
            </a:r>
            <a:r>
              <a:rPr lang="en-US" spc="-25" noProof="1"/>
              <a:t>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433" y="483242"/>
            <a:ext cx="5083810" cy="1506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You’ll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visit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  <a:hlinkClick r:id="rId2"/>
              </a:rPr>
              <a:t>https://awsacademy.instructure.com/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log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credentials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student.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39900" y="730602"/>
            <a:ext cx="2133600" cy="216943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000529" y="2917825"/>
            <a:ext cx="17589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800" b="1" spc="-20" noProof="1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lang="en-US" sz="800" b="1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12:</a:t>
            </a:r>
            <a:r>
              <a:rPr lang="en-US" sz="800" b="1" spc="1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Login</a:t>
            </a:r>
            <a:r>
              <a:rPr lang="en-US" sz="8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8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lang="en-US" sz="8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credentials</a:t>
            </a:r>
            <a:endParaRPr lang="en-US" sz="800" noProof="1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2065020" cy="5080"/>
            </a:xfrm>
            <a:custGeom>
              <a:avLst/>
              <a:gdLst/>
              <a:ahLst/>
              <a:cxnLst/>
              <a:rect l="l" t="t" r="r" b="b"/>
              <a:pathLst>
                <a:path w="2065020" h="5080">
                  <a:moveTo>
                    <a:pt x="0" y="5060"/>
                  </a:moveTo>
                  <a:lnTo>
                    <a:pt x="0" y="0"/>
                  </a:lnTo>
                  <a:lnTo>
                    <a:pt x="2064928" y="0"/>
                  </a:lnTo>
                  <a:lnTo>
                    <a:pt x="206492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45" noProof="1"/>
              <a:t>Logging</a:t>
            </a:r>
            <a:r>
              <a:rPr lang="en-US" spc="-10" noProof="1"/>
              <a:t> </a:t>
            </a:r>
            <a:r>
              <a:rPr lang="en-US" noProof="1"/>
              <a:t>in</a:t>
            </a:r>
            <a:r>
              <a:rPr lang="en-US" spc="-10" noProof="1"/>
              <a:t> </a:t>
            </a:r>
            <a:r>
              <a:rPr lang="en-US" noProof="1"/>
              <a:t>from</a:t>
            </a:r>
            <a:r>
              <a:rPr lang="en-US" spc="-5" noProof="1"/>
              <a:t> </a:t>
            </a:r>
            <a:r>
              <a:rPr lang="en-US" spc="-30" noProof="1"/>
              <a:t>now</a:t>
            </a:r>
            <a:r>
              <a:rPr lang="en-US" spc="-10" noProof="1"/>
              <a:t> </a:t>
            </a:r>
            <a:r>
              <a:rPr lang="en-US" spc="-25" noProof="1"/>
              <a:t>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433" y="485706"/>
            <a:ext cx="418211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receive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email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verification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code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complete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login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process.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300" y="648266"/>
            <a:ext cx="4182110" cy="224161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154841" y="2917825"/>
            <a:ext cx="15576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800" b="1" spc="-20" noProof="1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lang="en-US" sz="8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13:</a:t>
            </a:r>
            <a:r>
              <a:rPr lang="en-US" sz="800" b="1" spc="1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Enter</a:t>
            </a:r>
            <a:r>
              <a:rPr lang="en-US" sz="8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verification</a:t>
            </a:r>
            <a:r>
              <a:rPr lang="en-US" sz="8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20" noProof="1">
                <a:solidFill>
                  <a:srgbClr val="22373A"/>
                </a:solidFill>
                <a:latin typeface="Arial"/>
                <a:cs typeface="Arial"/>
              </a:rPr>
              <a:t>code</a:t>
            </a:r>
            <a:endParaRPr lang="en-US" sz="800" noProof="1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2174240" cy="5080"/>
            </a:xfrm>
            <a:custGeom>
              <a:avLst/>
              <a:gdLst/>
              <a:ahLst/>
              <a:cxnLst/>
              <a:rect l="l" t="t" r="r" b="b"/>
              <a:pathLst>
                <a:path w="2174240" h="5080">
                  <a:moveTo>
                    <a:pt x="0" y="5060"/>
                  </a:moveTo>
                  <a:lnTo>
                    <a:pt x="0" y="0"/>
                  </a:lnTo>
                  <a:lnTo>
                    <a:pt x="2173650" y="0"/>
                  </a:lnTo>
                  <a:lnTo>
                    <a:pt x="217365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0" noProof="1"/>
              <a:t>Available</a:t>
            </a:r>
            <a:r>
              <a:rPr lang="en-US" spc="30" noProof="1"/>
              <a:t> </a:t>
            </a:r>
            <a:r>
              <a:rPr lang="en-US" spc="-65" noProof="1"/>
              <a:t>courses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433" y="371520"/>
            <a:ext cx="2387067" cy="151772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You’ll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to: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en-US" sz="900" noProof="1">
              <a:latin typeface="Arial"/>
              <a:cs typeface="Arial"/>
            </a:endParaRPr>
          </a:p>
          <a:p>
            <a:pPr marL="324485" indent="-228600">
              <a:lnSpc>
                <a:spcPct val="100000"/>
              </a:lnSpc>
              <a:spcBef>
                <a:spcPts val="800"/>
              </a:spcBef>
              <a:buFont typeface="+mj-lt"/>
              <a:buAutoNum type="arabicPeriod"/>
              <a:tabLst>
                <a:tab pos="239395" algn="l"/>
              </a:tabLst>
            </a:pP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Foundation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Course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</a:p>
          <a:p>
            <a:pPr marL="95885">
              <a:lnSpc>
                <a:spcPct val="100000"/>
              </a:lnSpc>
              <a:spcBef>
                <a:spcPts val="800"/>
              </a:spcBef>
              <a:tabLst>
                <a:tab pos="239395" algn="l"/>
              </a:tabLst>
            </a:pP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    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(Theory-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based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learning).</a:t>
            </a:r>
          </a:p>
          <a:p>
            <a:pPr marL="324485" indent="-228600">
              <a:lnSpc>
                <a:spcPct val="100000"/>
              </a:lnSpc>
              <a:spcBef>
                <a:spcPts val="800"/>
              </a:spcBef>
              <a:buFont typeface="+mj-lt"/>
              <a:buAutoNum type="arabicPeriod"/>
              <a:tabLst>
                <a:tab pos="239395" algn="l"/>
              </a:tabLst>
            </a:pPr>
            <a:endParaRPr lang="en-US" sz="900" noProof="1">
              <a:latin typeface="Arial"/>
              <a:cs typeface="Arial"/>
            </a:endParaRPr>
          </a:p>
          <a:p>
            <a:pPr marL="95885" lvl="2">
              <a:spcBef>
                <a:spcPts val="175"/>
              </a:spcBef>
              <a:tabLst>
                <a:tab pos="239395" algn="l"/>
              </a:tabLst>
            </a:pP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           2.    AWS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Learner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Lab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</a:p>
          <a:p>
            <a:pPr marL="95885" lvl="2">
              <a:spcBef>
                <a:spcPts val="175"/>
              </a:spcBef>
              <a:tabLst>
                <a:tab pos="239395" algn="l"/>
              </a:tabLst>
            </a:pP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	      (Hands-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experience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</a:p>
          <a:p>
            <a:pPr marL="95885" lvl="2">
              <a:spcBef>
                <a:spcPts val="175"/>
              </a:spcBef>
              <a:tabLst>
                <a:tab pos="239395" algn="l"/>
              </a:tabLst>
            </a:pP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           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services).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30500" y="332104"/>
            <a:ext cx="2514600" cy="261576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227262" y="2950411"/>
            <a:ext cx="13055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800" b="1" spc="-20" noProof="1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lang="en-US" sz="8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14:</a:t>
            </a:r>
            <a:r>
              <a:rPr lang="en-US" sz="800" b="1" spc="1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Available</a:t>
            </a:r>
            <a:r>
              <a:rPr lang="en-US" sz="8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35" noProof="1">
                <a:solidFill>
                  <a:srgbClr val="22373A"/>
                </a:solidFill>
                <a:latin typeface="Arial"/>
                <a:cs typeface="Arial"/>
              </a:rPr>
              <a:t>courses</a:t>
            </a:r>
            <a:endParaRPr lang="en-US" sz="800" noProof="1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2282825" cy="5080"/>
            </a:xfrm>
            <a:custGeom>
              <a:avLst/>
              <a:gdLst/>
              <a:ahLst/>
              <a:cxnLst/>
              <a:rect l="l" t="t" r="r" b="b"/>
              <a:pathLst>
                <a:path w="2282825" h="5080">
                  <a:moveTo>
                    <a:pt x="0" y="5060"/>
                  </a:moveTo>
                  <a:lnTo>
                    <a:pt x="0" y="0"/>
                  </a:lnTo>
                  <a:lnTo>
                    <a:pt x="2282285" y="0"/>
                  </a:lnTo>
                  <a:lnTo>
                    <a:pt x="228228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10" name="Flecha derecha 9">
            <a:extLst>
              <a:ext uri="{FF2B5EF4-FFF2-40B4-BE49-F238E27FC236}">
                <a16:creationId xmlns:a16="http://schemas.microsoft.com/office/drawing/2014/main" id="{94DB57A0-D61C-F006-F732-E3D21F3580C9}"/>
              </a:ext>
            </a:extLst>
          </p:cNvPr>
          <p:cNvSpPr/>
          <p:nvPr/>
        </p:nvSpPr>
        <p:spPr>
          <a:xfrm>
            <a:off x="63500" y="762499"/>
            <a:ext cx="304800" cy="175585"/>
          </a:xfrm>
          <a:prstGeom prst="rightArrow">
            <a:avLst>
              <a:gd name="adj1" fmla="val 50000"/>
              <a:gd name="adj2" fmla="val 4614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1" name="Flecha derecha 10">
            <a:extLst>
              <a:ext uri="{FF2B5EF4-FFF2-40B4-BE49-F238E27FC236}">
                <a16:creationId xmlns:a16="http://schemas.microsoft.com/office/drawing/2014/main" id="{3848A72E-B31A-BFC0-6DD4-3EBE22F7E4EE}"/>
              </a:ext>
            </a:extLst>
          </p:cNvPr>
          <p:cNvSpPr/>
          <p:nvPr/>
        </p:nvSpPr>
        <p:spPr>
          <a:xfrm>
            <a:off x="444500" y="1419862"/>
            <a:ext cx="228600" cy="118642"/>
          </a:xfrm>
          <a:prstGeom prst="rightArrow">
            <a:avLst>
              <a:gd name="adj1" fmla="val 50000"/>
              <a:gd name="adj2" fmla="val 4614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0" noProof="1"/>
              <a:t>Available</a:t>
            </a:r>
            <a:r>
              <a:rPr lang="en-US" spc="5" noProof="1"/>
              <a:t> </a:t>
            </a:r>
            <a:r>
              <a:rPr lang="en-US" spc="-55" noProof="1"/>
              <a:t>courses:</a:t>
            </a:r>
            <a:r>
              <a:rPr lang="en-US" spc="105" noProof="1"/>
              <a:t> </a:t>
            </a:r>
            <a:r>
              <a:rPr lang="en-US" noProof="1"/>
              <a:t>AWS</a:t>
            </a:r>
            <a:r>
              <a:rPr lang="en-US" spc="5" noProof="1"/>
              <a:t> </a:t>
            </a:r>
            <a:r>
              <a:rPr lang="en-US" spc="-30" noProof="1"/>
              <a:t>Cloud</a:t>
            </a:r>
            <a:r>
              <a:rPr lang="en-US" spc="10" noProof="1"/>
              <a:t> </a:t>
            </a:r>
            <a:r>
              <a:rPr lang="en-US" spc="-30" noProof="1"/>
              <a:t>Foundation</a:t>
            </a:r>
            <a:r>
              <a:rPr lang="en-US" spc="5" noProof="1"/>
              <a:t> </a:t>
            </a:r>
            <a:r>
              <a:rPr lang="en-US" spc="-35" noProof="1"/>
              <a:t>Course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341718" y="846814"/>
            <a:ext cx="5073650" cy="1519006"/>
          </a:xfrm>
          <a:prstGeom prst="rect">
            <a:avLst/>
          </a:prstGeom>
        </p:spPr>
        <p:txBody>
          <a:bodyPr vert="horz" wrap="square" lIns="0" tIns="315277" rIns="0" bIns="0" rtlCol="0">
            <a:spAutoFit/>
          </a:bodyPr>
          <a:lstStyle/>
          <a:p>
            <a:pPr marL="184785" marR="5080" indent="-171450">
              <a:lnSpc>
                <a:spcPct val="116199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noProof="1"/>
              <a:t>All the</a:t>
            </a:r>
            <a:r>
              <a:rPr lang="en-US" spc="5" noProof="1"/>
              <a:t> </a:t>
            </a:r>
            <a:r>
              <a:rPr lang="en-US" spc="-20" noProof="1"/>
              <a:t>students</a:t>
            </a:r>
            <a:r>
              <a:rPr lang="en-US" spc="5" noProof="1"/>
              <a:t> </a:t>
            </a:r>
            <a:r>
              <a:rPr lang="en-US" spc="-30" noProof="1"/>
              <a:t>are</a:t>
            </a:r>
            <a:r>
              <a:rPr lang="en-US" spc="5" noProof="1"/>
              <a:t> </a:t>
            </a:r>
            <a:r>
              <a:rPr lang="en-US" noProof="1"/>
              <a:t>invited</a:t>
            </a:r>
            <a:r>
              <a:rPr lang="en-US" spc="5" noProof="1"/>
              <a:t> </a:t>
            </a:r>
            <a:r>
              <a:rPr lang="en-US" noProof="1"/>
              <a:t>to</a:t>
            </a:r>
            <a:r>
              <a:rPr lang="en-US" spc="5" noProof="1"/>
              <a:t> </a:t>
            </a:r>
            <a:r>
              <a:rPr lang="en-US" spc="-20" noProof="1"/>
              <a:t>complete</a:t>
            </a:r>
            <a:r>
              <a:rPr lang="en-US" spc="5" noProof="1"/>
              <a:t> </a:t>
            </a:r>
            <a:r>
              <a:rPr lang="en-US" noProof="1"/>
              <a:t>the</a:t>
            </a:r>
            <a:r>
              <a:rPr lang="en-US" spc="5" noProof="1"/>
              <a:t> </a:t>
            </a:r>
            <a:r>
              <a:rPr lang="en-US" b="1" spc="-30" noProof="1">
                <a:solidFill>
                  <a:srgbClr val="0070C0"/>
                </a:solidFill>
              </a:rPr>
              <a:t>AWS</a:t>
            </a:r>
            <a:r>
              <a:rPr lang="en-US" b="1" spc="5" noProof="1">
                <a:solidFill>
                  <a:srgbClr val="0070C0"/>
                </a:solidFill>
              </a:rPr>
              <a:t> </a:t>
            </a:r>
            <a:r>
              <a:rPr lang="en-US" b="1" spc="-10" noProof="1">
                <a:solidFill>
                  <a:srgbClr val="0070C0"/>
                </a:solidFill>
              </a:rPr>
              <a:t>Cloud</a:t>
            </a:r>
            <a:r>
              <a:rPr lang="en-US" b="1" spc="5" noProof="1">
                <a:solidFill>
                  <a:srgbClr val="0070C0"/>
                </a:solidFill>
              </a:rPr>
              <a:t> </a:t>
            </a:r>
            <a:r>
              <a:rPr lang="en-US" b="1" spc="-25" noProof="1">
                <a:solidFill>
                  <a:srgbClr val="0070C0"/>
                </a:solidFill>
              </a:rPr>
              <a:t>Foundations</a:t>
            </a:r>
            <a:r>
              <a:rPr lang="en-US" noProof="1"/>
              <a:t> </a:t>
            </a:r>
            <a:r>
              <a:rPr lang="en-US" spc="-30" noProof="1"/>
              <a:t>course.</a:t>
            </a:r>
            <a:r>
              <a:rPr lang="en-US" spc="95" noProof="1"/>
              <a:t> </a:t>
            </a:r>
            <a:r>
              <a:rPr lang="en-US" noProof="1"/>
              <a:t>This</a:t>
            </a:r>
            <a:r>
              <a:rPr lang="en-US" spc="5" noProof="1"/>
              <a:t> </a:t>
            </a:r>
            <a:r>
              <a:rPr lang="en-US" spc="-40" noProof="1"/>
              <a:t>course</a:t>
            </a:r>
            <a:r>
              <a:rPr lang="en-US" spc="5" noProof="1"/>
              <a:t> </a:t>
            </a:r>
            <a:r>
              <a:rPr lang="en-US" noProof="1"/>
              <a:t>is</a:t>
            </a:r>
            <a:r>
              <a:rPr lang="en-US" spc="5" noProof="1"/>
              <a:t> </a:t>
            </a:r>
            <a:r>
              <a:rPr lang="en-US" spc="-25" noProof="1"/>
              <a:t>available</a:t>
            </a:r>
            <a:r>
              <a:rPr lang="en-US" spc="5" noProof="1"/>
              <a:t> </a:t>
            </a:r>
            <a:r>
              <a:rPr lang="en-US" spc="-25" noProof="1"/>
              <a:t>in </a:t>
            </a:r>
            <a:r>
              <a:rPr lang="en-US" noProof="1"/>
              <a:t>the</a:t>
            </a:r>
            <a:r>
              <a:rPr lang="en-US" spc="5" noProof="1"/>
              <a:t> </a:t>
            </a:r>
            <a:r>
              <a:rPr lang="en-US" spc="-25" noProof="1"/>
              <a:t>AWS</a:t>
            </a:r>
            <a:r>
              <a:rPr lang="en-US" spc="10" noProof="1"/>
              <a:t> </a:t>
            </a:r>
            <a:r>
              <a:rPr lang="en-US" spc="-25" noProof="1"/>
              <a:t>Educate</a:t>
            </a:r>
            <a:r>
              <a:rPr lang="en-US" spc="10" noProof="1"/>
              <a:t> </a:t>
            </a:r>
            <a:r>
              <a:rPr lang="en-US" noProof="1"/>
              <a:t>platform</a:t>
            </a:r>
            <a:r>
              <a:rPr lang="en-US" spc="10" noProof="1"/>
              <a:t> </a:t>
            </a:r>
            <a:r>
              <a:rPr lang="en-US" noProof="1"/>
              <a:t>and</a:t>
            </a:r>
            <a:r>
              <a:rPr lang="en-US" spc="10" noProof="1"/>
              <a:t> </a:t>
            </a:r>
            <a:r>
              <a:rPr lang="en-US" noProof="1"/>
              <a:t>it</a:t>
            </a:r>
            <a:r>
              <a:rPr lang="en-US" spc="10" noProof="1"/>
              <a:t> </a:t>
            </a:r>
            <a:r>
              <a:rPr lang="en-US" noProof="1"/>
              <a:t>is</a:t>
            </a:r>
            <a:r>
              <a:rPr lang="en-US" spc="10" noProof="1"/>
              <a:t> </a:t>
            </a:r>
            <a:r>
              <a:rPr lang="en-US" noProof="1"/>
              <a:t>a</a:t>
            </a:r>
            <a:r>
              <a:rPr lang="en-US" spc="10" noProof="1"/>
              <a:t> </a:t>
            </a:r>
            <a:r>
              <a:rPr lang="en-US" noProof="1"/>
              <a:t>great</a:t>
            </a:r>
            <a:r>
              <a:rPr lang="en-US" spc="5" noProof="1"/>
              <a:t> </a:t>
            </a:r>
            <a:r>
              <a:rPr lang="en-US" noProof="1"/>
              <a:t>introduction</a:t>
            </a:r>
            <a:r>
              <a:rPr lang="en-US" spc="10" noProof="1"/>
              <a:t> </a:t>
            </a:r>
            <a:r>
              <a:rPr lang="en-US" noProof="1"/>
              <a:t>to</a:t>
            </a:r>
            <a:r>
              <a:rPr lang="en-US" spc="10" noProof="1"/>
              <a:t> </a:t>
            </a:r>
            <a:r>
              <a:rPr lang="en-US" noProof="1"/>
              <a:t>the</a:t>
            </a:r>
            <a:r>
              <a:rPr lang="en-US" spc="10" noProof="1"/>
              <a:t> </a:t>
            </a:r>
            <a:r>
              <a:rPr lang="en-US" spc="-25" noProof="1"/>
              <a:t>AWS</a:t>
            </a:r>
            <a:r>
              <a:rPr lang="en-US" spc="10" noProof="1"/>
              <a:t> </a:t>
            </a:r>
            <a:r>
              <a:rPr lang="en-US" spc="-40" noProof="1"/>
              <a:t>services.</a:t>
            </a:r>
            <a:r>
              <a:rPr lang="en-US" spc="95" noProof="1"/>
              <a:t> </a:t>
            </a:r>
            <a:r>
              <a:rPr lang="en-US" noProof="1"/>
              <a:t>The</a:t>
            </a:r>
            <a:r>
              <a:rPr lang="en-US" spc="10" noProof="1"/>
              <a:t> </a:t>
            </a:r>
            <a:r>
              <a:rPr lang="en-US" spc="-40" noProof="1"/>
              <a:t>course</a:t>
            </a:r>
            <a:r>
              <a:rPr lang="en-US" spc="10" noProof="1"/>
              <a:t> </a:t>
            </a:r>
            <a:r>
              <a:rPr lang="en-US" noProof="1"/>
              <a:t>is</a:t>
            </a:r>
            <a:r>
              <a:rPr lang="en-US" spc="5" noProof="1"/>
              <a:t> </a:t>
            </a:r>
            <a:r>
              <a:rPr lang="en-US" spc="-25" noProof="1">
                <a:solidFill>
                  <a:srgbClr val="0070C0"/>
                </a:solidFill>
              </a:rPr>
              <a:t>not mandatory</a:t>
            </a:r>
            <a:r>
              <a:rPr lang="en-US" spc="-25" noProof="1"/>
              <a:t>,</a:t>
            </a:r>
            <a:r>
              <a:rPr lang="en-US" spc="40" noProof="1"/>
              <a:t> </a:t>
            </a:r>
            <a:r>
              <a:rPr lang="en-US" noProof="1"/>
              <a:t>but</a:t>
            </a:r>
            <a:r>
              <a:rPr lang="en-US" spc="45" noProof="1"/>
              <a:t> </a:t>
            </a:r>
            <a:r>
              <a:rPr lang="en-US" noProof="1"/>
              <a:t>it</a:t>
            </a:r>
            <a:r>
              <a:rPr lang="en-US" spc="45" noProof="1"/>
              <a:t> </a:t>
            </a:r>
            <a:r>
              <a:rPr lang="en-US" noProof="1"/>
              <a:t>is</a:t>
            </a:r>
            <a:r>
              <a:rPr lang="en-US" spc="40" noProof="1"/>
              <a:t> </a:t>
            </a:r>
            <a:r>
              <a:rPr lang="en-US" noProof="1"/>
              <a:t>highly</a:t>
            </a:r>
            <a:r>
              <a:rPr lang="en-US" spc="45" noProof="1"/>
              <a:t> </a:t>
            </a:r>
            <a:r>
              <a:rPr lang="en-US" spc="-10" noProof="1"/>
              <a:t>recommended.</a:t>
            </a:r>
          </a:p>
          <a:p>
            <a:pPr marL="184785" marR="5080" indent="-171450">
              <a:lnSpc>
                <a:spcPct val="116199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pc="-10" noProof="1"/>
          </a:p>
          <a:p>
            <a:pPr marL="184785" marR="148590" indent="-171450">
              <a:lnSpc>
                <a:spcPct val="116199"/>
              </a:lnSpc>
              <a:spcBef>
                <a:spcPts val="625"/>
              </a:spcBef>
              <a:buFont typeface="Arial" panose="020B0604020202020204" pitchFamily="34" charset="0"/>
              <a:buChar char="•"/>
            </a:pPr>
            <a:r>
              <a:rPr lang="en-US" noProof="1"/>
              <a:t>This introductory</a:t>
            </a:r>
            <a:r>
              <a:rPr lang="en-US" spc="5" noProof="1"/>
              <a:t> </a:t>
            </a:r>
            <a:r>
              <a:rPr lang="en-US" spc="-40" noProof="1"/>
              <a:t>course</a:t>
            </a:r>
            <a:r>
              <a:rPr lang="en-US" spc="5" noProof="1"/>
              <a:t> </a:t>
            </a:r>
            <a:r>
              <a:rPr lang="en-US" noProof="1"/>
              <a:t>is </a:t>
            </a:r>
            <a:r>
              <a:rPr lang="en-US" spc="-20" noProof="1"/>
              <a:t>intended</a:t>
            </a:r>
            <a:r>
              <a:rPr lang="en-US" spc="5" noProof="1"/>
              <a:t> </a:t>
            </a:r>
            <a:r>
              <a:rPr lang="en-US" noProof="1"/>
              <a:t>for</a:t>
            </a:r>
            <a:r>
              <a:rPr lang="en-US" spc="5" noProof="1"/>
              <a:t> </a:t>
            </a:r>
            <a:r>
              <a:rPr lang="en-US" spc="-20" noProof="1"/>
              <a:t>students</a:t>
            </a:r>
            <a:r>
              <a:rPr lang="en-US" spc="5" noProof="1"/>
              <a:t> </a:t>
            </a:r>
            <a:r>
              <a:rPr lang="en-US" noProof="1"/>
              <a:t>who </a:t>
            </a:r>
            <a:r>
              <a:rPr lang="en-US" spc="-60" noProof="1"/>
              <a:t>seek</a:t>
            </a:r>
            <a:r>
              <a:rPr lang="en-US" spc="5" noProof="1"/>
              <a:t> </a:t>
            </a:r>
            <a:r>
              <a:rPr lang="en-US" noProof="1"/>
              <a:t>an</a:t>
            </a:r>
            <a:r>
              <a:rPr lang="en-US" spc="5" noProof="1"/>
              <a:t> </a:t>
            </a:r>
            <a:r>
              <a:rPr lang="en-US" spc="-10" noProof="1"/>
              <a:t>overall</a:t>
            </a:r>
            <a:r>
              <a:rPr lang="en-US" noProof="1"/>
              <a:t> </a:t>
            </a:r>
            <a:r>
              <a:rPr lang="en-US" spc="-25" noProof="1"/>
              <a:t>understanding</a:t>
            </a:r>
            <a:r>
              <a:rPr lang="en-US" spc="5" noProof="1"/>
              <a:t> </a:t>
            </a:r>
            <a:r>
              <a:rPr lang="en-US" noProof="1"/>
              <a:t>of</a:t>
            </a:r>
            <a:r>
              <a:rPr lang="en-US" spc="5" noProof="1"/>
              <a:t> </a:t>
            </a:r>
            <a:r>
              <a:rPr lang="en-US" spc="-10" noProof="1"/>
              <a:t>cloud computing</a:t>
            </a:r>
            <a:r>
              <a:rPr lang="en-US" spc="15" noProof="1"/>
              <a:t> </a:t>
            </a:r>
            <a:r>
              <a:rPr lang="en-US" spc="-25" noProof="1"/>
              <a:t>concepts,</a:t>
            </a:r>
            <a:r>
              <a:rPr lang="en-US" spc="15" noProof="1"/>
              <a:t> </a:t>
            </a:r>
            <a:r>
              <a:rPr lang="en-US" spc="-25" noProof="1"/>
              <a:t>independent</a:t>
            </a:r>
            <a:r>
              <a:rPr lang="en-US" spc="15" noProof="1"/>
              <a:t> </a:t>
            </a:r>
            <a:r>
              <a:rPr lang="en-US" noProof="1"/>
              <a:t>of</a:t>
            </a:r>
            <a:r>
              <a:rPr lang="en-US" spc="15" noProof="1"/>
              <a:t> </a:t>
            </a:r>
            <a:r>
              <a:rPr lang="en-US" spc="-20" noProof="1"/>
              <a:t>specific</a:t>
            </a:r>
            <a:r>
              <a:rPr lang="en-US" spc="15" noProof="1"/>
              <a:t> </a:t>
            </a:r>
            <a:r>
              <a:rPr lang="en-US" spc="-10" noProof="1"/>
              <a:t>technical</a:t>
            </a:r>
            <a:r>
              <a:rPr lang="en-US" spc="15" noProof="1"/>
              <a:t> </a:t>
            </a:r>
            <a:r>
              <a:rPr lang="en-US" spc="-10" noProof="1"/>
              <a:t>roles.</a:t>
            </a:r>
            <a:r>
              <a:rPr lang="en-US" spc="105" noProof="1"/>
              <a:t> </a:t>
            </a:r>
            <a:r>
              <a:rPr lang="en-US" noProof="1"/>
              <a:t>It</a:t>
            </a:r>
            <a:r>
              <a:rPr lang="en-US" spc="15" noProof="1"/>
              <a:t> </a:t>
            </a:r>
            <a:r>
              <a:rPr lang="en-US" spc="-35" noProof="1"/>
              <a:t>provides</a:t>
            </a:r>
            <a:r>
              <a:rPr lang="en-US" spc="15" noProof="1"/>
              <a:t> </a:t>
            </a:r>
            <a:r>
              <a:rPr lang="en-US" noProof="1"/>
              <a:t>a</a:t>
            </a:r>
            <a:r>
              <a:rPr lang="en-US" spc="15" noProof="1"/>
              <a:t> </a:t>
            </a:r>
            <a:r>
              <a:rPr lang="en-US" spc="-20" noProof="1"/>
              <a:t>detailed</a:t>
            </a:r>
            <a:r>
              <a:rPr lang="en-US" spc="15" noProof="1"/>
              <a:t> </a:t>
            </a:r>
            <a:r>
              <a:rPr lang="en-US" spc="-30" noProof="1"/>
              <a:t>overview</a:t>
            </a:r>
            <a:r>
              <a:rPr lang="en-US" spc="15" noProof="1"/>
              <a:t> </a:t>
            </a:r>
            <a:r>
              <a:rPr lang="en-US" noProof="1"/>
              <a:t>of</a:t>
            </a:r>
            <a:r>
              <a:rPr lang="en-US" spc="15" noProof="1"/>
              <a:t> </a:t>
            </a:r>
            <a:r>
              <a:rPr lang="en-US" spc="-10" noProof="1"/>
              <a:t>cloud </a:t>
            </a:r>
            <a:r>
              <a:rPr lang="en-US" spc="-25" noProof="1"/>
              <a:t>concepts,</a:t>
            </a:r>
            <a:r>
              <a:rPr lang="en-US" spc="-10" noProof="1"/>
              <a:t> </a:t>
            </a:r>
            <a:r>
              <a:rPr lang="en-US" spc="-25" noProof="1"/>
              <a:t>AWS</a:t>
            </a:r>
            <a:r>
              <a:rPr lang="en-US" spc="-10" noProof="1"/>
              <a:t> </a:t>
            </a:r>
            <a:r>
              <a:rPr lang="en-US" spc="-30" noProof="1"/>
              <a:t>core</a:t>
            </a:r>
            <a:r>
              <a:rPr lang="en-US" spc="-10" noProof="1"/>
              <a:t> </a:t>
            </a:r>
            <a:r>
              <a:rPr lang="en-US" spc="-45" noProof="1"/>
              <a:t>services,</a:t>
            </a:r>
            <a:r>
              <a:rPr lang="en-US" spc="-5" noProof="1"/>
              <a:t> </a:t>
            </a:r>
            <a:r>
              <a:rPr lang="en-US" spc="-30" noProof="1"/>
              <a:t>security,</a:t>
            </a:r>
            <a:r>
              <a:rPr lang="en-US" spc="-10" noProof="1"/>
              <a:t> architecture, </a:t>
            </a:r>
            <a:r>
              <a:rPr lang="en-US" noProof="1"/>
              <a:t>pricing,</a:t>
            </a:r>
            <a:r>
              <a:rPr lang="en-US" spc="-10" noProof="1"/>
              <a:t> </a:t>
            </a:r>
            <a:r>
              <a:rPr lang="en-US" noProof="1"/>
              <a:t>and</a:t>
            </a:r>
            <a:r>
              <a:rPr lang="en-US" spc="-5" noProof="1"/>
              <a:t> </a:t>
            </a:r>
            <a:r>
              <a:rPr lang="en-US" spc="-10" noProof="1"/>
              <a:t>support.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2391410" cy="5080"/>
            </a:xfrm>
            <a:custGeom>
              <a:avLst/>
              <a:gdLst/>
              <a:ahLst/>
              <a:cxnLst/>
              <a:rect l="l" t="t" r="r" b="b"/>
              <a:pathLst>
                <a:path w="2391410" h="5080">
                  <a:moveTo>
                    <a:pt x="0" y="5060"/>
                  </a:moveTo>
                  <a:lnTo>
                    <a:pt x="0" y="0"/>
                  </a:lnTo>
                  <a:lnTo>
                    <a:pt x="2391006" y="0"/>
                  </a:lnTo>
                  <a:lnTo>
                    <a:pt x="239100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0" noProof="1"/>
              <a:t>Available</a:t>
            </a:r>
            <a:r>
              <a:rPr lang="en-US" spc="10" noProof="1"/>
              <a:t> </a:t>
            </a:r>
            <a:r>
              <a:rPr lang="en-US" spc="-55" noProof="1"/>
              <a:t>courses:</a:t>
            </a:r>
            <a:r>
              <a:rPr lang="en-US" spc="105" noProof="1"/>
              <a:t> </a:t>
            </a:r>
            <a:r>
              <a:rPr lang="en-US" noProof="1"/>
              <a:t>AWS</a:t>
            </a:r>
            <a:r>
              <a:rPr lang="en-US" spc="15" noProof="1"/>
              <a:t> </a:t>
            </a:r>
            <a:r>
              <a:rPr lang="en-US" spc="-30" noProof="1"/>
              <a:t>Learner</a:t>
            </a:r>
            <a:r>
              <a:rPr lang="en-US" spc="10" noProof="1"/>
              <a:t> </a:t>
            </a:r>
            <a:r>
              <a:rPr lang="en-US" spc="-25" noProof="1"/>
              <a:t>Lab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1718" y="1092423"/>
            <a:ext cx="5093970" cy="195694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will be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0" noProof="1">
                <a:solidFill>
                  <a:srgbClr val="0070C0"/>
                </a:solidFill>
                <a:latin typeface="Arial"/>
                <a:cs typeface="Arial"/>
              </a:rPr>
              <a:t>Learner</a:t>
            </a:r>
            <a:r>
              <a:rPr lang="en-US" sz="900" b="1" noProof="1">
                <a:solidFill>
                  <a:srgbClr val="0070C0"/>
                </a:solidFill>
                <a:latin typeface="Arial"/>
                <a:cs typeface="Arial"/>
              </a:rPr>
              <a:t> Lab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to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complete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today’s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tasks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and future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deliverables.</a:t>
            </a:r>
          </a:p>
          <a:p>
            <a:pPr marL="184150" indent="-17145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endParaRPr lang="en-US" sz="900" noProof="1">
              <a:latin typeface="Arial"/>
              <a:cs typeface="Arial"/>
            </a:endParaRPr>
          </a:p>
          <a:p>
            <a:pPr marL="184785" marR="147320" indent="-171450">
              <a:lnSpc>
                <a:spcPct val="116199"/>
              </a:lnSpc>
              <a:spcBef>
                <a:spcPts val="625"/>
              </a:spcBef>
              <a:buFont typeface="Arial" panose="020B0604020202020204" pitchFamily="34" charset="0"/>
              <a:buChar char="•"/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Learner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Lab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hands-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environment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where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practice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with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real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services.</a:t>
            </a:r>
            <a:r>
              <a:rPr lang="en-US" sz="900" spc="8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will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0070C0"/>
                </a:solidFill>
                <a:latin typeface="Arial"/>
                <a:cs typeface="Arial"/>
              </a:rPr>
              <a:t>a</a:t>
            </a:r>
            <a:r>
              <a:rPr lang="en-US" sz="900" spc="10" noProof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0070C0"/>
                </a:solidFill>
                <a:latin typeface="Arial"/>
                <a:cs typeface="Arial"/>
              </a:rPr>
              <a:t>limited</a:t>
            </a:r>
            <a:r>
              <a:rPr lang="en-US" sz="900" b="1" spc="30" noProof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0070C0"/>
                </a:solidFill>
                <a:latin typeface="Arial"/>
                <a:cs typeface="Arial"/>
              </a:rPr>
              <a:t>set</a:t>
            </a:r>
            <a:r>
              <a:rPr lang="en-US" sz="900" b="1" spc="30" noProof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0070C0"/>
                </a:solidFill>
                <a:latin typeface="Arial"/>
                <a:cs typeface="Arial"/>
              </a:rPr>
              <a:t>of</a:t>
            </a:r>
            <a:r>
              <a:rPr lang="en-US" sz="900" b="1" spc="30" noProof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n-US" sz="900" b="1" spc="-55" noProof="1">
                <a:solidFill>
                  <a:srgbClr val="0070C0"/>
                </a:solidFill>
                <a:latin typeface="Arial"/>
                <a:cs typeface="Arial"/>
              </a:rPr>
              <a:t>services</a:t>
            </a:r>
            <a:r>
              <a:rPr lang="en-US" sz="900" b="1" spc="30" noProof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0070C0"/>
                </a:solidFill>
                <a:latin typeface="Arial"/>
                <a:cs typeface="Arial"/>
              </a:rPr>
              <a:t>and</a:t>
            </a:r>
            <a:r>
              <a:rPr lang="en-US" sz="900" b="1" spc="30" noProof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0070C0"/>
                </a:solidFill>
                <a:latin typeface="Arial"/>
                <a:cs typeface="Arial"/>
              </a:rPr>
              <a:t>a</a:t>
            </a:r>
            <a:r>
              <a:rPr lang="en-US" sz="900" b="1" spc="30" noProof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n-US" sz="900" b="1" spc="-20" noProof="1">
                <a:solidFill>
                  <a:srgbClr val="0070C0"/>
                </a:solidFill>
                <a:latin typeface="Arial"/>
                <a:cs typeface="Arial"/>
              </a:rPr>
              <a:t>budget</a:t>
            </a:r>
            <a:r>
              <a:rPr lang="en-US" sz="900" b="1" spc="10" noProof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them.</a:t>
            </a:r>
            <a:endParaRPr lang="en-US" sz="900" noProof="1">
              <a:latin typeface="Arial"/>
              <a:cs typeface="Arial"/>
            </a:endParaRPr>
          </a:p>
          <a:p>
            <a:pPr marL="189230" marR="54610" indent="-171450">
              <a:lnSpc>
                <a:spcPct val="116199"/>
              </a:lnSpc>
              <a:spcBef>
                <a:spcPts val="630"/>
              </a:spcBef>
              <a:buFont typeface="Arial" panose="020B0604020202020204" pitchFamily="34" charset="0"/>
              <a:buChar char="•"/>
            </a:pPr>
            <a:endParaRPr lang="en-US" sz="900" noProof="1">
              <a:solidFill>
                <a:srgbClr val="22373A"/>
              </a:solidFill>
              <a:latin typeface="Arial"/>
              <a:cs typeface="Arial"/>
            </a:endParaRPr>
          </a:p>
          <a:p>
            <a:pPr marL="189230" marR="54610" indent="-171450">
              <a:lnSpc>
                <a:spcPct val="116199"/>
              </a:lnSpc>
              <a:spcBef>
                <a:spcPts val="630"/>
              </a:spcBef>
              <a:buFont typeface="Arial" panose="020B0604020202020204" pitchFamily="34" charset="0"/>
              <a:buChar char="•"/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great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opportunity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learn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real-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world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scenario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since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dashboard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same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by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professionals.</a:t>
            </a:r>
            <a:endParaRPr lang="en-US" sz="900" noProof="1">
              <a:latin typeface="Arial"/>
              <a:cs typeface="Arial"/>
            </a:endParaRPr>
          </a:p>
          <a:p>
            <a:pPr marL="189230" indent="-17145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endParaRPr lang="en-US" sz="900" noProof="1">
              <a:solidFill>
                <a:srgbClr val="22373A"/>
              </a:solidFill>
              <a:latin typeface="Arial"/>
              <a:cs typeface="Arial"/>
            </a:endParaRPr>
          </a:p>
          <a:p>
            <a:pPr marL="189230" indent="-17145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900" noProof="1">
                <a:solidFill>
                  <a:srgbClr val="0070C0"/>
                </a:solidFill>
                <a:latin typeface="Arial"/>
                <a:cs typeface="Arial"/>
              </a:rPr>
              <a:t>Getting</a:t>
            </a:r>
            <a:r>
              <a:rPr lang="en-US" sz="900" spc="-30" noProof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0070C0"/>
                </a:solidFill>
                <a:latin typeface="Arial"/>
                <a:cs typeface="Arial"/>
              </a:rPr>
              <a:t>into</a:t>
            </a:r>
            <a:r>
              <a:rPr lang="en-US" sz="900" spc="10" noProof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Learner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Lab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Dashboard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bit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0070C0"/>
                </a:solidFill>
                <a:latin typeface="Arial"/>
                <a:cs typeface="Arial"/>
              </a:rPr>
              <a:t>tricky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so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0" noProof="1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steps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2499995" cy="5080"/>
            </a:xfrm>
            <a:custGeom>
              <a:avLst/>
              <a:gdLst/>
              <a:ahLst/>
              <a:cxnLst/>
              <a:rect l="l" t="t" r="r" b="b"/>
              <a:pathLst>
                <a:path w="2499995" h="5080">
                  <a:moveTo>
                    <a:pt x="0" y="5060"/>
                  </a:moveTo>
                  <a:lnTo>
                    <a:pt x="0" y="0"/>
                  </a:lnTo>
                  <a:lnTo>
                    <a:pt x="2499641" y="0"/>
                  </a:lnTo>
                  <a:lnTo>
                    <a:pt x="249964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 lang="en-US" noProof="1"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1550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000" b="1" spc="-65" noProof="1">
                <a:solidFill>
                  <a:srgbClr val="F9F9F9"/>
                </a:solidFill>
                <a:latin typeface="Arial"/>
                <a:cs typeface="Arial"/>
              </a:rPr>
              <a:t>Accessing</a:t>
            </a:r>
            <a:r>
              <a:rPr lang="en-US" sz="1000" b="1" spc="40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lang="en-US" sz="1000" b="1" spc="40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30" noProof="1">
                <a:solidFill>
                  <a:srgbClr val="F9F9F9"/>
                </a:solidFill>
                <a:latin typeface="Arial"/>
                <a:cs typeface="Arial"/>
              </a:rPr>
              <a:t>Learner</a:t>
            </a:r>
            <a:r>
              <a:rPr lang="en-US" sz="1000" b="1" spc="4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25" noProof="1">
                <a:solidFill>
                  <a:srgbClr val="F9F9F9"/>
                </a:solidFill>
                <a:latin typeface="Arial"/>
                <a:cs typeface="Arial"/>
              </a:rPr>
              <a:t>Lab</a:t>
            </a:r>
            <a:endParaRPr lang="en-US" sz="10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7500" y="385466"/>
            <a:ext cx="2438400" cy="2549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816100" y="3012717"/>
            <a:ext cx="1955164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800" b="1" spc="-20" noProof="1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lang="en-US" sz="8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15:</a:t>
            </a:r>
            <a:r>
              <a:rPr lang="en-US" sz="800" b="1" spc="1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Choosing</a:t>
            </a:r>
            <a:r>
              <a:rPr lang="en-US" sz="8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8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learner</a:t>
            </a:r>
            <a:r>
              <a:rPr lang="en-US" sz="8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lab </a:t>
            </a:r>
            <a:r>
              <a:rPr lang="en-US" sz="800" spc="-25" noProof="1">
                <a:solidFill>
                  <a:srgbClr val="22373A"/>
                </a:solidFill>
                <a:latin typeface="Arial"/>
                <a:cs typeface="Arial"/>
              </a:rPr>
              <a:t>course</a:t>
            </a:r>
            <a:endParaRPr lang="en-US" sz="800" noProof="1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2608580" cy="5080"/>
            </a:xfrm>
            <a:custGeom>
              <a:avLst/>
              <a:gdLst/>
              <a:ahLst/>
              <a:cxnLst/>
              <a:rect l="l" t="t" r="r" b="b"/>
              <a:pathLst>
                <a:path w="2608580" h="5080">
                  <a:moveTo>
                    <a:pt x="0" y="5060"/>
                  </a:moveTo>
                  <a:lnTo>
                    <a:pt x="0" y="0"/>
                  </a:lnTo>
                  <a:lnTo>
                    <a:pt x="2608363" y="0"/>
                  </a:lnTo>
                  <a:lnTo>
                    <a:pt x="260836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 lang="en-US" noProof="1"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1550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000" b="1" spc="-65" noProof="1">
                <a:solidFill>
                  <a:srgbClr val="F9F9F9"/>
                </a:solidFill>
                <a:latin typeface="Arial"/>
                <a:cs typeface="Arial"/>
              </a:rPr>
              <a:t>Accessing</a:t>
            </a:r>
            <a:r>
              <a:rPr lang="en-US" sz="1000" b="1" spc="40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lang="en-US" sz="1000" b="1" spc="40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30" noProof="1">
                <a:solidFill>
                  <a:srgbClr val="F9F9F9"/>
                </a:solidFill>
                <a:latin typeface="Arial"/>
                <a:cs typeface="Arial"/>
              </a:rPr>
              <a:t>Learner</a:t>
            </a:r>
            <a:r>
              <a:rPr lang="en-US" sz="1000" b="1" spc="4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25" noProof="1">
                <a:solidFill>
                  <a:srgbClr val="F9F9F9"/>
                </a:solidFill>
                <a:latin typeface="Arial"/>
                <a:cs typeface="Arial"/>
              </a:rPr>
              <a:t>Lab</a:t>
            </a:r>
            <a:endParaRPr lang="en-US" sz="10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7500" y="370349"/>
            <a:ext cx="2514600" cy="254493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880590" y="2917825"/>
            <a:ext cx="19989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800" b="1" spc="-20" noProof="1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lang="en-US" sz="8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16:</a:t>
            </a:r>
            <a:r>
              <a:rPr lang="en-US" sz="800" b="1" spc="1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Choosing</a:t>
            </a:r>
            <a:r>
              <a:rPr lang="en-US" sz="8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8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learner</a:t>
            </a:r>
            <a:r>
              <a:rPr lang="en-US" sz="8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lab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module</a:t>
            </a:r>
            <a:endParaRPr lang="en-US" sz="800" noProof="1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2717165" cy="5080"/>
            </a:xfrm>
            <a:custGeom>
              <a:avLst/>
              <a:gdLst/>
              <a:ahLst/>
              <a:cxnLst/>
              <a:rect l="l" t="t" r="r" b="b"/>
              <a:pathLst>
                <a:path w="2717165" h="5080">
                  <a:moveTo>
                    <a:pt x="0" y="5060"/>
                  </a:moveTo>
                  <a:lnTo>
                    <a:pt x="0" y="0"/>
                  </a:lnTo>
                  <a:lnTo>
                    <a:pt x="2716997" y="0"/>
                  </a:lnTo>
                  <a:lnTo>
                    <a:pt x="271699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 lang="en-US" noProof="1"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1550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000" b="1" spc="-65" noProof="1">
                <a:solidFill>
                  <a:srgbClr val="F9F9F9"/>
                </a:solidFill>
                <a:latin typeface="Arial"/>
                <a:cs typeface="Arial"/>
              </a:rPr>
              <a:t>Accessing</a:t>
            </a:r>
            <a:r>
              <a:rPr lang="en-US" sz="1000" b="1" spc="40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lang="en-US" sz="1000" b="1" spc="40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30" noProof="1">
                <a:solidFill>
                  <a:srgbClr val="F9F9F9"/>
                </a:solidFill>
                <a:latin typeface="Arial"/>
                <a:cs typeface="Arial"/>
              </a:rPr>
              <a:t>Learner</a:t>
            </a:r>
            <a:r>
              <a:rPr lang="en-US" sz="1000" b="1" spc="4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25" noProof="1">
                <a:solidFill>
                  <a:srgbClr val="F9F9F9"/>
                </a:solidFill>
                <a:latin typeface="Arial"/>
                <a:cs typeface="Arial"/>
              </a:rPr>
              <a:t>Lab</a:t>
            </a:r>
            <a:endParaRPr lang="en-US" sz="10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5900" y="370349"/>
            <a:ext cx="5184023" cy="245603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535976" y="2999105"/>
            <a:ext cx="268859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800" b="1" spc="-20" noProof="1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lang="en-US" sz="8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17:</a:t>
            </a:r>
            <a:r>
              <a:rPr lang="en-US" sz="800" b="1" spc="9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Scroll</a:t>
            </a:r>
            <a:r>
              <a:rPr lang="en-US" sz="8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down and</a:t>
            </a:r>
            <a:r>
              <a:rPr lang="en-US" sz="8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30" noProof="1">
                <a:solidFill>
                  <a:srgbClr val="22373A"/>
                </a:solidFill>
                <a:latin typeface="Arial"/>
                <a:cs typeface="Arial"/>
              </a:rPr>
              <a:t>agree</a:t>
            </a:r>
            <a:r>
              <a:rPr lang="en-US" sz="8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8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terms and</a:t>
            </a:r>
            <a:r>
              <a:rPr lang="en-US" sz="8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conditions</a:t>
            </a:r>
            <a:endParaRPr lang="en-US" sz="800" noProof="1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2825750" cy="5080"/>
            </a:xfrm>
            <a:custGeom>
              <a:avLst/>
              <a:gdLst/>
              <a:ahLst/>
              <a:cxnLst/>
              <a:rect l="l" t="t" r="r" b="b"/>
              <a:pathLst>
                <a:path w="2825750" h="5080">
                  <a:moveTo>
                    <a:pt x="0" y="5060"/>
                  </a:moveTo>
                  <a:lnTo>
                    <a:pt x="0" y="0"/>
                  </a:lnTo>
                  <a:lnTo>
                    <a:pt x="2825719" y="0"/>
                  </a:lnTo>
                  <a:lnTo>
                    <a:pt x="282571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 lang="en-US" noProof="1"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1550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000" b="1" spc="-65" noProof="1">
                <a:solidFill>
                  <a:srgbClr val="F9F9F9"/>
                </a:solidFill>
                <a:latin typeface="Arial"/>
                <a:cs typeface="Arial"/>
              </a:rPr>
              <a:t>Accessing</a:t>
            </a:r>
            <a:r>
              <a:rPr lang="en-US" sz="1000" b="1" spc="40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lang="en-US" sz="1000" b="1" spc="40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30" noProof="1">
                <a:solidFill>
                  <a:srgbClr val="F9F9F9"/>
                </a:solidFill>
                <a:latin typeface="Arial"/>
                <a:cs typeface="Arial"/>
              </a:rPr>
              <a:t>Learner</a:t>
            </a:r>
            <a:r>
              <a:rPr lang="en-US" sz="1000" b="1" spc="4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25" noProof="1">
                <a:solidFill>
                  <a:srgbClr val="F9F9F9"/>
                </a:solidFill>
                <a:latin typeface="Arial"/>
                <a:cs typeface="Arial"/>
              </a:rPr>
              <a:t>Lab</a:t>
            </a:r>
            <a:endParaRPr lang="en-US" sz="10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100" y="446941"/>
            <a:ext cx="5086618" cy="247925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266137" y="2999105"/>
            <a:ext cx="122809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800" b="1" spc="-20" noProof="1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lang="en-US" sz="8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18:</a:t>
            </a:r>
            <a:r>
              <a:rPr lang="en-US" sz="800" b="1" spc="1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8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8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‘Start’</a:t>
            </a:r>
            <a:endParaRPr lang="en-US" sz="800" noProof="1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2934970" cy="5080"/>
            </a:xfrm>
            <a:custGeom>
              <a:avLst/>
              <a:gdLst/>
              <a:ahLst/>
              <a:cxnLst/>
              <a:rect l="l" t="t" r="r" b="b"/>
              <a:pathLst>
                <a:path w="2934970" h="5080">
                  <a:moveTo>
                    <a:pt x="0" y="5060"/>
                  </a:moveTo>
                  <a:lnTo>
                    <a:pt x="0" y="0"/>
                  </a:lnTo>
                  <a:lnTo>
                    <a:pt x="2934353" y="0"/>
                  </a:lnTo>
                  <a:lnTo>
                    <a:pt x="293435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 lang="en-US" noProof="1"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1550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000" b="1" spc="-65" noProof="1">
                <a:solidFill>
                  <a:srgbClr val="F9F9F9"/>
                </a:solidFill>
                <a:latin typeface="Arial"/>
                <a:cs typeface="Arial"/>
              </a:rPr>
              <a:t>Accessing</a:t>
            </a:r>
            <a:r>
              <a:rPr lang="en-US" sz="1000" b="1" spc="40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lang="en-US" sz="1000" b="1" spc="40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30" noProof="1">
                <a:solidFill>
                  <a:srgbClr val="F9F9F9"/>
                </a:solidFill>
                <a:latin typeface="Arial"/>
                <a:cs typeface="Arial"/>
              </a:rPr>
              <a:t>Learner</a:t>
            </a:r>
            <a:r>
              <a:rPr lang="en-US" sz="1000" b="1" spc="4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25" noProof="1">
                <a:solidFill>
                  <a:srgbClr val="F9F9F9"/>
                </a:solidFill>
                <a:latin typeface="Arial"/>
                <a:cs typeface="Arial"/>
              </a:rPr>
              <a:t>Lab</a:t>
            </a:r>
            <a:endParaRPr lang="en-US" sz="10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100" y="370350"/>
            <a:ext cx="5257800" cy="253005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819960" y="2999105"/>
            <a:ext cx="212026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800" b="1" spc="-20" noProof="1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lang="en-US" sz="800" b="1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19:</a:t>
            </a:r>
            <a:r>
              <a:rPr lang="en-US" sz="800" b="1" spc="1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Wait</a:t>
            </a:r>
            <a:r>
              <a:rPr lang="en-US" sz="8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8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8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environment</a:t>
            </a:r>
            <a:r>
              <a:rPr lang="en-US" sz="8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8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set</a:t>
            </a:r>
            <a:r>
              <a:rPr lang="en-US" sz="8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25" noProof="1">
                <a:solidFill>
                  <a:srgbClr val="22373A"/>
                </a:solidFill>
                <a:latin typeface="Arial"/>
                <a:cs typeface="Arial"/>
              </a:rPr>
              <a:t>up</a:t>
            </a:r>
            <a:endParaRPr lang="en-US" sz="800" noProof="1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3043555" cy="5080"/>
            </a:xfrm>
            <a:custGeom>
              <a:avLst/>
              <a:gdLst/>
              <a:ahLst/>
              <a:cxnLst/>
              <a:rect l="l" t="t" r="r" b="b"/>
              <a:pathLst>
                <a:path w="3043555" h="5080">
                  <a:moveTo>
                    <a:pt x="0" y="5060"/>
                  </a:moveTo>
                  <a:lnTo>
                    <a:pt x="0" y="0"/>
                  </a:lnTo>
                  <a:lnTo>
                    <a:pt x="3043076" y="0"/>
                  </a:lnTo>
                  <a:lnTo>
                    <a:pt x="304307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 lang="en-US" noProof="1"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1550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000" b="1" spc="-65" noProof="1">
                <a:solidFill>
                  <a:srgbClr val="F9F9F9"/>
                </a:solidFill>
                <a:latin typeface="Arial"/>
                <a:cs typeface="Arial"/>
              </a:rPr>
              <a:t>Accessing</a:t>
            </a:r>
            <a:r>
              <a:rPr lang="en-US" sz="1000" b="1" spc="40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lang="en-US" sz="1000" b="1" spc="40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30" noProof="1">
                <a:solidFill>
                  <a:srgbClr val="F9F9F9"/>
                </a:solidFill>
                <a:latin typeface="Arial"/>
                <a:cs typeface="Arial"/>
              </a:rPr>
              <a:t>Learner</a:t>
            </a:r>
            <a:r>
              <a:rPr lang="en-US" sz="1000" b="1" spc="4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25" noProof="1">
                <a:solidFill>
                  <a:srgbClr val="F9F9F9"/>
                </a:solidFill>
                <a:latin typeface="Arial"/>
                <a:cs typeface="Arial"/>
              </a:rPr>
              <a:t>Lab</a:t>
            </a:r>
            <a:endParaRPr lang="en-US" sz="10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1" y="370350"/>
            <a:ext cx="5760085" cy="244079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49300" y="2888021"/>
            <a:ext cx="3657601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800" b="1" spc="-20" noProof="1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lang="en-US" sz="8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20:</a:t>
            </a:r>
            <a:r>
              <a:rPr lang="en-US" sz="800" b="1" spc="114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Once</a:t>
            </a:r>
            <a:r>
              <a:rPr lang="en-US" sz="8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50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8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8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ready</a:t>
            </a:r>
            <a:r>
              <a:rPr lang="en-US" sz="800" spc="15" noProof="1">
                <a:solidFill>
                  <a:srgbClr val="22373A"/>
                </a:solidFill>
                <a:latin typeface="Arial"/>
                <a:cs typeface="Arial"/>
              </a:rPr>
              <a:t> (the AWS buttom becomes green)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8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8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‘AWS’. </a:t>
            </a:r>
            <a:r>
              <a:rPr lang="en-US" sz="800" b="1" spc="-10" noProof="1">
                <a:solidFill>
                  <a:srgbClr val="FF0000"/>
                </a:solidFill>
                <a:latin typeface="Arial"/>
                <a:cs typeface="Arial"/>
              </a:rPr>
              <a:t>Current Budget usage: $0 spent out of a $50 limit</a:t>
            </a:r>
            <a:r>
              <a:rPr lang="en-US" sz="800" b="1" spc="-10" noProof="1">
                <a:solidFill>
                  <a:schemeClr val="tx1"/>
                </a:solidFill>
                <a:latin typeface="Arial"/>
                <a:cs typeface="Arial"/>
              </a:rPr>
              <a:t>.</a:t>
            </a:r>
            <a:endParaRPr lang="en-US" sz="800" b="1" noProof="1">
              <a:solidFill>
                <a:schemeClr val="tx1"/>
              </a:solidFill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3152140" cy="5080"/>
            </a:xfrm>
            <a:custGeom>
              <a:avLst/>
              <a:gdLst/>
              <a:ahLst/>
              <a:cxnLst/>
              <a:rect l="l" t="t" r="r" b="b"/>
              <a:pathLst>
                <a:path w="3152140" h="5080">
                  <a:moveTo>
                    <a:pt x="0" y="5060"/>
                  </a:moveTo>
                  <a:lnTo>
                    <a:pt x="0" y="0"/>
                  </a:lnTo>
                  <a:lnTo>
                    <a:pt x="3151710" y="0"/>
                  </a:lnTo>
                  <a:lnTo>
                    <a:pt x="315171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 lang="en-US" noProof="1"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1550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000" b="1" spc="-65" noProof="1">
                <a:solidFill>
                  <a:srgbClr val="F9F9F9"/>
                </a:solidFill>
                <a:latin typeface="Arial"/>
                <a:cs typeface="Arial"/>
              </a:rPr>
              <a:t>Accessing</a:t>
            </a:r>
            <a:r>
              <a:rPr lang="en-US" sz="1000" b="1" spc="40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lang="en-US" sz="1000" b="1" spc="40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30" noProof="1">
                <a:solidFill>
                  <a:srgbClr val="F9F9F9"/>
                </a:solidFill>
                <a:latin typeface="Arial"/>
                <a:cs typeface="Arial"/>
              </a:rPr>
              <a:t>Learner</a:t>
            </a:r>
            <a:r>
              <a:rPr lang="en-US" sz="1000" b="1" spc="4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25" noProof="1">
                <a:solidFill>
                  <a:srgbClr val="F9F9F9"/>
                </a:solidFill>
                <a:latin typeface="Arial"/>
                <a:cs typeface="Arial"/>
              </a:rPr>
              <a:t>Lab</a:t>
            </a:r>
            <a:endParaRPr lang="en-US" sz="10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700" y="446907"/>
            <a:ext cx="5257800" cy="247091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662506" y="2922905"/>
            <a:ext cx="24352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800" b="1" spc="-20" noProof="1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lang="en-US" sz="8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21:</a:t>
            </a:r>
            <a:r>
              <a:rPr lang="en-US" sz="800" b="1" spc="1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8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8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lang="en-US" sz="8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25" noProof="1">
                <a:solidFill>
                  <a:srgbClr val="22373A"/>
                </a:solidFill>
                <a:latin typeface="Arial"/>
                <a:cs typeface="Arial"/>
              </a:rPr>
              <a:t>presented</a:t>
            </a:r>
            <a:r>
              <a:rPr lang="en-US" sz="8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8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8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20" noProof="1">
                <a:solidFill>
                  <a:srgbClr val="22373A"/>
                </a:solidFill>
                <a:latin typeface="Arial"/>
                <a:cs typeface="Arial"/>
              </a:rPr>
              <a:t>dashboard</a:t>
            </a:r>
            <a:endParaRPr lang="en-US" sz="800" noProof="1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3260725" cy="5080"/>
            </a:xfrm>
            <a:custGeom>
              <a:avLst/>
              <a:gdLst/>
              <a:ahLst/>
              <a:cxnLst/>
              <a:rect l="l" t="t" r="r" b="b"/>
              <a:pathLst>
                <a:path w="3260725" h="5080">
                  <a:moveTo>
                    <a:pt x="0" y="5060"/>
                  </a:moveTo>
                  <a:lnTo>
                    <a:pt x="0" y="0"/>
                  </a:lnTo>
                  <a:lnTo>
                    <a:pt x="3260432" y="0"/>
                  </a:lnTo>
                  <a:lnTo>
                    <a:pt x="326043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5865"/>
            <a:ext cx="23863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b="1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EC2</a:t>
            </a:r>
            <a:r>
              <a:rPr lang="en-US" sz="1100" b="1" spc="40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lang="en-US" sz="1100" b="1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-</a:t>
            </a:r>
            <a:r>
              <a:rPr lang="en-US" sz="1100" b="1" spc="45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lang="en-US" sz="1100" b="1" spc="-40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Deploying</a:t>
            </a:r>
            <a:r>
              <a:rPr lang="en-US" sz="1100" b="1" spc="45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lang="en-US" sz="1100" b="1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a</a:t>
            </a:r>
            <a:r>
              <a:rPr lang="en-US" sz="1100" b="1" spc="45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lang="en-US" sz="1100" b="1" spc="-30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Jupyter</a:t>
            </a:r>
            <a:r>
              <a:rPr lang="en-US" sz="1100" b="1" spc="45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lang="en-US" sz="1100" b="1" spc="-10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Notebook</a:t>
            </a:r>
            <a:endParaRPr lang="en-US" sz="1100" noProof="1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7755"/>
            <a:ext cx="2505710" cy="5080"/>
            <a:chOff x="1627403" y="1647755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7755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7755"/>
              <a:ext cx="1418590" cy="5080"/>
            </a:xfrm>
            <a:custGeom>
              <a:avLst/>
              <a:gdLst/>
              <a:ahLst/>
              <a:cxnLst/>
              <a:rect l="l" t="t" r="r" b="b"/>
              <a:pathLst>
                <a:path w="1418589" h="5080">
                  <a:moveTo>
                    <a:pt x="0" y="5060"/>
                  </a:moveTo>
                  <a:lnTo>
                    <a:pt x="0" y="0"/>
                  </a:lnTo>
                  <a:lnTo>
                    <a:pt x="1418064" y="0"/>
                  </a:lnTo>
                  <a:lnTo>
                    <a:pt x="141806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10" noProof="1"/>
              <a:t>Creating</a:t>
            </a:r>
            <a:r>
              <a:rPr lang="en-US" noProof="1"/>
              <a:t> an SSH Key </a:t>
            </a:r>
            <a:r>
              <a:rPr lang="en-US" spc="-20" noProof="1"/>
              <a:t>Pair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2646" y="876734"/>
            <a:ext cx="5015230" cy="442595"/>
            <a:chOff x="372646" y="876734"/>
            <a:chExt cx="5015230" cy="442595"/>
          </a:xfrm>
        </p:grpSpPr>
        <p:sp>
          <p:nvSpPr>
            <p:cNvPr id="4" name="object 4"/>
            <p:cNvSpPr/>
            <p:nvPr/>
          </p:nvSpPr>
          <p:spPr>
            <a:xfrm>
              <a:off x="377994" y="882081"/>
              <a:ext cx="5004435" cy="432434"/>
            </a:xfrm>
            <a:custGeom>
              <a:avLst/>
              <a:gdLst/>
              <a:ahLst/>
              <a:cxnLst/>
              <a:rect l="l" t="t" r="r" b="b"/>
              <a:pathLst>
                <a:path w="5004435" h="432434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395881"/>
                  </a:lnTo>
                  <a:lnTo>
                    <a:pt x="2829" y="409894"/>
                  </a:lnTo>
                  <a:lnTo>
                    <a:pt x="10544" y="421337"/>
                  </a:lnTo>
                  <a:lnTo>
                    <a:pt x="21987" y="429052"/>
                  </a:lnTo>
                  <a:lnTo>
                    <a:pt x="36000" y="431882"/>
                  </a:lnTo>
                  <a:lnTo>
                    <a:pt x="4968064" y="431882"/>
                  </a:lnTo>
                  <a:lnTo>
                    <a:pt x="4982077" y="429052"/>
                  </a:lnTo>
                  <a:lnTo>
                    <a:pt x="4993521" y="421337"/>
                  </a:lnTo>
                  <a:lnTo>
                    <a:pt x="5001236" y="409894"/>
                  </a:lnTo>
                  <a:lnTo>
                    <a:pt x="5004065" y="395881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378973" y="883060"/>
              <a:ext cx="5002530" cy="430530"/>
            </a:xfrm>
            <a:custGeom>
              <a:avLst/>
              <a:gdLst/>
              <a:ahLst/>
              <a:cxnLst/>
              <a:rect l="l" t="t" r="r" b="b"/>
              <a:pathLst>
                <a:path w="5002530" h="430530">
                  <a:moveTo>
                    <a:pt x="0" y="394902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394902"/>
                  </a:lnTo>
                  <a:lnTo>
                    <a:pt x="4999354" y="408534"/>
                  </a:lnTo>
                  <a:lnTo>
                    <a:pt x="4991849" y="419666"/>
                  </a:lnTo>
                  <a:lnTo>
                    <a:pt x="4980717" y="427171"/>
                  </a:lnTo>
                  <a:lnTo>
                    <a:pt x="4967085" y="429923"/>
                  </a:lnTo>
                  <a:lnTo>
                    <a:pt x="35021" y="429923"/>
                  </a:lnTo>
                  <a:lnTo>
                    <a:pt x="21389" y="427171"/>
                  </a:lnTo>
                  <a:lnTo>
                    <a:pt x="10257" y="419666"/>
                  </a:lnTo>
                  <a:lnTo>
                    <a:pt x="2752" y="408534"/>
                  </a:lnTo>
                  <a:lnTo>
                    <a:pt x="0" y="394902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2685630" y="1422597"/>
            <a:ext cx="264795" cy="121285"/>
            <a:chOff x="2685630" y="1422597"/>
            <a:chExt cx="264795" cy="121285"/>
          </a:xfrm>
        </p:grpSpPr>
        <p:sp>
          <p:nvSpPr>
            <p:cNvPr id="7" name="object 7"/>
            <p:cNvSpPr/>
            <p:nvPr/>
          </p:nvSpPr>
          <p:spPr>
            <a:xfrm>
              <a:off x="2685630" y="1422597"/>
              <a:ext cx="264795" cy="121285"/>
            </a:xfrm>
            <a:custGeom>
              <a:avLst/>
              <a:gdLst/>
              <a:ahLst/>
              <a:cxnLst/>
              <a:rect l="l" t="t" r="r" b="b"/>
              <a:pathLst>
                <a:path w="264794" h="121284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228441" y="120757"/>
                  </a:lnTo>
                  <a:lnTo>
                    <a:pt x="242454" y="117928"/>
                  </a:lnTo>
                  <a:lnTo>
                    <a:pt x="253897" y="110213"/>
                  </a:lnTo>
                  <a:lnTo>
                    <a:pt x="261612" y="98770"/>
                  </a:lnTo>
                  <a:lnTo>
                    <a:pt x="264441" y="84757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2685630" y="1422597"/>
              <a:ext cx="264795" cy="121285"/>
            </a:xfrm>
            <a:custGeom>
              <a:avLst/>
              <a:gdLst/>
              <a:ahLst/>
              <a:cxnLst/>
              <a:rect l="l" t="t" r="r" b="b"/>
              <a:pathLst>
                <a:path w="264794" h="121284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228441" y="120757"/>
                  </a:lnTo>
                  <a:lnTo>
                    <a:pt x="242454" y="117928"/>
                  </a:lnTo>
                  <a:lnTo>
                    <a:pt x="253897" y="110213"/>
                  </a:lnTo>
                  <a:lnTo>
                    <a:pt x="261612" y="98770"/>
                  </a:lnTo>
                  <a:lnTo>
                    <a:pt x="264441" y="84757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7514" y="1668076"/>
            <a:ext cx="144873" cy="114266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587743" y="1920161"/>
            <a:ext cx="443865" cy="580390"/>
            <a:chOff x="587743" y="1920161"/>
            <a:chExt cx="443865" cy="58039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7743" y="1920161"/>
              <a:ext cx="204657" cy="10117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7743" y="2059909"/>
              <a:ext cx="204657" cy="12075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87743" y="2219230"/>
              <a:ext cx="324485" cy="121285"/>
            </a:xfrm>
            <a:custGeom>
              <a:avLst/>
              <a:gdLst/>
              <a:ahLst/>
              <a:cxnLst/>
              <a:rect l="l" t="t" r="r" b="b"/>
              <a:pathLst>
                <a:path w="324484" h="121285">
                  <a:moveTo>
                    <a:pt x="28822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288225" y="120757"/>
                  </a:lnTo>
                  <a:lnTo>
                    <a:pt x="302238" y="117928"/>
                  </a:lnTo>
                  <a:lnTo>
                    <a:pt x="313681" y="110213"/>
                  </a:lnTo>
                  <a:lnTo>
                    <a:pt x="321396" y="98770"/>
                  </a:lnTo>
                  <a:lnTo>
                    <a:pt x="324225" y="84757"/>
                  </a:lnTo>
                  <a:lnTo>
                    <a:pt x="324225" y="36000"/>
                  </a:lnTo>
                  <a:lnTo>
                    <a:pt x="321396" y="21987"/>
                  </a:lnTo>
                  <a:lnTo>
                    <a:pt x="313681" y="10544"/>
                  </a:lnTo>
                  <a:lnTo>
                    <a:pt x="302238" y="2829"/>
                  </a:lnTo>
                  <a:lnTo>
                    <a:pt x="288225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4" name="object 14"/>
            <p:cNvSpPr/>
            <p:nvPr/>
          </p:nvSpPr>
          <p:spPr>
            <a:xfrm>
              <a:off x="587743" y="2219230"/>
              <a:ext cx="324485" cy="121285"/>
            </a:xfrm>
            <a:custGeom>
              <a:avLst/>
              <a:gdLst/>
              <a:ahLst/>
              <a:cxnLst/>
              <a:rect l="l" t="t" r="r" b="b"/>
              <a:pathLst>
                <a:path w="324484" h="121285">
                  <a:moveTo>
                    <a:pt x="28822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288225" y="120757"/>
                  </a:lnTo>
                  <a:lnTo>
                    <a:pt x="302238" y="117928"/>
                  </a:lnTo>
                  <a:lnTo>
                    <a:pt x="313681" y="110213"/>
                  </a:lnTo>
                  <a:lnTo>
                    <a:pt x="321396" y="98770"/>
                  </a:lnTo>
                  <a:lnTo>
                    <a:pt x="324225" y="84757"/>
                  </a:lnTo>
                  <a:lnTo>
                    <a:pt x="324225" y="36000"/>
                  </a:lnTo>
                  <a:lnTo>
                    <a:pt x="321396" y="21987"/>
                  </a:lnTo>
                  <a:lnTo>
                    <a:pt x="313681" y="10544"/>
                  </a:lnTo>
                  <a:lnTo>
                    <a:pt x="302238" y="2829"/>
                  </a:lnTo>
                  <a:lnTo>
                    <a:pt x="28822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5" name="object 15"/>
            <p:cNvSpPr/>
            <p:nvPr/>
          </p:nvSpPr>
          <p:spPr>
            <a:xfrm>
              <a:off x="587743" y="2377301"/>
              <a:ext cx="443865" cy="123189"/>
            </a:xfrm>
            <a:custGeom>
              <a:avLst/>
              <a:gdLst/>
              <a:ahLst/>
              <a:cxnLst/>
              <a:rect l="l" t="t" r="r" b="b"/>
              <a:pathLst>
                <a:path w="443865" h="123189">
                  <a:moveTo>
                    <a:pt x="40779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407793" y="122693"/>
                  </a:lnTo>
                  <a:lnTo>
                    <a:pt x="421806" y="119864"/>
                  </a:lnTo>
                  <a:lnTo>
                    <a:pt x="433249" y="112148"/>
                  </a:lnTo>
                  <a:lnTo>
                    <a:pt x="440964" y="100705"/>
                  </a:lnTo>
                  <a:lnTo>
                    <a:pt x="443793" y="86692"/>
                  </a:lnTo>
                  <a:lnTo>
                    <a:pt x="443793" y="36000"/>
                  </a:lnTo>
                  <a:lnTo>
                    <a:pt x="440964" y="21987"/>
                  </a:lnTo>
                  <a:lnTo>
                    <a:pt x="433249" y="10544"/>
                  </a:lnTo>
                  <a:lnTo>
                    <a:pt x="421806" y="2829"/>
                  </a:lnTo>
                  <a:lnTo>
                    <a:pt x="407793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6" name="object 16"/>
            <p:cNvSpPr/>
            <p:nvPr/>
          </p:nvSpPr>
          <p:spPr>
            <a:xfrm>
              <a:off x="587743" y="2377301"/>
              <a:ext cx="443865" cy="123189"/>
            </a:xfrm>
            <a:custGeom>
              <a:avLst/>
              <a:gdLst/>
              <a:ahLst/>
              <a:cxnLst/>
              <a:rect l="l" t="t" r="r" b="b"/>
              <a:pathLst>
                <a:path w="443865" h="123189">
                  <a:moveTo>
                    <a:pt x="40779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407793" y="122693"/>
                  </a:lnTo>
                  <a:lnTo>
                    <a:pt x="421806" y="119864"/>
                  </a:lnTo>
                  <a:lnTo>
                    <a:pt x="433249" y="112148"/>
                  </a:lnTo>
                  <a:lnTo>
                    <a:pt x="440964" y="100705"/>
                  </a:lnTo>
                  <a:lnTo>
                    <a:pt x="443793" y="86692"/>
                  </a:lnTo>
                  <a:lnTo>
                    <a:pt x="443793" y="36000"/>
                  </a:lnTo>
                  <a:lnTo>
                    <a:pt x="440964" y="21987"/>
                  </a:lnTo>
                  <a:lnTo>
                    <a:pt x="433249" y="10544"/>
                  </a:lnTo>
                  <a:lnTo>
                    <a:pt x="421806" y="2829"/>
                  </a:lnTo>
                  <a:lnTo>
                    <a:pt x="407793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7514" y="2616981"/>
            <a:ext cx="144873" cy="120757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343319" y="632747"/>
            <a:ext cx="4728210" cy="21458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95"/>
              </a:spcBef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Open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terminal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powershell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type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following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command: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lang="en-US" sz="900" noProof="1">
              <a:latin typeface="Arial"/>
              <a:cs typeface="Arial"/>
            </a:endParaRPr>
          </a:p>
          <a:p>
            <a:pPr marL="214629">
              <a:lnSpc>
                <a:spcPct val="100000"/>
              </a:lnSpc>
            </a:pPr>
            <a:r>
              <a:rPr lang="en-US" sz="800" spc="-60" noProof="1">
                <a:solidFill>
                  <a:srgbClr val="05287C"/>
                </a:solidFill>
                <a:latin typeface="Courier New"/>
                <a:cs typeface="Courier New"/>
              </a:rPr>
              <a:t>$ mkdir</a:t>
            </a:r>
            <a:r>
              <a:rPr lang="en-US" sz="800" spc="-25" noProof="1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lang="en-US" sz="800" spc="-20" noProof="1">
                <a:latin typeface="Courier New"/>
                <a:cs typeface="Courier New"/>
              </a:rPr>
              <a:t>.ssh</a:t>
            </a:r>
            <a:endParaRPr lang="en-US" sz="800" noProof="1">
              <a:latin typeface="Courier New"/>
              <a:cs typeface="Courier New"/>
            </a:endParaRPr>
          </a:p>
          <a:p>
            <a:pPr marL="214629">
              <a:lnSpc>
                <a:spcPct val="100000"/>
              </a:lnSpc>
              <a:spcBef>
                <a:spcPts val="70"/>
              </a:spcBef>
            </a:pPr>
            <a:r>
              <a:rPr lang="en-US" sz="800" spc="-60" noProof="1">
                <a:solidFill>
                  <a:srgbClr val="05287C"/>
                </a:solidFill>
                <a:latin typeface="Courier New"/>
                <a:cs typeface="Courier New"/>
              </a:rPr>
              <a:t>$ ssh-keygen</a:t>
            </a:r>
            <a:r>
              <a:rPr lang="en-US" sz="800" spc="-50" noProof="1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solidFill>
                  <a:srgbClr val="7C8E28"/>
                </a:solidFill>
                <a:latin typeface="Courier New"/>
                <a:cs typeface="Courier New"/>
              </a:rPr>
              <a:t>-</a:t>
            </a:r>
            <a:r>
              <a:rPr lang="en-US" sz="800" noProof="1">
                <a:solidFill>
                  <a:srgbClr val="7C8E28"/>
                </a:solidFill>
                <a:latin typeface="Courier New"/>
                <a:cs typeface="Courier New"/>
              </a:rPr>
              <a:t>t</a:t>
            </a:r>
            <a:r>
              <a:rPr lang="en-US" sz="800" spc="-45" noProof="1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lang="en-US" sz="800" spc="-50" noProof="1">
                <a:latin typeface="Courier New"/>
                <a:cs typeface="Courier New"/>
              </a:rPr>
              <a:t>rsa </a:t>
            </a:r>
            <a:r>
              <a:rPr lang="en-US" sz="800" spc="-60" noProof="1">
                <a:solidFill>
                  <a:srgbClr val="7C8E28"/>
                </a:solidFill>
                <a:latin typeface="Courier New"/>
                <a:cs typeface="Courier New"/>
              </a:rPr>
              <a:t>-</a:t>
            </a:r>
            <a:r>
              <a:rPr lang="en-US" sz="800" noProof="1">
                <a:solidFill>
                  <a:srgbClr val="7C8E28"/>
                </a:solidFill>
                <a:latin typeface="Courier New"/>
                <a:cs typeface="Courier New"/>
              </a:rPr>
              <a:t>f</a:t>
            </a:r>
            <a:r>
              <a:rPr lang="en-US" sz="800" spc="-45" noProof="1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.ssh/aws-</a:t>
            </a:r>
            <a:r>
              <a:rPr lang="en-US" sz="800" spc="-10" noProof="1">
                <a:latin typeface="Courier New"/>
                <a:cs typeface="Courier New"/>
              </a:rPr>
              <a:t>keypair</a:t>
            </a:r>
            <a:endParaRPr lang="en-US" sz="800" noProof="1">
              <a:latin typeface="Courier New"/>
              <a:cs typeface="Courier New"/>
            </a:endParaRPr>
          </a:p>
          <a:p>
            <a:pPr marL="12700" marR="5080">
              <a:lnSpc>
                <a:spcPct val="174200"/>
              </a:lnSpc>
              <a:spcBef>
                <a:spcPts val="77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first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command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might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throw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error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.ssh</a:t>
            </a:r>
            <a:r>
              <a:rPr lang="en-US" sz="900" spc="-135" noProof="1">
                <a:latin typeface="Courier New"/>
                <a:cs typeface="Courier New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directory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already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exists.</a:t>
            </a:r>
            <a:r>
              <a:rPr lang="en-US" sz="900" spc="1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ignore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it.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8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-t</a:t>
            </a:r>
            <a:r>
              <a:rPr lang="en-US" sz="900" spc="-13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option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specifies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type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create:</a:t>
            </a:r>
            <a:endParaRPr lang="en-US" sz="900" noProof="1">
              <a:latin typeface="Arial"/>
              <a:cs typeface="Arial"/>
            </a:endParaRPr>
          </a:p>
          <a:p>
            <a:pPr marL="255904" indent="-160020">
              <a:lnSpc>
                <a:spcPct val="100000"/>
              </a:lnSpc>
              <a:spcBef>
                <a:spcPts val="800"/>
              </a:spcBef>
              <a:buClr>
                <a:srgbClr val="22373A"/>
              </a:buClr>
              <a:buFont typeface="Arial"/>
              <a:buChar char="•"/>
              <a:tabLst>
                <a:tab pos="255904" algn="l"/>
              </a:tabLst>
            </a:pPr>
            <a:r>
              <a:rPr lang="en-US" sz="900" spc="-25" noProof="1">
                <a:latin typeface="Courier New"/>
                <a:cs typeface="Courier New"/>
              </a:rPr>
              <a:t>rsa</a:t>
            </a:r>
            <a:endParaRPr lang="en-US" sz="900" noProof="1">
              <a:latin typeface="Courier New"/>
              <a:cs typeface="Courier New"/>
            </a:endParaRPr>
          </a:p>
          <a:p>
            <a:pPr marL="255904" indent="-160020">
              <a:lnSpc>
                <a:spcPct val="100000"/>
              </a:lnSpc>
              <a:spcBef>
                <a:spcPts val="175"/>
              </a:spcBef>
              <a:buClr>
                <a:srgbClr val="22373A"/>
              </a:buClr>
              <a:buFont typeface="Arial"/>
              <a:buChar char="•"/>
              <a:tabLst>
                <a:tab pos="255904" algn="l"/>
              </a:tabLst>
            </a:pPr>
            <a:r>
              <a:rPr lang="en-US" sz="900" spc="-25" noProof="1">
                <a:latin typeface="Courier New"/>
                <a:cs typeface="Courier New"/>
              </a:rPr>
              <a:t>dsa</a:t>
            </a:r>
            <a:endParaRPr lang="en-US" sz="900" noProof="1">
              <a:latin typeface="Courier New"/>
              <a:cs typeface="Courier New"/>
            </a:endParaRPr>
          </a:p>
          <a:p>
            <a:pPr marL="255904" indent="-160020">
              <a:lnSpc>
                <a:spcPct val="100000"/>
              </a:lnSpc>
              <a:spcBef>
                <a:spcPts val="175"/>
              </a:spcBef>
              <a:buClr>
                <a:srgbClr val="22373A"/>
              </a:buClr>
              <a:buFont typeface="Arial"/>
              <a:buChar char="•"/>
              <a:tabLst>
                <a:tab pos="255904" algn="l"/>
              </a:tabLst>
            </a:pPr>
            <a:r>
              <a:rPr lang="en-US" sz="900" spc="-10" noProof="1">
                <a:latin typeface="Courier New"/>
                <a:cs typeface="Courier New"/>
              </a:rPr>
              <a:t>ecdsa</a:t>
            </a:r>
            <a:endParaRPr lang="en-US" sz="900" noProof="1">
              <a:latin typeface="Courier New"/>
              <a:cs typeface="Courier New"/>
            </a:endParaRPr>
          </a:p>
          <a:p>
            <a:pPr marL="255904" indent="-160020">
              <a:lnSpc>
                <a:spcPct val="100000"/>
              </a:lnSpc>
              <a:spcBef>
                <a:spcPts val="175"/>
              </a:spcBef>
              <a:buClr>
                <a:srgbClr val="22373A"/>
              </a:buClr>
              <a:buFont typeface="Arial"/>
              <a:buChar char="•"/>
              <a:tabLst>
                <a:tab pos="255904" algn="l"/>
              </a:tabLst>
            </a:pPr>
            <a:r>
              <a:rPr lang="en-US" sz="900" spc="-10" noProof="1">
                <a:latin typeface="Courier New"/>
                <a:cs typeface="Courier New"/>
              </a:rPr>
              <a:t>ed25519</a:t>
            </a:r>
            <a:endParaRPr lang="en-US" sz="900" noProof="1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7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-f</a:t>
            </a:r>
            <a:r>
              <a:rPr lang="en-US" sz="900" spc="-13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option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specifies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filename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file.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20" name="object 20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21" name="object 21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22" name="object 22"/>
            <p:cNvSpPr/>
            <p:nvPr/>
          </p:nvSpPr>
          <p:spPr>
            <a:xfrm>
              <a:off x="0" y="3234963"/>
              <a:ext cx="3369310" cy="5080"/>
            </a:xfrm>
            <a:custGeom>
              <a:avLst/>
              <a:gdLst/>
              <a:ahLst/>
              <a:cxnLst/>
              <a:rect l="l" t="t" r="r" b="b"/>
              <a:pathLst>
                <a:path w="3369310" h="5080">
                  <a:moveTo>
                    <a:pt x="0" y="5060"/>
                  </a:moveTo>
                  <a:lnTo>
                    <a:pt x="0" y="0"/>
                  </a:lnTo>
                  <a:lnTo>
                    <a:pt x="3369066" y="0"/>
                  </a:lnTo>
                  <a:lnTo>
                    <a:pt x="336906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10" noProof="1"/>
              <a:t>Creating</a:t>
            </a:r>
            <a:r>
              <a:rPr lang="en-US" noProof="1"/>
              <a:t> an SSH Key </a:t>
            </a:r>
            <a:r>
              <a:rPr lang="en-US" spc="-20" noProof="1"/>
              <a:t>Pair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74915" y="1817773"/>
            <a:ext cx="1221105" cy="314960"/>
            <a:chOff x="1174915" y="1817773"/>
            <a:chExt cx="1221105" cy="314960"/>
          </a:xfrm>
        </p:grpSpPr>
        <p:sp>
          <p:nvSpPr>
            <p:cNvPr id="4" name="object 4"/>
            <p:cNvSpPr/>
            <p:nvPr/>
          </p:nvSpPr>
          <p:spPr>
            <a:xfrm>
              <a:off x="1174915" y="1817773"/>
              <a:ext cx="1221105" cy="155575"/>
            </a:xfrm>
            <a:custGeom>
              <a:avLst/>
              <a:gdLst/>
              <a:ahLst/>
              <a:cxnLst/>
              <a:rect l="l" t="t" r="r" b="b"/>
              <a:pathLst>
                <a:path w="1221105" h="155575">
                  <a:moveTo>
                    <a:pt x="1184986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1184986" y="155489"/>
                  </a:lnTo>
                  <a:lnTo>
                    <a:pt x="1198999" y="152659"/>
                  </a:lnTo>
                  <a:lnTo>
                    <a:pt x="1210442" y="144944"/>
                  </a:lnTo>
                  <a:lnTo>
                    <a:pt x="1218158" y="133501"/>
                  </a:lnTo>
                  <a:lnTo>
                    <a:pt x="1220987" y="119488"/>
                  </a:lnTo>
                  <a:lnTo>
                    <a:pt x="1220987" y="36000"/>
                  </a:lnTo>
                  <a:lnTo>
                    <a:pt x="1218158" y="21987"/>
                  </a:lnTo>
                  <a:lnTo>
                    <a:pt x="1210442" y="10544"/>
                  </a:lnTo>
                  <a:lnTo>
                    <a:pt x="1198999" y="2829"/>
                  </a:lnTo>
                  <a:lnTo>
                    <a:pt x="1184986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1174915" y="1817773"/>
              <a:ext cx="1221105" cy="155575"/>
            </a:xfrm>
            <a:custGeom>
              <a:avLst/>
              <a:gdLst/>
              <a:ahLst/>
              <a:cxnLst/>
              <a:rect l="l" t="t" r="r" b="b"/>
              <a:pathLst>
                <a:path w="1221105" h="155575">
                  <a:moveTo>
                    <a:pt x="1184986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1184986" y="155489"/>
                  </a:lnTo>
                  <a:lnTo>
                    <a:pt x="1198999" y="152659"/>
                  </a:lnTo>
                  <a:lnTo>
                    <a:pt x="1210442" y="144944"/>
                  </a:lnTo>
                  <a:lnTo>
                    <a:pt x="1218158" y="133501"/>
                  </a:lnTo>
                  <a:lnTo>
                    <a:pt x="1220987" y="119488"/>
                  </a:lnTo>
                  <a:lnTo>
                    <a:pt x="1220987" y="36000"/>
                  </a:lnTo>
                  <a:lnTo>
                    <a:pt x="1218158" y="21987"/>
                  </a:lnTo>
                  <a:lnTo>
                    <a:pt x="1210442" y="10544"/>
                  </a:lnTo>
                  <a:lnTo>
                    <a:pt x="1198999" y="2829"/>
                  </a:lnTo>
                  <a:lnTo>
                    <a:pt x="1184986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1218526" y="1977107"/>
              <a:ext cx="982344" cy="155575"/>
            </a:xfrm>
            <a:custGeom>
              <a:avLst/>
              <a:gdLst/>
              <a:ahLst/>
              <a:cxnLst/>
              <a:rect l="l" t="t" r="r" b="b"/>
              <a:pathLst>
                <a:path w="982344" h="155575">
                  <a:moveTo>
                    <a:pt x="94585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945850" y="155489"/>
                  </a:lnTo>
                  <a:lnTo>
                    <a:pt x="959863" y="152659"/>
                  </a:lnTo>
                  <a:lnTo>
                    <a:pt x="971306" y="144944"/>
                  </a:lnTo>
                  <a:lnTo>
                    <a:pt x="979021" y="133501"/>
                  </a:lnTo>
                  <a:lnTo>
                    <a:pt x="981850" y="119488"/>
                  </a:lnTo>
                  <a:lnTo>
                    <a:pt x="981850" y="36000"/>
                  </a:lnTo>
                  <a:lnTo>
                    <a:pt x="979021" y="21987"/>
                  </a:lnTo>
                  <a:lnTo>
                    <a:pt x="971306" y="10544"/>
                  </a:lnTo>
                  <a:lnTo>
                    <a:pt x="959863" y="2829"/>
                  </a:lnTo>
                  <a:lnTo>
                    <a:pt x="945850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1218526" y="1977107"/>
              <a:ext cx="982344" cy="155575"/>
            </a:xfrm>
            <a:custGeom>
              <a:avLst/>
              <a:gdLst/>
              <a:ahLst/>
              <a:cxnLst/>
              <a:rect l="l" t="t" r="r" b="b"/>
              <a:pathLst>
                <a:path w="982344" h="155575">
                  <a:moveTo>
                    <a:pt x="94585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945850" y="155489"/>
                  </a:lnTo>
                  <a:lnTo>
                    <a:pt x="959863" y="152659"/>
                  </a:lnTo>
                  <a:lnTo>
                    <a:pt x="971306" y="144944"/>
                  </a:lnTo>
                  <a:lnTo>
                    <a:pt x="979021" y="133501"/>
                  </a:lnTo>
                  <a:lnTo>
                    <a:pt x="981850" y="119488"/>
                  </a:lnTo>
                  <a:lnTo>
                    <a:pt x="981850" y="36000"/>
                  </a:lnTo>
                  <a:lnTo>
                    <a:pt x="979021" y="21987"/>
                  </a:lnTo>
                  <a:lnTo>
                    <a:pt x="971306" y="10544"/>
                  </a:lnTo>
                  <a:lnTo>
                    <a:pt x="959863" y="2829"/>
                  </a:lnTo>
                  <a:lnTo>
                    <a:pt x="94585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43319" y="1215202"/>
            <a:ext cx="5060950" cy="10864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command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prompt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enter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60" noProof="1">
                <a:solidFill>
                  <a:srgbClr val="22373A"/>
                </a:solidFill>
                <a:latin typeface="Arial"/>
                <a:cs typeface="Arial"/>
              </a:rPr>
              <a:t>save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key.</a:t>
            </a:r>
            <a:r>
              <a:rPr lang="en-US" sz="900" spc="1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command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also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prompt you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to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enter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passphrase.</a:t>
            </a:r>
            <a:r>
              <a:rPr lang="en-US" sz="900" spc="8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enter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passphrase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or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leave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passphrase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empty.</a:t>
            </a:r>
          </a:p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Leave the passphrase empty right now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r>
              <a:rPr lang="en-US" sz="900" spc="8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This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command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will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a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public and a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in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default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location:</a:t>
            </a:r>
            <a:endParaRPr lang="en-US" sz="900" noProof="1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43204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key:</a:t>
            </a:r>
            <a:r>
              <a:rPr lang="en-US" sz="900" spc="1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.ssh/aws-</a:t>
            </a:r>
            <a:r>
              <a:rPr lang="en-US" sz="900" spc="-10" noProof="1">
                <a:latin typeface="Courier New"/>
                <a:cs typeface="Courier New"/>
              </a:rPr>
              <a:t>keypair.pub</a:t>
            </a:r>
            <a:endParaRPr lang="en-US" sz="900" noProof="1">
              <a:latin typeface="Courier New"/>
              <a:cs typeface="Courier New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43204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key:</a:t>
            </a:r>
            <a:r>
              <a:rPr lang="en-US" sz="900" spc="1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.ssh/aws-</a:t>
            </a:r>
            <a:r>
              <a:rPr lang="en-US" sz="900" spc="-10" noProof="1">
                <a:latin typeface="Courier New"/>
                <a:cs typeface="Courier New"/>
              </a:rPr>
              <a:t>keypair</a:t>
            </a:r>
            <a:endParaRPr lang="en-US" sz="900" noProof="1">
              <a:latin typeface="Courier New"/>
              <a:cs typeface="Courier New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0" name="object 10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63"/>
              <a:ext cx="3477895" cy="5080"/>
            </a:xfrm>
            <a:custGeom>
              <a:avLst/>
              <a:gdLst/>
              <a:ahLst/>
              <a:cxnLst/>
              <a:rect l="l" t="t" r="r" b="b"/>
              <a:pathLst>
                <a:path w="3477895" h="5080">
                  <a:moveTo>
                    <a:pt x="0" y="5060"/>
                  </a:moveTo>
                  <a:lnTo>
                    <a:pt x="0" y="0"/>
                  </a:lnTo>
                  <a:lnTo>
                    <a:pt x="3477788" y="0"/>
                  </a:lnTo>
                  <a:lnTo>
                    <a:pt x="347778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10" noProof="1"/>
              <a:t>Importing</a:t>
            </a:r>
            <a:r>
              <a:rPr lang="en-US" spc="-25" noProof="1"/>
              <a:t> </a:t>
            </a:r>
            <a:r>
              <a:rPr lang="en-US" spc="-10" noProof="1"/>
              <a:t>our</a:t>
            </a:r>
            <a:r>
              <a:rPr lang="en-US" spc="-20" noProof="1"/>
              <a:t> </a:t>
            </a:r>
            <a:r>
              <a:rPr lang="en-US" spc="-25" noProof="1"/>
              <a:t>generated</a:t>
            </a:r>
            <a:r>
              <a:rPr lang="en-US" spc="-20" noProof="1"/>
              <a:t> </a:t>
            </a:r>
            <a:r>
              <a:rPr lang="en-US" spc="-10" noProof="1"/>
              <a:t>key</a:t>
            </a:r>
            <a:r>
              <a:rPr lang="en-US" spc="-20" noProof="1"/>
              <a:t> pair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15492" y="2182029"/>
            <a:ext cx="1315720" cy="144145"/>
            <a:chOff x="815492" y="2182029"/>
            <a:chExt cx="1315720" cy="144145"/>
          </a:xfrm>
        </p:grpSpPr>
        <p:sp>
          <p:nvSpPr>
            <p:cNvPr id="4" name="object 4"/>
            <p:cNvSpPr/>
            <p:nvPr/>
          </p:nvSpPr>
          <p:spPr>
            <a:xfrm>
              <a:off x="815492" y="2182029"/>
              <a:ext cx="1315720" cy="144145"/>
            </a:xfrm>
            <a:custGeom>
              <a:avLst/>
              <a:gdLst/>
              <a:ahLst/>
              <a:cxnLst/>
              <a:rect l="l" t="t" r="r" b="b"/>
              <a:pathLst>
                <a:path w="1315720" h="144144">
                  <a:moveTo>
                    <a:pt x="127927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7835"/>
                  </a:lnTo>
                  <a:lnTo>
                    <a:pt x="2829" y="121848"/>
                  </a:lnTo>
                  <a:lnTo>
                    <a:pt x="10544" y="133291"/>
                  </a:lnTo>
                  <a:lnTo>
                    <a:pt x="21987" y="141006"/>
                  </a:lnTo>
                  <a:lnTo>
                    <a:pt x="36000" y="143835"/>
                  </a:lnTo>
                  <a:lnTo>
                    <a:pt x="1279274" y="143835"/>
                  </a:lnTo>
                  <a:lnTo>
                    <a:pt x="1293287" y="141006"/>
                  </a:lnTo>
                  <a:lnTo>
                    <a:pt x="1304730" y="133291"/>
                  </a:lnTo>
                  <a:lnTo>
                    <a:pt x="1312446" y="121848"/>
                  </a:lnTo>
                  <a:lnTo>
                    <a:pt x="1315275" y="107835"/>
                  </a:lnTo>
                  <a:lnTo>
                    <a:pt x="1315275" y="36000"/>
                  </a:lnTo>
                  <a:lnTo>
                    <a:pt x="1312446" y="21987"/>
                  </a:lnTo>
                  <a:lnTo>
                    <a:pt x="1304730" y="10544"/>
                  </a:lnTo>
                  <a:lnTo>
                    <a:pt x="1293287" y="2829"/>
                  </a:lnTo>
                  <a:lnTo>
                    <a:pt x="1279274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815492" y="2182029"/>
              <a:ext cx="1315720" cy="144145"/>
            </a:xfrm>
            <a:custGeom>
              <a:avLst/>
              <a:gdLst/>
              <a:ahLst/>
              <a:cxnLst/>
              <a:rect l="l" t="t" r="r" b="b"/>
              <a:pathLst>
                <a:path w="1315720" h="144144">
                  <a:moveTo>
                    <a:pt x="127927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7835"/>
                  </a:lnTo>
                  <a:lnTo>
                    <a:pt x="2829" y="121848"/>
                  </a:lnTo>
                  <a:lnTo>
                    <a:pt x="10544" y="133291"/>
                  </a:lnTo>
                  <a:lnTo>
                    <a:pt x="21987" y="141006"/>
                  </a:lnTo>
                  <a:lnTo>
                    <a:pt x="36000" y="143835"/>
                  </a:lnTo>
                  <a:lnTo>
                    <a:pt x="1279274" y="143835"/>
                  </a:lnTo>
                  <a:lnTo>
                    <a:pt x="1293287" y="141006"/>
                  </a:lnTo>
                  <a:lnTo>
                    <a:pt x="1304730" y="133291"/>
                  </a:lnTo>
                  <a:lnTo>
                    <a:pt x="1312446" y="121848"/>
                  </a:lnTo>
                  <a:lnTo>
                    <a:pt x="1315275" y="107835"/>
                  </a:lnTo>
                  <a:lnTo>
                    <a:pt x="1315275" y="36000"/>
                  </a:lnTo>
                  <a:lnTo>
                    <a:pt x="1312446" y="21987"/>
                  </a:lnTo>
                  <a:lnTo>
                    <a:pt x="1304730" y="10544"/>
                  </a:lnTo>
                  <a:lnTo>
                    <a:pt x="1293287" y="2829"/>
                  </a:lnTo>
                  <a:lnTo>
                    <a:pt x="127927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3433" y="910229"/>
            <a:ext cx="4542155" cy="15921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provides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pair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connect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instance.</a:t>
            </a:r>
            <a:r>
              <a:rPr lang="en-US" sz="900" spc="8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However,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our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pair.</a:t>
            </a:r>
            <a:endParaRPr lang="en-US" sz="900" noProof="1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800"/>
              </a:spcBef>
              <a:buAutoNum type="arabicPeriod"/>
              <a:tabLst>
                <a:tab pos="243204" algn="l"/>
              </a:tabLst>
            </a:pP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45" noProof="1">
                <a:solidFill>
                  <a:srgbClr val="22373A"/>
                </a:solidFill>
                <a:latin typeface="Arial"/>
                <a:cs typeface="Arial"/>
              </a:rPr>
              <a:t>search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write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lang="en-US" sz="900" b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Pairs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43204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Pairs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43204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Actions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then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Import</a:t>
            </a:r>
            <a:r>
              <a:rPr lang="en-US" sz="900" b="1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 Pair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43204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Fill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form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settings:</a:t>
            </a:r>
            <a:endParaRPr lang="en-US" sz="900" noProof="1">
              <a:latin typeface="Arial"/>
              <a:cs typeface="Arial"/>
            </a:endParaRPr>
          </a:p>
          <a:p>
            <a:pPr marL="471805" lvl="1" indent="-140335">
              <a:lnSpc>
                <a:spcPct val="100000"/>
              </a:lnSpc>
              <a:spcBef>
                <a:spcPts val="50"/>
              </a:spcBef>
              <a:buChar char="•"/>
              <a:tabLst>
                <a:tab pos="471805" algn="l"/>
              </a:tabLst>
            </a:pP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Name:</a:t>
            </a:r>
            <a:r>
              <a:rPr lang="en-US" sz="800" spc="9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spc="-35" noProof="1">
                <a:solidFill>
                  <a:srgbClr val="22373A"/>
                </a:solidFill>
                <a:latin typeface="Arial"/>
                <a:cs typeface="Arial"/>
              </a:rPr>
              <a:t>aws-</a:t>
            </a:r>
            <a:r>
              <a:rPr lang="en-US" sz="800" b="1" spc="-10" noProof="1">
                <a:solidFill>
                  <a:srgbClr val="22373A"/>
                </a:solidFill>
                <a:latin typeface="Arial"/>
                <a:cs typeface="Arial"/>
              </a:rPr>
              <a:t>keypair</a:t>
            </a:r>
            <a:endParaRPr lang="en-US" sz="800" b="1" noProof="1">
              <a:latin typeface="Arial"/>
              <a:cs typeface="Arial"/>
            </a:endParaRPr>
          </a:p>
          <a:p>
            <a:pPr marL="471805" lvl="1" indent="-140335">
              <a:lnSpc>
                <a:spcPct val="100000"/>
              </a:lnSpc>
              <a:spcBef>
                <a:spcPts val="75"/>
              </a:spcBef>
              <a:buChar char="•"/>
              <a:tabLst>
                <a:tab pos="471805" algn="l"/>
              </a:tabLst>
            </a:pP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Browse</a:t>
            </a:r>
            <a:r>
              <a:rPr lang="en-US" sz="8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select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 the public key file</a:t>
            </a:r>
            <a:r>
              <a:rPr lang="en-US" sz="8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created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 before.</a:t>
            </a:r>
            <a:r>
              <a:rPr lang="en-US" sz="800" spc="8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(.ssh/aws-keypair.pub)</a:t>
            </a:r>
            <a:endParaRPr lang="en-US" sz="800" noProof="1">
              <a:latin typeface="Arial"/>
              <a:cs typeface="Arial"/>
            </a:endParaRPr>
          </a:p>
          <a:p>
            <a:pPr marL="468630" lvl="1" indent="-137160">
              <a:lnSpc>
                <a:spcPct val="100000"/>
              </a:lnSpc>
              <a:spcBef>
                <a:spcPts val="70"/>
              </a:spcBef>
              <a:buChar char="•"/>
              <a:tabLst>
                <a:tab pos="468630" algn="l"/>
              </a:tabLst>
            </a:pP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Another</a:t>
            </a:r>
            <a:r>
              <a:rPr lang="en-US" sz="8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option</a:t>
            </a:r>
            <a:r>
              <a:rPr lang="en-US" sz="8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8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8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paste</a:t>
            </a:r>
            <a:r>
              <a:rPr lang="en-US" sz="8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8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8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lang="en-US" sz="8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8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8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8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lang="en-US" sz="8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contents</a:t>
            </a:r>
            <a:r>
              <a:rPr lang="en-US" sz="8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field.</a:t>
            </a:r>
            <a:r>
              <a:rPr lang="en-US" sz="800" spc="114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25" noProof="1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lang="en-US" sz="8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command</a:t>
            </a:r>
            <a:endParaRPr lang="en-US" sz="800" noProof="1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70"/>
              </a:spcBef>
            </a:pPr>
            <a:r>
              <a:rPr lang="en-US" sz="800" spc="-50" noProof="1">
                <a:latin typeface="Courier New"/>
                <a:cs typeface="Courier New"/>
              </a:rPr>
              <a:t>$ cat</a:t>
            </a:r>
            <a:r>
              <a:rPr lang="en-US" sz="800" spc="-30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.ssh/aws-keypair.pub</a:t>
            </a:r>
            <a:r>
              <a:rPr lang="en-US" sz="800" spc="-70" noProof="1">
                <a:latin typeface="Courier New"/>
                <a:cs typeface="Courier New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800" spc="7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get</a:t>
            </a:r>
            <a:r>
              <a:rPr lang="en-US" sz="800" spc="7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800" spc="8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800" spc="7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20" noProof="1">
                <a:solidFill>
                  <a:srgbClr val="22373A"/>
                </a:solidFill>
                <a:latin typeface="Arial"/>
                <a:cs typeface="Arial"/>
              </a:rPr>
              <a:t>key.</a:t>
            </a:r>
            <a:endParaRPr lang="en-US" sz="800" noProof="1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95"/>
              </a:spcBef>
              <a:buAutoNum type="arabicPeriod" startAt="5"/>
              <a:tabLst>
                <a:tab pos="243204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 </a:t>
            </a:r>
            <a:r>
              <a:rPr lang="en-US" sz="900" b="1" noProof="1">
                <a:solidFill>
                  <a:srgbClr val="22373A"/>
                </a:solidFill>
                <a:highlight>
                  <a:srgbClr val="FF0000"/>
                </a:highlight>
                <a:latin typeface="Arial"/>
                <a:cs typeface="Arial"/>
              </a:rPr>
              <a:t>Import</a:t>
            </a:r>
            <a:r>
              <a:rPr lang="en-US" sz="900" b="1" spc="15" noProof="1">
                <a:solidFill>
                  <a:srgbClr val="22373A"/>
                </a:solidFill>
                <a:highlight>
                  <a:srgbClr val="FF0000"/>
                </a:highlight>
                <a:latin typeface="Arial"/>
                <a:cs typeface="Arial"/>
              </a:rPr>
              <a:t> </a:t>
            </a:r>
            <a:r>
              <a:rPr lang="en-US" sz="900" b="1" spc="-25" noProof="1">
                <a:solidFill>
                  <a:srgbClr val="22373A"/>
                </a:solidFill>
                <a:highlight>
                  <a:srgbClr val="FF0000"/>
                </a:highlight>
                <a:latin typeface="Arial"/>
                <a:cs typeface="Arial"/>
              </a:rPr>
              <a:t>key</a:t>
            </a:r>
            <a:r>
              <a:rPr lang="en-US" sz="900" b="1" spc="15" noProof="1">
                <a:solidFill>
                  <a:srgbClr val="22373A"/>
                </a:solidFill>
                <a:highlight>
                  <a:srgbClr val="FF0000"/>
                </a:highlight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highlight>
                  <a:srgbClr val="FF0000"/>
                </a:highlight>
                <a:latin typeface="Arial"/>
                <a:cs typeface="Arial"/>
              </a:rPr>
              <a:t>pair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3586479" cy="5080"/>
            </a:xfrm>
            <a:custGeom>
              <a:avLst/>
              <a:gdLst/>
              <a:ahLst/>
              <a:cxnLst/>
              <a:rect l="l" t="t" r="r" b="b"/>
              <a:pathLst>
                <a:path w="3586479" h="5080">
                  <a:moveTo>
                    <a:pt x="0" y="5060"/>
                  </a:moveTo>
                  <a:lnTo>
                    <a:pt x="0" y="0"/>
                  </a:lnTo>
                  <a:lnTo>
                    <a:pt x="3586422" y="0"/>
                  </a:lnTo>
                  <a:lnTo>
                    <a:pt x="358642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10" noProof="1"/>
              <a:t>Creating</a:t>
            </a:r>
            <a:r>
              <a:rPr lang="en-US" spc="-5" noProof="1"/>
              <a:t> </a:t>
            </a:r>
            <a:r>
              <a:rPr lang="en-US" noProof="1"/>
              <a:t>an EC2</a:t>
            </a:r>
            <a:r>
              <a:rPr lang="en-US" spc="-5" noProof="1"/>
              <a:t> </a:t>
            </a:r>
            <a:r>
              <a:rPr lang="en-US" spc="-35" noProof="1"/>
              <a:t>instance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012" y="1046572"/>
            <a:ext cx="3007995" cy="163057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275"/>
              </a:spcBef>
              <a:buAutoNum type="arabicPeriod"/>
              <a:tabLst>
                <a:tab pos="160020" algn="l"/>
              </a:tabLst>
            </a:pP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45" noProof="1">
                <a:solidFill>
                  <a:srgbClr val="22373A"/>
                </a:solidFill>
                <a:latin typeface="Arial"/>
                <a:cs typeface="Arial"/>
              </a:rPr>
              <a:t>search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write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. </a:t>
            </a:r>
          </a:p>
          <a:p>
            <a:pPr marL="160020" indent="-147320">
              <a:lnSpc>
                <a:spcPct val="100000"/>
              </a:lnSpc>
              <a:spcBef>
                <a:spcPts val="275"/>
              </a:spcBef>
              <a:buAutoNum type="arabicPeriod"/>
              <a:tabLst>
                <a:tab pos="160020" algn="l"/>
              </a:tabLst>
            </a:pP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Click on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EC2.</a:t>
            </a:r>
            <a:endParaRPr lang="en-US" sz="900" b="1" noProof="1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160020" algn="l"/>
              </a:tabLst>
            </a:pP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Click </a:t>
            </a:r>
            <a:r>
              <a:rPr lang="en-US" sz="900" spc="-20" noProof="1">
                <a:solidFill>
                  <a:srgbClr val="22373A"/>
                </a:solidFill>
                <a:highlight>
                  <a:srgbClr val="FF0000"/>
                </a:highlight>
                <a:latin typeface="Arial"/>
                <a:cs typeface="Arial"/>
              </a:rPr>
              <a:t>Launch </a:t>
            </a:r>
            <a:r>
              <a:rPr lang="en-US" sz="900" spc="-10" noProof="1">
                <a:solidFill>
                  <a:srgbClr val="22373A"/>
                </a:solidFill>
                <a:highlight>
                  <a:srgbClr val="FF0000"/>
                </a:highlight>
                <a:latin typeface="Arial"/>
                <a:cs typeface="Arial"/>
              </a:rPr>
              <a:t>instance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16002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Fill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form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settings:</a:t>
            </a:r>
            <a:endParaRPr lang="en-US" sz="900" noProof="1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50"/>
              </a:spcBef>
              <a:buChar char="•"/>
              <a:tabLst>
                <a:tab pos="387985" algn="l"/>
              </a:tabLst>
            </a:pP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Name:</a:t>
            </a:r>
            <a:r>
              <a:rPr lang="en-US" sz="800" spc="7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Jupyter </a:t>
            </a:r>
            <a:r>
              <a:rPr lang="en-US" sz="800" b="1" spc="-10" noProof="1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endParaRPr lang="en-US" sz="800" b="1" noProof="1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Char char="•"/>
              <a:tabLst>
                <a:tab pos="387985" algn="l"/>
              </a:tabLst>
            </a:pP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Image:</a:t>
            </a:r>
            <a:r>
              <a:rPr lang="en-US" sz="800" spc="1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Amazon</a:t>
            </a:r>
            <a:r>
              <a:rPr lang="en-US" sz="8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Linux</a:t>
            </a:r>
            <a:r>
              <a:rPr lang="en-US" sz="8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kernel-6.1 AMI</a:t>
            </a:r>
            <a:endParaRPr lang="en-US" sz="800" b="1" noProof="1">
              <a:latin typeface="Arial"/>
              <a:cs typeface="Arial"/>
            </a:endParaRPr>
          </a:p>
          <a:p>
            <a:pPr marL="384810" lvl="1" indent="-137160">
              <a:lnSpc>
                <a:spcPct val="100000"/>
              </a:lnSpc>
              <a:spcBef>
                <a:spcPts val="70"/>
              </a:spcBef>
              <a:buChar char="•"/>
              <a:tabLst>
                <a:tab pos="384810" algn="l"/>
              </a:tabLst>
            </a:pP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Architecture:</a:t>
            </a:r>
            <a:r>
              <a:rPr lang="en-US" sz="800" spc="2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64-bit</a:t>
            </a:r>
            <a:r>
              <a:rPr lang="en-US" sz="800" b="1" spc="1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spc="-10" noProof="1">
                <a:solidFill>
                  <a:srgbClr val="22373A"/>
                </a:solidFill>
                <a:latin typeface="Arial"/>
                <a:cs typeface="Arial"/>
              </a:rPr>
              <a:t>(x86)</a:t>
            </a:r>
            <a:endParaRPr lang="en-US" sz="800" b="1" noProof="1">
              <a:latin typeface="Arial"/>
              <a:cs typeface="Arial"/>
            </a:endParaRPr>
          </a:p>
          <a:p>
            <a:pPr marL="384810" lvl="1" indent="-137160">
              <a:lnSpc>
                <a:spcPct val="100000"/>
              </a:lnSpc>
              <a:spcBef>
                <a:spcPts val="70"/>
              </a:spcBef>
              <a:buChar char="•"/>
              <a:tabLst>
                <a:tab pos="384810" algn="l"/>
              </a:tabLst>
            </a:pP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Type:</a:t>
            </a:r>
            <a:r>
              <a:rPr lang="en-US" sz="800" spc="9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spc="-10" noProof="1">
                <a:solidFill>
                  <a:srgbClr val="22373A"/>
                </a:solidFill>
                <a:latin typeface="Arial"/>
                <a:cs typeface="Arial"/>
              </a:rPr>
              <a:t>t2.micro</a:t>
            </a:r>
            <a:endParaRPr lang="en-US" sz="800" b="1" noProof="1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5"/>
              </a:spcBef>
              <a:buChar char="•"/>
              <a:tabLst>
                <a:tab pos="387985" algn="l"/>
              </a:tabLst>
            </a:pP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lang="en-US" sz="8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pair:</a:t>
            </a:r>
            <a:r>
              <a:rPr lang="en-US" sz="800" spc="9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30" noProof="1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lang="en-US" sz="8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8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lang="en-US" sz="8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pair</a:t>
            </a:r>
            <a:r>
              <a:rPr lang="en-US" sz="8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created</a:t>
            </a:r>
            <a:r>
              <a:rPr lang="en-US" sz="8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before.</a:t>
            </a:r>
            <a:r>
              <a:rPr lang="en-US" sz="800" spc="8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(</a:t>
            </a:r>
            <a:r>
              <a:rPr lang="en-US" sz="800" b="1" spc="-10" noProof="1">
                <a:solidFill>
                  <a:srgbClr val="22373A"/>
                </a:solidFill>
                <a:latin typeface="Arial"/>
                <a:cs typeface="Arial"/>
              </a:rPr>
              <a:t>aws-keypair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)</a:t>
            </a:r>
            <a:endParaRPr lang="en-US" sz="800" noProof="1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Char char="•"/>
              <a:tabLst>
                <a:tab pos="387985" algn="l"/>
              </a:tabLst>
            </a:pP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Network:</a:t>
            </a:r>
            <a:r>
              <a:rPr lang="en-US" sz="800" spc="1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default</a:t>
            </a:r>
            <a:r>
              <a:rPr lang="en-US" sz="8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spc="-25" noProof="1">
                <a:solidFill>
                  <a:srgbClr val="22373A"/>
                </a:solidFill>
                <a:latin typeface="Arial"/>
                <a:cs typeface="Arial"/>
              </a:rPr>
              <a:t>VPC</a:t>
            </a: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Char char="•"/>
              <a:tabLst>
                <a:tab pos="387985" algn="l"/>
              </a:tabLst>
            </a:pPr>
            <a:endParaRPr lang="en-US" sz="800" spc="-25" noProof="1">
              <a:solidFill>
                <a:srgbClr val="22373A"/>
              </a:solidFill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695700" cy="5080"/>
            </a:xfrm>
            <a:custGeom>
              <a:avLst/>
              <a:gdLst/>
              <a:ahLst/>
              <a:cxnLst/>
              <a:rect l="l" t="t" r="r" b="b"/>
              <a:pathLst>
                <a:path w="3695700" h="5080">
                  <a:moveTo>
                    <a:pt x="0" y="5060"/>
                  </a:moveTo>
                  <a:lnTo>
                    <a:pt x="0" y="0"/>
                  </a:lnTo>
                  <a:lnTo>
                    <a:pt x="3695145" y="0"/>
                  </a:lnTo>
                  <a:lnTo>
                    <a:pt x="369514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0" noProof="1"/>
              <a:t>Security</a:t>
            </a:r>
            <a:r>
              <a:rPr lang="en-US" spc="35" noProof="1"/>
              <a:t> </a:t>
            </a:r>
            <a:r>
              <a:rPr lang="en-US" spc="-40" noProof="1"/>
              <a:t>Group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316" y="856072"/>
            <a:ext cx="2534920" cy="1619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55244" indent="-4445">
              <a:lnSpc>
                <a:spcPct val="116199"/>
              </a:lnSpc>
              <a:spcBef>
                <a:spcPts val="100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requires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group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allows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traﬀic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 port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22 (SSH)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 port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80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(HTTP).</a:t>
            </a:r>
            <a:endParaRPr lang="en-US" sz="900" noProof="1">
              <a:latin typeface="Arial"/>
              <a:cs typeface="Arial"/>
            </a:endParaRPr>
          </a:p>
          <a:p>
            <a:pPr marL="243840" marR="318135" indent="-147955">
              <a:lnSpc>
                <a:spcPct val="116199"/>
              </a:lnSpc>
              <a:buChar char="•"/>
              <a:tabLst>
                <a:tab pos="243840" algn="l"/>
              </a:tabLst>
            </a:pP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SSH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is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connect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manage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instance.</a:t>
            </a:r>
            <a:endParaRPr lang="en-US" sz="900" noProof="1">
              <a:latin typeface="Arial"/>
              <a:cs typeface="Arial"/>
            </a:endParaRPr>
          </a:p>
          <a:p>
            <a:pPr marL="243840" marR="5080" indent="-147955">
              <a:lnSpc>
                <a:spcPct val="116199"/>
              </a:lnSpc>
              <a:buChar char="•"/>
              <a:tabLst>
                <a:tab pos="24384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HTTP</a:t>
            </a:r>
            <a:r>
              <a:rPr lang="en-US" sz="900" spc="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lang="en-US" sz="900" spc="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lang="en-US" sz="900" spc="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Jupyter</a:t>
            </a:r>
            <a:r>
              <a:rPr lang="en-US" sz="900" spc="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Notebook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browser.</a:t>
            </a:r>
            <a:endParaRPr lang="en-US" sz="900" noProof="1">
              <a:latin typeface="Arial"/>
              <a:cs typeface="Arial"/>
            </a:endParaRPr>
          </a:p>
          <a:p>
            <a:pPr marL="16510" marR="51435">
              <a:lnSpc>
                <a:spcPct val="116199"/>
              </a:lnSpc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Mark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checkbox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new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group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fill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form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settings:</a:t>
            </a:r>
            <a:endParaRPr lang="en-US" sz="900" noProof="1">
              <a:latin typeface="Arial"/>
              <a:cs typeface="Arial"/>
            </a:endParaRPr>
          </a:p>
          <a:p>
            <a:pPr marL="239395" indent="-143510">
              <a:lnSpc>
                <a:spcPct val="100000"/>
              </a:lnSpc>
              <a:spcBef>
                <a:spcPts val="170"/>
              </a:spcBef>
              <a:buChar char="•"/>
              <a:tabLst>
                <a:tab pos="239395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Allow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SSH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anywhere</a:t>
            </a:r>
            <a:endParaRPr lang="en-US" sz="900" noProof="1">
              <a:latin typeface="Arial"/>
              <a:cs typeface="Arial"/>
            </a:endParaRPr>
          </a:p>
          <a:p>
            <a:pPr marL="239395" indent="-14351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Allow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HTTP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traﬀic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anywhere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58236" y="860425"/>
            <a:ext cx="2910841" cy="152399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3804285" cy="5080"/>
            </a:xfrm>
            <a:custGeom>
              <a:avLst/>
              <a:gdLst/>
              <a:ahLst/>
              <a:cxnLst/>
              <a:rect l="l" t="t" r="r" b="b"/>
              <a:pathLst>
                <a:path w="3804285" h="5080">
                  <a:moveTo>
                    <a:pt x="0" y="5060"/>
                  </a:moveTo>
                  <a:lnTo>
                    <a:pt x="0" y="0"/>
                  </a:lnTo>
                  <a:lnTo>
                    <a:pt x="3803779" y="0"/>
                  </a:lnTo>
                  <a:lnTo>
                    <a:pt x="380377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9" name="object 3">
            <a:extLst>
              <a:ext uri="{FF2B5EF4-FFF2-40B4-BE49-F238E27FC236}">
                <a16:creationId xmlns:a16="http://schemas.microsoft.com/office/drawing/2014/main" id="{6C652620-51E9-638A-8874-575CF6356EB1}"/>
              </a:ext>
            </a:extLst>
          </p:cNvPr>
          <p:cNvSpPr txBox="1"/>
          <p:nvPr/>
        </p:nvSpPr>
        <p:spPr>
          <a:xfrm>
            <a:off x="609892" y="2799698"/>
            <a:ext cx="3007995" cy="30970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75"/>
              </a:spcBef>
              <a:buFont typeface="+mj-lt"/>
              <a:buAutoNum type="arabicPeriod" startAt="5"/>
              <a:tabLst>
                <a:tab pos="160020" algn="l"/>
              </a:tabLst>
            </a:pP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Click </a:t>
            </a:r>
            <a:r>
              <a:rPr lang="en-US" sz="900" spc="-20" noProof="1">
                <a:solidFill>
                  <a:srgbClr val="22373A"/>
                </a:solidFill>
                <a:highlight>
                  <a:srgbClr val="FF0000"/>
                </a:highlight>
                <a:latin typeface="Arial"/>
                <a:cs typeface="Arial"/>
              </a:rPr>
              <a:t>Launch </a:t>
            </a:r>
            <a:r>
              <a:rPr lang="en-US" sz="900" spc="-10" noProof="1">
                <a:solidFill>
                  <a:srgbClr val="22373A"/>
                </a:solidFill>
                <a:highlight>
                  <a:srgbClr val="FF0000"/>
                </a:highlight>
                <a:latin typeface="Arial"/>
                <a:cs typeface="Arial"/>
              </a:rPr>
              <a:t>instance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Char char="•"/>
              <a:tabLst>
                <a:tab pos="387985" algn="l"/>
              </a:tabLst>
            </a:pPr>
            <a:endParaRPr lang="en-US" sz="800" spc="-25" noProof="1">
              <a:solidFill>
                <a:srgbClr val="22373A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 lang="en-US" noProof="1"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15951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000" b="1" spc="-35" noProof="1">
                <a:solidFill>
                  <a:srgbClr val="F9F9F9"/>
                </a:solidFill>
                <a:latin typeface="Arial"/>
                <a:cs typeface="Arial"/>
              </a:rPr>
              <a:t>Connecting</a:t>
            </a:r>
            <a:r>
              <a:rPr lang="en-US" sz="1000" b="1" spc="50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to</a:t>
            </a:r>
            <a:r>
              <a:rPr lang="en-US" sz="1000" b="1" spc="6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lang="en-US" sz="1000" b="1" spc="6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40" noProof="1">
                <a:solidFill>
                  <a:srgbClr val="F9F9F9"/>
                </a:solidFill>
                <a:latin typeface="Arial"/>
                <a:cs typeface="Arial"/>
              </a:rPr>
              <a:t>instance</a:t>
            </a:r>
            <a:endParaRPr lang="en-US" sz="10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2700" y="331651"/>
            <a:ext cx="5742633" cy="25240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77900" y="2883597"/>
            <a:ext cx="3733800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800" b="1" spc="-20" noProof="1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lang="en-US" sz="8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22:</a:t>
            </a:r>
            <a:r>
              <a:rPr lang="en-US" sz="800" b="1" spc="1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EC2 instance created. Getting</a:t>
            </a:r>
            <a:r>
              <a:rPr lang="en-US" sz="8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8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8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DNS</a:t>
            </a:r>
            <a:r>
              <a:rPr lang="en-US" sz="8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8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lang="en-US" sz="8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8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endParaRPr lang="en-US" sz="800" noProof="1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4021454" cy="5080"/>
            </a:xfrm>
            <a:custGeom>
              <a:avLst/>
              <a:gdLst/>
              <a:ahLst/>
              <a:cxnLst/>
              <a:rect l="l" t="t" r="r" b="b"/>
              <a:pathLst>
                <a:path w="4021454" h="5080">
                  <a:moveTo>
                    <a:pt x="0" y="5060"/>
                  </a:moveTo>
                  <a:lnTo>
                    <a:pt x="0" y="0"/>
                  </a:lnTo>
                  <a:lnTo>
                    <a:pt x="4021223" y="0"/>
                  </a:lnTo>
                  <a:lnTo>
                    <a:pt x="402122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5" noProof="1"/>
              <a:t>Connecting</a:t>
            </a:r>
            <a:r>
              <a:rPr lang="en-US" spc="50" noProof="1"/>
              <a:t> </a:t>
            </a:r>
            <a:r>
              <a:rPr lang="en-US" noProof="1"/>
              <a:t>to</a:t>
            </a:r>
            <a:r>
              <a:rPr lang="en-US" spc="65" noProof="1"/>
              <a:t> </a:t>
            </a:r>
            <a:r>
              <a:rPr lang="en-US" noProof="1"/>
              <a:t>the</a:t>
            </a:r>
            <a:r>
              <a:rPr lang="en-US" spc="65" noProof="1"/>
              <a:t> </a:t>
            </a:r>
            <a:r>
              <a:rPr lang="en-US" spc="-40" noProof="1"/>
              <a:t>instance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33411" y="1320936"/>
            <a:ext cx="982344" cy="155575"/>
            <a:chOff x="1233411" y="1320936"/>
            <a:chExt cx="982344" cy="155575"/>
          </a:xfrm>
        </p:grpSpPr>
        <p:sp>
          <p:nvSpPr>
            <p:cNvPr id="4" name="object 4"/>
            <p:cNvSpPr/>
            <p:nvPr/>
          </p:nvSpPr>
          <p:spPr>
            <a:xfrm>
              <a:off x="1233411" y="1320936"/>
              <a:ext cx="982344" cy="155575"/>
            </a:xfrm>
            <a:custGeom>
              <a:avLst/>
              <a:gdLst/>
              <a:ahLst/>
              <a:cxnLst/>
              <a:rect l="l" t="t" r="r" b="b"/>
              <a:pathLst>
                <a:path w="982344" h="155575">
                  <a:moveTo>
                    <a:pt x="94585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945850" y="155489"/>
                  </a:lnTo>
                  <a:lnTo>
                    <a:pt x="959863" y="152659"/>
                  </a:lnTo>
                  <a:lnTo>
                    <a:pt x="971306" y="144944"/>
                  </a:lnTo>
                  <a:lnTo>
                    <a:pt x="979021" y="133501"/>
                  </a:lnTo>
                  <a:lnTo>
                    <a:pt x="981850" y="119488"/>
                  </a:lnTo>
                  <a:lnTo>
                    <a:pt x="981850" y="36000"/>
                  </a:lnTo>
                  <a:lnTo>
                    <a:pt x="979021" y="21987"/>
                  </a:lnTo>
                  <a:lnTo>
                    <a:pt x="971306" y="10544"/>
                  </a:lnTo>
                  <a:lnTo>
                    <a:pt x="959863" y="2829"/>
                  </a:lnTo>
                  <a:lnTo>
                    <a:pt x="945850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1233411" y="1320936"/>
              <a:ext cx="982344" cy="155575"/>
            </a:xfrm>
            <a:custGeom>
              <a:avLst/>
              <a:gdLst/>
              <a:ahLst/>
              <a:cxnLst/>
              <a:rect l="l" t="t" r="r" b="b"/>
              <a:pathLst>
                <a:path w="982344" h="155575">
                  <a:moveTo>
                    <a:pt x="94585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945850" y="155489"/>
                  </a:lnTo>
                  <a:lnTo>
                    <a:pt x="959863" y="152659"/>
                  </a:lnTo>
                  <a:lnTo>
                    <a:pt x="971306" y="144944"/>
                  </a:lnTo>
                  <a:lnTo>
                    <a:pt x="979021" y="133501"/>
                  </a:lnTo>
                  <a:lnTo>
                    <a:pt x="981850" y="119488"/>
                  </a:lnTo>
                  <a:lnTo>
                    <a:pt x="981850" y="36000"/>
                  </a:lnTo>
                  <a:lnTo>
                    <a:pt x="979021" y="21987"/>
                  </a:lnTo>
                  <a:lnTo>
                    <a:pt x="971306" y="10544"/>
                  </a:lnTo>
                  <a:lnTo>
                    <a:pt x="959863" y="2829"/>
                  </a:lnTo>
                  <a:lnTo>
                    <a:pt x="94585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72646" y="2339310"/>
            <a:ext cx="5015230" cy="451484"/>
            <a:chOff x="372646" y="2339310"/>
            <a:chExt cx="5015230" cy="451484"/>
          </a:xfrm>
        </p:grpSpPr>
        <p:sp>
          <p:nvSpPr>
            <p:cNvPr id="7" name="object 7"/>
            <p:cNvSpPr/>
            <p:nvPr/>
          </p:nvSpPr>
          <p:spPr>
            <a:xfrm>
              <a:off x="377994" y="2344657"/>
              <a:ext cx="5004435" cy="440690"/>
            </a:xfrm>
            <a:custGeom>
              <a:avLst/>
              <a:gdLst/>
              <a:ahLst/>
              <a:cxnLst/>
              <a:rect l="l" t="t" r="r" b="b"/>
              <a:pathLst>
                <a:path w="5004435" h="440689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404283"/>
                  </a:lnTo>
                  <a:lnTo>
                    <a:pt x="2829" y="418296"/>
                  </a:lnTo>
                  <a:lnTo>
                    <a:pt x="10544" y="429739"/>
                  </a:lnTo>
                  <a:lnTo>
                    <a:pt x="21987" y="437454"/>
                  </a:lnTo>
                  <a:lnTo>
                    <a:pt x="36000" y="440283"/>
                  </a:lnTo>
                  <a:lnTo>
                    <a:pt x="4968064" y="440283"/>
                  </a:lnTo>
                  <a:lnTo>
                    <a:pt x="4982077" y="437454"/>
                  </a:lnTo>
                  <a:lnTo>
                    <a:pt x="4993521" y="429739"/>
                  </a:lnTo>
                  <a:lnTo>
                    <a:pt x="5001236" y="418296"/>
                  </a:lnTo>
                  <a:lnTo>
                    <a:pt x="5004065" y="404283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378973" y="2345636"/>
              <a:ext cx="5002530" cy="438784"/>
            </a:xfrm>
            <a:custGeom>
              <a:avLst/>
              <a:gdLst/>
              <a:ahLst/>
              <a:cxnLst/>
              <a:rect l="l" t="t" r="r" b="b"/>
              <a:pathLst>
                <a:path w="5002530" h="438785">
                  <a:moveTo>
                    <a:pt x="0" y="403303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403303"/>
                  </a:lnTo>
                  <a:lnTo>
                    <a:pt x="4999354" y="416935"/>
                  </a:lnTo>
                  <a:lnTo>
                    <a:pt x="4991849" y="428067"/>
                  </a:lnTo>
                  <a:lnTo>
                    <a:pt x="4980717" y="435572"/>
                  </a:lnTo>
                  <a:lnTo>
                    <a:pt x="4967085" y="438325"/>
                  </a:lnTo>
                  <a:lnTo>
                    <a:pt x="35021" y="438325"/>
                  </a:lnTo>
                  <a:lnTo>
                    <a:pt x="21389" y="435572"/>
                  </a:lnTo>
                  <a:lnTo>
                    <a:pt x="10257" y="428067"/>
                  </a:lnTo>
                  <a:lnTo>
                    <a:pt x="2752" y="416935"/>
                  </a:lnTo>
                  <a:lnTo>
                    <a:pt x="0" y="403303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15900" y="559057"/>
            <a:ext cx="5197132" cy="2131802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275"/>
              </a:spcBef>
              <a:buAutoNum type="arabicPeriod"/>
              <a:tabLst>
                <a:tab pos="160020" algn="l"/>
              </a:tabLst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Open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terminal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(mac,linux)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powershell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(windows).</a:t>
            </a:r>
            <a:endParaRPr lang="en-US" sz="900" noProof="1">
              <a:latin typeface="Arial"/>
              <a:cs typeface="Arial"/>
            </a:endParaRPr>
          </a:p>
          <a:p>
            <a:pPr marL="159385" marR="109855" indent="-147320">
              <a:lnSpc>
                <a:spcPct val="116199"/>
              </a:lnSpc>
              <a:buAutoNum type="arabicPeriod"/>
              <a:tabLst>
                <a:tab pos="160655" algn="l"/>
              </a:tabLst>
            </a:pP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command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connect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instance.</a:t>
            </a:r>
            <a:r>
              <a:rPr lang="en-US" sz="900" spc="1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Replace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DNS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public 	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DNS of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instance.</a:t>
            </a:r>
            <a:endParaRPr lang="en-US" sz="900" noProof="1">
              <a:latin typeface="Arial"/>
              <a:cs typeface="Arial"/>
            </a:endParaRPr>
          </a:p>
          <a:p>
            <a:pPr marL="155575" marR="93345" lvl="1" indent="-143510">
              <a:lnSpc>
                <a:spcPct val="116199"/>
              </a:lnSpc>
              <a:spcBef>
                <a:spcPts val="625"/>
              </a:spcBef>
              <a:buFont typeface="Arial"/>
              <a:buChar char="•"/>
              <a:tabLst>
                <a:tab pos="155575" algn="l"/>
                <a:tab pos="159385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	</a:t>
            </a:r>
            <a:r>
              <a:rPr lang="en-US" sz="900" b="1" spc="-45" noProof="1">
                <a:solidFill>
                  <a:srgbClr val="22373A"/>
                </a:solidFill>
                <a:latin typeface="Arial"/>
                <a:cs typeface="Arial"/>
              </a:rPr>
              <a:t>aws-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keypair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file.</a:t>
            </a:r>
            <a:r>
              <a:rPr lang="en-US" sz="900" spc="1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introduce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full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path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file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(for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example</a:t>
            </a:r>
            <a:r>
              <a:rPr lang="en-US" sz="900" spc="1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.ssh/aws-</a:t>
            </a:r>
            <a:r>
              <a:rPr lang="en-US" sz="900" spc="-10" noProof="1">
                <a:latin typeface="Courier New"/>
                <a:cs typeface="Courier New"/>
              </a:rPr>
              <a:t>keypair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).</a:t>
            </a:r>
            <a:endParaRPr lang="en-US" sz="900" noProof="1">
              <a:latin typeface="Arial"/>
              <a:cs typeface="Arial"/>
            </a:endParaRPr>
          </a:p>
          <a:p>
            <a:pPr marL="160020" lvl="1" indent="-147320">
              <a:lnSpc>
                <a:spcPct val="100000"/>
              </a:lnSpc>
              <a:spcBef>
                <a:spcPts val="800"/>
              </a:spcBef>
              <a:buFont typeface="Arial"/>
              <a:buChar char="•"/>
              <a:tabLst>
                <a:tab pos="160020" algn="l"/>
              </a:tabLst>
            </a:pPr>
            <a:r>
              <a:rPr lang="en-US" sz="900" b="1" spc="-50" noProof="1">
                <a:solidFill>
                  <a:srgbClr val="22373A"/>
                </a:solidFill>
                <a:latin typeface="Arial"/>
                <a:cs typeface="Arial"/>
              </a:rPr>
              <a:t>ec2-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user</a:t>
            </a:r>
            <a:r>
              <a:rPr lang="en-US" sz="900" b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default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user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Amazon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Linux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machine.</a:t>
            </a:r>
            <a:r>
              <a:rPr lang="en-US" sz="900" spc="9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Don’t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worry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about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it.</a:t>
            </a:r>
            <a:endParaRPr lang="en-US" sz="900" noProof="1">
              <a:latin typeface="Arial"/>
              <a:cs typeface="Arial"/>
            </a:endParaRPr>
          </a:p>
          <a:p>
            <a:pPr marL="160655" marR="5080" lvl="1" indent="-147955">
              <a:lnSpc>
                <a:spcPct val="116199"/>
              </a:lnSpc>
              <a:spcBef>
                <a:spcPts val="630"/>
              </a:spcBef>
              <a:buFont typeface="Arial"/>
              <a:buChar char="•"/>
              <a:tabLst>
                <a:tab pos="160655" algn="l"/>
              </a:tabLst>
            </a:pP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ec2-3-87-76-117.compute-</a:t>
            </a:r>
            <a:r>
              <a:rPr lang="en-US" sz="900" b="1" spc="-30" noProof="1">
                <a:solidFill>
                  <a:srgbClr val="22373A"/>
                </a:solidFill>
                <a:latin typeface="Arial"/>
                <a:cs typeface="Arial"/>
              </a:rPr>
              <a:t>1.amazonaws.com</a:t>
            </a:r>
            <a:r>
              <a:rPr lang="en-US" sz="900" b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 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public DNS of 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instance.</a:t>
            </a:r>
            <a:r>
              <a:rPr lang="en-US" sz="900" spc="9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going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change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everytime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you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restart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your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lab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each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its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own.</a:t>
            </a:r>
            <a:r>
              <a:rPr lang="en-US" sz="900" spc="6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So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everytime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want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connect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get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DNS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console.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lang="en-US" sz="900" noProof="1">
              <a:latin typeface="Arial"/>
              <a:cs typeface="Arial"/>
            </a:endParaRPr>
          </a:p>
          <a:p>
            <a:pPr marL="184150" marR="923290">
              <a:lnSpc>
                <a:spcPct val="107400"/>
              </a:lnSpc>
              <a:spcBef>
                <a:spcPts val="5"/>
              </a:spcBef>
            </a:pPr>
            <a:r>
              <a:rPr lang="en-US" sz="800" spc="-50" noProof="1">
                <a:solidFill>
                  <a:srgbClr val="05287C"/>
                </a:solidFill>
                <a:latin typeface="Courier New"/>
                <a:cs typeface="Courier New"/>
              </a:rPr>
              <a:t>$ ssh</a:t>
            </a:r>
            <a:r>
              <a:rPr lang="en-US" sz="800" spc="45" noProof="1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solidFill>
                  <a:srgbClr val="7C8E28"/>
                </a:solidFill>
                <a:latin typeface="Courier New"/>
                <a:cs typeface="Courier New"/>
              </a:rPr>
              <a:t>-</a:t>
            </a:r>
            <a:r>
              <a:rPr lang="en-US" sz="800" noProof="1">
                <a:solidFill>
                  <a:srgbClr val="7C8E28"/>
                </a:solidFill>
                <a:latin typeface="Courier New"/>
                <a:cs typeface="Courier New"/>
              </a:rPr>
              <a:t>i</a:t>
            </a:r>
            <a:r>
              <a:rPr lang="en-US" sz="800" spc="50" noProof="1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.ssh/aws-keypair</a:t>
            </a:r>
            <a:r>
              <a:rPr lang="en-US" sz="800" spc="50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  <a:hlinkClick r:id="rId2"/>
              </a:rPr>
              <a:t>ec2-user@ec2-3-87-76-117.compute-1.amazonaws.com</a:t>
            </a:r>
            <a:r>
              <a:rPr lang="en-US" sz="800" spc="-60" noProof="1">
                <a:latin typeface="Courier New"/>
                <a:cs typeface="Courier New"/>
              </a:rPr>
              <a:t> </a:t>
            </a:r>
            <a:r>
              <a:rPr lang="en-US" sz="800" spc="-50" noProof="1">
                <a:latin typeface="Courier New"/>
                <a:cs typeface="Courier New"/>
              </a:rPr>
              <a:t>Are</a:t>
            </a:r>
            <a:r>
              <a:rPr lang="en-US" sz="800" spc="-35" noProof="1">
                <a:latin typeface="Courier New"/>
                <a:cs typeface="Courier New"/>
              </a:rPr>
              <a:t> </a:t>
            </a:r>
            <a:r>
              <a:rPr lang="en-US" sz="800" spc="-50" noProof="1">
                <a:latin typeface="Courier New"/>
                <a:cs typeface="Courier New"/>
              </a:rPr>
              <a:t>you</a:t>
            </a:r>
            <a:r>
              <a:rPr lang="en-US" sz="800" spc="-30" noProof="1"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sure</a:t>
            </a:r>
            <a:r>
              <a:rPr lang="en-US" sz="800" spc="-30" noProof="1">
                <a:latin typeface="Courier New"/>
                <a:cs typeface="Courier New"/>
              </a:rPr>
              <a:t> </a:t>
            </a:r>
            <a:r>
              <a:rPr lang="en-US" sz="800" spc="-50" noProof="1">
                <a:latin typeface="Courier New"/>
                <a:cs typeface="Courier New"/>
              </a:rPr>
              <a:t>you</a:t>
            </a:r>
            <a:r>
              <a:rPr lang="en-US" sz="800" spc="-35" noProof="1"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want</a:t>
            </a:r>
            <a:r>
              <a:rPr lang="en-US" sz="800" spc="-30" noProof="1">
                <a:latin typeface="Courier New"/>
                <a:cs typeface="Courier New"/>
              </a:rPr>
              <a:t> </a:t>
            </a:r>
            <a:r>
              <a:rPr lang="en-US" sz="800" spc="-50" noProof="1">
                <a:latin typeface="Courier New"/>
                <a:cs typeface="Courier New"/>
              </a:rPr>
              <a:t>to</a:t>
            </a:r>
            <a:r>
              <a:rPr lang="en-US" sz="800" spc="-30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continue</a:t>
            </a:r>
            <a:r>
              <a:rPr lang="en-US" sz="800" spc="-35" noProof="1"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connecting</a:t>
            </a:r>
            <a:r>
              <a:rPr lang="en-US" sz="800" spc="-30" noProof="1">
                <a:latin typeface="Courier New"/>
                <a:cs typeface="Courier New"/>
              </a:rPr>
              <a:t> </a:t>
            </a:r>
            <a:r>
              <a:rPr lang="en-US" sz="800" b="1" spc="-60" noProof="1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lang="en-US" sz="800" spc="-60" noProof="1">
                <a:latin typeface="Courier New"/>
                <a:cs typeface="Courier New"/>
              </a:rPr>
              <a:t>yes/no/[fingerprint]</a:t>
            </a:r>
            <a:r>
              <a:rPr lang="en-US" sz="800" b="1" spc="-60" noProof="1">
                <a:solidFill>
                  <a:srgbClr val="007021"/>
                </a:solidFill>
                <a:latin typeface="Courier New"/>
                <a:cs typeface="Courier New"/>
              </a:rPr>
              <a:t>)</a:t>
            </a:r>
            <a:r>
              <a:rPr lang="en-US" sz="800" spc="-60" noProof="1">
                <a:latin typeface="Courier New"/>
                <a:cs typeface="Courier New"/>
              </a:rPr>
              <a:t>?</a:t>
            </a:r>
            <a:r>
              <a:rPr lang="en-US" sz="800" spc="-30" noProof="1">
                <a:latin typeface="Courier New"/>
                <a:cs typeface="Courier New"/>
              </a:rPr>
              <a:t> </a:t>
            </a:r>
            <a:r>
              <a:rPr lang="en-US" sz="800" spc="-35" noProof="1">
                <a:latin typeface="Courier New"/>
                <a:cs typeface="Courier New"/>
              </a:rPr>
              <a:t>yes</a:t>
            </a:r>
            <a:endParaRPr lang="en-US" sz="800" noProof="1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1" name="object 11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63"/>
              <a:ext cx="3912870" cy="5080"/>
            </a:xfrm>
            <a:custGeom>
              <a:avLst/>
              <a:gdLst/>
              <a:ahLst/>
              <a:cxnLst/>
              <a:rect l="l" t="t" r="r" b="b"/>
              <a:pathLst>
                <a:path w="3912870" h="5080">
                  <a:moveTo>
                    <a:pt x="0" y="5060"/>
                  </a:moveTo>
                  <a:lnTo>
                    <a:pt x="0" y="0"/>
                  </a:lnTo>
                  <a:lnTo>
                    <a:pt x="3912501" y="0"/>
                  </a:lnTo>
                  <a:lnTo>
                    <a:pt x="391250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14703" y="1256865"/>
            <a:ext cx="2792197" cy="188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2799"/>
              </a:lnSpc>
              <a:spcBef>
                <a:spcPts val="100"/>
              </a:spcBef>
            </a:pPr>
            <a:r>
              <a:rPr lang="en-US" sz="1100" spc="-25" noProof="1">
                <a:solidFill>
                  <a:srgbClr val="22373A"/>
                </a:solidFill>
                <a:hlinkClick r:id="rId2" action="ppaction://hlinksldjump"/>
              </a:rPr>
              <a:t>Managing</a:t>
            </a:r>
            <a:r>
              <a:rPr lang="en-US" sz="1100" spc="10" noProof="1">
                <a:solidFill>
                  <a:srgbClr val="22373A"/>
                </a:solidFill>
                <a:hlinkClick r:id="rId2" action="ppaction://hlinksldjump"/>
              </a:rPr>
              <a:t> </a:t>
            </a:r>
            <a:r>
              <a:rPr lang="en-US" sz="1100" spc="-10" noProof="1">
                <a:solidFill>
                  <a:srgbClr val="22373A"/>
                </a:solidFill>
                <a:hlinkClick r:id="rId2" action="ppaction://hlinksldjump"/>
              </a:rPr>
              <a:t>Python</a:t>
            </a:r>
            <a:r>
              <a:rPr lang="en-US" sz="1100" spc="10" noProof="1">
                <a:solidFill>
                  <a:srgbClr val="22373A"/>
                </a:solidFill>
                <a:hlinkClick r:id="rId2" action="ppaction://hlinksldjump"/>
              </a:rPr>
              <a:t> </a:t>
            </a:r>
            <a:r>
              <a:rPr lang="en-US" sz="1100" spc="-50" noProof="1">
                <a:solidFill>
                  <a:srgbClr val="22373A"/>
                </a:solidFill>
                <a:hlinkClick r:id="rId2" action="ppaction://hlinksldjump"/>
              </a:rPr>
              <a:t>environments</a:t>
            </a:r>
            <a:r>
              <a:rPr lang="en-US" sz="1100" spc="15" noProof="1">
                <a:solidFill>
                  <a:srgbClr val="22373A"/>
                </a:solidFill>
                <a:hlinkClick r:id="rId2" action="ppaction://hlinksldjump"/>
              </a:rPr>
              <a:t> </a:t>
            </a:r>
            <a:r>
              <a:rPr lang="en-US" sz="1100" spc="-20" noProof="1">
                <a:solidFill>
                  <a:srgbClr val="22373A"/>
                </a:solidFill>
                <a:hlinkClick r:id="rId2" action="ppaction://hlinksldjump"/>
              </a:rPr>
              <a:t>with</a:t>
            </a:r>
            <a:r>
              <a:rPr lang="en-US" sz="1100" spc="-20" noProof="1">
                <a:solidFill>
                  <a:srgbClr val="22373A"/>
                </a:solidFill>
              </a:rPr>
              <a:t> </a:t>
            </a:r>
            <a:r>
              <a:rPr lang="en-US" sz="1100" spc="-25" noProof="1">
                <a:solidFill>
                  <a:schemeClr val="accent3">
                    <a:lumMod val="50000"/>
                  </a:schemeClr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uv</a:t>
            </a:r>
            <a:endParaRPr lang="en-US" sz="1100" noProof="1">
              <a:solidFill>
                <a:schemeClr val="accent3">
                  <a:lumMod val="50000"/>
                </a:schemeClr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740808"/>
            <a:ext cx="2505710" cy="5080"/>
            <a:chOff x="1627403" y="1740808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740808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740808"/>
              <a:ext cx="1749425" cy="5080"/>
            </a:xfrm>
            <a:custGeom>
              <a:avLst/>
              <a:gdLst/>
              <a:ahLst/>
              <a:cxnLst/>
              <a:rect l="l" t="t" r="r" b="b"/>
              <a:pathLst>
                <a:path w="1749425" h="5080">
                  <a:moveTo>
                    <a:pt x="0" y="5060"/>
                  </a:moveTo>
                  <a:lnTo>
                    <a:pt x="0" y="0"/>
                  </a:lnTo>
                  <a:lnTo>
                    <a:pt x="1748956" y="0"/>
                  </a:lnTo>
                  <a:lnTo>
                    <a:pt x="174895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7734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Why</a:t>
            </a:r>
            <a:r>
              <a:rPr lang="en-US" spc="20" noProof="1"/>
              <a:t> </a:t>
            </a:r>
            <a:r>
              <a:rPr lang="en-US" spc="-45" noProof="1"/>
              <a:t>use</a:t>
            </a:r>
            <a:r>
              <a:rPr lang="en-US" spc="20" noProof="1"/>
              <a:t> </a:t>
            </a:r>
            <a:r>
              <a:rPr lang="en-US" spc="-45" noProof="1"/>
              <a:t>uv?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1371290"/>
            <a:ext cx="3608070" cy="640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95"/>
              </a:spcBef>
              <a:buChar char="•"/>
              <a:tabLst>
                <a:tab pos="16002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version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management:</a:t>
            </a:r>
            <a:r>
              <a:rPr lang="en-US" sz="900" spc="6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Easily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switch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between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different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versions.</a:t>
            </a:r>
            <a:endParaRPr lang="en-US" sz="900" noProof="1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160020" algn="l"/>
              </a:tabLst>
            </a:pP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Dependency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isolation:</a:t>
            </a:r>
            <a:r>
              <a:rPr lang="en-US" sz="900" spc="10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Keep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projects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independent.</a:t>
            </a:r>
            <a:endParaRPr lang="en-US" sz="900" noProof="1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805"/>
              </a:spcBef>
              <a:buChar char="•"/>
              <a:tabLst>
                <a:tab pos="160020" algn="l"/>
              </a:tabLst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Reproducibility:</a:t>
            </a:r>
            <a:r>
              <a:rPr lang="en-US" sz="900" spc="1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Ensures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dependencies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remain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consistent.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4130040" cy="5080"/>
            </a:xfrm>
            <a:custGeom>
              <a:avLst/>
              <a:gdLst/>
              <a:ahLst/>
              <a:cxnLst/>
              <a:rect l="l" t="t" r="r" b="b"/>
              <a:pathLst>
                <a:path w="4130040" h="5080">
                  <a:moveTo>
                    <a:pt x="0" y="5060"/>
                  </a:moveTo>
                  <a:lnTo>
                    <a:pt x="0" y="0"/>
                  </a:lnTo>
                  <a:lnTo>
                    <a:pt x="4129857" y="0"/>
                  </a:lnTo>
                  <a:lnTo>
                    <a:pt x="412985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7277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25" noProof="1"/>
              <a:t>Installing</a:t>
            </a:r>
            <a:r>
              <a:rPr lang="en-US" spc="25" noProof="1"/>
              <a:t> </a:t>
            </a:r>
            <a:r>
              <a:rPr lang="en-US" spc="-25" noProof="1"/>
              <a:t>uv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2646" y="1453577"/>
            <a:ext cx="5015230" cy="320040"/>
            <a:chOff x="372646" y="1453577"/>
            <a:chExt cx="5015230" cy="320040"/>
          </a:xfrm>
        </p:grpSpPr>
        <p:sp>
          <p:nvSpPr>
            <p:cNvPr id="4" name="object 4"/>
            <p:cNvSpPr/>
            <p:nvPr/>
          </p:nvSpPr>
          <p:spPr>
            <a:xfrm>
              <a:off x="377994" y="1458924"/>
              <a:ext cx="5004435" cy="309245"/>
            </a:xfrm>
            <a:custGeom>
              <a:avLst/>
              <a:gdLst/>
              <a:ahLst/>
              <a:cxnLst/>
              <a:rect l="l" t="t" r="r" b="b"/>
              <a:pathLst>
                <a:path w="5004435" h="309244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72720"/>
                  </a:lnTo>
                  <a:lnTo>
                    <a:pt x="2829" y="286733"/>
                  </a:lnTo>
                  <a:lnTo>
                    <a:pt x="10544" y="298176"/>
                  </a:lnTo>
                  <a:lnTo>
                    <a:pt x="21987" y="305892"/>
                  </a:lnTo>
                  <a:lnTo>
                    <a:pt x="36000" y="308721"/>
                  </a:lnTo>
                  <a:lnTo>
                    <a:pt x="4968064" y="308721"/>
                  </a:lnTo>
                  <a:lnTo>
                    <a:pt x="4982077" y="305892"/>
                  </a:lnTo>
                  <a:lnTo>
                    <a:pt x="4993521" y="298176"/>
                  </a:lnTo>
                  <a:lnTo>
                    <a:pt x="5001236" y="286733"/>
                  </a:lnTo>
                  <a:lnTo>
                    <a:pt x="5004065" y="272720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378973" y="1459903"/>
              <a:ext cx="5002530" cy="307340"/>
            </a:xfrm>
            <a:custGeom>
              <a:avLst/>
              <a:gdLst/>
              <a:ahLst/>
              <a:cxnLst/>
              <a:rect l="l" t="t" r="r" b="b"/>
              <a:pathLst>
                <a:path w="5002530" h="307339">
                  <a:moveTo>
                    <a:pt x="0" y="271741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71741"/>
                  </a:lnTo>
                  <a:lnTo>
                    <a:pt x="4999354" y="285373"/>
                  </a:lnTo>
                  <a:lnTo>
                    <a:pt x="4991849" y="296505"/>
                  </a:lnTo>
                  <a:lnTo>
                    <a:pt x="4980717" y="304010"/>
                  </a:lnTo>
                  <a:lnTo>
                    <a:pt x="4967085" y="306762"/>
                  </a:lnTo>
                  <a:lnTo>
                    <a:pt x="35021" y="306762"/>
                  </a:lnTo>
                  <a:lnTo>
                    <a:pt x="21389" y="304010"/>
                  </a:lnTo>
                  <a:lnTo>
                    <a:pt x="10257" y="296505"/>
                  </a:lnTo>
                  <a:lnTo>
                    <a:pt x="2752" y="285373"/>
                  </a:lnTo>
                  <a:lnTo>
                    <a:pt x="0" y="271741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72646" y="2088577"/>
            <a:ext cx="5015230" cy="313055"/>
            <a:chOff x="372646" y="2088577"/>
            <a:chExt cx="5015230" cy="313055"/>
          </a:xfrm>
        </p:grpSpPr>
        <p:sp>
          <p:nvSpPr>
            <p:cNvPr id="7" name="object 7"/>
            <p:cNvSpPr/>
            <p:nvPr/>
          </p:nvSpPr>
          <p:spPr>
            <a:xfrm>
              <a:off x="377994" y="2093925"/>
              <a:ext cx="5004435" cy="302260"/>
            </a:xfrm>
            <a:custGeom>
              <a:avLst/>
              <a:gdLst/>
              <a:ahLst/>
              <a:cxnLst/>
              <a:rect l="l" t="t" r="r" b="b"/>
              <a:pathLst>
                <a:path w="5004435" h="302260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66141"/>
                  </a:lnTo>
                  <a:lnTo>
                    <a:pt x="2829" y="280154"/>
                  </a:lnTo>
                  <a:lnTo>
                    <a:pt x="10544" y="291597"/>
                  </a:lnTo>
                  <a:lnTo>
                    <a:pt x="21987" y="299312"/>
                  </a:lnTo>
                  <a:lnTo>
                    <a:pt x="36000" y="302141"/>
                  </a:lnTo>
                  <a:lnTo>
                    <a:pt x="4968064" y="302141"/>
                  </a:lnTo>
                  <a:lnTo>
                    <a:pt x="4982077" y="299312"/>
                  </a:lnTo>
                  <a:lnTo>
                    <a:pt x="4993521" y="291597"/>
                  </a:lnTo>
                  <a:lnTo>
                    <a:pt x="5001236" y="280154"/>
                  </a:lnTo>
                  <a:lnTo>
                    <a:pt x="5004065" y="266141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378973" y="2094904"/>
              <a:ext cx="5002530" cy="300355"/>
            </a:xfrm>
            <a:custGeom>
              <a:avLst/>
              <a:gdLst/>
              <a:ahLst/>
              <a:cxnLst/>
              <a:rect l="l" t="t" r="r" b="b"/>
              <a:pathLst>
                <a:path w="5002530" h="300355">
                  <a:moveTo>
                    <a:pt x="0" y="265162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65162"/>
                  </a:lnTo>
                  <a:lnTo>
                    <a:pt x="4999354" y="278794"/>
                  </a:lnTo>
                  <a:lnTo>
                    <a:pt x="4991849" y="289925"/>
                  </a:lnTo>
                  <a:lnTo>
                    <a:pt x="4980717" y="297431"/>
                  </a:lnTo>
                  <a:lnTo>
                    <a:pt x="4967085" y="300183"/>
                  </a:lnTo>
                  <a:lnTo>
                    <a:pt x="35021" y="300183"/>
                  </a:lnTo>
                  <a:lnTo>
                    <a:pt x="21389" y="297431"/>
                  </a:lnTo>
                  <a:lnTo>
                    <a:pt x="10257" y="289925"/>
                  </a:lnTo>
                  <a:lnTo>
                    <a:pt x="2752" y="278794"/>
                  </a:lnTo>
                  <a:lnTo>
                    <a:pt x="0" y="265162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8526" y="970605"/>
            <a:ext cx="5603773" cy="1356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95"/>
              </a:spcBef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more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information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about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uv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encourage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read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  <a:hlinkClick r:id="rId3"/>
              </a:rPr>
              <a:t>oﬀicial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  <a:hlinkClick r:id="rId3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  <a:hlinkClick r:id="rId3"/>
              </a:rPr>
              <a:t>documentation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install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it,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run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instance: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lang="en-US" sz="900" noProof="1">
              <a:latin typeface="Arial"/>
              <a:cs typeface="Arial"/>
            </a:endParaRPr>
          </a:p>
          <a:p>
            <a:pPr marL="321945"/>
            <a:r>
              <a:rPr lang="en-US" sz="700" noProof="1"/>
              <a:t>[ec2]$ </a:t>
            </a:r>
            <a:r>
              <a:rPr lang="en-US" sz="800" spc="-55" noProof="1">
                <a:latin typeface="Courier New"/>
                <a:cs typeface="Courier New"/>
              </a:rPr>
              <a:t>curl</a:t>
            </a:r>
            <a:r>
              <a:rPr lang="en-US" sz="800" spc="-10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solidFill>
                  <a:srgbClr val="7C8E28"/>
                </a:solidFill>
                <a:latin typeface="Courier New"/>
                <a:cs typeface="Courier New"/>
              </a:rPr>
              <a:t>-</a:t>
            </a:r>
            <a:r>
              <a:rPr lang="en-US" sz="800" spc="-55" noProof="1">
                <a:solidFill>
                  <a:srgbClr val="7C8E28"/>
                </a:solidFill>
                <a:latin typeface="Courier New"/>
                <a:cs typeface="Courier New"/>
              </a:rPr>
              <a:t>LsSf</a:t>
            </a:r>
            <a:r>
              <a:rPr lang="en-US" sz="800" spc="-5" noProof="1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https://astral.sh/uv/install.sh</a:t>
            </a:r>
            <a:r>
              <a:rPr lang="en-US" sz="800" spc="-10" noProof="1">
                <a:latin typeface="Courier New"/>
                <a:cs typeface="Courier New"/>
              </a:rPr>
              <a:t> </a:t>
            </a:r>
            <a:r>
              <a:rPr lang="en-US" sz="800" b="1" noProof="1">
                <a:solidFill>
                  <a:srgbClr val="007021"/>
                </a:solidFill>
                <a:latin typeface="Courier New"/>
                <a:cs typeface="Courier New"/>
              </a:rPr>
              <a:t>|</a:t>
            </a:r>
            <a:r>
              <a:rPr lang="en-US" sz="800" b="1" spc="-5" noProof="1">
                <a:solidFill>
                  <a:srgbClr val="007021"/>
                </a:solidFill>
                <a:latin typeface="Courier New"/>
                <a:cs typeface="Courier New"/>
              </a:rPr>
              <a:t> </a:t>
            </a:r>
            <a:r>
              <a:rPr lang="en-US" sz="800" spc="-25" noProof="1">
                <a:solidFill>
                  <a:srgbClr val="05287C"/>
                </a:solidFill>
                <a:latin typeface="Courier New"/>
                <a:cs typeface="Courier New"/>
              </a:rPr>
              <a:t>sh</a:t>
            </a:r>
            <a:endParaRPr lang="en-US" sz="800" noProof="1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lang="en-US" sz="800" noProof="1">
              <a:latin typeface="Courier New"/>
              <a:cs typeface="Courier New"/>
            </a:endParaRPr>
          </a:p>
          <a:p>
            <a:pPr marL="16510">
              <a:lnSpc>
                <a:spcPct val="100000"/>
              </a:lnSpc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worked,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should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95" noProof="1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solidFill>
                  <a:srgbClr val="22373A"/>
                </a:solidFill>
                <a:latin typeface="Arial"/>
                <a:cs typeface="Arial"/>
              </a:rPr>
              <a:t>message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terminal: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en-US" sz="900" noProof="1">
              <a:latin typeface="Arial"/>
              <a:cs typeface="Arial"/>
            </a:endParaRPr>
          </a:p>
          <a:p>
            <a:pPr marL="321945">
              <a:lnSpc>
                <a:spcPct val="100000"/>
              </a:lnSpc>
            </a:pPr>
            <a:r>
              <a:rPr lang="en-US" sz="800" spc="-55" noProof="1">
                <a:latin typeface="Courier New"/>
                <a:cs typeface="Courier New"/>
              </a:rPr>
              <a:t>everything</a:t>
            </a:r>
            <a:r>
              <a:rPr lang="en-US" sz="800" spc="-55" noProof="1">
                <a:solidFill>
                  <a:srgbClr val="3F70A0"/>
                </a:solidFill>
                <a:latin typeface="Courier New"/>
                <a:cs typeface="Courier New"/>
              </a:rPr>
              <a:t>'s</a:t>
            </a:r>
            <a:r>
              <a:rPr lang="en-US" sz="800" spc="-30" noProof="1">
                <a:solidFill>
                  <a:srgbClr val="3F70A0"/>
                </a:solidFill>
                <a:latin typeface="Courier New"/>
                <a:cs typeface="Courier New"/>
              </a:rPr>
              <a:t> </a:t>
            </a:r>
            <a:r>
              <a:rPr lang="en-US" sz="800" spc="-10" noProof="1">
                <a:solidFill>
                  <a:srgbClr val="3F70A0"/>
                </a:solidFill>
                <a:latin typeface="Courier New"/>
                <a:cs typeface="Courier New"/>
              </a:rPr>
              <a:t>installed!</a:t>
            </a:r>
            <a:endParaRPr lang="en-US" sz="800" noProof="1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1" name="object 11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63"/>
              <a:ext cx="4238625" cy="5080"/>
            </a:xfrm>
            <a:custGeom>
              <a:avLst/>
              <a:gdLst/>
              <a:ahLst/>
              <a:cxnLst/>
              <a:rect l="l" t="t" r="r" b="b"/>
              <a:pathLst>
                <a:path w="4238625" h="5080">
                  <a:moveTo>
                    <a:pt x="0" y="5060"/>
                  </a:moveTo>
                  <a:lnTo>
                    <a:pt x="0" y="0"/>
                  </a:lnTo>
                  <a:lnTo>
                    <a:pt x="4238579" y="0"/>
                  </a:lnTo>
                  <a:lnTo>
                    <a:pt x="423857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19888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10" noProof="1"/>
              <a:t>Creating</a:t>
            </a:r>
            <a:r>
              <a:rPr lang="en-US" spc="-20" noProof="1"/>
              <a:t> </a:t>
            </a:r>
            <a:r>
              <a:rPr lang="en-US" noProof="1"/>
              <a:t>two</a:t>
            </a:r>
            <a:r>
              <a:rPr lang="en-US" spc="-20" noProof="1"/>
              <a:t> </a:t>
            </a:r>
            <a:r>
              <a:rPr lang="en-US" spc="-30" noProof="1"/>
              <a:t>example</a:t>
            </a:r>
            <a:r>
              <a:rPr lang="en-US" spc="-20" noProof="1"/>
              <a:t> </a:t>
            </a:r>
            <a:r>
              <a:rPr lang="en-US" noProof="1"/>
              <a:t>uv</a:t>
            </a:r>
            <a:r>
              <a:rPr lang="en-US" spc="-15" noProof="1"/>
              <a:t> </a:t>
            </a:r>
            <a:r>
              <a:rPr lang="en-US" spc="-10" noProof="1"/>
              <a:t>Projects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52657" y="1356903"/>
            <a:ext cx="3544643" cy="1076325"/>
            <a:chOff x="252657" y="1356903"/>
            <a:chExt cx="2494915" cy="1076325"/>
          </a:xfrm>
        </p:grpSpPr>
        <p:sp>
          <p:nvSpPr>
            <p:cNvPr id="4" name="object 4"/>
            <p:cNvSpPr/>
            <p:nvPr/>
          </p:nvSpPr>
          <p:spPr>
            <a:xfrm>
              <a:off x="258004" y="1362250"/>
              <a:ext cx="2484120" cy="1065530"/>
            </a:xfrm>
            <a:custGeom>
              <a:avLst/>
              <a:gdLst/>
              <a:ahLst/>
              <a:cxnLst/>
              <a:rect l="l" t="t" r="r" b="b"/>
              <a:pathLst>
                <a:path w="2484120" h="1065530">
                  <a:moveTo>
                    <a:pt x="244803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29095"/>
                  </a:lnTo>
                  <a:lnTo>
                    <a:pt x="2829" y="1043108"/>
                  </a:lnTo>
                  <a:lnTo>
                    <a:pt x="10544" y="1054552"/>
                  </a:lnTo>
                  <a:lnTo>
                    <a:pt x="21987" y="1062267"/>
                  </a:lnTo>
                  <a:lnTo>
                    <a:pt x="36000" y="1065096"/>
                  </a:lnTo>
                  <a:lnTo>
                    <a:pt x="2448032" y="1065096"/>
                  </a:lnTo>
                  <a:lnTo>
                    <a:pt x="2462045" y="1062267"/>
                  </a:lnTo>
                  <a:lnTo>
                    <a:pt x="2473488" y="1054552"/>
                  </a:lnTo>
                  <a:lnTo>
                    <a:pt x="2481203" y="1043108"/>
                  </a:lnTo>
                  <a:lnTo>
                    <a:pt x="2484032" y="1029095"/>
                  </a:lnTo>
                  <a:lnTo>
                    <a:pt x="2484032" y="36000"/>
                  </a:lnTo>
                  <a:lnTo>
                    <a:pt x="2481203" y="21987"/>
                  </a:lnTo>
                  <a:lnTo>
                    <a:pt x="2473488" y="10544"/>
                  </a:lnTo>
                  <a:lnTo>
                    <a:pt x="2462045" y="2829"/>
                  </a:lnTo>
                  <a:lnTo>
                    <a:pt x="244803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258983" y="1363229"/>
              <a:ext cx="2482215" cy="1063625"/>
            </a:xfrm>
            <a:custGeom>
              <a:avLst/>
              <a:gdLst/>
              <a:ahLst/>
              <a:cxnLst/>
              <a:rect l="l" t="t" r="r" b="b"/>
              <a:pathLst>
                <a:path w="2482215" h="1063625">
                  <a:moveTo>
                    <a:pt x="0" y="1028116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2447052" y="0"/>
                  </a:lnTo>
                  <a:lnTo>
                    <a:pt x="2460684" y="2752"/>
                  </a:lnTo>
                  <a:lnTo>
                    <a:pt x="2471816" y="10257"/>
                  </a:lnTo>
                  <a:lnTo>
                    <a:pt x="2479321" y="21389"/>
                  </a:lnTo>
                  <a:lnTo>
                    <a:pt x="2482074" y="35021"/>
                  </a:lnTo>
                  <a:lnTo>
                    <a:pt x="2482074" y="1028116"/>
                  </a:lnTo>
                  <a:lnTo>
                    <a:pt x="2479321" y="1041748"/>
                  </a:lnTo>
                  <a:lnTo>
                    <a:pt x="2471816" y="1052880"/>
                  </a:lnTo>
                  <a:lnTo>
                    <a:pt x="2460684" y="1060385"/>
                  </a:lnTo>
                  <a:lnTo>
                    <a:pt x="2447052" y="1063137"/>
                  </a:lnTo>
                  <a:lnTo>
                    <a:pt x="35021" y="1063137"/>
                  </a:lnTo>
                  <a:lnTo>
                    <a:pt x="21389" y="1060385"/>
                  </a:lnTo>
                  <a:lnTo>
                    <a:pt x="10257" y="1052880"/>
                  </a:lnTo>
                  <a:lnTo>
                    <a:pt x="2752" y="1041748"/>
                  </a:lnTo>
                  <a:lnTo>
                    <a:pt x="0" y="1028116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15900" y="881068"/>
            <a:ext cx="4484396" cy="1482714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0">
              <a:lnSpc>
                <a:spcPct val="100000"/>
              </a:lnSpc>
              <a:spcBef>
                <a:spcPts val="500"/>
              </a:spcBef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two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environments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different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versions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dependencies.</a:t>
            </a:r>
            <a:endParaRPr lang="en-US" sz="900" noProof="1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Project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1:</a:t>
            </a:r>
            <a:r>
              <a:rPr lang="en-US" sz="900" spc="10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3.8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185" noProof="1">
                <a:solidFill>
                  <a:srgbClr val="22373A"/>
                </a:solidFill>
                <a:latin typeface="Arial"/>
                <a:cs typeface="Arial"/>
              </a:rPr>
              <a:t>+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Jupyter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lang="en-US" sz="900" noProof="1">
              <a:latin typeface="Arial"/>
              <a:cs typeface="Arial"/>
            </a:endParaRPr>
          </a:p>
          <a:p>
            <a:pPr marL="210185" marR="3192145">
              <a:lnSpc>
                <a:spcPct val="107400"/>
              </a:lnSpc>
              <a:spcBef>
                <a:spcPts val="5"/>
              </a:spcBef>
            </a:pPr>
            <a:r>
              <a:rPr lang="en-US" sz="800" noProof="1"/>
              <a:t>[ec2]$ </a:t>
            </a:r>
            <a:r>
              <a:rPr lang="en-US" sz="800" spc="-60" noProof="1">
                <a:solidFill>
                  <a:srgbClr val="05287C"/>
                </a:solidFill>
                <a:latin typeface="Courier New"/>
                <a:cs typeface="Courier New"/>
              </a:rPr>
              <a:t>mkdir</a:t>
            </a:r>
            <a:r>
              <a:rPr lang="en-US" sz="800" spc="-25" noProof="1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project1 </a:t>
            </a:r>
            <a:r>
              <a:rPr lang="en-US" sz="800" noProof="1"/>
              <a:t>[ec2]$ </a:t>
            </a:r>
            <a:r>
              <a:rPr lang="en-US" sz="800" spc="-50" noProof="1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r>
              <a:rPr lang="en-US" sz="800" spc="-65" noProof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lang="en-US" sz="800" spc="-10" noProof="1">
                <a:latin typeface="Courier New"/>
                <a:cs typeface="Courier New"/>
              </a:rPr>
              <a:t>project1</a:t>
            </a:r>
            <a:endParaRPr lang="en-US" sz="800" noProof="1">
              <a:latin typeface="Courier New"/>
              <a:cs typeface="Courier New"/>
            </a:endParaRPr>
          </a:p>
          <a:p>
            <a:pPr marL="210185" marR="1687195">
              <a:lnSpc>
                <a:spcPct val="107400"/>
              </a:lnSpc>
            </a:pPr>
            <a:r>
              <a:rPr lang="en-US" sz="800" noProof="1"/>
              <a:t>[ec2]$ </a:t>
            </a:r>
            <a:r>
              <a:rPr lang="en-US" sz="800" spc="-50" noProof="1">
                <a:latin typeface="Courier New"/>
                <a:cs typeface="Courier New"/>
              </a:rPr>
              <a:t>uv</a:t>
            </a:r>
            <a:r>
              <a:rPr lang="en-US" sz="800" spc="-30" noProof="1"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venv</a:t>
            </a:r>
            <a:r>
              <a:rPr lang="en-US" sz="800" spc="-25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solidFill>
                  <a:srgbClr val="7C8E28"/>
                </a:solidFill>
                <a:latin typeface="Courier New"/>
                <a:cs typeface="Courier New"/>
              </a:rPr>
              <a:t>--</a:t>
            </a:r>
            <a:r>
              <a:rPr lang="en-US" sz="800" spc="-55" noProof="1">
                <a:solidFill>
                  <a:srgbClr val="7C8E28"/>
                </a:solidFill>
                <a:latin typeface="Courier New"/>
                <a:cs typeface="Courier New"/>
              </a:rPr>
              <a:t>seed</a:t>
            </a:r>
            <a:r>
              <a:rPr lang="en-US" sz="800" spc="-30" noProof="1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solidFill>
                  <a:srgbClr val="7C8E28"/>
                </a:solidFill>
                <a:latin typeface="Courier New"/>
                <a:cs typeface="Courier New"/>
              </a:rPr>
              <a:t>--python</a:t>
            </a:r>
            <a:r>
              <a:rPr lang="en-US" sz="800" spc="-25" noProof="1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lang="en-US" sz="800" spc="-50" noProof="1">
                <a:latin typeface="Courier New"/>
                <a:cs typeface="Courier New"/>
              </a:rPr>
              <a:t>3.8</a:t>
            </a:r>
            <a:r>
              <a:rPr lang="en-US" sz="800" spc="-25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.project1-</a:t>
            </a:r>
            <a:r>
              <a:rPr lang="en-US" sz="800" spc="-55" noProof="1">
                <a:latin typeface="Courier New"/>
                <a:cs typeface="Courier New"/>
              </a:rPr>
              <a:t>venv </a:t>
            </a:r>
            <a:r>
              <a:rPr lang="en-US" sz="800" noProof="1"/>
              <a:t>[ec2]$ </a:t>
            </a:r>
            <a:r>
              <a:rPr lang="en-US" sz="800" spc="-60" noProof="1">
                <a:solidFill>
                  <a:srgbClr val="007F00"/>
                </a:solidFill>
                <a:latin typeface="Courier New"/>
                <a:cs typeface="Courier New"/>
              </a:rPr>
              <a:t>source</a:t>
            </a:r>
            <a:r>
              <a:rPr lang="en-US" sz="800" spc="60" noProof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.project1-</a:t>
            </a:r>
            <a:r>
              <a:rPr lang="en-US" sz="800" spc="-10" noProof="1">
                <a:latin typeface="Courier New"/>
                <a:cs typeface="Courier New"/>
              </a:rPr>
              <a:t>venv/bin/activate</a:t>
            </a:r>
            <a:endParaRPr lang="en-US" sz="800" noProof="1">
              <a:latin typeface="Courier New"/>
              <a:cs typeface="Courier New"/>
            </a:endParaRPr>
          </a:p>
          <a:p>
            <a:pPr marL="210185" marR="2923540">
              <a:lnSpc>
                <a:spcPct val="107400"/>
              </a:lnSpc>
            </a:pPr>
            <a:r>
              <a:rPr lang="en-US" sz="800" noProof="1"/>
              <a:t>[ec2]$ </a:t>
            </a:r>
            <a:r>
              <a:rPr lang="en-US" sz="800" spc="-50" noProof="1">
                <a:latin typeface="Courier New"/>
                <a:cs typeface="Courier New"/>
              </a:rPr>
              <a:t>pip</a:t>
            </a:r>
            <a:r>
              <a:rPr lang="en-US" sz="800" spc="-40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install</a:t>
            </a:r>
            <a:r>
              <a:rPr lang="en-US" sz="800" spc="-35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jupyter </a:t>
            </a:r>
            <a:r>
              <a:rPr lang="en-US" sz="800" noProof="1"/>
              <a:t>[ec2]$ </a:t>
            </a:r>
            <a:r>
              <a:rPr lang="en-US" sz="800" spc="-10" noProof="1">
                <a:latin typeface="Courier New"/>
                <a:cs typeface="Courier New"/>
              </a:rPr>
              <a:t>deactivate</a:t>
            </a:r>
            <a:endParaRPr lang="en-US" sz="800" noProof="1">
              <a:latin typeface="Courier New"/>
              <a:cs typeface="Courier New"/>
            </a:endParaRPr>
          </a:p>
          <a:p>
            <a:pPr marL="210185">
              <a:lnSpc>
                <a:spcPct val="100000"/>
              </a:lnSpc>
              <a:spcBef>
                <a:spcPts val="70"/>
              </a:spcBef>
            </a:pPr>
            <a:r>
              <a:rPr lang="en-US" sz="800" noProof="1"/>
              <a:t>[ec2]$ </a:t>
            </a:r>
            <a:r>
              <a:rPr lang="en-US" sz="800" spc="-50" noProof="1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r>
              <a:rPr lang="en-US" sz="800" spc="-65" noProof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lang="en-US" sz="800" spc="-25" noProof="1">
                <a:latin typeface="Courier New"/>
                <a:cs typeface="Courier New"/>
              </a:rPr>
              <a:t>..</a:t>
            </a:r>
            <a:endParaRPr lang="en-US" sz="800" noProof="1">
              <a:latin typeface="Courier New"/>
              <a:cs typeface="Courier New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4347210" cy="5080"/>
            </a:xfrm>
            <a:custGeom>
              <a:avLst/>
              <a:gdLst/>
              <a:ahLst/>
              <a:cxnLst/>
              <a:rect l="l" t="t" r="r" b="b"/>
              <a:pathLst>
                <a:path w="4347210" h="5080">
                  <a:moveTo>
                    <a:pt x="0" y="5060"/>
                  </a:moveTo>
                  <a:lnTo>
                    <a:pt x="0" y="0"/>
                  </a:lnTo>
                  <a:lnTo>
                    <a:pt x="4347213" y="0"/>
                  </a:lnTo>
                  <a:lnTo>
                    <a:pt x="434721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19888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10" noProof="1"/>
              <a:t>Creating</a:t>
            </a:r>
            <a:r>
              <a:rPr lang="en-US" spc="-20" noProof="1"/>
              <a:t> </a:t>
            </a:r>
            <a:r>
              <a:rPr lang="en-US" noProof="1"/>
              <a:t>two</a:t>
            </a:r>
            <a:r>
              <a:rPr lang="en-US" spc="-20" noProof="1"/>
              <a:t> </a:t>
            </a:r>
            <a:r>
              <a:rPr lang="en-US" spc="-30" noProof="1"/>
              <a:t>example</a:t>
            </a:r>
            <a:r>
              <a:rPr lang="en-US" spc="-20" noProof="1"/>
              <a:t> </a:t>
            </a:r>
            <a:r>
              <a:rPr lang="en-US" noProof="1"/>
              <a:t>uv</a:t>
            </a:r>
            <a:r>
              <a:rPr lang="en-US" spc="-15" noProof="1"/>
              <a:t> </a:t>
            </a:r>
            <a:r>
              <a:rPr lang="en-US" spc="-10" noProof="1"/>
              <a:t>Projects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52657" y="1356903"/>
            <a:ext cx="2494915" cy="1076325"/>
            <a:chOff x="252657" y="1356903"/>
            <a:chExt cx="2494915" cy="1076325"/>
          </a:xfrm>
        </p:grpSpPr>
        <p:sp>
          <p:nvSpPr>
            <p:cNvPr id="4" name="object 4"/>
            <p:cNvSpPr/>
            <p:nvPr/>
          </p:nvSpPr>
          <p:spPr>
            <a:xfrm>
              <a:off x="258004" y="1362250"/>
              <a:ext cx="2484120" cy="1065530"/>
            </a:xfrm>
            <a:custGeom>
              <a:avLst/>
              <a:gdLst/>
              <a:ahLst/>
              <a:cxnLst/>
              <a:rect l="l" t="t" r="r" b="b"/>
              <a:pathLst>
                <a:path w="2484120" h="1065530">
                  <a:moveTo>
                    <a:pt x="244803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29095"/>
                  </a:lnTo>
                  <a:lnTo>
                    <a:pt x="2829" y="1043108"/>
                  </a:lnTo>
                  <a:lnTo>
                    <a:pt x="10544" y="1054552"/>
                  </a:lnTo>
                  <a:lnTo>
                    <a:pt x="21987" y="1062267"/>
                  </a:lnTo>
                  <a:lnTo>
                    <a:pt x="36000" y="1065096"/>
                  </a:lnTo>
                  <a:lnTo>
                    <a:pt x="2448032" y="1065096"/>
                  </a:lnTo>
                  <a:lnTo>
                    <a:pt x="2462045" y="1062267"/>
                  </a:lnTo>
                  <a:lnTo>
                    <a:pt x="2473488" y="1054552"/>
                  </a:lnTo>
                  <a:lnTo>
                    <a:pt x="2481203" y="1043108"/>
                  </a:lnTo>
                  <a:lnTo>
                    <a:pt x="2484032" y="1029095"/>
                  </a:lnTo>
                  <a:lnTo>
                    <a:pt x="2484032" y="36000"/>
                  </a:lnTo>
                  <a:lnTo>
                    <a:pt x="2481203" y="21987"/>
                  </a:lnTo>
                  <a:lnTo>
                    <a:pt x="2473488" y="10544"/>
                  </a:lnTo>
                  <a:lnTo>
                    <a:pt x="2462045" y="2829"/>
                  </a:lnTo>
                  <a:lnTo>
                    <a:pt x="244803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258983" y="1363229"/>
              <a:ext cx="2482215" cy="1063625"/>
            </a:xfrm>
            <a:custGeom>
              <a:avLst/>
              <a:gdLst/>
              <a:ahLst/>
              <a:cxnLst/>
              <a:rect l="l" t="t" r="r" b="b"/>
              <a:pathLst>
                <a:path w="2482215" h="1063625">
                  <a:moveTo>
                    <a:pt x="0" y="1028116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2447052" y="0"/>
                  </a:lnTo>
                  <a:lnTo>
                    <a:pt x="2460684" y="2752"/>
                  </a:lnTo>
                  <a:lnTo>
                    <a:pt x="2471816" y="10257"/>
                  </a:lnTo>
                  <a:lnTo>
                    <a:pt x="2479321" y="21389"/>
                  </a:lnTo>
                  <a:lnTo>
                    <a:pt x="2482074" y="35021"/>
                  </a:lnTo>
                  <a:lnTo>
                    <a:pt x="2482074" y="1028116"/>
                  </a:lnTo>
                  <a:lnTo>
                    <a:pt x="2479321" y="1041748"/>
                  </a:lnTo>
                  <a:lnTo>
                    <a:pt x="2471816" y="1052880"/>
                  </a:lnTo>
                  <a:lnTo>
                    <a:pt x="2460684" y="1060385"/>
                  </a:lnTo>
                  <a:lnTo>
                    <a:pt x="2447052" y="1063137"/>
                  </a:lnTo>
                  <a:lnTo>
                    <a:pt x="35021" y="1063137"/>
                  </a:lnTo>
                  <a:lnTo>
                    <a:pt x="21389" y="1060385"/>
                  </a:lnTo>
                  <a:lnTo>
                    <a:pt x="10257" y="1052880"/>
                  </a:lnTo>
                  <a:lnTo>
                    <a:pt x="2752" y="1041748"/>
                  </a:lnTo>
                  <a:lnTo>
                    <a:pt x="0" y="1028116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25310" y="1409725"/>
            <a:ext cx="2282825" cy="942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10030">
              <a:lnSpc>
                <a:spcPct val="107400"/>
              </a:lnSpc>
              <a:spcBef>
                <a:spcPts val="100"/>
              </a:spcBef>
            </a:pPr>
            <a:r>
              <a:rPr lang="en-US" sz="800" spc="-60" noProof="1">
                <a:solidFill>
                  <a:srgbClr val="05287C"/>
                </a:solidFill>
                <a:latin typeface="Courier New"/>
                <a:cs typeface="Courier New"/>
              </a:rPr>
              <a:t>mkdir</a:t>
            </a:r>
            <a:r>
              <a:rPr lang="en-US" sz="800" spc="-25" noProof="1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lang="en-US" sz="800" spc="-65" noProof="1">
                <a:latin typeface="Courier New"/>
                <a:cs typeface="Courier New"/>
              </a:rPr>
              <a:t>project1 </a:t>
            </a:r>
            <a:r>
              <a:rPr lang="en-US" sz="800" spc="-50" noProof="1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r>
              <a:rPr lang="en-US" sz="800" spc="-65" noProof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lang="en-US" sz="800" spc="-10" noProof="1">
                <a:latin typeface="Courier New"/>
                <a:cs typeface="Courier New"/>
              </a:rPr>
              <a:t>project1</a:t>
            </a:r>
            <a:endParaRPr lang="en-US" sz="800" noProof="1">
              <a:latin typeface="Courier New"/>
              <a:cs typeface="Courier New"/>
            </a:endParaRPr>
          </a:p>
          <a:p>
            <a:pPr marL="12700" marR="5080">
              <a:lnSpc>
                <a:spcPct val="107400"/>
              </a:lnSpc>
            </a:pPr>
            <a:r>
              <a:rPr lang="en-US" sz="800" spc="-50" noProof="1">
                <a:latin typeface="Courier New"/>
                <a:cs typeface="Courier New"/>
              </a:rPr>
              <a:t>uv</a:t>
            </a:r>
            <a:r>
              <a:rPr lang="en-US" sz="800" spc="-30" noProof="1"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venv</a:t>
            </a:r>
            <a:r>
              <a:rPr lang="en-US" sz="800" spc="-25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solidFill>
                  <a:srgbClr val="7C8E28"/>
                </a:solidFill>
                <a:latin typeface="Courier New"/>
                <a:cs typeface="Courier New"/>
              </a:rPr>
              <a:t>--</a:t>
            </a:r>
            <a:r>
              <a:rPr lang="en-US" sz="800" spc="-55" noProof="1">
                <a:solidFill>
                  <a:srgbClr val="7C8E28"/>
                </a:solidFill>
                <a:latin typeface="Courier New"/>
                <a:cs typeface="Courier New"/>
              </a:rPr>
              <a:t>seed</a:t>
            </a:r>
            <a:r>
              <a:rPr lang="en-US" sz="800" spc="-30" noProof="1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solidFill>
                  <a:srgbClr val="7C8E28"/>
                </a:solidFill>
                <a:latin typeface="Courier New"/>
                <a:cs typeface="Courier New"/>
              </a:rPr>
              <a:t>--python</a:t>
            </a:r>
            <a:r>
              <a:rPr lang="en-US" sz="800" spc="-25" noProof="1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lang="en-US" sz="800" spc="-50" noProof="1">
                <a:latin typeface="Courier New"/>
                <a:cs typeface="Courier New"/>
              </a:rPr>
              <a:t>3.8</a:t>
            </a:r>
            <a:r>
              <a:rPr lang="en-US" sz="800" spc="-25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.project1-</a:t>
            </a:r>
            <a:r>
              <a:rPr lang="en-US" sz="800" spc="-55" noProof="1">
                <a:latin typeface="Courier New"/>
                <a:cs typeface="Courier New"/>
              </a:rPr>
              <a:t>venv </a:t>
            </a:r>
            <a:r>
              <a:rPr lang="en-US" sz="800" spc="-60" noProof="1">
                <a:solidFill>
                  <a:srgbClr val="007F00"/>
                </a:solidFill>
                <a:latin typeface="Courier New"/>
                <a:cs typeface="Courier New"/>
              </a:rPr>
              <a:t>source</a:t>
            </a:r>
            <a:r>
              <a:rPr lang="en-US" sz="800" spc="60" noProof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.project1-</a:t>
            </a:r>
            <a:r>
              <a:rPr lang="en-US" sz="800" spc="-10" noProof="1">
                <a:latin typeface="Courier New"/>
                <a:cs typeface="Courier New"/>
              </a:rPr>
              <a:t>venv/bin/activate</a:t>
            </a:r>
            <a:endParaRPr lang="en-US" sz="800" noProof="1">
              <a:latin typeface="Courier New"/>
              <a:cs typeface="Courier New"/>
            </a:endParaRPr>
          </a:p>
          <a:p>
            <a:pPr marL="12700" marR="1240790">
              <a:lnSpc>
                <a:spcPct val="107400"/>
              </a:lnSpc>
            </a:pPr>
            <a:r>
              <a:rPr lang="en-US" sz="800" spc="-50" noProof="1">
                <a:latin typeface="Courier New"/>
                <a:cs typeface="Courier New"/>
              </a:rPr>
              <a:t>pip</a:t>
            </a:r>
            <a:r>
              <a:rPr lang="en-US" sz="800" spc="-40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install</a:t>
            </a:r>
            <a:r>
              <a:rPr lang="en-US" sz="800" spc="-35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jupyter </a:t>
            </a:r>
            <a:r>
              <a:rPr lang="en-US" sz="800" spc="-10" noProof="1">
                <a:latin typeface="Courier New"/>
                <a:cs typeface="Courier New"/>
              </a:rPr>
              <a:t>deactivate</a:t>
            </a:r>
            <a:endParaRPr lang="en-US" sz="800" noProof="1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lang="en-US" sz="800" spc="-50" noProof="1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r>
              <a:rPr lang="en-US" sz="800" spc="-65" noProof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lang="en-US" sz="800" spc="-25" noProof="1">
                <a:latin typeface="Courier New"/>
                <a:cs typeface="Courier New"/>
              </a:rPr>
              <a:t>..</a:t>
            </a:r>
            <a:endParaRPr lang="en-US" sz="800" noProof="1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7304" y="873992"/>
            <a:ext cx="4965700" cy="40132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0">
              <a:lnSpc>
                <a:spcPct val="100000"/>
              </a:lnSpc>
              <a:spcBef>
                <a:spcPts val="500"/>
              </a:spcBef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two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environments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different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versions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dependencies.</a:t>
            </a:r>
            <a:endParaRPr lang="en-US" sz="900" noProof="1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  <a:tabLst>
                <a:tab pos="277241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Project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1:</a:t>
            </a:r>
            <a:r>
              <a:rPr lang="en-US" sz="900" spc="10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3.8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185" noProof="1">
                <a:solidFill>
                  <a:srgbClr val="22373A"/>
                </a:solidFill>
                <a:latin typeface="Arial"/>
                <a:cs typeface="Arial"/>
              </a:rPr>
              <a:t>+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Jupyter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	Project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2:</a:t>
            </a:r>
            <a:r>
              <a:rPr lang="en-US" sz="900" spc="1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3.10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185" noProof="1">
                <a:solidFill>
                  <a:srgbClr val="22373A"/>
                </a:solidFill>
                <a:latin typeface="Arial"/>
                <a:cs typeface="Arial"/>
              </a:rPr>
              <a:t>+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Jupyter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185" noProof="1">
                <a:solidFill>
                  <a:srgbClr val="22373A"/>
                </a:solidFill>
                <a:latin typeface="Arial"/>
                <a:cs typeface="Arial"/>
              </a:rPr>
              <a:t>+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Pandas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012646" y="1356903"/>
            <a:ext cx="2494915" cy="1076325"/>
            <a:chOff x="3012646" y="1356903"/>
            <a:chExt cx="2494915" cy="1076325"/>
          </a:xfrm>
        </p:grpSpPr>
        <p:sp>
          <p:nvSpPr>
            <p:cNvPr id="9" name="object 9"/>
            <p:cNvSpPr/>
            <p:nvPr/>
          </p:nvSpPr>
          <p:spPr>
            <a:xfrm>
              <a:off x="3017993" y="1362250"/>
              <a:ext cx="2484120" cy="1065530"/>
            </a:xfrm>
            <a:custGeom>
              <a:avLst/>
              <a:gdLst/>
              <a:ahLst/>
              <a:cxnLst/>
              <a:rect l="l" t="t" r="r" b="b"/>
              <a:pathLst>
                <a:path w="2484120" h="1065530">
                  <a:moveTo>
                    <a:pt x="244803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29095"/>
                  </a:lnTo>
                  <a:lnTo>
                    <a:pt x="2829" y="1043108"/>
                  </a:lnTo>
                  <a:lnTo>
                    <a:pt x="10544" y="1054552"/>
                  </a:lnTo>
                  <a:lnTo>
                    <a:pt x="21987" y="1062267"/>
                  </a:lnTo>
                  <a:lnTo>
                    <a:pt x="36000" y="1065096"/>
                  </a:lnTo>
                  <a:lnTo>
                    <a:pt x="2448032" y="1065096"/>
                  </a:lnTo>
                  <a:lnTo>
                    <a:pt x="2462045" y="1062267"/>
                  </a:lnTo>
                  <a:lnTo>
                    <a:pt x="2473488" y="1054552"/>
                  </a:lnTo>
                  <a:lnTo>
                    <a:pt x="2481203" y="1043108"/>
                  </a:lnTo>
                  <a:lnTo>
                    <a:pt x="2484032" y="1029095"/>
                  </a:lnTo>
                  <a:lnTo>
                    <a:pt x="2484032" y="36000"/>
                  </a:lnTo>
                  <a:lnTo>
                    <a:pt x="2481203" y="21987"/>
                  </a:lnTo>
                  <a:lnTo>
                    <a:pt x="2473488" y="10544"/>
                  </a:lnTo>
                  <a:lnTo>
                    <a:pt x="2462045" y="2829"/>
                  </a:lnTo>
                  <a:lnTo>
                    <a:pt x="244803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0" name="object 10"/>
            <p:cNvSpPr/>
            <p:nvPr/>
          </p:nvSpPr>
          <p:spPr>
            <a:xfrm>
              <a:off x="3018973" y="1363229"/>
              <a:ext cx="2482215" cy="1063625"/>
            </a:xfrm>
            <a:custGeom>
              <a:avLst/>
              <a:gdLst/>
              <a:ahLst/>
              <a:cxnLst/>
              <a:rect l="l" t="t" r="r" b="b"/>
              <a:pathLst>
                <a:path w="2482215" h="1063625">
                  <a:moveTo>
                    <a:pt x="0" y="1028116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2447052" y="0"/>
                  </a:lnTo>
                  <a:lnTo>
                    <a:pt x="2460684" y="2752"/>
                  </a:lnTo>
                  <a:lnTo>
                    <a:pt x="2471816" y="10257"/>
                  </a:lnTo>
                  <a:lnTo>
                    <a:pt x="2479321" y="21389"/>
                  </a:lnTo>
                  <a:lnTo>
                    <a:pt x="2482074" y="35021"/>
                  </a:lnTo>
                  <a:lnTo>
                    <a:pt x="2482074" y="1028116"/>
                  </a:lnTo>
                  <a:lnTo>
                    <a:pt x="2479321" y="1041748"/>
                  </a:lnTo>
                  <a:lnTo>
                    <a:pt x="2471816" y="1052880"/>
                  </a:lnTo>
                  <a:lnTo>
                    <a:pt x="2460684" y="1060385"/>
                  </a:lnTo>
                  <a:lnTo>
                    <a:pt x="2447052" y="1063137"/>
                  </a:lnTo>
                  <a:lnTo>
                    <a:pt x="35021" y="1063137"/>
                  </a:lnTo>
                  <a:lnTo>
                    <a:pt x="21389" y="1060385"/>
                  </a:lnTo>
                  <a:lnTo>
                    <a:pt x="10257" y="1052880"/>
                  </a:lnTo>
                  <a:lnTo>
                    <a:pt x="2752" y="1041748"/>
                  </a:lnTo>
                  <a:lnTo>
                    <a:pt x="0" y="1028116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185299" y="1419210"/>
            <a:ext cx="7778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800" spc="-60" noProof="1">
                <a:solidFill>
                  <a:srgbClr val="05287C"/>
                </a:solidFill>
                <a:latin typeface="Courier New"/>
                <a:cs typeface="Courier New"/>
              </a:rPr>
              <a:t>mkdir</a:t>
            </a:r>
            <a:r>
              <a:rPr lang="en-US" sz="800" spc="-25" noProof="1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lang="en-US" sz="800" spc="-50" noProof="1">
                <a:latin typeface="Courier New"/>
                <a:cs typeface="Courier New"/>
              </a:rPr>
              <a:t>project2</a:t>
            </a:r>
            <a:endParaRPr lang="en-US" sz="800" noProof="1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85299" y="1550160"/>
            <a:ext cx="6172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800" spc="-50" noProof="1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r>
              <a:rPr lang="en-US" sz="800" spc="-65" noProof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lang="en-US" sz="800" spc="-50" noProof="1">
                <a:latin typeface="Courier New"/>
                <a:cs typeface="Courier New"/>
              </a:rPr>
              <a:t>project2</a:t>
            </a:r>
            <a:endParaRPr lang="en-US" sz="800" noProof="1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85299" y="1681110"/>
            <a:ext cx="23368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800" spc="-50" noProof="1">
                <a:latin typeface="Courier New"/>
                <a:cs typeface="Courier New"/>
              </a:rPr>
              <a:t>uv</a:t>
            </a:r>
            <a:r>
              <a:rPr lang="en-US" sz="800" spc="-25" noProof="1"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venv</a:t>
            </a:r>
            <a:r>
              <a:rPr lang="en-US" sz="800" spc="-25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solidFill>
                  <a:srgbClr val="7C8E28"/>
                </a:solidFill>
                <a:latin typeface="Courier New"/>
                <a:cs typeface="Courier New"/>
              </a:rPr>
              <a:t>--</a:t>
            </a:r>
            <a:r>
              <a:rPr lang="en-US" sz="800" spc="-55" noProof="1">
                <a:solidFill>
                  <a:srgbClr val="7C8E28"/>
                </a:solidFill>
                <a:latin typeface="Courier New"/>
                <a:cs typeface="Courier New"/>
              </a:rPr>
              <a:t>seed</a:t>
            </a:r>
            <a:r>
              <a:rPr lang="en-US" sz="800" spc="-20" noProof="1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solidFill>
                  <a:srgbClr val="7C8E28"/>
                </a:solidFill>
                <a:latin typeface="Courier New"/>
                <a:cs typeface="Courier New"/>
              </a:rPr>
              <a:t>--python</a:t>
            </a:r>
            <a:r>
              <a:rPr lang="en-US" sz="800" spc="-25" noProof="1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3.10</a:t>
            </a:r>
            <a:r>
              <a:rPr lang="en-US" sz="800" spc="-25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.project2-</a:t>
            </a:r>
            <a:r>
              <a:rPr lang="en-US" sz="800" spc="-30" noProof="1">
                <a:latin typeface="Courier New"/>
                <a:cs typeface="Courier New"/>
              </a:rPr>
              <a:t>venv</a:t>
            </a:r>
            <a:endParaRPr lang="en-US" sz="800" noProof="1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85299" y="1802561"/>
            <a:ext cx="1852930" cy="549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7400"/>
              </a:lnSpc>
              <a:spcBef>
                <a:spcPts val="100"/>
              </a:spcBef>
            </a:pPr>
            <a:r>
              <a:rPr lang="en-US" sz="800" spc="-60" noProof="1">
                <a:solidFill>
                  <a:srgbClr val="007F00"/>
                </a:solidFill>
                <a:latin typeface="Courier New"/>
                <a:cs typeface="Courier New"/>
              </a:rPr>
              <a:t>source</a:t>
            </a:r>
            <a:r>
              <a:rPr lang="en-US" sz="800" spc="60" noProof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.project2-venv/bin/activate </a:t>
            </a:r>
            <a:r>
              <a:rPr lang="en-US" sz="800" spc="-50" noProof="1">
                <a:latin typeface="Courier New"/>
                <a:cs typeface="Courier New"/>
              </a:rPr>
              <a:t>pip</a:t>
            </a:r>
            <a:r>
              <a:rPr lang="en-US" sz="800" spc="-30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install</a:t>
            </a:r>
            <a:r>
              <a:rPr lang="en-US" sz="800" spc="-25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jupyter</a:t>
            </a:r>
            <a:r>
              <a:rPr lang="en-US" sz="800" spc="-25" noProof="1">
                <a:latin typeface="Courier New"/>
                <a:cs typeface="Courier New"/>
              </a:rPr>
              <a:t> </a:t>
            </a:r>
            <a:r>
              <a:rPr lang="en-US" sz="800" spc="-10" noProof="1">
                <a:latin typeface="Courier New"/>
                <a:cs typeface="Courier New"/>
              </a:rPr>
              <a:t>pandas deactivate</a:t>
            </a:r>
            <a:endParaRPr lang="en-US" sz="800" noProof="1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lang="en-US" sz="800" spc="-50" noProof="1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r>
              <a:rPr lang="en-US" sz="800" spc="-65" noProof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lang="en-US" sz="800" spc="-25" noProof="1">
                <a:latin typeface="Courier New"/>
                <a:cs typeface="Courier New"/>
              </a:rPr>
              <a:t>..</a:t>
            </a:r>
            <a:endParaRPr lang="en-US" sz="800" noProof="1">
              <a:latin typeface="Courier New"/>
              <a:cs typeface="Courier New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6" name="object 1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8" name="object 18"/>
            <p:cNvSpPr/>
            <p:nvPr/>
          </p:nvSpPr>
          <p:spPr>
            <a:xfrm>
              <a:off x="0" y="3234963"/>
              <a:ext cx="4347210" cy="5080"/>
            </a:xfrm>
            <a:custGeom>
              <a:avLst/>
              <a:gdLst/>
              <a:ahLst/>
              <a:cxnLst/>
              <a:rect l="l" t="t" r="r" b="b"/>
              <a:pathLst>
                <a:path w="4347210" h="5080">
                  <a:moveTo>
                    <a:pt x="0" y="5060"/>
                  </a:moveTo>
                  <a:lnTo>
                    <a:pt x="0" y="0"/>
                  </a:lnTo>
                  <a:lnTo>
                    <a:pt x="4347213" y="0"/>
                  </a:lnTo>
                  <a:lnTo>
                    <a:pt x="434721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25" noProof="1"/>
              <a:t>Working</a:t>
            </a:r>
            <a:r>
              <a:rPr lang="en-US" spc="25" noProof="1"/>
              <a:t> </a:t>
            </a:r>
            <a:r>
              <a:rPr lang="en-US" noProof="1"/>
              <a:t>with</a:t>
            </a:r>
            <a:r>
              <a:rPr lang="en-US" spc="30" noProof="1"/>
              <a:t> </a:t>
            </a:r>
            <a:r>
              <a:rPr lang="en-US" noProof="1"/>
              <a:t>the</a:t>
            </a:r>
            <a:r>
              <a:rPr lang="en-US" spc="30" noProof="1"/>
              <a:t> </a:t>
            </a:r>
            <a:r>
              <a:rPr lang="en-US" spc="-40" noProof="1"/>
              <a:t>environments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2646" y="615498"/>
            <a:ext cx="5015230" cy="443865"/>
            <a:chOff x="372646" y="615498"/>
            <a:chExt cx="5015230" cy="443865"/>
          </a:xfrm>
        </p:grpSpPr>
        <p:sp>
          <p:nvSpPr>
            <p:cNvPr id="4" name="object 4"/>
            <p:cNvSpPr/>
            <p:nvPr/>
          </p:nvSpPr>
          <p:spPr>
            <a:xfrm>
              <a:off x="377994" y="620846"/>
              <a:ext cx="5004435" cy="433070"/>
            </a:xfrm>
            <a:custGeom>
              <a:avLst/>
              <a:gdLst/>
              <a:ahLst/>
              <a:cxnLst/>
              <a:rect l="l" t="t" r="r" b="b"/>
              <a:pathLst>
                <a:path w="5004435" h="433069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396792"/>
                  </a:lnTo>
                  <a:lnTo>
                    <a:pt x="2829" y="410805"/>
                  </a:lnTo>
                  <a:lnTo>
                    <a:pt x="10544" y="422248"/>
                  </a:lnTo>
                  <a:lnTo>
                    <a:pt x="21987" y="429963"/>
                  </a:lnTo>
                  <a:lnTo>
                    <a:pt x="36000" y="432792"/>
                  </a:lnTo>
                  <a:lnTo>
                    <a:pt x="4968064" y="432792"/>
                  </a:lnTo>
                  <a:lnTo>
                    <a:pt x="4982077" y="429963"/>
                  </a:lnTo>
                  <a:lnTo>
                    <a:pt x="4993521" y="422248"/>
                  </a:lnTo>
                  <a:lnTo>
                    <a:pt x="5001236" y="410805"/>
                  </a:lnTo>
                  <a:lnTo>
                    <a:pt x="5004065" y="396792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378973" y="621825"/>
              <a:ext cx="5002530" cy="431165"/>
            </a:xfrm>
            <a:custGeom>
              <a:avLst/>
              <a:gdLst/>
              <a:ahLst/>
              <a:cxnLst/>
              <a:rect l="l" t="t" r="r" b="b"/>
              <a:pathLst>
                <a:path w="5002530" h="431165">
                  <a:moveTo>
                    <a:pt x="0" y="395813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395813"/>
                  </a:lnTo>
                  <a:lnTo>
                    <a:pt x="4999354" y="409445"/>
                  </a:lnTo>
                  <a:lnTo>
                    <a:pt x="4991849" y="420576"/>
                  </a:lnTo>
                  <a:lnTo>
                    <a:pt x="4980717" y="428082"/>
                  </a:lnTo>
                  <a:lnTo>
                    <a:pt x="4967085" y="430834"/>
                  </a:lnTo>
                  <a:lnTo>
                    <a:pt x="35021" y="430834"/>
                  </a:lnTo>
                  <a:lnTo>
                    <a:pt x="21389" y="428082"/>
                  </a:lnTo>
                  <a:lnTo>
                    <a:pt x="10257" y="420576"/>
                  </a:lnTo>
                  <a:lnTo>
                    <a:pt x="2752" y="409445"/>
                  </a:lnTo>
                  <a:lnTo>
                    <a:pt x="0" y="395813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252423" y="1162278"/>
            <a:ext cx="384175" cy="146050"/>
            <a:chOff x="1252423" y="1162278"/>
            <a:chExt cx="384175" cy="146050"/>
          </a:xfrm>
        </p:grpSpPr>
        <p:sp>
          <p:nvSpPr>
            <p:cNvPr id="7" name="object 7"/>
            <p:cNvSpPr/>
            <p:nvPr/>
          </p:nvSpPr>
          <p:spPr>
            <a:xfrm>
              <a:off x="1252423" y="1162278"/>
              <a:ext cx="384175" cy="146050"/>
            </a:xfrm>
            <a:custGeom>
              <a:avLst/>
              <a:gdLst/>
              <a:ahLst/>
              <a:cxnLst/>
              <a:rect l="l" t="t" r="r" b="b"/>
              <a:pathLst>
                <a:path w="384175" h="146050">
                  <a:moveTo>
                    <a:pt x="348009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037"/>
                  </a:lnTo>
                  <a:lnTo>
                    <a:pt x="2829" y="124050"/>
                  </a:lnTo>
                  <a:lnTo>
                    <a:pt x="10544" y="135493"/>
                  </a:lnTo>
                  <a:lnTo>
                    <a:pt x="21987" y="143208"/>
                  </a:lnTo>
                  <a:lnTo>
                    <a:pt x="36000" y="146037"/>
                  </a:lnTo>
                  <a:lnTo>
                    <a:pt x="348009" y="146037"/>
                  </a:lnTo>
                  <a:lnTo>
                    <a:pt x="362022" y="143208"/>
                  </a:lnTo>
                  <a:lnTo>
                    <a:pt x="373465" y="135493"/>
                  </a:lnTo>
                  <a:lnTo>
                    <a:pt x="381180" y="124050"/>
                  </a:lnTo>
                  <a:lnTo>
                    <a:pt x="384009" y="110037"/>
                  </a:lnTo>
                  <a:lnTo>
                    <a:pt x="384009" y="36000"/>
                  </a:lnTo>
                  <a:lnTo>
                    <a:pt x="381180" y="21987"/>
                  </a:lnTo>
                  <a:lnTo>
                    <a:pt x="373465" y="10544"/>
                  </a:lnTo>
                  <a:lnTo>
                    <a:pt x="362022" y="2829"/>
                  </a:lnTo>
                  <a:lnTo>
                    <a:pt x="348009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1252423" y="1162278"/>
              <a:ext cx="384175" cy="146050"/>
            </a:xfrm>
            <a:custGeom>
              <a:avLst/>
              <a:gdLst/>
              <a:ahLst/>
              <a:cxnLst/>
              <a:rect l="l" t="t" r="r" b="b"/>
              <a:pathLst>
                <a:path w="384175" h="146050">
                  <a:moveTo>
                    <a:pt x="348009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037"/>
                  </a:lnTo>
                  <a:lnTo>
                    <a:pt x="2829" y="124050"/>
                  </a:lnTo>
                  <a:lnTo>
                    <a:pt x="10544" y="135493"/>
                  </a:lnTo>
                  <a:lnTo>
                    <a:pt x="21987" y="143208"/>
                  </a:lnTo>
                  <a:lnTo>
                    <a:pt x="36000" y="146037"/>
                  </a:lnTo>
                  <a:lnTo>
                    <a:pt x="348009" y="146037"/>
                  </a:lnTo>
                  <a:lnTo>
                    <a:pt x="362022" y="143208"/>
                  </a:lnTo>
                  <a:lnTo>
                    <a:pt x="373465" y="135493"/>
                  </a:lnTo>
                  <a:lnTo>
                    <a:pt x="381180" y="124050"/>
                  </a:lnTo>
                  <a:lnTo>
                    <a:pt x="384009" y="110037"/>
                  </a:lnTo>
                  <a:lnTo>
                    <a:pt x="384009" y="36000"/>
                  </a:lnTo>
                  <a:lnTo>
                    <a:pt x="381180" y="21987"/>
                  </a:lnTo>
                  <a:lnTo>
                    <a:pt x="373465" y="10544"/>
                  </a:lnTo>
                  <a:lnTo>
                    <a:pt x="362022" y="2829"/>
                  </a:lnTo>
                  <a:lnTo>
                    <a:pt x="348009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64749" y="1162731"/>
            <a:ext cx="204657" cy="145012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372646" y="1772878"/>
            <a:ext cx="5015230" cy="574040"/>
            <a:chOff x="372646" y="1772878"/>
            <a:chExt cx="5015230" cy="574040"/>
          </a:xfrm>
        </p:grpSpPr>
        <p:sp>
          <p:nvSpPr>
            <p:cNvPr id="11" name="object 11"/>
            <p:cNvSpPr/>
            <p:nvPr/>
          </p:nvSpPr>
          <p:spPr>
            <a:xfrm>
              <a:off x="377994" y="1778226"/>
              <a:ext cx="5004435" cy="563245"/>
            </a:xfrm>
            <a:custGeom>
              <a:avLst/>
              <a:gdLst/>
              <a:ahLst/>
              <a:cxnLst/>
              <a:rect l="l" t="t" r="r" b="b"/>
              <a:pathLst>
                <a:path w="5004435" h="563244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526735"/>
                  </a:lnTo>
                  <a:lnTo>
                    <a:pt x="2829" y="540748"/>
                  </a:lnTo>
                  <a:lnTo>
                    <a:pt x="10544" y="552191"/>
                  </a:lnTo>
                  <a:lnTo>
                    <a:pt x="21987" y="559906"/>
                  </a:lnTo>
                  <a:lnTo>
                    <a:pt x="36000" y="562735"/>
                  </a:lnTo>
                  <a:lnTo>
                    <a:pt x="4968064" y="562735"/>
                  </a:lnTo>
                  <a:lnTo>
                    <a:pt x="4982077" y="559906"/>
                  </a:lnTo>
                  <a:lnTo>
                    <a:pt x="4993521" y="552191"/>
                  </a:lnTo>
                  <a:lnTo>
                    <a:pt x="5001236" y="540748"/>
                  </a:lnTo>
                  <a:lnTo>
                    <a:pt x="5004065" y="526735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2" name="object 12"/>
            <p:cNvSpPr/>
            <p:nvPr/>
          </p:nvSpPr>
          <p:spPr>
            <a:xfrm>
              <a:off x="378973" y="1779205"/>
              <a:ext cx="5002530" cy="561340"/>
            </a:xfrm>
            <a:custGeom>
              <a:avLst/>
              <a:gdLst/>
              <a:ahLst/>
              <a:cxnLst/>
              <a:rect l="l" t="t" r="r" b="b"/>
              <a:pathLst>
                <a:path w="5002530" h="561339">
                  <a:moveTo>
                    <a:pt x="0" y="525756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525756"/>
                  </a:lnTo>
                  <a:lnTo>
                    <a:pt x="4999354" y="539387"/>
                  </a:lnTo>
                  <a:lnTo>
                    <a:pt x="4991849" y="550519"/>
                  </a:lnTo>
                  <a:lnTo>
                    <a:pt x="4980717" y="558025"/>
                  </a:lnTo>
                  <a:lnTo>
                    <a:pt x="4967085" y="560777"/>
                  </a:lnTo>
                  <a:lnTo>
                    <a:pt x="35021" y="560777"/>
                  </a:lnTo>
                  <a:lnTo>
                    <a:pt x="21389" y="558025"/>
                  </a:lnTo>
                  <a:lnTo>
                    <a:pt x="10257" y="550519"/>
                  </a:lnTo>
                  <a:lnTo>
                    <a:pt x="2752" y="539387"/>
                  </a:lnTo>
                  <a:lnTo>
                    <a:pt x="0" y="525756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372646" y="2661888"/>
            <a:ext cx="5008857" cy="420370"/>
            <a:chOff x="372646" y="2661888"/>
            <a:chExt cx="5015230" cy="420370"/>
          </a:xfrm>
        </p:grpSpPr>
        <p:sp>
          <p:nvSpPr>
            <p:cNvPr id="14" name="object 14"/>
            <p:cNvSpPr/>
            <p:nvPr/>
          </p:nvSpPr>
          <p:spPr>
            <a:xfrm>
              <a:off x="377994" y="2667236"/>
              <a:ext cx="5004435" cy="409575"/>
            </a:xfrm>
            <a:custGeom>
              <a:avLst/>
              <a:gdLst/>
              <a:ahLst/>
              <a:cxnLst/>
              <a:rect l="l" t="t" r="r" b="b"/>
              <a:pathLst>
                <a:path w="5004435" h="409575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373309"/>
                  </a:lnTo>
                  <a:lnTo>
                    <a:pt x="2829" y="387322"/>
                  </a:lnTo>
                  <a:lnTo>
                    <a:pt x="10544" y="398765"/>
                  </a:lnTo>
                  <a:lnTo>
                    <a:pt x="21987" y="406480"/>
                  </a:lnTo>
                  <a:lnTo>
                    <a:pt x="36000" y="409309"/>
                  </a:lnTo>
                  <a:lnTo>
                    <a:pt x="4968064" y="409309"/>
                  </a:lnTo>
                  <a:lnTo>
                    <a:pt x="4982077" y="406480"/>
                  </a:lnTo>
                  <a:lnTo>
                    <a:pt x="4993521" y="398765"/>
                  </a:lnTo>
                  <a:lnTo>
                    <a:pt x="5001236" y="387322"/>
                  </a:lnTo>
                  <a:lnTo>
                    <a:pt x="5004065" y="373309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5" name="object 15"/>
            <p:cNvSpPr/>
            <p:nvPr/>
          </p:nvSpPr>
          <p:spPr>
            <a:xfrm>
              <a:off x="378973" y="2668215"/>
              <a:ext cx="5002530" cy="407670"/>
            </a:xfrm>
            <a:custGeom>
              <a:avLst/>
              <a:gdLst/>
              <a:ahLst/>
              <a:cxnLst/>
              <a:rect l="l" t="t" r="r" b="b"/>
              <a:pathLst>
                <a:path w="5002530" h="407669">
                  <a:moveTo>
                    <a:pt x="0" y="372329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372329"/>
                  </a:lnTo>
                  <a:lnTo>
                    <a:pt x="4999354" y="385961"/>
                  </a:lnTo>
                  <a:lnTo>
                    <a:pt x="4991849" y="397093"/>
                  </a:lnTo>
                  <a:lnTo>
                    <a:pt x="4980717" y="404598"/>
                  </a:lnTo>
                  <a:lnTo>
                    <a:pt x="4967085" y="407350"/>
                  </a:lnTo>
                  <a:lnTo>
                    <a:pt x="35021" y="407350"/>
                  </a:lnTo>
                  <a:lnTo>
                    <a:pt x="21389" y="404598"/>
                  </a:lnTo>
                  <a:lnTo>
                    <a:pt x="10257" y="397093"/>
                  </a:lnTo>
                  <a:lnTo>
                    <a:pt x="2752" y="385961"/>
                  </a:lnTo>
                  <a:lnTo>
                    <a:pt x="0" y="372329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21287" y="365763"/>
            <a:ext cx="4972050" cy="26700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want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work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project1: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lang="en-US" sz="900" noProof="1">
              <a:latin typeface="Arial"/>
              <a:cs typeface="Arial"/>
            </a:endParaRPr>
          </a:p>
          <a:p>
            <a:pPr marL="215900">
              <a:lnSpc>
                <a:spcPct val="100000"/>
              </a:lnSpc>
            </a:pPr>
            <a:r>
              <a:rPr lang="en-US" sz="800" noProof="1"/>
              <a:t>[ec2]$ </a:t>
            </a:r>
            <a:r>
              <a:rPr lang="en-US" sz="800" spc="-50" noProof="1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r>
              <a:rPr lang="en-US" sz="800" spc="-65" noProof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lang="en-US" sz="800" spc="-10" noProof="1">
                <a:latin typeface="Courier New"/>
                <a:cs typeface="Courier New"/>
              </a:rPr>
              <a:t>project1</a:t>
            </a:r>
            <a:endParaRPr lang="en-US" sz="800" noProof="1">
              <a:latin typeface="Courier New"/>
              <a:cs typeface="Courier New"/>
            </a:endParaRPr>
          </a:p>
          <a:p>
            <a:pPr marL="215900">
              <a:lnSpc>
                <a:spcPct val="100000"/>
              </a:lnSpc>
              <a:spcBef>
                <a:spcPts val="75"/>
              </a:spcBef>
            </a:pPr>
            <a:r>
              <a:rPr lang="en-US" sz="800" noProof="1"/>
              <a:t>[ec2]$ </a:t>
            </a:r>
            <a:r>
              <a:rPr lang="en-US" sz="800" spc="-60" noProof="1">
                <a:solidFill>
                  <a:srgbClr val="007F00"/>
                </a:solidFill>
                <a:latin typeface="Courier New"/>
                <a:cs typeface="Courier New"/>
              </a:rPr>
              <a:t>source</a:t>
            </a:r>
            <a:r>
              <a:rPr lang="en-US" sz="800" spc="60" noProof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.project1-</a:t>
            </a:r>
            <a:r>
              <a:rPr lang="en-US" sz="800" spc="-10" noProof="1">
                <a:latin typeface="Courier New"/>
                <a:cs typeface="Courier New"/>
              </a:rPr>
              <a:t>venv/bin/activate</a:t>
            </a:r>
            <a:endParaRPr lang="en-US" sz="800" noProof="1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lang="en-US" sz="800" noProof="1">
              <a:latin typeface="Courier New"/>
              <a:cs typeface="Courier New"/>
            </a:endParaRPr>
          </a:p>
          <a:p>
            <a:pPr marL="17780" marR="265430">
              <a:lnSpc>
                <a:spcPct val="116199"/>
              </a:lnSpc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run</a:t>
            </a:r>
            <a:r>
              <a:rPr lang="en-US" sz="900" spc="114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latin typeface="Courier New"/>
                <a:cs typeface="Courier New"/>
              </a:rPr>
              <a:t>python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3.8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version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lang="en-US" sz="900" spc="114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latin typeface="Courier New"/>
                <a:cs typeface="Courier New"/>
              </a:rPr>
              <a:t>pip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install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packages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project1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environment.</a:t>
            </a:r>
            <a:endParaRPr lang="en-US" sz="900" noProof="1">
              <a:latin typeface="Arial"/>
              <a:cs typeface="Arial"/>
            </a:endParaRPr>
          </a:p>
          <a:p>
            <a:pPr marL="17780">
              <a:lnSpc>
                <a:spcPct val="100000"/>
              </a:lnSpc>
              <a:spcBef>
                <a:spcPts val="805"/>
              </a:spcBef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Installed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packages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stored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next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time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activate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environment,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they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available.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lang="en-US" sz="900" noProof="1">
              <a:latin typeface="Arial"/>
              <a:cs typeface="Arial"/>
            </a:endParaRPr>
          </a:p>
          <a:p>
            <a:pPr marL="215900">
              <a:lnSpc>
                <a:spcPct val="100000"/>
              </a:lnSpc>
            </a:pPr>
            <a:r>
              <a:rPr lang="en-US" sz="800" noProof="1"/>
              <a:t>[ec2]$ </a:t>
            </a:r>
            <a:r>
              <a:rPr lang="en-US" sz="800" spc="-60" noProof="1">
                <a:latin typeface="Courier New"/>
                <a:cs typeface="Courier New"/>
              </a:rPr>
              <a:t>python</a:t>
            </a:r>
            <a:r>
              <a:rPr lang="en-US" sz="800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solidFill>
                  <a:srgbClr val="7C8E28"/>
                </a:solidFill>
                <a:latin typeface="Courier New"/>
                <a:cs typeface="Courier New"/>
              </a:rPr>
              <a:t>--</a:t>
            </a:r>
            <a:r>
              <a:rPr lang="en-US" sz="800" spc="-10" noProof="1">
                <a:solidFill>
                  <a:srgbClr val="7C8E28"/>
                </a:solidFill>
                <a:latin typeface="Courier New"/>
                <a:cs typeface="Courier New"/>
              </a:rPr>
              <a:t>version</a:t>
            </a:r>
            <a:endParaRPr lang="en-US" sz="800" noProof="1">
              <a:latin typeface="Courier New"/>
              <a:cs typeface="Courier New"/>
            </a:endParaRPr>
          </a:p>
          <a:p>
            <a:pPr marL="215900">
              <a:lnSpc>
                <a:spcPct val="100000"/>
              </a:lnSpc>
              <a:spcBef>
                <a:spcPts val="75"/>
              </a:spcBef>
            </a:pPr>
            <a:r>
              <a:rPr lang="en-US" sz="800" i="1" spc="-60" noProof="1">
                <a:solidFill>
                  <a:srgbClr val="60A0AF"/>
                </a:solidFill>
                <a:latin typeface="Courier New"/>
                <a:cs typeface="Courier New"/>
              </a:rPr>
              <a:t>#</a:t>
            </a:r>
            <a:r>
              <a:rPr lang="en-US" sz="800" i="1" spc="-65" noProof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lang="en-US" sz="800" i="1" spc="-10" noProof="1">
                <a:solidFill>
                  <a:srgbClr val="60A0AF"/>
                </a:solidFill>
                <a:latin typeface="Courier New"/>
                <a:cs typeface="Courier New"/>
              </a:rPr>
              <a:t>Output</a:t>
            </a:r>
            <a:endParaRPr lang="en-US" sz="800" noProof="1">
              <a:latin typeface="Courier New"/>
              <a:cs typeface="Courier New"/>
            </a:endParaRPr>
          </a:p>
          <a:p>
            <a:pPr marL="215900">
              <a:lnSpc>
                <a:spcPct val="100000"/>
              </a:lnSpc>
              <a:spcBef>
                <a:spcPts val="70"/>
              </a:spcBef>
            </a:pPr>
            <a:r>
              <a:rPr lang="en-US" sz="800" noProof="1"/>
              <a:t>[ec2]$ </a:t>
            </a:r>
            <a:r>
              <a:rPr lang="en-US" sz="800" spc="-60" noProof="1">
                <a:latin typeface="Courier New"/>
                <a:cs typeface="Courier New"/>
              </a:rPr>
              <a:t>Python</a:t>
            </a:r>
            <a:r>
              <a:rPr lang="en-US" sz="800" spc="-15" noProof="1">
                <a:latin typeface="Courier New"/>
                <a:cs typeface="Courier New"/>
              </a:rPr>
              <a:t> </a:t>
            </a:r>
            <a:r>
              <a:rPr lang="en-US" sz="800" spc="-10" noProof="1">
                <a:latin typeface="Courier New"/>
                <a:cs typeface="Courier New"/>
              </a:rPr>
              <a:t>3.8.20</a:t>
            </a:r>
            <a:endParaRPr lang="en-US" sz="800" noProof="1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lang="en-US" sz="800" noProof="1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am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finished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working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project1: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lang="en-US" sz="900" noProof="1">
              <a:latin typeface="Arial"/>
              <a:cs typeface="Arial"/>
            </a:endParaRPr>
          </a:p>
          <a:p>
            <a:pPr marL="215900">
              <a:lnSpc>
                <a:spcPct val="100000"/>
              </a:lnSpc>
            </a:pPr>
            <a:r>
              <a:rPr lang="en-US" sz="800" noProof="1"/>
              <a:t>[ec2]$ </a:t>
            </a:r>
            <a:r>
              <a:rPr lang="en-US" sz="800" spc="-60" noProof="1">
                <a:latin typeface="Courier New"/>
                <a:cs typeface="Courier New"/>
              </a:rPr>
              <a:t>deactivate</a:t>
            </a:r>
          </a:p>
          <a:p>
            <a:pPr marL="215900">
              <a:lnSpc>
                <a:spcPct val="100000"/>
              </a:lnSpc>
            </a:pPr>
            <a:r>
              <a:rPr lang="en-US" sz="800" noProof="1"/>
              <a:t>[ec2]$ </a:t>
            </a:r>
            <a:r>
              <a:rPr lang="en-US" sz="800" spc="-50" noProof="1">
                <a:solidFill>
                  <a:srgbClr val="007F00"/>
                </a:solidFill>
                <a:latin typeface="Courier New"/>
                <a:cs typeface="Courier New"/>
              </a:rPr>
              <a:t>cd </a:t>
            </a:r>
            <a:r>
              <a:rPr lang="en-US" sz="800" spc="-25" noProof="1">
                <a:latin typeface="Courier New"/>
                <a:cs typeface="Courier New"/>
              </a:rPr>
              <a:t>..</a:t>
            </a:r>
            <a:endParaRPr lang="en-US" sz="800" noProof="1">
              <a:latin typeface="Courier New"/>
              <a:cs typeface="Courier New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8" name="object 1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9" name="object 1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20" name="object 20"/>
            <p:cNvSpPr/>
            <p:nvPr/>
          </p:nvSpPr>
          <p:spPr>
            <a:xfrm>
              <a:off x="0" y="3234963"/>
              <a:ext cx="4456430" cy="5080"/>
            </a:xfrm>
            <a:custGeom>
              <a:avLst/>
              <a:gdLst/>
              <a:ahLst/>
              <a:cxnLst/>
              <a:rect l="l" t="t" r="r" b="b"/>
              <a:pathLst>
                <a:path w="4456430" h="5080">
                  <a:moveTo>
                    <a:pt x="0" y="5060"/>
                  </a:moveTo>
                  <a:lnTo>
                    <a:pt x="0" y="0"/>
                  </a:lnTo>
                  <a:lnTo>
                    <a:pt x="4455935" y="0"/>
                  </a:lnTo>
                  <a:lnTo>
                    <a:pt x="445593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25" noProof="1"/>
              <a:t>Working</a:t>
            </a:r>
            <a:r>
              <a:rPr lang="en-US" spc="25" noProof="1"/>
              <a:t> </a:t>
            </a:r>
            <a:r>
              <a:rPr lang="en-US" noProof="1"/>
              <a:t>with</a:t>
            </a:r>
            <a:r>
              <a:rPr lang="en-US" spc="30" noProof="1"/>
              <a:t> </a:t>
            </a:r>
            <a:r>
              <a:rPr lang="en-US" noProof="1"/>
              <a:t>the</a:t>
            </a:r>
            <a:r>
              <a:rPr lang="en-US" spc="30" noProof="1"/>
              <a:t> </a:t>
            </a:r>
            <a:r>
              <a:rPr lang="en-US" spc="-40" noProof="1"/>
              <a:t>environments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2646" y="1019308"/>
            <a:ext cx="5015230" cy="443865"/>
            <a:chOff x="372646" y="1019308"/>
            <a:chExt cx="5015230" cy="443865"/>
          </a:xfrm>
        </p:grpSpPr>
        <p:sp>
          <p:nvSpPr>
            <p:cNvPr id="4" name="object 4"/>
            <p:cNvSpPr/>
            <p:nvPr/>
          </p:nvSpPr>
          <p:spPr>
            <a:xfrm>
              <a:off x="377994" y="1024655"/>
              <a:ext cx="5004435" cy="433070"/>
            </a:xfrm>
            <a:custGeom>
              <a:avLst/>
              <a:gdLst/>
              <a:ahLst/>
              <a:cxnLst/>
              <a:rect l="l" t="t" r="r" b="b"/>
              <a:pathLst>
                <a:path w="5004435" h="433069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396792"/>
                  </a:lnTo>
                  <a:lnTo>
                    <a:pt x="2829" y="410805"/>
                  </a:lnTo>
                  <a:lnTo>
                    <a:pt x="10544" y="422248"/>
                  </a:lnTo>
                  <a:lnTo>
                    <a:pt x="21987" y="429963"/>
                  </a:lnTo>
                  <a:lnTo>
                    <a:pt x="36000" y="432792"/>
                  </a:lnTo>
                  <a:lnTo>
                    <a:pt x="4968064" y="432792"/>
                  </a:lnTo>
                  <a:lnTo>
                    <a:pt x="4982077" y="429963"/>
                  </a:lnTo>
                  <a:lnTo>
                    <a:pt x="4993521" y="422248"/>
                  </a:lnTo>
                  <a:lnTo>
                    <a:pt x="5001236" y="410805"/>
                  </a:lnTo>
                  <a:lnTo>
                    <a:pt x="5004065" y="396792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378973" y="1025634"/>
              <a:ext cx="5002530" cy="431165"/>
            </a:xfrm>
            <a:custGeom>
              <a:avLst/>
              <a:gdLst/>
              <a:ahLst/>
              <a:cxnLst/>
              <a:rect l="l" t="t" r="r" b="b"/>
              <a:pathLst>
                <a:path w="5002530" h="431165">
                  <a:moveTo>
                    <a:pt x="0" y="395813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395813"/>
                  </a:lnTo>
                  <a:lnTo>
                    <a:pt x="4999354" y="409445"/>
                  </a:lnTo>
                  <a:lnTo>
                    <a:pt x="4991849" y="420576"/>
                  </a:lnTo>
                  <a:lnTo>
                    <a:pt x="4980717" y="428082"/>
                  </a:lnTo>
                  <a:lnTo>
                    <a:pt x="4967085" y="430834"/>
                  </a:lnTo>
                  <a:lnTo>
                    <a:pt x="35021" y="430834"/>
                  </a:lnTo>
                  <a:lnTo>
                    <a:pt x="21389" y="428082"/>
                  </a:lnTo>
                  <a:lnTo>
                    <a:pt x="10257" y="420576"/>
                  </a:lnTo>
                  <a:lnTo>
                    <a:pt x="2752" y="409445"/>
                  </a:lnTo>
                  <a:lnTo>
                    <a:pt x="0" y="395813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252423" y="1566087"/>
            <a:ext cx="384175" cy="146050"/>
            <a:chOff x="1252423" y="1566087"/>
            <a:chExt cx="384175" cy="146050"/>
          </a:xfrm>
        </p:grpSpPr>
        <p:sp>
          <p:nvSpPr>
            <p:cNvPr id="7" name="object 7"/>
            <p:cNvSpPr/>
            <p:nvPr/>
          </p:nvSpPr>
          <p:spPr>
            <a:xfrm>
              <a:off x="1252423" y="1566087"/>
              <a:ext cx="384175" cy="146050"/>
            </a:xfrm>
            <a:custGeom>
              <a:avLst/>
              <a:gdLst/>
              <a:ahLst/>
              <a:cxnLst/>
              <a:rect l="l" t="t" r="r" b="b"/>
              <a:pathLst>
                <a:path w="384175" h="146050">
                  <a:moveTo>
                    <a:pt x="348009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037"/>
                  </a:lnTo>
                  <a:lnTo>
                    <a:pt x="2829" y="124050"/>
                  </a:lnTo>
                  <a:lnTo>
                    <a:pt x="10544" y="135493"/>
                  </a:lnTo>
                  <a:lnTo>
                    <a:pt x="21987" y="143208"/>
                  </a:lnTo>
                  <a:lnTo>
                    <a:pt x="36000" y="146037"/>
                  </a:lnTo>
                  <a:lnTo>
                    <a:pt x="348009" y="146037"/>
                  </a:lnTo>
                  <a:lnTo>
                    <a:pt x="362022" y="143208"/>
                  </a:lnTo>
                  <a:lnTo>
                    <a:pt x="373465" y="135493"/>
                  </a:lnTo>
                  <a:lnTo>
                    <a:pt x="381180" y="124050"/>
                  </a:lnTo>
                  <a:lnTo>
                    <a:pt x="384009" y="110037"/>
                  </a:lnTo>
                  <a:lnTo>
                    <a:pt x="384009" y="36000"/>
                  </a:lnTo>
                  <a:lnTo>
                    <a:pt x="381180" y="21987"/>
                  </a:lnTo>
                  <a:lnTo>
                    <a:pt x="373465" y="10544"/>
                  </a:lnTo>
                  <a:lnTo>
                    <a:pt x="362022" y="2829"/>
                  </a:lnTo>
                  <a:lnTo>
                    <a:pt x="348009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1252423" y="1566087"/>
              <a:ext cx="384175" cy="146050"/>
            </a:xfrm>
            <a:custGeom>
              <a:avLst/>
              <a:gdLst/>
              <a:ahLst/>
              <a:cxnLst/>
              <a:rect l="l" t="t" r="r" b="b"/>
              <a:pathLst>
                <a:path w="384175" h="146050">
                  <a:moveTo>
                    <a:pt x="348009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037"/>
                  </a:lnTo>
                  <a:lnTo>
                    <a:pt x="2829" y="124050"/>
                  </a:lnTo>
                  <a:lnTo>
                    <a:pt x="10544" y="135493"/>
                  </a:lnTo>
                  <a:lnTo>
                    <a:pt x="21987" y="143208"/>
                  </a:lnTo>
                  <a:lnTo>
                    <a:pt x="36000" y="146037"/>
                  </a:lnTo>
                  <a:lnTo>
                    <a:pt x="348009" y="146037"/>
                  </a:lnTo>
                  <a:lnTo>
                    <a:pt x="362022" y="143208"/>
                  </a:lnTo>
                  <a:lnTo>
                    <a:pt x="373465" y="135493"/>
                  </a:lnTo>
                  <a:lnTo>
                    <a:pt x="381180" y="124050"/>
                  </a:lnTo>
                  <a:lnTo>
                    <a:pt x="384009" y="110037"/>
                  </a:lnTo>
                  <a:lnTo>
                    <a:pt x="384009" y="36000"/>
                  </a:lnTo>
                  <a:lnTo>
                    <a:pt x="381180" y="21987"/>
                  </a:lnTo>
                  <a:lnTo>
                    <a:pt x="373465" y="10544"/>
                  </a:lnTo>
                  <a:lnTo>
                    <a:pt x="362022" y="2829"/>
                  </a:lnTo>
                  <a:lnTo>
                    <a:pt x="348009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23283" y="1566541"/>
            <a:ext cx="204657" cy="145012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372646" y="2176685"/>
            <a:ext cx="5015230" cy="420370"/>
            <a:chOff x="372646" y="2176685"/>
            <a:chExt cx="5015230" cy="420370"/>
          </a:xfrm>
        </p:grpSpPr>
        <p:sp>
          <p:nvSpPr>
            <p:cNvPr id="11" name="object 11"/>
            <p:cNvSpPr/>
            <p:nvPr/>
          </p:nvSpPr>
          <p:spPr>
            <a:xfrm>
              <a:off x="377994" y="2182032"/>
              <a:ext cx="5004435" cy="409575"/>
            </a:xfrm>
            <a:custGeom>
              <a:avLst/>
              <a:gdLst/>
              <a:ahLst/>
              <a:cxnLst/>
              <a:rect l="l" t="t" r="r" b="b"/>
              <a:pathLst>
                <a:path w="5004435" h="409575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373309"/>
                  </a:lnTo>
                  <a:lnTo>
                    <a:pt x="2829" y="387322"/>
                  </a:lnTo>
                  <a:lnTo>
                    <a:pt x="10544" y="398765"/>
                  </a:lnTo>
                  <a:lnTo>
                    <a:pt x="21987" y="406480"/>
                  </a:lnTo>
                  <a:lnTo>
                    <a:pt x="36000" y="409309"/>
                  </a:lnTo>
                  <a:lnTo>
                    <a:pt x="4968064" y="409309"/>
                  </a:lnTo>
                  <a:lnTo>
                    <a:pt x="4982077" y="406480"/>
                  </a:lnTo>
                  <a:lnTo>
                    <a:pt x="4993521" y="398765"/>
                  </a:lnTo>
                  <a:lnTo>
                    <a:pt x="5001236" y="387322"/>
                  </a:lnTo>
                  <a:lnTo>
                    <a:pt x="5004065" y="373309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2" name="object 12"/>
            <p:cNvSpPr/>
            <p:nvPr/>
          </p:nvSpPr>
          <p:spPr>
            <a:xfrm>
              <a:off x="378973" y="2183011"/>
              <a:ext cx="5002530" cy="407670"/>
            </a:xfrm>
            <a:custGeom>
              <a:avLst/>
              <a:gdLst/>
              <a:ahLst/>
              <a:cxnLst/>
              <a:rect l="l" t="t" r="r" b="b"/>
              <a:pathLst>
                <a:path w="5002530" h="407669">
                  <a:moveTo>
                    <a:pt x="0" y="372329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372329"/>
                  </a:lnTo>
                  <a:lnTo>
                    <a:pt x="4999354" y="385961"/>
                  </a:lnTo>
                  <a:lnTo>
                    <a:pt x="4991849" y="397093"/>
                  </a:lnTo>
                  <a:lnTo>
                    <a:pt x="4980717" y="404598"/>
                  </a:lnTo>
                  <a:lnTo>
                    <a:pt x="4967085" y="407350"/>
                  </a:lnTo>
                  <a:lnTo>
                    <a:pt x="35021" y="407350"/>
                  </a:lnTo>
                  <a:lnTo>
                    <a:pt x="21389" y="404598"/>
                  </a:lnTo>
                  <a:lnTo>
                    <a:pt x="10257" y="397093"/>
                  </a:lnTo>
                  <a:lnTo>
                    <a:pt x="2752" y="385961"/>
                  </a:lnTo>
                  <a:lnTo>
                    <a:pt x="0" y="372329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41718" y="775329"/>
            <a:ext cx="4770120" cy="175278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want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work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project2: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lang="en-US" sz="900" noProof="1">
              <a:latin typeface="Arial"/>
              <a:cs typeface="Arial"/>
            </a:endParaRPr>
          </a:p>
          <a:p>
            <a:pPr marL="215900">
              <a:lnSpc>
                <a:spcPct val="100000"/>
              </a:lnSpc>
            </a:pPr>
            <a:r>
              <a:rPr lang="en-US" sz="800" noProof="1"/>
              <a:t>[ec2]$ </a:t>
            </a:r>
            <a:r>
              <a:rPr lang="en-US" sz="800" spc="-50" noProof="1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r>
              <a:rPr lang="en-US" sz="800" spc="-65" noProof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lang="en-US" sz="800" spc="-10" noProof="1">
                <a:latin typeface="Courier New"/>
                <a:cs typeface="Courier New"/>
              </a:rPr>
              <a:t>project2</a:t>
            </a:r>
            <a:endParaRPr lang="en-US" sz="800" noProof="1">
              <a:latin typeface="Courier New"/>
              <a:cs typeface="Courier New"/>
            </a:endParaRPr>
          </a:p>
          <a:p>
            <a:pPr marL="215900">
              <a:lnSpc>
                <a:spcPct val="100000"/>
              </a:lnSpc>
              <a:spcBef>
                <a:spcPts val="75"/>
              </a:spcBef>
            </a:pPr>
            <a:r>
              <a:rPr lang="en-US" sz="800" noProof="1"/>
              <a:t>[ec2]$ </a:t>
            </a:r>
            <a:r>
              <a:rPr lang="en-US" sz="800" spc="-60" noProof="1">
                <a:solidFill>
                  <a:srgbClr val="007F00"/>
                </a:solidFill>
                <a:latin typeface="Courier New"/>
                <a:cs typeface="Courier New"/>
              </a:rPr>
              <a:t>source</a:t>
            </a:r>
            <a:r>
              <a:rPr lang="en-US" sz="800" spc="60" noProof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.project2-</a:t>
            </a:r>
            <a:r>
              <a:rPr lang="en-US" sz="800" spc="-10" noProof="1">
                <a:latin typeface="Courier New"/>
                <a:cs typeface="Courier New"/>
              </a:rPr>
              <a:t>venv/bin/activate</a:t>
            </a:r>
            <a:endParaRPr lang="en-US" sz="800" noProof="1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lang="en-US" sz="800" noProof="1">
              <a:latin typeface="Courier New"/>
              <a:cs typeface="Courier New"/>
            </a:endParaRPr>
          </a:p>
          <a:p>
            <a:pPr marL="17780" marR="5080">
              <a:lnSpc>
                <a:spcPct val="116199"/>
              </a:lnSpc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run</a:t>
            </a:r>
            <a:r>
              <a:rPr lang="en-US" sz="900" spc="114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latin typeface="Courier New"/>
                <a:cs typeface="Courier New"/>
              </a:rPr>
              <a:t>python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3.10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version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lang="en-US" sz="900" spc="114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latin typeface="Courier New"/>
                <a:cs typeface="Courier New"/>
              </a:rPr>
              <a:t>pip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install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packages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project2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environment.</a:t>
            </a:r>
            <a:endParaRPr lang="en-US" sz="900" noProof="1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am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finished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working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project2: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lang="en-US" sz="900" noProof="1">
              <a:latin typeface="Arial"/>
              <a:cs typeface="Arial"/>
            </a:endParaRPr>
          </a:p>
          <a:p>
            <a:pPr marL="215900">
              <a:lnSpc>
                <a:spcPct val="100000"/>
              </a:lnSpc>
            </a:pPr>
            <a:r>
              <a:rPr lang="en-US" sz="800" noProof="1"/>
              <a:t>[ec2]$ </a:t>
            </a:r>
            <a:r>
              <a:rPr lang="en-US" sz="800" spc="-60" noProof="1">
                <a:latin typeface="Courier New"/>
                <a:cs typeface="Courier New"/>
              </a:rPr>
              <a:t>deactivate</a:t>
            </a:r>
            <a:endParaRPr lang="en-US" sz="800" noProof="1">
              <a:latin typeface="Courier New"/>
              <a:cs typeface="Courier New"/>
            </a:endParaRPr>
          </a:p>
          <a:p>
            <a:pPr marL="215900">
              <a:lnSpc>
                <a:spcPct val="100000"/>
              </a:lnSpc>
            </a:pPr>
            <a:r>
              <a:rPr lang="en-US" sz="800" noProof="1"/>
              <a:t>[ec2]$ </a:t>
            </a:r>
            <a:r>
              <a:rPr lang="en-US" sz="800" spc="-50" noProof="1">
                <a:solidFill>
                  <a:srgbClr val="007F00"/>
                </a:solidFill>
                <a:latin typeface="Courier New"/>
                <a:cs typeface="Courier New"/>
              </a:rPr>
              <a:t>cd </a:t>
            </a:r>
            <a:r>
              <a:rPr lang="en-US" sz="800" spc="-50" noProof="1">
                <a:solidFill>
                  <a:schemeClr val="tx1"/>
                </a:solidFill>
                <a:latin typeface="Courier New"/>
                <a:cs typeface="Courier New"/>
              </a:rPr>
              <a:t>..</a:t>
            </a:r>
            <a:endParaRPr lang="en-US" sz="800" noProof="1">
              <a:solidFill>
                <a:schemeClr val="tx1"/>
              </a:solidFill>
              <a:latin typeface="Courier New"/>
              <a:cs typeface="Courier New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5" name="object 1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6" name="object 1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3234963"/>
              <a:ext cx="4565015" cy="5080"/>
            </a:xfrm>
            <a:custGeom>
              <a:avLst/>
              <a:gdLst/>
              <a:ahLst/>
              <a:cxnLst/>
              <a:rect l="l" t="t" r="r" b="b"/>
              <a:pathLst>
                <a:path w="4565015" h="5080">
                  <a:moveTo>
                    <a:pt x="0" y="5060"/>
                  </a:moveTo>
                  <a:lnTo>
                    <a:pt x="0" y="0"/>
                  </a:lnTo>
                  <a:lnTo>
                    <a:pt x="4564570" y="0"/>
                  </a:lnTo>
                  <a:lnTo>
                    <a:pt x="456457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40" noProof="1"/>
              <a:t>Running</a:t>
            </a:r>
            <a:r>
              <a:rPr lang="en-US" spc="10" noProof="1"/>
              <a:t> </a:t>
            </a:r>
            <a:r>
              <a:rPr lang="en-US" spc="-20" noProof="1"/>
              <a:t>Jupyter</a:t>
            </a:r>
            <a:r>
              <a:rPr lang="en-US" spc="15" noProof="1"/>
              <a:t> </a:t>
            </a:r>
            <a:r>
              <a:rPr lang="en-US" spc="-10" noProof="1"/>
              <a:t>Notebook</a:t>
            </a:r>
            <a:r>
              <a:rPr lang="en-US" spc="15" noProof="1"/>
              <a:t> </a:t>
            </a:r>
            <a:r>
              <a:rPr lang="en-US" spc="50" noProof="1"/>
              <a:t>(I)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2646" y="1586261"/>
            <a:ext cx="5015230" cy="443865"/>
            <a:chOff x="372646" y="1586261"/>
            <a:chExt cx="5015230" cy="443865"/>
          </a:xfrm>
        </p:grpSpPr>
        <p:sp>
          <p:nvSpPr>
            <p:cNvPr id="4" name="object 4"/>
            <p:cNvSpPr/>
            <p:nvPr/>
          </p:nvSpPr>
          <p:spPr>
            <a:xfrm>
              <a:off x="377994" y="1591608"/>
              <a:ext cx="5004435" cy="433070"/>
            </a:xfrm>
            <a:custGeom>
              <a:avLst/>
              <a:gdLst/>
              <a:ahLst/>
              <a:cxnLst/>
              <a:rect l="l" t="t" r="r" b="b"/>
              <a:pathLst>
                <a:path w="5004435" h="433069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396792"/>
                  </a:lnTo>
                  <a:lnTo>
                    <a:pt x="2829" y="410805"/>
                  </a:lnTo>
                  <a:lnTo>
                    <a:pt x="10544" y="422248"/>
                  </a:lnTo>
                  <a:lnTo>
                    <a:pt x="21987" y="429963"/>
                  </a:lnTo>
                  <a:lnTo>
                    <a:pt x="36000" y="432792"/>
                  </a:lnTo>
                  <a:lnTo>
                    <a:pt x="4968064" y="432792"/>
                  </a:lnTo>
                  <a:lnTo>
                    <a:pt x="4982077" y="429963"/>
                  </a:lnTo>
                  <a:lnTo>
                    <a:pt x="4993521" y="422248"/>
                  </a:lnTo>
                  <a:lnTo>
                    <a:pt x="5001236" y="410805"/>
                  </a:lnTo>
                  <a:lnTo>
                    <a:pt x="5004065" y="396792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378973" y="1592587"/>
              <a:ext cx="5002530" cy="431165"/>
            </a:xfrm>
            <a:custGeom>
              <a:avLst/>
              <a:gdLst/>
              <a:ahLst/>
              <a:cxnLst/>
              <a:rect l="l" t="t" r="r" b="b"/>
              <a:pathLst>
                <a:path w="5002530" h="431164">
                  <a:moveTo>
                    <a:pt x="0" y="395813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395813"/>
                  </a:lnTo>
                  <a:lnTo>
                    <a:pt x="4999354" y="409445"/>
                  </a:lnTo>
                  <a:lnTo>
                    <a:pt x="4991849" y="420576"/>
                  </a:lnTo>
                  <a:lnTo>
                    <a:pt x="4980717" y="428082"/>
                  </a:lnTo>
                  <a:lnTo>
                    <a:pt x="4967085" y="430834"/>
                  </a:lnTo>
                  <a:lnTo>
                    <a:pt x="35021" y="430834"/>
                  </a:lnTo>
                  <a:lnTo>
                    <a:pt x="21389" y="428082"/>
                  </a:lnTo>
                  <a:lnTo>
                    <a:pt x="10257" y="420576"/>
                  </a:lnTo>
                  <a:lnTo>
                    <a:pt x="2752" y="409445"/>
                  </a:lnTo>
                  <a:lnTo>
                    <a:pt x="0" y="395813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1718" y="1342270"/>
            <a:ext cx="3759835" cy="584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first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environments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activated.</a:t>
            </a:r>
            <a:r>
              <a:rPr lang="en-US" sz="900" spc="10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example,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project1.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lang="en-US" sz="900" noProof="1">
              <a:latin typeface="Arial"/>
              <a:cs typeface="Arial"/>
            </a:endParaRPr>
          </a:p>
          <a:p>
            <a:pPr marL="215900">
              <a:lnSpc>
                <a:spcPct val="100000"/>
              </a:lnSpc>
            </a:pPr>
            <a:r>
              <a:rPr lang="en-US" sz="800" noProof="1"/>
              <a:t>[ec2]$ </a:t>
            </a:r>
            <a:r>
              <a:rPr lang="en-US" sz="800" spc="-50" noProof="1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r>
              <a:rPr lang="en-US" sz="800" spc="-65" noProof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lang="en-US" sz="800" spc="-10" noProof="1">
                <a:latin typeface="Courier New"/>
                <a:cs typeface="Courier New"/>
              </a:rPr>
              <a:t>project1</a:t>
            </a:r>
            <a:endParaRPr lang="en-US" sz="800" noProof="1">
              <a:latin typeface="Courier New"/>
              <a:cs typeface="Courier New"/>
            </a:endParaRPr>
          </a:p>
          <a:p>
            <a:pPr marL="215900">
              <a:lnSpc>
                <a:spcPct val="100000"/>
              </a:lnSpc>
              <a:spcBef>
                <a:spcPts val="75"/>
              </a:spcBef>
            </a:pPr>
            <a:r>
              <a:rPr lang="en-US" sz="800" noProof="1"/>
              <a:t>[ec2]$ </a:t>
            </a:r>
            <a:r>
              <a:rPr lang="en-US" sz="800" spc="-60" noProof="1">
                <a:solidFill>
                  <a:srgbClr val="007F00"/>
                </a:solidFill>
                <a:latin typeface="Courier New"/>
                <a:cs typeface="Courier New"/>
              </a:rPr>
              <a:t>source</a:t>
            </a:r>
            <a:r>
              <a:rPr lang="en-US" sz="800" spc="60" noProof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.project1-</a:t>
            </a:r>
            <a:r>
              <a:rPr lang="en-US" sz="800" spc="-10" noProof="1">
                <a:latin typeface="Courier New"/>
                <a:cs typeface="Courier New"/>
              </a:rPr>
              <a:t>venv/bin/activate</a:t>
            </a:r>
            <a:endParaRPr lang="en-US" sz="800" noProof="1">
              <a:latin typeface="Courier New"/>
              <a:cs typeface="Courier New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4673600" cy="5080"/>
            </a:xfrm>
            <a:custGeom>
              <a:avLst/>
              <a:gdLst/>
              <a:ahLst/>
              <a:cxnLst/>
              <a:rect l="l" t="t" r="r" b="b"/>
              <a:pathLst>
                <a:path w="4673600" h="5080">
                  <a:moveTo>
                    <a:pt x="0" y="5060"/>
                  </a:moveTo>
                  <a:lnTo>
                    <a:pt x="0" y="0"/>
                  </a:lnTo>
                  <a:lnTo>
                    <a:pt x="4673292" y="0"/>
                  </a:lnTo>
                  <a:lnTo>
                    <a:pt x="467329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40" noProof="1"/>
              <a:t>Running</a:t>
            </a:r>
            <a:r>
              <a:rPr lang="en-US" spc="10" noProof="1"/>
              <a:t> </a:t>
            </a:r>
            <a:r>
              <a:rPr lang="en-US" spc="-20" noProof="1"/>
              <a:t>Jupyter</a:t>
            </a:r>
            <a:r>
              <a:rPr lang="en-US" spc="15" noProof="1"/>
              <a:t> </a:t>
            </a:r>
            <a:r>
              <a:rPr lang="en-US" spc="-10" noProof="1"/>
              <a:t>Notebook</a:t>
            </a:r>
            <a:r>
              <a:rPr lang="en-US" spc="15" noProof="1"/>
              <a:t> </a:t>
            </a:r>
            <a:r>
              <a:rPr lang="en-US" spc="50" noProof="1"/>
              <a:t>(I)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2646" y="1006088"/>
            <a:ext cx="5015230" cy="311785"/>
            <a:chOff x="372646" y="1006088"/>
            <a:chExt cx="5015230" cy="311785"/>
          </a:xfrm>
        </p:grpSpPr>
        <p:sp>
          <p:nvSpPr>
            <p:cNvPr id="4" name="object 4"/>
            <p:cNvSpPr/>
            <p:nvPr/>
          </p:nvSpPr>
          <p:spPr>
            <a:xfrm>
              <a:off x="377994" y="1011435"/>
              <a:ext cx="5004435" cy="300990"/>
            </a:xfrm>
            <a:custGeom>
              <a:avLst/>
              <a:gdLst/>
              <a:ahLst/>
              <a:cxnLst/>
              <a:rect l="l" t="t" r="r" b="b"/>
              <a:pathLst>
                <a:path w="5004435" h="300990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64825"/>
                  </a:lnTo>
                  <a:lnTo>
                    <a:pt x="2829" y="278838"/>
                  </a:lnTo>
                  <a:lnTo>
                    <a:pt x="10544" y="290281"/>
                  </a:lnTo>
                  <a:lnTo>
                    <a:pt x="21987" y="297996"/>
                  </a:lnTo>
                  <a:lnTo>
                    <a:pt x="36000" y="300825"/>
                  </a:lnTo>
                  <a:lnTo>
                    <a:pt x="4968064" y="300825"/>
                  </a:lnTo>
                  <a:lnTo>
                    <a:pt x="4982077" y="297996"/>
                  </a:lnTo>
                  <a:lnTo>
                    <a:pt x="4993521" y="290281"/>
                  </a:lnTo>
                  <a:lnTo>
                    <a:pt x="5001236" y="278838"/>
                  </a:lnTo>
                  <a:lnTo>
                    <a:pt x="5004065" y="264825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378973" y="1012414"/>
              <a:ext cx="5002530" cy="299085"/>
            </a:xfrm>
            <a:custGeom>
              <a:avLst/>
              <a:gdLst/>
              <a:ahLst/>
              <a:cxnLst/>
              <a:rect l="l" t="t" r="r" b="b"/>
              <a:pathLst>
                <a:path w="5002530" h="299084">
                  <a:moveTo>
                    <a:pt x="0" y="263846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63846"/>
                  </a:lnTo>
                  <a:lnTo>
                    <a:pt x="4999354" y="277478"/>
                  </a:lnTo>
                  <a:lnTo>
                    <a:pt x="4991849" y="288610"/>
                  </a:lnTo>
                  <a:lnTo>
                    <a:pt x="4980717" y="296115"/>
                  </a:lnTo>
                  <a:lnTo>
                    <a:pt x="4967085" y="298867"/>
                  </a:lnTo>
                  <a:lnTo>
                    <a:pt x="35021" y="298867"/>
                  </a:lnTo>
                  <a:lnTo>
                    <a:pt x="21389" y="296115"/>
                  </a:lnTo>
                  <a:lnTo>
                    <a:pt x="10257" y="288610"/>
                  </a:lnTo>
                  <a:lnTo>
                    <a:pt x="2752" y="277478"/>
                  </a:lnTo>
                  <a:lnTo>
                    <a:pt x="0" y="263846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72646" y="1633191"/>
            <a:ext cx="5015230" cy="312420"/>
            <a:chOff x="372646" y="1633191"/>
            <a:chExt cx="5015230" cy="312420"/>
          </a:xfrm>
        </p:grpSpPr>
        <p:sp>
          <p:nvSpPr>
            <p:cNvPr id="7" name="object 7"/>
            <p:cNvSpPr/>
            <p:nvPr/>
          </p:nvSpPr>
          <p:spPr>
            <a:xfrm>
              <a:off x="377994" y="1638538"/>
              <a:ext cx="5004435" cy="301625"/>
            </a:xfrm>
            <a:custGeom>
              <a:avLst/>
              <a:gdLst/>
              <a:ahLst/>
              <a:cxnLst/>
              <a:rect l="l" t="t" r="r" b="b"/>
              <a:pathLst>
                <a:path w="5004435" h="301625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65331"/>
                  </a:lnTo>
                  <a:lnTo>
                    <a:pt x="2829" y="279344"/>
                  </a:lnTo>
                  <a:lnTo>
                    <a:pt x="10544" y="290787"/>
                  </a:lnTo>
                  <a:lnTo>
                    <a:pt x="21987" y="298502"/>
                  </a:lnTo>
                  <a:lnTo>
                    <a:pt x="36000" y="301331"/>
                  </a:lnTo>
                  <a:lnTo>
                    <a:pt x="4968064" y="301331"/>
                  </a:lnTo>
                  <a:lnTo>
                    <a:pt x="4982077" y="298502"/>
                  </a:lnTo>
                  <a:lnTo>
                    <a:pt x="4993521" y="290787"/>
                  </a:lnTo>
                  <a:lnTo>
                    <a:pt x="5001236" y="279344"/>
                  </a:lnTo>
                  <a:lnTo>
                    <a:pt x="5004065" y="265331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378973" y="1639517"/>
              <a:ext cx="5002530" cy="299720"/>
            </a:xfrm>
            <a:custGeom>
              <a:avLst/>
              <a:gdLst/>
              <a:ahLst/>
              <a:cxnLst/>
              <a:rect l="l" t="t" r="r" b="b"/>
              <a:pathLst>
                <a:path w="5002530" h="299719">
                  <a:moveTo>
                    <a:pt x="0" y="264352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64352"/>
                  </a:lnTo>
                  <a:lnTo>
                    <a:pt x="4999354" y="277984"/>
                  </a:lnTo>
                  <a:lnTo>
                    <a:pt x="4991849" y="289115"/>
                  </a:lnTo>
                  <a:lnTo>
                    <a:pt x="4980717" y="296621"/>
                  </a:lnTo>
                  <a:lnTo>
                    <a:pt x="4967085" y="299373"/>
                  </a:lnTo>
                  <a:lnTo>
                    <a:pt x="35021" y="299373"/>
                  </a:lnTo>
                  <a:lnTo>
                    <a:pt x="21389" y="296621"/>
                  </a:lnTo>
                  <a:lnTo>
                    <a:pt x="10257" y="289115"/>
                  </a:lnTo>
                  <a:lnTo>
                    <a:pt x="2752" y="277984"/>
                  </a:lnTo>
                  <a:lnTo>
                    <a:pt x="0" y="264352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41718" y="523107"/>
            <a:ext cx="5013325" cy="237847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run the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Jupyter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server.</a:t>
            </a:r>
            <a:r>
              <a:rPr lang="en-US" sz="900" spc="8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There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two </a:t>
            </a:r>
            <a:r>
              <a:rPr lang="en-US" sz="900" spc="-60" noProof="1">
                <a:solidFill>
                  <a:srgbClr val="22373A"/>
                </a:solidFill>
                <a:latin typeface="Arial"/>
                <a:cs typeface="Arial"/>
              </a:rPr>
              <a:t>ways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run 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server:</a:t>
            </a:r>
            <a:endParaRPr lang="en-US" sz="900" noProof="1">
              <a:latin typeface="Arial"/>
              <a:cs typeface="Arial"/>
            </a:endParaRPr>
          </a:p>
          <a:p>
            <a:pPr marL="245110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45110" algn="l"/>
              </a:tabLst>
            </a:pP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Running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localhost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(default):</a:t>
            </a:r>
            <a:r>
              <a:rPr lang="en-US" sz="900" spc="1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accessible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internet.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0"/>
              </a:spcBef>
              <a:buClr>
                <a:srgbClr val="22373A"/>
              </a:buClr>
              <a:buFont typeface="Arial"/>
              <a:buChar char="•"/>
            </a:pPr>
            <a:endParaRPr lang="en-US" sz="900" noProof="1">
              <a:latin typeface="Arial"/>
              <a:cs typeface="Arial"/>
            </a:endParaRPr>
          </a:p>
          <a:p>
            <a:pPr marL="215900">
              <a:lnSpc>
                <a:spcPct val="100000"/>
              </a:lnSpc>
            </a:pPr>
            <a:r>
              <a:rPr lang="en-US" sz="800" noProof="1"/>
              <a:t>[ec2]$ </a:t>
            </a:r>
            <a:r>
              <a:rPr lang="en-US" sz="800" spc="-60" noProof="1">
                <a:latin typeface="Courier New"/>
                <a:cs typeface="Courier New"/>
              </a:rPr>
              <a:t>jupyter</a:t>
            </a:r>
            <a:r>
              <a:rPr lang="en-US" sz="800" spc="-10" noProof="1">
                <a:latin typeface="Courier New"/>
                <a:cs typeface="Courier New"/>
              </a:rPr>
              <a:t> notebook</a:t>
            </a:r>
            <a:endParaRPr lang="en-US" sz="800" noProof="1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lang="en-US" sz="800" noProof="1">
              <a:latin typeface="Courier New"/>
              <a:cs typeface="Courier New"/>
            </a:endParaRPr>
          </a:p>
          <a:p>
            <a:pPr marL="245110" indent="-147320">
              <a:lnSpc>
                <a:spcPct val="100000"/>
              </a:lnSpc>
              <a:buChar char="•"/>
              <a:tabLst>
                <a:tab pos="245110" algn="l"/>
              </a:tabLst>
            </a:pP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Running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IP: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Accessible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internet.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0"/>
              </a:spcBef>
              <a:buClr>
                <a:srgbClr val="22373A"/>
              </a:buClr>
              <a:buFont typeface="Arial"/>
              <a:buChar char="•"/>
            </a:pPr>
            <a:endParaRPr lang="en-US" sz="900" noProof="1">
              <a:latin typeface="Arial"/>
              <a:cs typeface="Arial"/>
            </a:endParaRPr>
          </a:p>
          <a:p>
            <a:pPr marL="215900">
              <a:lnSpc>
                <a:spcPct val="100000"/>
              </a:lnSpc>
            </a:pPr>
            <a:r>
              <a:rPr lang="en-US" sz="800" noProof="1"/>
              <a:t>[ec2]$ </a:t>
            </a:r>
            <a:r>
              <a:rPr lang="en-US" sz="800" spc="-60" noProof="1">
                <a:latin typeface="Courier New"/>
                <a:cs typeface="Courier New"/>
              </a:rPr>
              <a:t>jupyter</a:t>
            </a:r>
            <a:r>
              <a:rPr lang="en-US" sz="800" spc="-10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notebook</a:t>
            </a:r>
            <a:r>
              <a:rPr lang="en-US" sz="800" spc="-5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solidFill>
                  <a:srgbClr val="7C8E28"/>
                </a:solidFill>
                <a:latin typeface="Courier New"/>
                <a:cs typeface="Courier New"/>
              </a:rPr>
              <a:t>--</a:t>
            </a:r>
            <a:r>
              <a:rPr lang="en-US" sz="800" spc="-55" noProof="1">
                <a:solidFill>
                  <a:srgbClr val="7C8E28"/>
                </a:solidFill>
                <a:latin typeface="Courier New"/>
                <a:cs typeface="Courier New"/>
              </a:rPr>
              <a:t>ip</a:t>
            </a:r>
            <a:r>
              <a:rPr lang="en-US" sz="800" spc="-55" noProof="1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lang="en-US" sz="800" spc="-55" noProof="1">
                <a:solidFill>
                  <a:srgbClr val="BC7A00"/>
                </a:solidFill>
                <a:latin typeface="Courier New"/>
                <a:cs typeface="Courier New"/>
              </a:rPr>
              <a:t>?</a:t>
            </a:r>
            <a:r>
              <a:rPr lang="en-US" sz="800" spc="-10" noProof="1">
                <a:solidFill>
                  <a:srgbClr val="BC7A00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solidFill>
                  <a:srgbClr val="7C8E28"/>
                </a:solidFill>
                <a:latin typeface="Courier New"/>
                <a:cs typeface="Courier New"/>
              </a:rPr>
              <a:t>--</a:t>
            </a:r>
            <a:r>
              <a:rPr lang="en-US" sz="800" spc="-10" noProof="1">
                <a:solidFill>
                  <a:srgbClr val="7C8E28"/>
                </a:solidFill>
                <a:latin typeface="Courier New"/>
                <a:cs typeface="Courier New"/>
              </a:rPr>
              <a:t>port</a:t>
            </a:r>
            <a:r>
              <a:rPr lang="en-US" sz="800" spc="-10" noProof="1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lang="en-US" sz="800" spc="-10" noProof="1">
                <a:solidFill>
                  <a:srgbClr val="BC7A00"/>
                </a:solidFill>
                <a:latin typeface="Courier New"/>
                <a:cs typeface="Courier New"/>
              </a:rPr>
              <a:t>?</a:t>
            </a:r>
            <a:endParaRPr lang="en-US" sz="800" noProof="1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lang="en-US" sz="800" noProof="1">
              <a:latin typeface="Courier New"/>
              <a:cs typeface="Courier New"/>
            </a:endParaRPr>
          </a:p>
          <a:p>
            <a:pPr marL="245110" indent="-147320">
              <a:lnSpc>
                <a:spcPct val="100000"/>
              </a:lnSpc>
              <a:buFont typeface="Arial"/>
              <a:buChar char="•"/>
              <a:tabLst>
                <a:tab pos="245110" algn="l"/>
              </a:tabLst>
            </a:pP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endParaRPr lang="en-US" sz="900" noProof="1">
              <a:latin typeface="Arial"/>
              <a:cs typeface="Arial"/>
            </a:endParaRPr>
          </a:p>
          <a:p>
            <a:pPr marL="473075" lvl="1" indent="-140335">
              <a:lnSpc>
                <a:spcPct val="100000"/>
              </a:lnSpc>
              <a:spcBef>
                <a:spcPts val="50"/>
              </a:spcBef>
              <a:buChar char="•"/>
              <a:tabLst>
                <a:tab pos="473075" algn="l"/>
              </a:tabLst>
            </a:pP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0.0.0.0</a:t>
            </a:r>
            <a:r>
              <a:rPr lang="en-US" sz="8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(default):</a:t>
            </a:r>
            <a:r>
              <a:rPr lang="en-US" sz="800" spc="1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Listen</a:t>
            </a:r>
            <a:r>
              <a:rPr lang="en-US" sz="8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8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all</a:t>
            </a:r>
            <a:r>
              <a:rPr lang="en-US" sz="8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8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addresses.</a:t>
            </a:r>
            <a:endParaRPr lang="en-US" sz="800" noProof="1">
              <a:latin typeface="Arial"/>
              <a:cs typeface="Arial"/>
            </a:endParaRPr>
          </a:p>
          <a:p>
            <a:pPr marL="473075" lvl="1" indent="-140335">
              <a:lnSpc>
                <a:spcPct val="100000"/>
              </a:lnSpc>
              <a:spcBef>
                <a:spcPts val="70"/>
              </a:spcBef>
              <a:buChar char="•"/>
              <a:tabLst>
                <a:tab pos="473075" algn="l"/>
              </a:tabLst>
            </a:pP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8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IP:</a:t>
            </a:r>
            <a:r>
              <a:rPr lang="en-US" sz="8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Obtain</a:t>
            </a:r>
            <a:r>
              <a:rPr lang="en-US" sz="8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8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8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8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8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8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lang="en-US" sz="8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8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30" noProof="1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lang="en-US" sz="8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25" noProof="1">
                <a:solidFill>
                  <a:srgbClr val="22373A"/>
                </a:solidFill>
                <a:latin typeface="Arial"/>
                <a:cs typeface="Arial"/>
              </a:rPr>
              <a:t>it.</a:t>
            </a:r>
            <a:endParaRPr lang="en-US" sz="800" noProof="1">
              <a:latin typeface="Arial"/>
              <a:cs typeface="Arial"/>
            </a:endParaRPr>
          </a:p>
          <a:p>
            <a:pPr marL="245110" indent="-147320">
              <a:lnSpc>
                <a:spcPct val="100000"/>
              </a:lnSpc>
              <a:spcBef>
                <a:spcPts val="195"/>
              </a:spcBef>
              <a:buFont typeface="Arial"/>
              <a:buChar char="•"/>
              <a:tabLst>
                <a:tab pos="245110" algn="l"/>
              </a:tabLst>
            </a:pP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port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endParaRPr lang="en-US" sz="900" noProof="1">
              <a:latin typeface="Arial"/>
              <a:cs typeface="Arial"/>
            </a:endParaRPr>
          </a:p>
          <a:p>
            <a:pPr marL="473709" marR="5080" lvl="1" indent="-140970">
              <a:lnSpc>
                <a:spcPts val="1030"/>
              </a:lnSpc>
              <a:spcBef>
                <a:spcPts val="30"/>
              </a:spcBef>
              <a:buChar char="•"/>
              <a:tabLst>
                <a:tab pos="473709" algn="l"/>
              </a:tabLst>
            </a:pP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8888</a:t>
            </a:r>
            <a:r>
              <a:rPr lang="en-US" sz="8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(default):</a:t>
            </a:r>
            <a:r>
              <a:rPr lang="en-US" sz="800" spc="1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8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default</a:t>
            </a:r>
            <a:r>
              <a:rPr lang="en-US" sz="8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port</a:t>
            </a:r>
            <a:r>
              <a:rPr lang="en-US" sz="8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8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8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Jupyter</a:t>
            </a:r>
            <a:r>
              <a:rPr lang="en-US" sz="8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Notebook.</a:t>
            </a:r>
            <a:r>
              <a:rPr lang="en-US" sz="800" spc="1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lang="en-US" sz="800" b="1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port</a:t>
            </a:r>
            <a:r>
              <a:rPr lang="en-US" sz="800" b="1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spc="-25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800" b="1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lang="en-US" sz="800" b="1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spc="-30" noProof="1">
                <a:solidFill>
                  <a:srgbClr val="22373A"/>
                </a:solidFill>
                <a:latin typeface="Arial"/>
                <a:cs typeface="Arial"/>
              </a:rPr>
              <a:t>opened</a:t>
            </a:r>
            <a:r>
              <a:rPr lang="en-US" sz="800" b="1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spc="-20" noProof="1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lang="en-US" sz="800" b="1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800" b="1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spc="-30" noProof="1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lang="en-US" sz="800" b="1" spc="-10" noProof="1">
                <a:solidFill>
                  <a:srgbClr val="22373A"/>
                </a:solidFill>
                <a:latin typeface="Arial"/>
                <a:cs typeface="Arial"/>
              </a:rPr>
              <a:t> group.</a:t>
            </a:r>
            <a:endParaRPr lang="en-US" sz="800" noProof="1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1" name="object 11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63"/>
              <a:ext cx="4782185" cy="5080"/>
            </a:xfrm>
            <a:custGeom>
              <a:avLst/>
              <a:gdLst/>
              <a:ahLst/>
              <a:cxnLst/>
              <a:rect l="l" t="t" r="r" b="b"/>
              <a:pathLst>
                <a:path w="4782185" h="5080">
                  <a:moveTo>
                    <a:pt x="0" y="5060"/>
                  </a:moveTo>
                  <a:lnTo>
                    <a:pt x="0" y="0"/>
                  </a:lnTo>
                  <a:lnTo>
                    <a:pt x="4781926" y="0"/>
                  </a:lnTo>
                  <a:lnTo>
                    <a:pt x="478192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25" noProof="1"/>
              <a:t>Opening</a:t>
            </a:r>
            <a:r>
              <a:rPr lang="en-US" spc="20" noProof="1"/>
              <a:t> </a:t>
            </a:r>
            <a:r>
              <a:rPr lang="en-US" noProof="1"/>
              <a:t>the</a:t>
            </a:r>
            <a:r>
              <a:rPr lang="en-US" spc="25" noProof="1"/>
              <a:t> </a:t>
            </a:r>
            <a:r>
              <a:rPr lang="en-US" noProof="1"/>
              <a:t>port</a:t>
            </a:r>
            <a:r>
              <a:rPr lang="en-US" spc="20" noProof="1"/>
              <a:t> </a:t>
            </a:r>
            <a:r>
              <a:rPr lang="en-US" spc="-20" noProof="1"/>
              <a:t>8888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012" y="395634"/>
            <a:ext cx="3601720" cy="105600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275"/>
              </a:spcBef>
              <a:buAutoNum type="arabicPeriod"/>
              <a:tabLst>
                <a:tab pos="160020" algn="l"/>
              </a:tabLst>
            </a:pP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Search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Groups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(EC2).</a:t>
            </a:r>
            <a:r>
              <a:rPr lang="en-US" sz="900" spc="114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40" noProof="1">
                <a:solidFill>
                  <a:srgbClr val="22373A"/>
                </a:solidFill>
                <a:latin typeface="Arial"/>
                <a:cs typeface="Arial"/>
              </a:rPr>
              <a:t>launch-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wizard-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1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16002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Edit 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inbound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rules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add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new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rule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settings:</a:t>
            </a:r>
            <a:endParaRPr lang="en-US" sz="900" noProof="1">
              <a:latin typeface="Arial"/>
              <a:cs typeface="Arial"/>
            </a:endParaRPr>
          </a:p>
          <a:p>
            <a:pPr marL="384810" lvl="1" indent="-137160">
              <a:lnSpc>
                <a:spcPct val="100000"/>
              </a:lnSpc>
              <a:spcBef>
                <a:spcPts val="50"/>
              </a:spcBef>
              <a:buChar char="•"/>
              <a:tabLst>
                <a:tab pos="384810" algn="l"/>
              </a:tabLst>
            </a:pP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Type:</a:t>
            </a:r>
            <a:r>
              <a:rPr lang="en-US" sz="800" spc="7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Custom</a:t>
            </a:r>
            <a:r>
              <a:rPr lang="en-US" sz="8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25" noProof="1">
                <a:solidFill>
                  <a:srgbClr val="22373A"/>
                </a:solidFill>
                <a:latin typeface="Arial"/>
                <a:cs typeface="Arial"/>
              </a:rPr>
              <a:t>TCP</a:t>
            </a:r>
            <a:endParaRPr lang="en-US" sz="800" noProof="1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Char char="•"/>
              <a:tabLst>
                <a:tab pos="387985" algn="l"/>
              </a:tabLst>
            </a:pP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Port</a:t>
            </a:r>
            <a:r>
              <a:rPr lang="en-US" sz="8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Range:</a:t>
            </a:r>
            <a:r>
              <a:rPr lang="en-US" sz="800" spc="1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20" noProof="1">
                <a:solidFill>
                  <a:srgbClr val="22373A"/>
                </a:solidFill>
                <a:latin typeface="Arial"/>
                <a:cs typeface="Arial"/>
              </a:rPr>
              <a:t>8888</a:t>
            </a:r>
            <a:endParaRPr lang="en-US" sz="800" noProof="1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Char char="•"/>
              <a:tabLst>
                <a:tab pos="387985" algn="l"/>
              </a:tabLst>
            </a:pP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Source:</a:t>
            </a:r>
            <a:r>
              <a:rPr lang="en-US" sz="8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Anywhere</a:t>
            </a:r>
            <a:r>
              <a:rPr lang="en-US" sz="800" spc="-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(0.0.0.0/0)</a:t>
            </a:r>
            <a:endParaRPr lang="en-US" sz="800" noProof="1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95"/>
              </a:spcBef>
              <a:buAutoNum type="arabicPeriod"/>
              <a:tabLst>
                <a:tab pos="160020" algn="l"/>
              </a:tabLst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Delete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old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rule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HTTP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(port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80).</a:t>
            </a:r>
            <a:endParaRPr lang="en-US" sz="900" noProof="1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160020" algn="l"/>
              </a:tabLst>
            </a:pP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Save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changes.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35300" y="1403984"/>
            <a:ext cx="2743200" cy="153516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326" y="1327785"/>
            <a:ext cx="3012974" cy="1704068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4890770" cy="5080"/>
            </a:xfrm>
            <a:custGeom>
              <a:avLst/>
              <a:gdLst/>
              <a:ahLst/>
              <a:cxnLst/>
              <a:rect l="l" t="t" r="r" b="b"/>
              <a:pathLst>
                <a:path w="4890770" h="5080">
                  <a:moveTo>
                    <a:pt x="0" y="5060"/>
                  </a:moveTo>
                  <a:lnTo>
                    <a:pt x="0" y="0"/>
                  </a:lnTo>
                  <a:lnTo>
                    <a:pt x="4890648" y="0"/>
                  </a:lnTo>
                  <a:lnTo>
                    <a:pt x="489064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40" noProof="1"/>
              <a:t>Running</a:t>
            </a:r>
            <a:r>
              <a:rPr lang="en-US" spc="10" noProof="1"/>
              <a:t> </a:t>
            </a:r>
            <a:r>
              <a:rPr lang="en-US" spc="-20" noProof="1"/>
              <a:t>Jupyter</a:t>
            </a:r>
            <a:r>
              <a:rPr lang="en-US" spc="15" noProof="1"/>
              <a:t> </a:t>
            </a:r>
            <a:r>
              <a:rPr lang="en-US" spc="-10" noProof="1"/>
              <a:t>Notebook</a:t>
            </a:r>
            <a:r>
              <a:rPr lang="en-US" spc="15" noProof="1"/>
              <a:t> </a:t>
            </a:r>
            <a:r>
              <a:rPr lang="en-US" spc="55" noProof="1"/>
              <a:t>(II)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2646" y="376515"/>
            <a:ext cx="5015230" cy="574040"/>
            <a:chOff x="372646" y="376515"/>
            <a:chExt cx="5015230" cy="574040"/>
          </a:xfrm>
        </p:grpSpPr>
        <p:sp>
          <p:nvSpPr>
            <p:cNvPr id="4" name="object 4"/>
            <p:cNvSpPr/>
            <p:nvPr/>
          </p:nvSpPr>
          <p:spPr>
            <a:xfrm>
              <a:off x="377994" y="381862"/>
              <a:ext cx="5004435" cy="563245"/>
            </a:xfrm>
            <a:custGeom>
              <a:avLst/>
              <a:gdLst/>
              <a:ahLst/>
              <a:cxnLst/>
              <a:rect l="l" t="t" r="r" b="b"/>
              <a:pathLst>
                <a:path w="5004435" h="563244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527241"/>
                  </a:lnTo>
                  <a:lnTo>
                    <a:pt x="2829" y="541254"/>
                  </a:lnTo>
                  <a:lnTo>
                    <a:pt x="10544" y="552697"/>
                  </a:lnTo>
                  <a:lnTo>
                    <a:pt x="21987" y="560412"/>
                  </a:lnTo>
                  <a:lnTo>
                    <a:pt x="36000" y="563241"/>
                  </a:lnTo>
                  <a:lnTo>
                    <a:pt x="4968064" y="563241"/>
                  </a:lnTo>
                  <a:lnTo>
                    <a:pt x="4982077" y="560412"/>
                  </a:lnTo>
                  <a:lnTo>
                    <a:pt x="4993521" y="552697"/>
                  </a:lnTo>
                  <a:lnTo>
                    <a:pt x="5001236" y="541254"/>
                  </a:lnTo>
                  <a:lnTo>
                    <a:pt x="5004065" y="527241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378973" y="382841"/>
              <a:ext cx="5002530" cy="561340"/>
            </a:xfrm>
            <a:custGeom>
              <a:avLst/>
              <a:gdLst/>
              <a:ahLst/>
              <a:cxnLst/>
              <a:rect l="l" t="t" r="r" b="b"/>
              <a:pathLst>
                <a:path w="5002530" h="561340">
                  <a:moveTo>
                    <a:pt x="0" y="526262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526262"/>
                  </a:lnTo>
                  <a:lnTo>
                    <a:pt x="4999354" y="539894"/>
                  </a:lnTo>
                  <a:lnTo>
                    <a:pt x="4991849" y="551026"/>
                  </a:lnTo>
                  <a:lnTo>
                    <a:pt x="4980717" y="558531"/>
                  </a:lnTo>
                  <a:lnTo>
                    <a:pt x="4967085" y="561283"/>
                  </a:lnTo>
                  <a:lnTo>
                    <a:pt x="35021" y="561283"/>
                  </a:lnTo>
                  <a:lnTo>
                    <a:pt x="21389" y="558531"/>
                  </a:lnTo>
                  <a:lnTo>
                    <a:pt x="10257" y="551026"/>
                  </a:lnTo>
                  <a:lnTo>
                    <a:pt x="2752" y="539894"/>
                  </a:lnTo>
                  <a:lnTo>
                    <a:pt x="0" y="526262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45299" y="429310"/>
            <a:ext cx="2766695" cy="41846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lang="en-US" sz="800" b="1" spc="-60" noProof="1">
                <a:latin typeface="Courier New"/>
                <a:cs typeface="Courier New"/>
              </a:rPr>
              <a:t>[ec2]$ </a:t>
            </a:r>
            <a:r>
              <a:rPr lang="en-US" sz="800" spc="-60" noProof="1">
                <a:latin typeface="Courier New"/>
                <a:cs typeface="Courier New"/>
              </a:rPr>
              <a:t>jupyter</a:t>
            </a:r>
            <a:r>
              <a:rPr lang="en-US" sz="800" spc="-5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notebook</a:t>
            </a:r>
            <a:r>
              <a:rPr lang="en-US" sz="800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solidFill>
                  <a:srgbClr val="7C8E28"/>
                </a:solidFill>
                <a:latin typeface="Courier New"/>
                <a:cs typeface="Courier New"/>
              </a:rPr>
              <a:t>--</a:t>
            </a:r>
            <a:r>
              <a:rPr lang="en-US" sz="800" spc="-55" noProof="1">
                <a:solidFill>
                  <a:srgbClr val="7C8E28"/>
                </a:solidFill>
                <a:latin typeface="Courier New"/>
                <a:cs typeface="Courier New"/>
              </a:rPr>
              <a:t>ip</a:t>
            </a:r>
            <a:r>
              <a:rPr lang="en-US" sz="800" spc="-55" noProof="1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lang="en-US" sz="800" spc="-55" noProof="1">
                <a:latin typeface="Courier New"/>
                <a:cs typeface="Courier New"/>
              </a:rPr>
              <a:t>0.0.0.0</a:t>
            </a:r>
            <a:r>
              <a:rPr lang="en-US" sz="800" spc="-5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solidFill>
                  <a:srgbClr val="7C8E28"/>
                </a:solidFill>
                <a:latin typeface="Courier New"/>
                <a:cs typeface="Courier New"/>
              </a:rPr>
              <a:t>--</a:t>
            </a:r>
            <a:r>
              <a:rPr lang="en-US" sz="800" spc="-10" noProof="1">
                <a:solidFill>
                  <a:srgbClr val="7C8E28"/>
                </a:solidFill>
                <a:latin typeface="Courier New"/>
                <a:cs typeface="Courier New"/>
              </a:rPr>
              <a:t>port</a:t>
            </a:r>
            <a:r>
              <a:rPr lang="en-US" sz="800" spc="-10" noProof="1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lang="en-US" sz="800" spc="-10" noProof="1">
                <a:latin typeface="Courier New"/>
                <a:cs typeface="Courier New"/>
              </a:rPr>
              <a:t>8888</a:t>
            </a:r>
            <a:endParaRPr lang="en-US" sz="800" noProof="1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lang="en-US" sz="800" i="1" spc="-60" noProof="1">
                <a:solidFill>
                  <a:srgbClr val="60A0AF"/>
                </a:solidFill>
                <a:latin typeface="Courier New"/>
                <a:cs typeface="Courier New"/>
              </a:rPr>
              <a:t># </a:t>
            </a:r>
            <a:r>
              <a:rPr lang="en-US" sz="800" i="1" spc="-65" noProof="1">
                <a:solidFill>
                  <a:srgbClr val="60A0AF"/>
                </a:solidFill>
                <a:latin typeface="Courier New"/>
                <a:cs typeface="Courier New"/>
              </a:rPr>
              <a:t>In</a:t>
            </a:r>
            <a:r>
              <a:rPr lang="en-US" sz="800" i="1" spc="-55" noProof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lang="en-US" sz="800" i="1" spc="-60" noProof="1">
                <a:solidFill>
                  <a:srgbClr val="60A0AF"/>
                </a:solidFill>
                <a:latin typeface="Courier New"/>
                <a:cs typeface="Courier New"/>
              </a:rPr>
              <a:t>the</a:t>
            </a:r>
            <a:r>
              <a:rPr lang="en-US" sz="800" i="1" spc="-55" noProof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lang="en-US" sz="800" i="1" spc="-10" noProof="1">
                <a:solidFill>
                  <a:srgbClr val="60A0AF"/>
                </a:solidFill>
                <a:latin typeface="Courier New"/>
                <a:cs typeface="Courier New"/>
              </a:rPr>
              <a:t>browser</a:t>
            </a:r>
            <a:endParaRPr lang="en-US" sz="800" noProof="1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lang="en-US" sz="800" spc="-60" noProof="1">
                <a:latin typeface="Courier New"/>
                <a:cs typeface="Courier New"/>
                <a:hlinkClick r:id="rId2"/>
              </a:rPr>
              <a:t>http://ec2-3-87-76-117.compute-</a:t>
            </a:r>
            <a:r>
              <a:rPr lang="en-US" sz="800" spc="-55" noProof="1">
                <a:latin typeface="Courier New"/>
                <a:cs typeface="Courier New"/>
                <a:hlinkClick r:id="rId2"/>
              </a:rPr>
              <a:t>1.amazonaws.com:8888</a:t>
            </a:r>
            <a:endParaRPr lang="en-US" sz="800" noProof="1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7304" y="1053142"/>
            <a:ext cx="155130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Before</a:t>
            </a:r>
            <a:r>
              <a:rPr lang="en-US" sz="900" b="1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running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command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0017" y="1277768"/>
            <a:ext cx="2519972" cy="185925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987294" y="1053142"/>
            <a:ext cx="148018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After</a:t>
            </a:r>
            <a:r>
              <a:rPr lang="en-US" sz="900" b="1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running</a:t>
            </a:r>
            <a:r>
              <a:rPr lang="en-US" sz="900" b="1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b="1" spc="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command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00108" y="1277764"/>
            <a:ext cx="2519795" cy="1801121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2" name="object 12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4" name="object 14"/>
            <p:cNvSpPr/>
            <p:nvPr/>
          </p:nvSpPr>
          <p:spPr>
            <a:xfrm>
              <a:off x="0" y="3234963"/>
              <a:ext cx="4999355" cy="5080"/>
            </a:xfrm>
            <a:custGeom>
              <a:avLst/>
              <a:gdLst/>
              <a:ahLst/>
              <a:cxnLst/>
              <a:rect l="l" t="t" r="r" b="b"/>
              <a:pathLst>
                <a:path w="4999355" h="5080">
                  <a:moveTo>
                    <a:pt x="0" y="5060"/>
                  </a:moveTo>
                  <a:lnTo>
                    <a:pt x="0" y="0"/>
                  </a:lnTo>
                  <a:lnTo>
                    <a:pt x="4999282" y="0"/>
                  </a:lnTo>
                  <a:lnTo>
                    <a:pt x="499928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65" noProof="1"/>
              <a:t>Accessing</a:t>
            </a:r>
            <a:r>
              <a:rPr lang="en-US" spc="30" noProof="1"/>
              <a:t> </a:t>
            </a:r>
            <a:r>
              <a:rPr lang="en-US" noProof="1"/>
              <a:t>the</a:t>
            </a:r>
            <a:r>
              <a:rPr lang="en-US" spc="35" noProof="1"/>
              <a:t> </a:t>
            </a:r>
            <a:r>
              <a:rPr lang="en-US" spc="-20" noProof="1"/>
              <a:t>Jupyter</a:t>
            </a:r>
            <a:r>
              <a:rPr lang="en-US" spc="30" noProof="1"/>
              <a:t> </a:t>
            </a:r>
            <a:r>
              <a:rPr lang="en-US" spc="-10" noProof="1"/>
              <a:t>Notebook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459367" y="703200"/>
            <a:ext cx="384175" cy="123189"/>
            <a:chOff x="2459367" y="703200"/>
            <a:chExt cx="384175" cy="123189"/>
          </a:xfrm>
        </p:grpSpPr>
        <p:sp>
          <p:nvSpPr>
            <p:cNvPr id="4" name="object 4"/>
            <p:cNvSpPr/>
            <p:nvPr/>
          </p:nvSpPr>
          <p:spPr>
            <a:xfrm>
              <a:off x="2459367" y="703200"/>
              <a:ext cx="384175" cy="123189"/>
            </a:xfrm>
            <a:custGeom>
              <a:avLst/>
              <a:gdLst/>
              <a:ahLst/>
              <a:cxnLst/>
              <a:rect l="l" t="t" r="r" b="b"/>
              <a:pathLst>
                <a:path w="384175" h="123190">
                  <a:moveTo>
                    <a:pt x="348009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348009" y="122693"/>
                  </a:lnTo>
                  <a:lnTo>
                    <a:pt x="362022" y="119864"/>
                  </a:lnTo>
                  <a:lnTo>
                    <a:pt x="373465" y="112148"/>
                  </a:lnTo>
                  <a:lnTo>
                    <a:pt x="381180" y="100705"/>
                  </a:lnTo>
                  <a:lnTo>
                    <a:pt x="384009" y="86692"/>
                  </a:lnTo>
                  <a:lnTo>
                    <a:pt x="384009" y="36000"/>
                  </a:lnTo>
                  <a:lnTo>
                    <a:pt x="381180" y="21987"/>
                  </a:lnTo>
                  <a:lnTo>
                    <a:pt x="373465" y="10544"/>
                  </a:lnTo>
                  <a:lnTo>
                    <a:pt x="362022" y="2829"/>
                  </a:lnTo>
                  <a:lnTo>
                    <a:pt x="348009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2459367" y="703200"/>
              <a:ext cx="384175" cy="123189"/>
            </a:xfrm>
            <a:custGeom>
              <a:avLst/>
              <a:gdLst/>
              <a:ahLst/>
              <a:cxnLst/>
              <a:rect l="l" t="t" r="r" b="b"/>
              <a:pathLst>
                <a:path w="384175" h="123190">
                  <a:moveTo>
                    <a:pt x="348009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348009" y="122693"/>
                  </a:lnTo>
                  <a:lnTo>
                    <a:pt x="362022" y="119864"/>
                  </a:lnTo>
                  <a:lnTo>
                    <a:pt x="373465" y="112148"/>
                  </a:lnTo>
                  <a:lnTo>
                    <a:pt x="381180" y="100705"/>
                  </a:lnTo>
                  <a:lnTo>
                    <a:pt x="384009" y="86692"/>
                  </a:lnTo>
                  <a:lnTo>
                    <a:pt x="384009" y="36000"/>
                  </a:lnTo>
                  <a:lnTo>
                    <a:pt x="381180" y="21987"/>
                  </a:lnTo>
                  <a:lnTo>
                    <a:pt x="373465" y="10544"/>
                  </a:lnTo>
                  <a:lnTo>
                    <a:pt x="362022" y="2829"/>
                  </a:lnTo>
                  <a:lnTo>
                    <a:pt x="348009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111423" y="703200"/>
            <a:ext cx="742950" cy="123189"/>
            <a:chOff x="3111423" y="703200"/>
            <a:chExt cx="742950" cy="123189"/>
          </a:xfrm>
        </p:grpSpPr>
        <p:sp>
          <p:nvSpPr>
            <p:cNvPr id="7" name="object 7"/>
            <p:cNvSpPr/>
            <p:nvPr/>
          </p:nvSpPr>
          <p:spPr>
            <a:xfrm>
              <a:off x="3111423" y="703200"/>
              <a:ext cx="742950" cy="123189"/>
            </a:xfrm>
            <a:custGeom>
              <a:avLst/>
              <a:gdLst/>
              <a:ahLst/>
              <a:cxnLst/>
              <a:rect l="l" t="t" r="r" b="b"/>
              <a:pathLst>
                <a:path w="742950" h="123190">
                  <a:moveTo>
                    <a:pt x="70671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706713" y="122693"/>
                  </a:lnTo>
                  <a:lnTo>
                    <a:pt x="720727" y="119864"/>
                  </a:lnTo>
                  <a:lnTo>
                    <a:pt x="732170" y="112148"/>
                  </a:lnTo>
                  <a:lnTo>
                    <a:pt x="739885" y="100705"/>
                  </a:lnTo>
                  <a:lnTo>
                    <a:pt x="742714" y="86692"/>
                  </a:lnTo>
                  <a:lnTo>
                    <a:pt x="742714" y="36000"/>
                  </a:lnTo>
                  <a:lnTo>
                    <a:pt x="739885" y="21987"/>
                  </a:lnTo>
                  <a:lnTo>
                    <a:pt x="732170" y="10544"/>
                  </a:lnTo>
                  <a:lnTo>
                    <a:pt x="720727" y="2829"/>
                  </a:lnTo>
                  <a:lnTo>
                    <a:pt x="706713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3111423" y="703200"/>
              <a:ext cx="742950" cy="123189"/>
            </a:xfrm>
            <a:custGeom>
              <a:avLst/>
              <a:gdLst/>
              <a:ahLst/>
              <a:cxnLst/>
              <a:rect l="l" t="t" r="r" b="b"/>
              <a:pathLst>
                <a:path w="742950" h="123190">
                  <a:moveTo>
                    <a:pt x="70671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706713" y="122693"/>
                  </a:lnTo>
                  <a:lnTo>
                    <a:pt x="720727" y="119864"/>
                  </a:lnTo>
                  <a:lnTo>
                    <a:pt x="732170" y="112148"/>
                  </a:lnTo>
                  <a:lnTo>
                    <a:pt x="739885" y="100705"/>
                  </a:lnTo>
                  <a:lnTo>
                    <a:pt x="742714" y="86692"/>
                  </a:lnTo>
                  <a:lnTo>
                    <a:pt x="742714" y="36000"/>
                  </a:lnTo>
                  <a:lnTo>
                    <a:pt x="739885" y="21987"/>
                  </a:lnTo>
                  <a:lnTo>
                    <a:pt x="732170" y="10544"/>
                  </a:lnTo>
                  <a:lnTo>
                    <a:pt x="720727" y="2829"/>
                  </a:lnTo>
                  <a:lnTo>
                    <a:pt x="706713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47294" y="490744"/>
            <a:ext cx="4876165" cy="3281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Copy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token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terminal.</a:t>
            </a:r>
            <a:r>
              <a:rPr lang="en-US" sz="900" spc="114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Then,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highlight>
                  <a:srgbClr val="C0C0C0"/>
                </a:highlight>
                <a:latin typeface="Arial"/>
                <a:cs typeface="Arial"/>
              </a:rPr>
              <a:t>log</a:t>
            </a:r>
            <a:r>
              <a:rPr lang="en-US" sz="900" b="1" spc="20" noProof="1">
                <a:solidFill>
                  <a:srgbClr val="22373A"/>
                </a:solidFill>
                <a:highlight>
                  <a:srgbClr val="C0C0C0"/>
                </a:highlight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highlight>
                  <a:srgbClr val="C0C0C0"/>
                </a:highlight>
                <a:latin typeface="Arial"/>
                <a:cs typeface="Arial"/>
              </a:rPr>
              <a:t>in</a:t>
            </a:r>
            <a:r>
              <a:rPr lang="en-US" sz="900" b="1" spc="25" noProof="1">
                <a:solidFill>
                  <a:srgbClr val="22373A"/>
                </a:solidFill>
                <a:highlight>
                  <a:srgbClr val="C0C0C0"/>
                </a:highlight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Jupyter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browser.</a:t>
            </a:r>
            <a:r>
              <a:rPr lang="en-US" sz="900" spc="114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(If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you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trouble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 copying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token,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instead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9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latin typeface="Courier New"/>
                <a:cs typeface="Courier New"/>
              </a:rPr>
              <a:t>Ctrl+C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lang="en-US" sz="900" spc="9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Ctrl+Shift+C</a:t>
            </a:r>
            <a:r>
              <a:rPr lang="en-US" sz="900" spc="-13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terminal).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004" y="958650"/>
            <a:ext cx="2519990" cy="18950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00032" y="958660"/>
            <a:ext cx="2519946" cy="1898394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3" name="object 13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4" name="object 14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3234963"/>
              <a:ext cx="5108575" cy="5080"/>
            </a:xfrm>
            <a:custGeom>
              <a:avLst/>
              <a:gdLst/>
              <a:ahLst/>
              <a:cxnLst/>
              <a:rect l="l" t="t" r="r" b="b"/>
              <a:pathLst>
                <a:path w="5108575" h="5080">
                  <a:moveTo>
                    <a:pt x="0" y="5060"/>
                  </a:moveTo>
                  <a:lnTo>
                    <a:pt x="0" y="0"/>
                  </a:lnTo>
                  <a:lnTo>
                    <a:pt x="5108005" y="0"/>
                  </a:lnTo>
                  <a:lnTo>
                    <a:pt x="510800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65" noProof="1"/>
              <a:t>Accessing</a:t>
            </a:r>
            <a:r>
              <a:rPr lang="en-US" spc="30" noProof="1"/>
              <a:t> </a:t>
            </a:r>
            <a:r>
              <a:rPr lang="en-US" noProof="1"/>
              <a:t>the</a:t>
            </a:r>
            <a:r>
              <a:rPr lang="en-US" spc="35" noProof="1"/>
              <a:t> </a:t>
            </a:r>
            <a:r>
              <a:rPr lang="en-US" spc="-20" noProof="1"/>
              <a:t>Jupyter</a:t>
            </a:r>
            <a:r>
              <a:rPr lang="en-US" spc="30" noProof="1"/>
              <a:t> </a:t>
            </a:r>
            <a:r>
              <a:rPr lang="en-US" spc="-10" noProof="1"/>
              <a:t>Notebook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55483" y="1012816"/>
            <a:ext cx="504190" cy="147320"/>
            <a:chOff x="1355483" y="1012816"/>
            <a:chExt cx="504190" cy="147320"/>
          </a:xfrm>
        </p:grpSpPr>
        <p:sp>
          <p:nvSpPr>
            <p:cNvPr id="4" name="object 4"/>
            <p:cNvSpPr/>
            <p:nvPr/>
          </p:nvSpPr>
          <p:spPr>
            <a:xfrm>
              <a:off x="1355483" y="1012816"/>
              <a:ext cx="504190" cy="147320"/>
            </a:xfrm>
            <a:custGeom>
              <a:avLst/>
              <a:gdLst/>
              <a:ahLst/>
              <a:cxnLst/>
              <a:rect l="l" t="t" r="r" b="b"/>
              <a:pathLst>
                <a:path w="504189" h="147319">
                  <a:moveTo>
                    <a:pt x="467578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467578" y="147290"/>
                  </a:lnTo>
                  <a:lnTo>
                    <a:pt x="481590" y="144460"/>
                  </a:lnTo>
                  <a:lnTo>
                    <a:pt x="493034" y="136745"/>
                  </a:lnTo>
                  <a:lnTo>
                    <a:pt x="500749" y="125302"/>
                  </a:lnTo>
                  <a:lnTo>
                    <a:pt x="503578" y="111289"/>
                  </a:lnTo>
                  <a:lnTo>
                    <a:pt x="503578" y="36000"/>
                  </a:lnTo>
                  <a:lnTo>
                    <a:pt x="500749" y="21987"/>
                  </a:lnTo>
                  <a:lnTo>
                    <a:pt x="493034" y="10544"/>
                  </a:lnTo>
                  <a:lnTo>
                    <a:pt x="481590" y="2829"/>
                  </a:lnTo>
                  <a:lnTo>
                    <a:pt x="467578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1355483" y="1012816"/>
              <a:ext cx="504190" cy="147320"/>
            </a:xfrm>
            <a:custGeom>
              <a:avLst/>
              <a:gdLst/>
              <a:ahLst/>
              <a:cxnLst/>
              <a:rect l="l" t="t" r="r" b="b"/>
              <a:pathLst>
                <a:path w="504189" h="147319">
                  <a:moveTo>
                    <a:pt x="467578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467578" y="147290"/>
                  </a:lnTo>
                  <a:lnTo>
                    <a:pt x="481590" y="144460"/>
                  </a:lnTo>
                  <a:lnTo>
                    <a:pt x="493034" y="136745"/>
                  </a:lnTo>
                  <a:lnTo>
                    <a:pt x="500749" y="125302"/>
                  </a:lnTo>
                  <a:lnTo>
                    <a:pt x="503578" y="111289"/>
                  </a:lnTo>
                  <a:lnTo>
                    <a:pt x="503578" y="36000"/>
                  </a:lnTo>
                  <a:lnTo>
                    <a:pt x="500749" y="21987"/>
                  </a:lnTo>
                  <a:lnTo>
                    <a:pt x="493034" y="10544"/>
                  </a:lnTo>
                  <a:lnTo>
                    <a:pt x="481590" y="2829"/>
                  </a:lnTo>
                  <a:lnTo>
                    <a:pt x="467578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4200093" y="1012816"/>
            <a:ext cx="504190" cy="147320"/>
            <a:chOff x="4200093" y="1012816"/>
            <a:chExt cx="504190" cy="147320"/>
          </a:xfrm>
        </p:grpSpPr>
        <p:sp>
          <p:nvSpPr>
            <p:cNvPr id="7" name="object 7"/>
            <p:cNvSpPr/>
            <p:nvPr/>
          </p:nvSpPr>
          <p:spPr>
            <a:xfrm>
              <a:off x="4200093" y="1012816"/>
              <a:ext cx="504190" cy="147320"/>
            </a:xfrm>
            <a:custGeom>
              <a:avLst/>
              <a:gdLst/>
              <a:ahLst/>
              <a:cxnLst/>
              <a:rect l="l" t="t" r="r" b="b"/>
              <a:pathLst>
                <a:path w="504189" h="147319">
                  <a:moveTo>
                    <a:pt x="467578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467578" y="147290"/>
                  </a:lnTo>
                  <a:lnTo>
                    <a:pt x="481590" y="144460"/>
                  </a:lnTo>
                  <a:lnTo>
                    <a:pt x="493034" y="136745"/>
                  </a:lnTo>
                  <a:lnTo>
                    <a:pt x="500749" y="125302"/>
                  </a:lnTo>
                  <a:lnTo>
                    <a:pt x="503578" y="111289"/>
                  </a:lnTo>
                  <a:lnTo>
                    <a:pt x="503578" y="36000"/>
                  </a:lnTo>
                  <a:lnTo>
                    <a:pt x="500749" y="21987"/>
                  </a:lnTo>
                  <a:lnTo>
                    <a:pt x="493034" y="10544"/>
                  </a:lnTo>
                  <a:lnTo>
                    <a:pt x="481590" y="2829"/>
                  </a:lnTo>
                  <a:lnTo>
                    <a:pt x="467578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4200093" y="1012816"/>
              <a:ext cx="504190" cy="147320"/>
            </a:xfrm>
            <a:custGeom>
              <a:avLst/>
              <a:gdLst/>
              <a:ahLst/>
              <a:cxnLst/>
              <a:rect l="l" t="t" r="r" b="b"/>
              <a:pathLst>
                <a:path w="504189" h="147319">
                  <a:moveTo>
                    <a:pt x="467578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467578" y="147290"/>
                  </a:lnTo>
                  <a:lnTo>
                    <a:pt x="481590" y="144460"/>
                  </a:lnTo>
                  <a:lnTo>
                    <a:pt x="493034" y="136745"/>
                  </a:lnTo>
                  <a:lnTo>
                    <a:pt x="500749" y="125302"/>
                  </a:lnTo>
                  <a:lnTo>
                    <a:pt x="503578" y="111289"/>
                  </a:lnTo>
                  <a:lnTo>
                    <a:pt x="503578" y="36000"/>
                  </a:lnTo>
                  <a:lnTo>
                    <a:pt x="500749" y="21987"/>
                  </a:lnTo>
                  <a:lnTo>
                    <a:pt x="493034" y="10544"/>
                  </a:lnTo>
                  <a:lnTo>
                    <a:pt x="481590" y="2829"/>
                  </a:lnTo>
                  <a:lnTo>
                    <a:pt x="467578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47294" y="424746"/>
            <a:ext cx="4992370" cy="879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Once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 the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Jupyter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Notebook, to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new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do the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following:</a:t>
            </a:r>
            <a:endParaRPr lang="en-US" sz="900" noProof="1">
              <a:latin typeface="Arial"/>
              <a:cs typeface="Arial"/>
            </a:endParaRPr>
          </a:p>
          <a:p>
            <a:pPr marL="239395" indent="-147320" algn="just">
              <a:lnSpc>
                <a:spcPct val="100000"/>
              </a:lnSpc>
              <a:spcBef>
                <a:spcPts val="800"/>
              </a:spcBef>
              <a:buAutoNum type="arabicPeriod"/>
              <a:tabLst>
                <a:tab pos="239395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→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New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→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Notebook.</a:t>
            </a:r>
            <a:endParaRPr lang="en-US" sz="900" noProof="1">
              <a:latin typeface="Arial"/>
              <a:cs typeface="Arial"/>
            </a:endParaRPr>
          </a:p>
          <a:p>
            <a:pPr marL="234950" marR="5080" indent="-143510" algn="just">
              <a:lnSpc>
                <a:spcPct val="116199"/>
              </a:lnSpc>
              <a:buAutoNum type="arabicPeriod"/>
              <a:tabLst>
                <a:tab pos="240029" algn="l"/>
              </a:tabLst>
            </a:pP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prompted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choose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kernel.</a:t>
            </a:r>
            <a:r>
              <a:rPr lang="en-US" sz="900" spc="1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lang="en-US" sz="900" b="1" spc="7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careful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default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going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fail,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 	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change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0" noProof="1">
                <a:latin typeface="Courier New"/>
                <a:cs typeface="Courier New"/>
              </a:rPr>
              <a:t>Python</a:t>
            </a:r>
            <a:r>
              <a:rPr lang="en-US" sz="900" spc="-75" noProof="1">
                <a:latin typeface="Courier New"/>
                <a:cs typeface="Courier New"/>
              </a:rPr>
              <a:t> </a:t>
            </a:r>
            <a:r>
              <a:rPr lang="en-US" sz="900" spc="-70" noProof="1">
                <a:latin typeface="Courier New"/>
                <a:cs typeface="Courier New"/>
              </a:rPr>
              <a:t>3</a:t>
            </a:r>
            <a:r>
              <a:rPr lang="en-US" sz="900" spc="-135" noProof="1">
                <a:latin typeface="Courier New"/>
                <a:cs typeface="Courier New"/>
              </a:rPr>
              <a:t> </a:t>
            </a:r>
            <a:r>
              <a:rPr lang="en-US" sz="900" spc="-85" noProof="1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shown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below.</a:t>
            </a:r>
            <a:r>
              <a:rPr lang="en-US" sz="900" spc="1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only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available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option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1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0" noProof="1">
                <a:latin typeface="Courier New"/>
                <a:cs typeface="Courier New"/>
              </a:rPr>
              <a:t>Python</a:t>
            </a:r>
            <a:r>
              <a:rPr lang="en-US" sz="900" spc="-75" noProof="1">
                <a:latin typeface="Courier New"/>
                <a:cs typeface="Courier New"/>
              </a:rPr>
              <a:t> </a:t>
            </a:r>
            <a:r>
              <a:rPr lang="en-US" sz="900" spc="-70" noProof="1">
                <a:latin typeface="Courier New"/>
                <a:cs typeface="Courier New"/>
              </a:rPr>
              <a:t>3</a:t>
            </a:r>
            <a:r>
              <a:rPr lang="en-US" sz="900" spc="-135" noProof="1">
                <a:latin typeface="Courier New"/>
                <a:cs typeface="Courier New"/>
              </a:rPr>
              <a:t> 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fine,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	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leave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85" noProof="1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(we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solidFill>
                  <a:srgbClr val="22373A"/>
                </a:solidFill>
                <a:latin typeface="Arial"/>
                <a:cs typeface="Arial"/>
              </a:rPr>
              <a:t>saw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during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60" noProof="1">
                <a:solidFill>
                  <a:srgbClr val="22373A"/>
                </a:solidFill>
                <a:latin typeface="Arial"/>
                <a:cs typeface="Arial"/>
              </a:rPr>
              <a:t>class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my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demonstration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there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solidFill>
                  <a:srgbClr val="22373A"/>
                </a:solidFill>
                <a:latin typeface="Arial"/>
                <a:cs typeface="Arial"/>
              </a:rPr>
              <a:t>was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only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option).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2700" y="1388954"/>
            <a:ext cx="2728097" cy="157204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912772" y="2999105"/>
            <a:ext cx="193484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800" b="1" spc="-20" noProof="1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lang="en-US" sz="800" b="1" spc="6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23:</a:t>
            </a:r>
            <a:r>
              <a:rPr lang="en-US" sz="800" b="1" spc="16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lang="en-US" sz="8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800" spc="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30" noProof="1">
                <a:solidFill>
                  <a:srgbClr val="22373A"/>
                </a:solidFill>
                <a:latin typeface="Arial"/>
                <a:cs typeface="Arial"/>
              </a:rPr>
              <a:t>choose</a:t>
            </a:r>
            <a:r>
              <a:rPr lang="en-US" sz="800" spc="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800" spc="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right</a:t>
            </a:r>
            <a:r>
              <a:rPr lang="en-US" sz="800" spc="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kernel</a:t>
            </a:r>
            <a:endParaRPr lang="en-US" sz="800" noProof="1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3" name="object 13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4" name="object 14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3234963"/>
              <a:ext cx="5217160" cy="5080"/>
            </a:xfrm>
            <a:custGeom>
              <a:avLst/>
              <a:gdLst/>
              <a:ahLst/>
              <a:cxnLst/>
              <a:rect l="l" t="t" r="r" b="b"/>
              <a:pathLst>
                <a:path w="5217160" h="5080">
                  <a:moveTo>
                    <a:pt x="0" y="5060"/>
                  </a:moveTo>
                  <a:lnTo>
                    <a:pt x="0" y="0"/>
                  </a:lnTo>
                  <a:lnTo>
                    <a:pt x="5216639" y="0"/>
                  </a:lnTo>
                  <a:lnTo>
                    <a:pt x="521663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40" noProof="1"/>
              <a:t>Running</a:t>
            </a:r>
            <a:r>
              <a:rPr lang="en-US" spc="10" noProof="1"/>
              <a:t> </a:t>
            </a:r>
            <a:r>
              <a:rPr lang="en-US" spc="-30" noProof="1"/>
              <a:t>python</a:t>
            </a:r>
            <a:r>
              <a:rPr lang="en-US" spc="15" noProof="1"/>
              <a:t> </a:t>
            </a:r>
            <a:r>
              <a:rPr lang="en-US" spc="-25" noProof="1"/>
              <a:t>code</a:t>
            </a:r>
            <a:r>
              <a:rPr lang="en-US" spc="10" noProof="1"/>
              <a:t> </a:t>
            </a:r>
            <a:r>
              <a:rPr lang="en-US" noProof="1"/>
              <a:t>in</a:t>
            </a:r>
            <a:r>
              <a:rPr lang="en-US" spc="15" noProof="1"/>
              <a:t> </a:t>
            </a:r>
            <a:r>
              <a:rPr lang="en-US" noProof="1"/>
              <a:t>the</a:t>
            </a:r>
            <a:r>
              <a:rPr lang="en-US" spc="10" noProof="1"/>
              <a:t> </a:t>
            </a:r>
            <a:r>
              <a:rPr lang="en-US" spc="-25" noProof="1"/>
              <a:t>notebook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52657" y="735520"/>
            <a:ext cx="2494915" cy="1490980"/>
            <a:chOff x="252657" y="735520"/>
            <a:chExt cx="2494915" cy="1490980"/>
          </a:xfrm>
        </p:grpSpPr>
        <p:sp>
          <p:nvSpPr>
            <p:cNvPr id="4" name="object 4"/>
            <p:cNvSpPr/>
            <p:nvPr/>
          </p:nvSpPr>
          <p:spPr>
            <a:xfrm>
              <a:off x="258004" y="740868"/>
              <a:ext cx="2484120" cy="1480185"/>
            </a:xfrm>
            <a:custGeom>
              <a:avLst/>
              <a:gdLst/>
              <a:ahLst/>
              <a:cxnLst/>
              <a:rect l="l" t="t" r="r" b="b"/>
              <a:pathLst>
                <a:path w="2484120" h="1480185">
                  <a:moveTo>
                    <a:pt x="244803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443925"/>
                  </a:lnTo>
                  <a:lnTo>
                    <a:pt x="2829" y="1457938"/>
                  </a:lnTo>
                  <a:lnTo>
                    <a:pt x="10544" y="1469381"/>
                  </a:lnTo>
                  <a:lnTo>
                    <a:pt x="21987" y="1477097"/>
                  </a:lnTo>
                  <a:lnTo>
                    <a:pt x="36000" y="1479926"/>
                  </a:lnTo>
                  <a:lnTo>
                    <a:pt x="2448032" y="1479926"/>
                  </a:lnTo>
                  <a:lnTo>
                    <a:pt x="2462045" y="1477097"/>
                  </a:lnTo>
                  <a:lnTo>
                    <a:pt x="2473488" y="1469381"/>
                  </a:lnTo>
                  <a:lnTo>
                    <a:pt x="2481203" y="1457938"/>
                  </a:lnTo>
                  <a:lnTo>
                    <a:pt x="2484032" y="1443925"/>
                  </a:lnTo>
                  <a:lnTo>
                    <a:pt x="2484032" y="36000"/>
                  </a:lnTo>
                  <a:lnTo>
                    <a:pt x="2481203" y="21987"/>
                  </a:lnTo>
                  <a:lnTo>
                    <a:pt x="2473488" y="10544"/>
                  </a:lnTo>
                  <a:lnTo>
                    <a:pt x="2462045" y="2829"/>
                  </a:lnTo>
                  <a:lnTo>
                    <a:pt x="244803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258983" y="741847"/>
              <a:ext cx="2482215" cy="1478280"/>
            </a:xfrm>
            <a:custGeom>
              <a:avLst/>
              <a:gdLst/>
              <a:ahLst/>
              <a:cxnLst/>
              <a:rect l="l" t="t" r="r" b="b"/>
              <a:pathLst>
                <a:path w="2482215" h="1478280">
                  <a:moveTo>
                    <a:pt x="0" y="1442946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2447052" y="0"/>
                  </a:lnTo>
                  <a:lnTo>
                    <a:pt x="2460684" y="2752"/>
                  </a:lnTo>
                  <a:lnTo>
                    <a:pt x="2471816" y="10257"/>
                  </a:lnTo>
                  <a:lnTo>
                    <a:pt x="2479321" y="21389"/>
                  </a:lnTo>
                  <a:lnTo>
                    <a:pt x="2482074" y="35021"/>
                  </a:lnTo>
                  <a:lnTo>
                    <a:pt x="2482074" y="1442946"/>
                  </a:lnTo>
                  <a:lnTo>
                    <a:pt x="2479321" y="1456578"/>
                  </a:lnTo>
                  <a:lnTo>
                    <a:pt x="2471816" y="1467710"/>
                  </a:lnTo>
                  <a:lnTo>
                    <a:pt x="2460684" y="1475215"/>
                  </a:lnTo>
                  <a:lnTo>
                    <a:pt x="2447052" y="1477967"/>
                  </a:lnTo>
                  <a:lnTo>
                    <a:pt x="35021" y="1477967"/>
                  </a:lnTo>
                  <a:lnTo>
                    <a:pt x="21389" y="1475215"/>
                  </a:lnTo>
                  <a:lnTo>
                    <a:pt x="10257" y="1467710"/>
                  </a:lnTo>
                  <a:lnTo>
                    <a:pt x="2752" y="1456578"/>
                  </a:lnTo>
                  <a:lnTo>
                    <a:pt x="0" y="1442946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7294" y="371520"/>
            <a:ext cx="3636010" cy="178080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New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3.</a:t>
            </a:r>
            <a:r>
              <a:rPr lang="en-US" sz="900" spc="7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Write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code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highlight>
                  <a:srgbClr val="C0C0C0"/>
                </a:highlight>
                <a:latin typeface="Arial"/>
                <a:cs typeface="Arial"/>
              </a:rPr>
              <a:t>Run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it.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lang="en-US" sz="900" noProof="1">
              <a:latin typeface="Arial"/>
              <a:cs typeface="Arial"/>
            </a:endParaRPr>
          </a:p>
          <a:p>
            <a:pPr marL="90170">
              <a:lnSpc>
                <a:spcPct val="100000"/>
              </a:lnSpc>
            </a:pPr>
            <a:r>
              <a:rPr lang="en-US" sz="800" spc="-55" noProof="1">
                <a:solidFill>
                  <a:srgbClr val="666666"/>
                </a:solidFill>
                <a:latin typeface="Courier New"/>
                <a:cs typeface="Courier New"/>
              </a:rPr>
              <a:t>!</a:t>
            </a:r>
            <a:r>
              <a:rPr lang="en-US" sz="800" spc="-55" noProof="1">
                <a:latin typeface="Courier New"/>
                <a:cs typeface="Courier New"/>
              </a:rPr>
              <a:t>pip</a:t>
            </a:r>
            <a:r>
              <a:rPr lang="en-US" sz="800" spc="-30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install</a:t>
            </a:r>
            <a:r>
              <a:rPr lang="en-US" sz="800" spc="-25" noProof="1">
                <a:latin typeface="Courier New"/>
                <a:cs typeface="Courier New"/>
              </a:rPr>
              <a:t> </a:t>
            </a:r>
            <a:r>
              <a:rPr lang="en-US" sz="800" spc="-10" noProof="1">
                <a:latin typeface="Courier New"/>
                <a:cs typeface="Courier New"/>
              </a:rPr>
              <a:t>matplotlib</a:t>
            </a:r>
            <a:endParaRPr lang="en-US" sz="800" noProof="1">
              <a:latin typeface="Courier New"/>
              <a:cs typeface="Courier New"/>
            </a:endParaRPr>
          </a:p>
          <a:p>
            <a:pPr marL="90170">
              <a:lnSpc>
                <a:spcPct val="100000"/>
              </a:lnSpc>
              <a:spcBef>
                <a:spcPts val="75"/>
              </a:spcBef>
            </a:pPr>
            <a:r>
              <a:rPr lang="en-US" sz="800" spc="-55" noProof="1">
                <a:solidFill>
                  <a:srgbClr val="666666"/>
                </a:solidFill>
                <a:latin typeface="Courier New"/>
                <a:cs typeface="Courier New"/>
              </a:rPr>
              <a:t>!</a:t>
            </a:r>
            <a:r>
              <a:rPr lang="en-US" sz="800" spc="-55" noProof="1">
                <a:latin typeface="Courier New"/>
                <a:cs typeface="Courier New"/>
              </a:rPr>
              <a:t>pip</a:t>
            </a:r>
            <a:r>
              <a:rPr lang="en-US" sz="800" spc="-30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install</a:t>
            </a:r>
            <a:r>
              <a:rPr lang="en-US" sz="800" spc="-25" noProof="1">
                <a:latin typeface="Courier New"/>
                <a:cs typeface="Courier New"/>
              </a:rPr>
              <a:t> </a:t>
            </a:r>
            <a:r>
              <a:rPr lang="en-US" sz="800" spc="-10" noProof="1">
                <a:latin typeface="Courier New"/>
                <a:cs typeface="Courier New"/>
              </a:rPr>
              <a:t>numpy</a:t>
            </a:r>
            <a:endParaRPr lang="en-US" sz="800" noProof="1">
              <a:latin typeface="Courier New"/>
              <a:cs typeface="Courier New"/>
            </a:endParaRPr>
          </a:p>
          <a:p>
            <a:pPr marL="90170">
              <a:lnSpc>
                <a:spcPct val="100000"/>
              </a:lnSpc>
              <a:spcBef>
                <a:spcPts val="70"/>
              </a:spcBef>
            </a:pPr>
            <a:r>
              <a:rPr lang="en-US" sz="800" b="1" spc="-65" noProof="1">
                <a:solidFill>
                  <a:srgbClr val="007F00"/>
                </a:solidFill>
                <a:latin typeface="Courier New"/>
                <a:cs typeface="Courier New"/>
              </a:rPr>
              <a:t>import</a:t>
            </a:r>
            <a:r>
              <a:rPr lang="en-US" sz="800" b="1" spc="-30" noProof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matplotlib.pyplot</a:t>
            </a:r>
            <a:r>
              <a:rPr lang="en-US" sz="800" spc="-25" noProof="1">
                <a:latin typeface="Courier New"/>
                <a:cs typeface="Courier New"/>
              </a:rPr>
              <a:t> </a:t>
            </a:r>
            <a:r>
              <a:rPr lang="en-US" sz="800" b="1" spc="-60" noProof="1">
                <a:solidFill>
                  <a:srgbClr val="007F00"/>
                </a:solidFill>
                <a:latin typeface="Courier New"/>
                <a:cs typeface="Courier New"/>
              </a:rPr>
              <a:t>as</a:t>
            </a:r>
            <a:r>
              <a:rPr lang="en-US" sz="800" b="1" spc="-25" noProof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lang="en-US" sz="800" spc="-25" noProof="1">
                <a:latin typeface="Courier New"/>
                <a:cs typeface="Courier New"/>
              </a:rPr>
              <a:t>plt</a:t>
            </a:r>
            <a:endParaRPr lang="en-US" sz="800" noProof="1">
              <a:latin typeface="Courier New"/>
              <a:cs typeface="Courier New"/>
            </a:endParaRPr>
          </a:p>
          <a:p>
            <a:pPr marL="90170">
              <a:lnSpc>
                <a:spcPct val="100000"/>
              </a:lnSpc>
              <a:spcBef>
                <a:spcPts val="70"/>
              </a:spcBef>
            </a:pPr>
            <a:r>
              <a:rPr lang="en-US" sz="800" b="1" spc="-65" noProof="1">
                <a:solidFill>
                  <a:srgbClr val="007F00"/>
                </a:solidFill>
                <a:latin typeface="Courier New"/>
                <a:cs typeface="Courier New"/>
              </a:rPr>
              <a:t>import</a:t>
            </a:r>
            <a:r>
              <a:rPr lang="en-US" sz="800" b="1" spc="-30" noProof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numpy</a:t>
            </a:r>
            <a:r>
              <a:rPr lang="en-US" sz="800" spc="-30" noProof="1">
                <a:latin typeface="Courier New"/>
                <a:cs typeface="Courier New"/>
              </a:rPr>
              <a:t> </a:t>
            </a:r>
            <a:r>
              <a:rPr lang="en-US" sz="800" b="1" spc="-60" noProof="1">
                <a:solidFill>
                  <a:srgbClr val="007F00"/>
                </a:solidFill>
                <a:latin typeface="Courier New"/>
                <a:cs typeface="Courier New"/>
              </a:rPr>
              <a:t>as</a:t>
            </a:r>
            <a:r>
              <a:rPr lang="en-US" sz="800" b="1" spc="-30" noProof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lang="en-US" sz="800" spc="-25" noProof="1">
                <a:latin typeface="Courier New"/>
                <a:cs typeface="Courier New"/>
              </a:rPr>
              <a:t>np</a:t>
            </a:r>
            <a:endParaRPr lang="en-US" sz="800" noProof="1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lang="en-US" sz="800" noProof="1">
              <a:latin typeface="Courier New"/>
              <a:cs typeface="Courier New"/>
            </a:endParaRPr>
          </a:p>
          <a:p>
            <a:pPr marL="90170" marR="2085339">
              <a:lnSpc>
                <a:spcPct val="107400"/>
              </a:lnSpc>
            </a:pPr>
            <a:r>
              <a:rPr lang="en-US" sz="800" noProof="1">
                <a:latin typeface="Courier New"/>
                <a:cs typeface="Courier New"/>
              </a:rPr>
              <a:t>x</a:t>
            </a:r>
            <a:r>
              <a:rPr lang="en-US" sz="800" spc="-105" noProof="1">
                <a:latin typeface="Courier New"/>
                <a:cs typeface="Courier New"/>
              </a:rPr>
              <a:t> </a:t>
            </a:r>
            <a:r>
              <a:rPr lang="en-US" sz="800" noProof="1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lang="en-US" sz="800" spc="-80" noProof="1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np.linspace(</a:t>
            </a:r>
            <a:r>
              <a:rPr lang="en-US" sz="800" spc="-55" noProof="1">
                <a:solidFill>
                  <a:srgbClr val="3FA070"/>
                </a:solidFill>
                <a:latin typeface="Courier New"/>
                <a:cs typeface="Courier New"/>
              </a:rPr>
              <a:t>0</a:t>
            </a:r>
            <a:r>
              <a:rPr lang="en-US" sz="800" spc="-55" noProof="1">
                <a:latin typeface="Courier New"/>
                <a:cs typeface="Courier New"/>
              </a:rPr>
              <a:t>,</a:t>
            </a:r>
            <a:r>
              <a:rPr lang="en-US" sz="800" spc="-60" noProof="1">
                <a:latin typeface="Courier New"/>
                <a:cs typeface="Courier New"/>
              </a:rPr>
              <a:t> </a:t>
            </a:r>
            <a:r>
              <a:rPr lang="en-US" sz="800" spc="-50" noProof="1">
                <a:solidFill>
                  <a:srgbClr val="3FA070"/>
                </a:solidFill>
                <a:latin typeface="Courier New"/>
                <a:cs typeface="Courier New"/>
              </a:rPr>
              <a:t>10</a:t>
            </a:r>
            <a:r>
              <a:rPr lang="en-US" sz="800" spc="-50" noProof="1">
                <a:latin typeface="Courier New"/>
                <a:cs typeface="Courier New"/>
              </a:rPr>
              <a:t>,</a:t>
            </a:r>
            <a:r>
              <a:rPr lang="en-US" sz="800" spc="-70" noProof="1">
                <a:latin typeface="Courier New"/>
                <a:cs typeface="Courier New"/>
              </a:rPr>
              <a:t> </a:t>
            </a:r>
            <a:r>
              <a:rPr lang="en-US" sz="800" spc="-55" noProof="1">
                <a:solidFill>
                  <a:srgbClr val="3FA070"/>
                </a:solidFill>
                <a:latin typeface="Courier New"/>
                <a:cs typeface="Courier New"/>
              </a:rPr>
              <a:t>100</a:t>
            </a:r>
            <a:r>
              <a:rPr lang="en-US" sz="800" spc="-55" noProof="1">
                <a:latin typeface="Courier New"/>
                <a:cs typeface="Courier New"/>
              </a:rPr>
              <a:t>) </a:t>
            </a:r>
            <a:r>
              <a:rPr lang="en-US" sz="800" noProof="1">
                <a:latin typeface="Courier New"/>
                <a:cs typeface="Courier New"/>
              </a:rPr>
              <a:t>y</a:t>
            </a:r>
            <a:r>
              <a:rPr lang="en-US" sz="800" spc="-114" noProof="1">
                <a:latin typeface="Courier New"/>
                <a:cs typeface="Courier New"/>
              </a:rPr>
              <a:t> </a:t>
            </a:r>
            <a:r>
              <a:rPr lang="en-US" sz="800" noProof="1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lang="en-US" sz="800" spc="-110" noProof="1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lang="en-US" sz="800" spc="-10" noProof="1">
                <a:latin typeface="Courier New"/>
                <a:cs typeface="Courier New"/>
              </a:rPr>
              <a:t>np.sin(x)</a:t>
            </a:r>
            <a:endParaRPr lang="en-US" sz="800" noProof="1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lang="en-US" sz="800" noProof="1">
              <a:latin typeface="Courier New"/>
              <a:cs typeface="Courier New"/>
            </a:endParaRPr>
          </a:p>
          <a:p>
            <a:pPr marL="90170" marR="2784475">
              <a:lnSpc>
                <a:spcPct val="107400"/>
              </a:lnSpc>
            </a:pPr>
            <a:r>
              <a:rPr lang="en-US" sz="800" spc="-55" noProof="1">
                <a:latin typeface="Courier New"/>
                <a:cs typeface="Courier New"/>
              </a:rPr>
              <a:t>plt.plot(x,</a:t>
            </a:r>
            <a:r>
              <a:rPr lang="en-US" sz="800" spc="-30" noProof="1">
                <a:latin typeface="Courier New"/>
                <a:cs typeface="Courier New"/>
              </a:rPr>
              <a:t> </a:t>
            </a:r>
            <a:r>
              <a:rPr lang="en-US" sz="800" spc="-70" noProof="1">
                <a:latin typeface="Courier New"/>
                <a:cs typeface="Courier New"/>
              </a:rPr>
              <a:t>y) </a:t>
            </a:r>
            <a:r>
              <a:rPr lang="en-US" sz="800" spc="-10" noProof="1">
                <a:latin typeface="Courier New"/>
                <a:cs typeface="Courier New"/>
              </a:rPr>
              <a:t>plt.show()</a:t>
            </a:r>
            <a:endParaRPr lang="en-US" sz="800" noProof="1">
              <a:latin typeface="Courier New"/>
              <a:cs typeface="Courier New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80778" y="657405"/>
            <a:ext cx="1958437" cy="2399154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9" name="object 9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3234963"/>
              <a:ext cx="5325745" cy="5080"/>
            </a:xfrm>
            <a:custGeom>
              <a:avLst/>
              <a:gdLst/>
              <a:ahLst/>
              <a:cxnLst/>
              <a:rect l="l" t="t" r="r" b="b"/>
              <a:pathLst>
                <a:path w="5325745" h="5080">
                  <a:moveTo>
                    <a:pt x="0" y="5060"/>
                  </a:moveTo>
                  <a:lnTo>
                    <a:pt x="0" y="0"/>
                  </a:lnTo>
                  <a:lnTo>
                    <a:pt x="5325361" y="0"/>
                  </a:lnTo>
                  <a:lnTo>
                    <a:pt x="532536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45" noProof="1"/>
              <a:t>Commands</a:t>
            </a:r>
            <a:r>
              <a:rPr lang="en-US" spc="45" noProof="1"/>
              <a:t> </a:t>
            </a:r>
            <a:r>
              <a:rPr lang="en-US" noProof="1"/>
              <a:t>to</a:t>
            </a:r>
            <a:r>
              <a:rPr lang="en-US" spc="50" noProof="1"/>
              <a:t> </a:t>
            </a:r>
            <a:r>
              <a:rPr lang="en-US" spc="-25" noProof="1"/>
              <a:t>remember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87743" y="763160"/>
            <a:ext cx="2536825" cy="466090"/>
            <a:chOff x="587743" y="763160"/>
            <a:chExt cx="2536825" cy="466090"/>
          </a:xfrm>
        </p:grpSpPr>
        <p:sp>
          <p:nvSpPr>
            <p:cNvPr id="4" name="object 4"/>
            <p:cNvSpPr/>
            <p:nvPr/>
          </p:nvSpPr>
          <p:spPr>
            <a:xfrm>
              <a:off x="587743" y="763160"/>
              <a:ext cx="2536825" cy="147320"/>
            </a:xfrm>
            <a:custGeom>
              <a:avLst/>
              <a:gdLst/>
              <a:ahLst/>
              <a:cxnLst/>
              <a:rect l="l" t="t" r="r" b="b"/>
              <a:pathLst>
                <a:path w="2536825" h="147319">
                  <a:moveTo>
                    <a:pt x="250023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2500237" y="147290"/>
                  </a:lnTo>
                  <a:lnTo>
                    <a:pt x="2514250" y="144460"/>
                  </a:lnTo>
                  <a:lnTo>
                    <a:pt x="2525693" y="136745"/>
                  </a:lnTo>
                  <a:lnTo>
                    <a:pt x="2533408" y="125302"/>
                  </a:lnTo>
                  <a:lnTo>
                    <a:pt x="2536237" y="111289"/>
                  </a:lnTo>
                  <a:lnTo>
                    <a:pt x="2536237" y="36000"/>
                  </a:lnTo>
                  <a:lnTo>
                    <a:pt x="2533408" y="21987"/>
                  </a:lnTo>
                  <a:lnTo>
                    <a:pt x="2525693" y="10544"/>
                  </a:lnTo>
                  <a:lnTo>
                    <a:pt x="2514250" y="2829"/>
                  </a:lnTo>
                  <a:lnTo>
                    <a:pt x="2500237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587743" y="763160"/>
              <a:ext cx="2536825" cy="147320"/>
            </a:xfrm>
            <a:custGeom>
              <a:avLst/>
              <a:gdLst/>
              <a:ahLst/>
              <a:cxnLst/>
              <a:rect l="l" t="t" r="r" b="b"/>
              <a:pathLst>
                <a:path w="2536825" h="147319">
                  <a:moveTo>
                    <a:pt x="250023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2500237" y="147290"/>
                  </a:lnTo>
                  <a:lnTo>
                    <a:pt x="2514250" y="144460"/>
                  </a:lnTo>
                  <a:lnTo>
                    <a:pt x="2525693" y="136745"/>
                  </a:lnTo>
                  <a:lnTo>
                    <a:pt x="2533408" y="125302"/>
                  </a:lnTo>
                  <a:lnTo>
                    <a:pt x="2536237" y="111289"/>
                  </a:lnTo>
                  <a:lnTo>
                    <a:pt x="2536237" y="36000"/>
                  </a:lnTo>
                  <a:lnTo>
                    <a:pt x="2533408" y="21987"/>
                  </a:lnTo>
                  <a:lnTo>
                    <a:pt x="2525693" y="10544"/>
                  </a:lnTo>
                  <a:lnTo>
                    <a:pt x="2514250" y="2829"/>
                  </a:lnTo>
                  <a:lnTo>
                    <a:pt x="250023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587743" y="922494"/>
              <a:ext cx="862330" cy="147320"/>
            </a:xfrm>
            <a:custGeom>
              <a:avLst/>
              <a:gdLst/>
              <a:ahLst/>
              <a:cxnLst/>
              <a:rect l="l" t="t" r="r" b="b"/>
              <a:pathLst>
                <a:path w="862330" h="147319">
                  <a:moveTo>
                    <a:pt x="82628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826282" y="147290"/>
                  </a:lnTo>
                  <a:lnTo>
                    <a:pt x="840295" y="144460"/>
                  </a:lnTo>
                  <a:lnTo>
                    <a:pt x="851738" y="136745"/>
                  </a:lnTo>
                  <a:lnTo>
                    <a:pt x="859453" y="125302"/>
                  </a:lnTo>
                  <a:lnTo>
                    <a:pt x="862282" y="111289"/>
                  </a:lnTo>
                  <a:lnTo>
                    <a:pt x="862282" y="36000"/>
                  </a:lnTo>
                  <a:lnTo>
                    <a:pt x="859453" y="21987"/>
                  </a:lnTo>
                  <a:lnTo>
                    <a:pt x="851738" y="10544"/>
                  </a:lnTo>
                  <a:lnTo>
                    <a:pt x="840295" y="2829"/>
                  </a:lnTo>
                  <a:lnTo>
                    <a:pt x="826282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587743" y="922494"/>
              <a:ext cx="862330" cy="147320"/>
            </a:xfrm>
            <a:custGeom>
              <a:avLst/>
              <a:gdLst/>
              <a:ahLst/>
              <a:cxnLst/>
              <a:rect l="l" t="t" r="r" b="b"/>
              <a:pathLst>
                <a:path w="862330" h="147319">
                  <a:moveTo>
                    <a:pt x="82628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826282" y="147290"/>
                  </a:lnTo>
                  <a:lnTo>
                    <a:pt x="840295" y="144460"/>
                  </a:lnTo>
                  <a:lnTo>
                    <a:pt x="851738" y="136745"/>
                  </a:lnTo>
                  <a:lnTo>
                    <a:pt x="859453" y="125302"/>
                  </a:lnTo>
                  <a:lnTo>
                    <a:pt x="862282" y="111289"/>
                  </a:lnTo>
                  <a:lnTo>
                    <a:pt x="862282" y="36000"/>
                  </a:lnTo>
                  <a:lnTo>
                    <a:pt x="859453" y="21987"/>
                  </a:lnTo>
                  <a:lnTo>
                    <a:pt x="851738" y="10544"/>
                  </a:lnTo>
                  <a:lnTo>
                    <a:pt x="840295" y="2829"/>
                  </a:lnTo>
                  <a:lnTo>
                    <a:pt x="82628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587743" y="1073616"/>
              <a:ext cx="2058035" cy="155575"/>
            </a:xfrm>
            <a:custGeom>
              <a:avLst/>
              <a:gdLst/>
              <a:ahLst/>
              <a:cxnLst/>
              <a:rect l="l" t="t" r="r" b="b"/>
              <a:pathLst>
                <a:path w="2058035" h="155575">
                  <a:moveTo>
                    <a:pt x="202196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2021963" y="155489"/>
                  </a:lnTo>
                  <a:lnTo>
                    <a:pt x="2035977" y="152659"/>
                  </a:lnTo>
                  <a:lnTo>
                    <a:pt x="2047420" y="144944"/>
                  </a:lnTo>
                  <a:lnTo>
                    <a:pt x="2055135" y="133501"/>
                  </a:lnTo>
                  <a:lnTo>
                    <a:pt x="2057964" y="119488"/>
                  </a:lnTo>
                  <a:lnTo>
                    <a:pt x="2057964" y="36000"/>
                  </a:lnTo>
                  <a:lnTo>
                    <a:pt x="2055135" y="21987"/>
                  </a:lnTo>
                  <a:lnTo>
                    <a:pt x="2047420" y="10544"/>
                  </a:lnTo>
                  <a:lnTo>
                    <a:pt x="2035977" y="2829"/>
                  </a:lnTo>
                  <a:lnTo>
                    <a:pt x="2021963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587743" y="1073616"/>
              <a:ext cx="2058035" cy="155575"/>
            </a:xfrm>
            <a:custGeom>
              <a:avLst/>
              <a:gdLst/>
              <a:ahLst/>
              <a:cxnLst/>
              <a:rect l="l" t="t" r="r" b="b"/>
              <a:pathLst>
                <a:path w="2058035" h="155575">
                  <a:moveTo>
                    <a:pt x="202196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2021963" y="155489"/>
                  </a:lnTo>
                  <a:lnTo>
                    <a:pt x="2035977" y="152659"/>
                  </a:lnTo>
                  <a:lnTo>
                    <a:pt x="2047420" y="144944"/>
                  </a:lnTo>
                  <a:lnTo>
                    <a:pt x="2055135" y="133501"/>
                  </a:lnTo>
                  <a:lnTo>
                    <a:pt x="2057964" y="119488"/>
                  </a:lnTo>
                  <a:lnTo>
                    <a:pt x="2057964" y="36000"/>
                  </a:lnTo>
                  <a:lnTo>
                    <a:pt x="2055135" y="21987"/>
                  </a:lnTo>
                  <a:lnTo>
                    <a:pt x="2047420" y="10544"/>
                  </a:lnTo>
                  <a:lnTo>
                    <a:pt x="2035977" y="2829"/>
                  </a:lnTo>
                  <a:lnTo>
                    <a:pt x="2021963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3364826" y="1081815"/>
            <a:ext cx="862330" cy="147320"/>
            <a:chOff x="3364826" y="1081815"/>
            <a:chExt cx="862330" cy="147320"/>
          </a:xfrm>
        </p:grpSpPr>
        <p:sp>
          <p:nvSpPr>
            <p:cNvPr id="11" name="object 11"/>
            <p:cNvSpPr/>
            <p:nvPr/>
          </p:nvSpPr>
          <p:spPr>
            <a:xfrm>
              <a:off x="3364826" y="1081815"/>
              <a:ext cx="862330" cy="147320"/>
            </a:xfrm>
            <a:custGeom>
              <a:avLst/>
              <a:gdLst/>
              <a:ahLst/>
              <a:cxnLst/>
              <a:rect l="l" t="t" r="r" b="b"/>
              <a:pathLst>
                <a:path w="862329" h="147319">
                  <a:moveTo>
                    <a:pt x="82628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826282" y="147290"/>
                  </a:lnTo>
                  <a:lnTo>
                    <a:pt x="840295" y="144460"/>
                  </a:lnTo>
                  <a:lnTo>
                    <a:pt x="851738" y="136745"/>
                  </a:lnTo>
                  <a:lnTo>
                    <a:pt x="859453" y="125302"/>
                  </a:lnTo>
                  <a:lnTo>
                    <a:pt x="862282" y="111289"/>
                  </a:lnTo>
                  <a:lnTo>
                    <a:pt x="862282" y="36000"/>
                  </a:lnTo>
                  <a:lnTo>
                    <a:pt x="859453" y="21987"/>
                  </a:lnTo>
                  <a:lnTo>
                    <a:pt x="851738" y="10544"/>
                  </a:lnTo>
                  <a:lnTo>
                    <a:pt x="840295" y="2829"/>
                  </a:lnTo>
                  <a:lnTo>
                    <a:pt x="826282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2" name="object 12"/>
            <p:cNvSpPr/>
            <p:nvPr/>
          </p:nvSpPr>
          <p:spPr>
            <a:xfrm>
              <a:off x="3364826" y="1081815"/>
              <a:ext cx="862330" cy="147320"/>
            </a:xfrm>
            <a:custGeom>
              <a:avLst/>
              <a:gdLst/>
              <a:ahLst/>
              <a:cxnLst/>
              <a:rect l="l" t="t" r="r" b="b"/>
              <a:pathLst>
                <a:path w="862329" h="147319">
                  <a:moveTo>
                    <a:pt x="82628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826282" y="147290"/>
                  </a:lnTo>
                  <a:lnTo>
                    <a:pt x="840295" y="144460"/>
                  </a:lnTo>
                  <a:lnTo>
                    <a:pt x="851738" y="136745"/>
                  </a:lnTo>
                  <a:lnTo>
                    <a:pt x="859453" y="125302"/>
                  </a:lnTo>
                  <a:lnTo>
                    <a:pt x="862282" y="111289"/>
                  </a:lnTo>
                  <a:lnTo>
                    <a:pt x="862282" y="36000"/>
                  </a:lnTo>
                  <a:lnTo>
                    <a:pt x="859453" y="21987"/>
                  </a:lnTo>
                  <a:lnTo>
                    <a:pt x="851738" y="10544"/>
                  </a:lnTo>
                  <a:lnTo>
                    <a:pt x="840295" y="2829"/>
                  </a:lnTo>
                  <a:lnTo>
                    <a:pt x="82628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587743" y="1401724"/>
            <a:ext cx="1161415" cy="146050"/>
            <a:chOff x="587743" y="1401724"/>
            <a:chExt cx="1161415" cy="146050"/>
          </a:xfrm>
        </p:grpSpPr>
        <p:sp>
          <p:nvSpPr>
            <p:cNvPr id="14" name="object 14"/>
            <p:cNvSpPr/>
            <p:nvPr/>
          </p:nvSpPr>
          <p:spPr>
            <a:xfrm>
              <a:off x="587743" y="1401724"/>
              <a:ext cx="1161415" cy="146050"/>
            </a:xfrm>
            <a:custGeom>
              <a:avLst/>
              <a:gdLst/>
              <a:ahLst/>
              <a:cxnLst/>
              <a:rect l="l" t="t" r="r" b="b"/>
              <a:pathLst>
                <a:path w="1161414" h="146050">
                  <a:moveTo>
                    <a:pt x="112520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037"/>
                  </a:lnTo>
                  <a:lnTo>
                    <a:pt x="2829" y="124050"/>
                  </a:lnTo>
                  <a:lnTo>
                    <a:pt x="10544" y="135493"/>
                  </a:lnTo>
                  <a:lnTo>
                    <a:pt x="21987" y="143208"/>
                  </a:lnTo>
                  <a:lnTo>
                    <a:pt x="36000" y="146037"/>
                  </a:lnTo>
                  <a:lnTo>
                    <a:pt x="1125202" y="146037"/>
                  </a:lnTo>
                  <a:lnTo>
                    <a:pt x="1139215" y="143208"/>
                  </a:lnTo>
                  <a:lnTo>
                    <a:pt x="1150658" y="135493"/>
                  </a:lnTo>
                  <a:lnTo>
                    <a:pt x="1158373" y="124050"/>
                  </a:lnTo>
                  <a:lnTo>
                    <a:pt x="1161202" y="110037"/>
                  </a:lnTo>
                  <a:lnTo>
                    <a:pt x="1161202" y="36000"/>
                  </a:lnTo>
                  <a:lnTo>
                    <a:pt x="1158373" y="21987"/>
                  </a:lnTo>
                  <a:lnTo>
                    <a:pt x="1150658" y="10544"/>
                  </a:lnTo>
                  <a:lnTo>
                    <a:pt x="1139215" y="2829"/>
                  </a:lnTo>
                  <a:lnTo>
                    <a:pt x="1125202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5" name="object 15"/>
            <p:cNvSpPr/>
            <p:nvPr/>
          </p:nvSpPr>
          <p:spPr>
            <a:xfrm>
              <a:off x="587743" y="1401724"/>
              <a:ext cx="1161415" cy="146050"/>
            </a:xfrm>
            <a:custGeom>
              <a:avLst/>
              <a:gdLst/>
              <a:ahLst/>
              <a:cxnLst/>
              <a:rect l="l" t="t" r="r" b="b"/>
              <a:pathLst>
                <a:path w="1161414" h="146050">
                  <a:moveTo>
                    <a:pt x="112520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037"/>
                  </a:lnTo>
                  <a:lnTo>
                    <a:pt x="2829" y="124050"/>
                  </a:lnTo>
                  <a:lnTo>
                    <a:pt x="10544" y="135493"/>
                  </a:lnTo>
                  <a:lnTo>
                    <a:pt x="21987" y="143208"/>
                  </a:lnTo>
                  <a:lnTo>
                    <a:pt x="36000" y="146037"/>
                  </a:lnTo>
                  <a:lnTo>
                    <a:pt x="1125202" y="146037"/>
                  </a:lnTo>
                  <a:lnTo>
                    <a:pt x="1139215" y="143208"/>
                  </a:lnTo>
                  <a:lnTo>
                    <a:pt x="1150658" y="135493"/>
                  </a:lnTo>
                  <a:lnTo>
                    <a:pt x="1158373" y="124050"/>
                  </a:lnTo>
                  <a:lnTo>
                    <a:pt x="1161202" y="110037"/>
                  </a:lnTo>
                  <a:lnTo>
                    <a:pt x="1161202" y="36000"/>
                  </a:lnTo>
                  <a:lnTo>
                    <a:pt x="1158373" y="21987"/>
                  </a:lnTo>
                  <a:lnTo>
                    <a:pt x="1150658" y="10544"/>
                  </a:lnTo>
                  <a:lnTo>
                    <a:pt x="1139215" y="2829"/>
                  </a:lnTo>
                  <a:lnTo>
                    <a:pt x="112520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587743" y="1720377"/>
            <a:ext cx="1520190" cy="305435"/>
            <a:chOff x="587743" y="1720377"/>
            <a:chExt cx="1520190" cy="305435"/>
          </a:xfrm>
        </p:grpSpPr>
        <p:sp>
          <p:nvSpPr>
            <p:cNvPr id="17" name="object 17"/>
            <p:cNvSpPr/>
            <p:nvPr/>
          </p:nvSpPr>
          <p:spPr>
            <a:xfrm>
              <a:off x="587743" y="1720377"/>
              <a:ext cx="1101725" cy="146050"/>
            </a:xfrm>
            <a:custGeom>
              <a:avLst/>
              <a:gdLst/>
              <a:ahLst/>
              <a:cxnLst/>
              <a:rect l="l" t="t" r="r" b="b"/>
              <a:pathLst>
                <a:path w="1101725" h="146050">
                  <a:moveTo>
                    <a:pt x="1065418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9467"/>
                  </a:lnTo>
                  <a:lnTo>
                    <a:pt x="2829" y="123480"/>
                  </a:lnTo>
                  <a:lnTo>
                    <a:pt x="10544" y="134923"/>
                  </a:lnTo>
                  <a:lnTo>
                    <a:pt x="21987" y="142638"/>
                  </a:lnTo>
                  <a:lnTo>
                    <a:pt x="36000" y="145467"/>
                  </a:lnTo>
                  <a:lnTo>
                    <a:pt x="1065418" y="145467"/>
                  </a:lnTo>
                  <a:lnTo>
                    <a:pt x="1079431" y="142638"/>
                  </a:lnTo>
                  <a:lnTo>
                    <a:pt x="1090874" y="134923"/>
                  </a:lnTo>
                  <a:lnTo>
                    <a:pt x="1098589" y="123480"/>
                  </a:lnTo>
                  <a:lnTo>
                    <a:pt x="1101418" y="109467"/>
                  </a:lnTo>
                  <a:lnTo>
                    <a:pt x="1101418" y="36000"/>
                  </a:lnTo>
                  <a:lnTo>
                    <a:pt x="1098589" y="21987"/>
                  </a:lnTo>
                  <a:lnTo>
                    <a:pt x="1090874" y="10544"/>
                  </a:lnTo>
                  <a:lnTo>
                    <a:pt x="1079431" y="2829"/>
                  </a:lnTo>
                  <a:lnTo>
                    <a:pt x="1065418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8" name="object 18"/>
            <p:cNvSpPr/>
            <p:nvPr/>
          </p:nvSpPr>
          <p:spPr>
            <a:xfrm>
              <a:off x="587743" y="1720377"/>
              <a:ext cx="1101725" cy="146050"/>
            </a:xfrm>
            <a:custGeom>
              <a:avLst/>
              <a:gdLst/>
              <a:ahLst/>
              <a:cxnLst/>
              <a:rect l="l" t="t" r="r" b="b"/>
              <a:pathLst>
                <a:path w="1101725" h="146050">
                  <a:moveTo>
                    <a:pt x="1065418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9467"/>
                  </a:lnTo>
                  <a:lnTo>
                    <a:pt x="2829" y="123480"/>
                  </a:lnTo>
                  <a:lnTo>
                    <a:pt x="10544" y="134923"/>
                  </a:lnTo>
                  <a:lnTo>
                    <a:pt x="21987" y="142638"/>
                  </a:lnTo>
                  <a:lnTo>
                    <a:pt x="36000" y="145467"/>
                  </a:lnTo>
                  <a:lnTo>
                    <a:pt x="1065418" y="145467"/>
                  </a:lnTo>
                  <a:lnTo>
                    <a:pt x="1079431" y="142638"/>
                  </a:lnTo>
                  <a:lnTo>
                    <a:pt x="1090874" y="134923"/>
                  </a:lnTo>
                  <a:lnTo>
                    <a:pt x="1098589" y="123480"/>
                  </a:lnTo>
                  <a:lnTo>
                    <a:pt x="1101418" y="109467"/>
                  </a:lnTo>
                  <a:lnTo>
                    <a:pt x="1101418" y="36000"/>
                  </a:lnTo>
                  <a:lnTo>
                    <a:pt x="1098589" y="21987"/>
                  </a:lnTo>
                  <a:lnTo>
                    <a:pt x="1090874" y="10544"/>
                  </a:lnTo>
                  <a:lnTo>
                    <a:pt x="1079431" y="2829"/>
                  </a:lnTo>
                  <a:lnTo>
                    <a:pt x="1065418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9" name="object 19"/>
            <p:cNvSpPr/>
            <p:nvPr/>
          </p:nvSpPr>
          <p:spPr>
            <a:xfrm>
              <a:off x="587743" y="1878448"/>
              <a:ext cx="1520190" cy="147320"/>
            </a:xfrm>
            <a:custGeom>
              <a:avLst/>
              <a:gdLst/>
              <a:ahLst/>
              <a:cxnLst/>
              <a:rect l="l" t="t" r="r" b="b"/>
              <a:pathLst>
                <a:path w="1520189" h="147319">
                  <a:moveTo>
                    <a:pt x="148390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1483907" y="147290"/>
                  </a:lnTo>
                  <a:lnTo>
                    <a:pt x="1497920" y="144460"/>
                  </a:lnTo>
                  <a:lnTo>
                    <a:pt x="1509363" y="136745"/>
                  </a:lnTo>
                  <a:lnTo>
                    <a:pt x="1517078" y="125302"/>
                  </a:lnTo>
                  <a:lnTo>
                    <a:pt x="1519907" y="111289"/>
                  </a:lnTo>
                  <a:lnTo>
                    <a:pt x="1519907" y="36000"/>
                  </a:lnTo>
                  <a:lnTo>
                    <a:pt x="1517078" y="21987"/>
                  </a:lnTo>
                  <a:lnTo>
                    <a:pt x="1509363" y="10544"/>
                  </a:lnTo>
                  <a:lnTo>
                    <a:pt x="1497920" y="2829"/>
                  </a:lnTo>
                  <a:lnTo>
                    <a:pt x="1483907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20" name="object 20"/>
            <p:cNvSpPr/>
            <p:nvPr/>
          </p:nvSpPr>
          <p:spPr>
            <a:xfrm>
              <a:off x="587743" y="1878448"/>
              <a:ext cx="1520190" cy="147320"/>
            </a:xfrm>
            <a:custGeom>
              <a:avLst/>
              <a:gdLst/>
              <a:ahLst/>
              <a:cxnLst/>
              <a:rect l="l" t="t" r="r" b="b"/>
              <a:pathLst>
                <a:path w="1520189" h="147319">
                  <a:moveTo>
                    <a:pt x="148390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1483907" y="147290"/>
                  </a:lnTo>
                  <a:lnTo>
                    <a:pt x="1497920" y="144460"/>
                  </a:lnTo>
                  <a:lnTo>
                    <a:pt x="1509363" y="136745"/>
                  </a:lnTo>
                  <a:lnTo>
                    <a:pt x="1517078" y="125302"/>
                  </a:lnTo>
                  <a:lnTo>
                    <a:pt x="1519907" y="111289"/>
                  </a:lnTo>
                  <a:lnTo>
                    <a:pt x="1519907" y="36000"/>
                  </a:lnTo>
                  <a:lnTo>
                    <a:pt x="1517078" y="21987"/>
                  </a:lnTo>
                  <a:lnTo>
                    <a:pt x="1509363" y="10544"/>
                  </a:lnTo>
                  <a:lnTo>
                    <a:pt x="1497920" y="2829"/>
                  </a:lnTo>
                  <a:lnTo>
                    <a:pt x="148390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587743" y="2197104"/>
            <a:ext cx="2476500" cy="147320"/>
            <a:chOff x="587743" y="2197104"/>
            <a:chExt cx="2476500" cy="147320"/>
          </a:xfrm>
        </p:grpSpPr>
        <p:sp>
          <p:nvSpPr>
            <p:cNvPr id="22" name="object 22"/>
            <p:cNvSpPr/>
            <p:nvPr/>
          </p:nvSpPr>
          <p:spPr>
            <a:xfrm>
              <a:off x="587743" y="2197104"/>
              <a:ext cx="2476500" cy="147320"/>
            </a:xfrm>
            <a:custGeom>
              <a:avLst/>
              <a:gdLst/>
              <a:ahLst/>
              <a:cxnLst/>
              <a:rect l="l" t="t" r="r" b="b"/>
              <a:pathLst>
                <a:path w="2476500" h="147319">
                  <a:moveTo>
                    <a:pt x="244045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2440452" y="147290"/>
                  </a:lnTo>
                  <a:lnTo>
                    <a:pt x="2454465" y="144460"/>
                  </a:lnTo>
                  <a:lnTo>
                    <a:pt x="2465909" y="136745"/>
                  </a:lnTo>
                  <a:lnTo>
                    <a:pt x="2473624" y="125302"/>
                  </a:lnTo>
                  <a:lnTo>
                    <a:pt x="2476453" y="111289"/>
                  </a:lnTo>
                  <a:lnTo>
                    <a:pt x="2476453" y="36000"/>
                  </a:lnTo>
                  <a:lnTo>
                    <a:pt x="2473624" y="21987"/>
                  </a:lnTo>
                  <a:lnTo>
                    <a:pt x="2465909" y="10544"/>
                  </a:lnTo>
                  <a:lnTo>
                    <a:pt x="2454465" y="2829"/>
                  </a:lnTo>
                  <a:lnTo>
                    <a:pt x="2440452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23" name="object 23"/>
            <p:cNvSpPr/>
            <p:nvPr/>
          </p:nvSpPr>
          <p:spPr>
            <a:xfrm>
              <a:off x="587743" y="2197104"/>
              <a:ext cx="2476500" cy="147320"/>
            </a:xfrm>
            <a:custGeom>
              <a:avLst/>
              <a:gdLst/>
              <a:ahLst/>
              <a:cxnLst/>
              <a:rect l="l" t="t" r="r" b="b"/>
              <a:pathLst>
                <a:path w="2476500" h="147319">
                  <a:moveTo>
                    <a:pt x="244045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2440452" y="147290"/>
                  </a:lnTo>
                  <a:lnTo>
                    <a:pt x="2454465" y="144460"/>
                  </a:lnTo>
                  <a:lnTo>
                    <a:pt x="2465909" y="136745"/>
                  </a:lnTo>
                  <a:lnTo>
                    <a:pt x="2473624" y="125302"/>
                  </a:lnTo>
                  <a:lnTo>
                    <a:pt x="2476453" y="111289"/>
                  </a:lnTo>
                  <a:lnTo>
                    <a:pt x="2476453" y="36000"/>
                  </a:lnTo>
                  <a:lnTo>
                    <a:pt x="2473624" y="21987"/>
                  </a:lnTo>
                  <a:lnTo>
                    <a:pt x="2465909" y="10544"/>
                  </a:lnTo>
                  <a:lnTo>
                    <a:pt x="2454465" y="2829"/>
                  </a:lnTo>
                  <a:lnTo>
                    <a:pt x="244045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587743" y="2517007"/>
            <a:ext cx="623570" cy="121285"/>
            <a:chOff x="587743" y="2517007"/>
            <a:chExt cx="623570" cy="121285"/>
          </a:xfrm>
        </p:grpSpPr>
        <p:sp>
          <p:nvSpPr>
            <p:cNvPr id="25" name="object 25"/>
            <p:cNvSpPr/>
            <p:nvPr/>
          </p:nvSpPr>
          <p:spPr>
            <a:xfrm>
              <a:off x="587743" y="2517007"/>
              <a:ext cx="623570" cy="121285"/>
            </a:xfrm>
            <a:custGeom>
              <a:avLst/>
              <a:gdLst/>
              <a:ahLst/>
              <a:cxnLst/>
              <a:rect l="l" t="t" r="r" b="b"/>
              <a:pathLst>
                <a:path w="623569" h="121285">
                  <a:moveTo>
                    <a:pt x="58714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587145" y="120757"/>
                  </a:lnTo>
                  <a:lnTo>
                    <a:pt x="601158" y="117928"/>
                  </a:lnTo>
                  <a:lnTo>
                    <a:pt x="612602" y="110213"/>
                  </a:lnTo>
                  <a:lnTo>
                    <a:pt x="620317" y="98770"/>
                  </a:lnTo>
                  <a:lnTo>
                    <a:pt x="623146" y="84757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8" y="2829"/>
                  </a:lnTo>
                  <a:lnTo>
                    <a:pt x="587145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26" name="object 26"/>
            <p:cNvSpPr/>
            <p:nvPr/>
          </p:nvSpPr>
          <p:spPr>
            <a:xfrm>
              <a:off x="587743" y="2517007"/>
              <a:ext cx="623570" cy="121285"/>
            </a:xfrm>
            <a:custGeom>
              <a:avLst/>
              <a:gdLst/>
              <a:ahLst/>
              <a:cxnLst/>
              <a:rect l="l" t="t" r="r" b="b"/>
              <a:pathLst>
                <a:path w="623569" h="121285">
                  <a:moveTo>
                    <a:pt x="58714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587145" y="120757"/>
                  </a:lnTo>
                  <a:lnTo>
                    <a:pt x="601158" y="117928"/>
                  </a:lnTo>
                  <a:lnTo>
                    <a:pt x="612602" y="110213"/>
                  </a:lnTo>
                  <a:lnTo>
                    <a:pt x="620317" y="98770"/>
                  </a:lnTo>
                  <a:lnTo>
                    <a:pt x="623146" y="84757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8" y="2829"/>
                  </a:lnTo>
                  <a:lnTo>
                    <a:pt x="58714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427126" y="710035"/>
            <a:ext cx="4786630" cy="193738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72720" indent="-160020">
              <a:lnSpc>
                <a:spcPct val="100000"/>
              </a:lnSpc>
              <a:spcBef>
                <a:spcPts val="275"/>
              </a:spcBef>
              <a:buClr>
                <a:srgbClr val="22373A"/>
              </a:buClr>
              <a:buFont typeface="Arial"/>
              <a:buChar char="•"/>
              <a:tabLst>
                <a:tab pos="172720" algn="l"/>
              </a:tabLst>
            </a:pPr>
            <a:r>
              <a:rPr lang="en-US" sz="900" spc="-75" noProof="1">
                <a:latin typeface="Courier New"/>
                <a:cs typeface="Courier New"/>
              </a:rPr>
              <a:t>uv</a:t>
            </a:r>
            <a:r>
              <a:rPr lang="en-US" sz="900" spc="-70" noProof="1">
                <a:latin typeface="Courier New"/>
                <a:cs typeface="Courier New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venv</a:t>
            </a:r>
            <a:r>
              <a:rPr lang="en-US" sz="900" spc="-70" noProof="1">
                <a:latin typeface="Courier New"/>
                <a:cs typeface="Courier New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--seed</a:t>
            </a:r>
            <a:r>
              <a:rPr lang="en-US" sz="900" spc="-70" noProof="1">
                <a:latin typeface="Courier New"/>
                <a:cs typeface="Courier New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--python</a:t>
            </a:r>
            <a:r>
              <a:rPr lang="en-US" sz="900" spc="-70" noProof="1">
                <a:latin typeface="Courier New"/>
                <a:cs typeface="Courier New"/>
              </a:rPr>
              <a:t> 3.8 </a:t>
            </a:r>
            <a:r>
              <a:rPr lang="en-US" sz="900" spc="-75" noProof="1">
                <a:latin typeface="Courier New"/>
                <a:cs typeface="Courier New"/>
              </a:rPr>
              <a:t>.project1-</a:t>
            </a:r>
            <a:r>
              <a:rPr lang="en-US" sz="900" spc="-10" noProof="1">
                <a:latin typeface="Courier New"/>
                <a:cs typeface="Courier New"/>
              </a:rPr>
              <a:t>venv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3.8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environment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named</a:t>
            </a:r>
            <a:endParaRPr lang="en-US" sz="900" noProof="1">
              <a:latin typeface="Arial"/>
              <a:cs typeface="Arial"/>
            </a:endParaRPr>
          </a:p>
          <a:p>
            <a:pPr marL="172720">
              <a:lnSpc>
                <a:spcPct val="100000"/>
              </a:lnSpc>
              <a:spcBef>
                <a:spcPts val="175"/>
              </a:spcBef>
            </a:pPr>
            <a:r>
              <a:rPr lang="en-US" sz="900" spc="-75" noProof="1">
                <a:latin typeface="Courier New"/>
                <a:cs typeface="Courier New"/>
              </a:rPr>
              <a:t>.project1-</a:t>
            </a:r>
            <a:r>
              <a:rPr lang="en-US" sz="900" spc="-10" noProof="1">
                <a:latin typeface="Courier New"/>
                <a:cs typeface="Courier New"/>
              </a:rPr>
              <a:t>venv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160020" marR="20955" indent="-147955">
              <a:lnSpc>
                <a:spcPct val="116199"/>
              </a:lnSpc>
              <a:buFont typeface="Arial"/>
              <a:buChar char="•"/>
              <a:tabLst>
                <a:tab pos="160020" algn="l"/>
                <a:tab pos="172085" algn="l"/>
              </a:tabLst>
            </a:pPr>
            <a:r>
              <a:rPr lang="en-US" sz="900" noProof="1">
                <a:solidFill>
                  <a:srgbClr val="22373A"/>
                </a:solidFill>
                <a:latin typeface="Courier New"/>
                <a:cs typeface="Courier New"/>
              </a:rPr>
              <a:t>	</a:t>
            </a:r>
            <a:r>
              <a:rPr lang="en-US" sz="900" spc="-75" noProof="1">
                <a:latin typeface="Courier New"/>
                <a:cs typeface="Courier New"/>
              </a:rPr>
              <a:t>source</a:t>
            </a:r>
            <a:r>
              <a:rPr lang="en-US" sz="900" spc="-70" noProof="1">
                <a:latin typeface="Courier New"/>
                <a:cs typeface="Courier New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.project1-</a:t>
            </a:r>
            <a:r>
              <a:rPr lang="en-US" sz="900" spc="-60" noProof="1">
                <a:latin typeface="Courier New"/>
                <a:cs typeface="Courier New"/>
              </a:rPr>
              <a:t>venv/bin/activate</a:t>
            </a:r>
            <a:r>
              <a:rPr lang="en-US" sz="900" spc="-6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900" spc="1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Activate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.project1-venv</a:t>
            </a:r>
            <a:r>
              <a:rPr lang="en-US" sz="900" spc="-135" noProof="1">
                <a:latin typeface="Courier New"/>
                <a:cs typeface="Courier New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environment.</a:t>
            </a:r>
            <a:r>
              <a:rPr lang="en-US" sz="900" spc="1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(You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same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directory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environment).</a:t>
            </a:r>
            <a:endParaRPr lang="en-US" sz="900" noProof="1">
              <a:latin typeface="Arial"/>
              <a:cs typeface="Arial"/>
            </a:endParaRPr>
          </a:p>
          <a:p>
            <a:pPr marL="160020" marR="96520" indent="-147955">
              <a:lnSpc>
                <a:spcPct val="116199"/>
              </a:lnSpc>
              <a:buFont typeface="Arial"/>
              <a:buChar char="•"/>
              <a:tabLst>
                <a:tab pos="160020" algn="l"/>
                <a:tab pos="172085" algn="l"/>
              </a:tabLst>
            </a:pPr>
            <a:r>
              <a:rPr lang="en-US" sz="900" noProof="1">
                <a:solidFill>
                  <a:srgbClr val="22373A"/>
                </a:solidFill>
                <a:latin typeface="Courier New"/>
                <a:cs typeface="Courier New"/>
              </a:rPr>
              <a:t>	</a:t>
            </a:r>
            <a:r>
              <a:rPr lang="en-US" sz="900" spc="-70" noProof="1">
                <a:latin typeface="Courier New"/>
                <a:cs typeface="Courier New"/>
              </a:rPr>
              <a:t>pip install </a:t>
            </a:r>
            <a:r>
              <a:rPr lang="en-US" sz="900" spc="-40" noProof="1">
                <a:latin typeface="Courier New"/>
                <a:cs typeface="Courier New"/>
              </a:rPr>
              <a:t>jupyter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Install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Jupyter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current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environment.</a:t>
            </a:r>
            <a:r>
              <a:rPr lang="en-US" sz="900" spc="9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(You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activate the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environment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first).</a:t>
            </a:r>
            <a:endParaRPr lang="en-US" sz="900" noProof="1">
              <a:latin typeface="Arial"/>
              <a:cs typeface="Arial"/>
            </a:endParaRPr>
          </a:p>
          <a:p>
            <a:pPr marL="172720" indent="-160020">
              <a:lnSpc>
                <a:spcPct val="100000"/>
              </a:lnSpc>
              <a:spcBef>
                <a:spcPts val="170"/>
              </a:spcBef>
              <a:buClr>
                <a:srgbClr val="22373A"/>
              </a:buClr>
              <a:buFont typeface="Arial"/>
              <a:buChar char="•"/>
              <a:tabLst>
                <a:tab pos="172720" algn="l"/>
              </a:tabLst>
            </a:pPr>
            <a:r>
              <a:rPr lang="en-US" sz="900" spc="-70" noProof="1">
                <a:latin typeface="Courier New"/>
                <a:cs typeface="Courier New"/>
              </a:rPr>
              <a:t>pip install </a:t>
            </a:r>
            <a:r>
              <a:rPr lang="en-US" sz="900" spc="-35" noProof="1">
                <a:latin typeface="Courier New"/>
                <a:cs typeface="Courier New"/>
              </a:rPr>
              <a:t>pandas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Install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Pandas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current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environment.</a:t>
            </a:r>
            <a:endParaRPr lang="en-US" sz="900" noProof="1">
              <a:latin typeface="Arial"/>
              <a:cs typeface="Arial"/>
            </a:endParaRPr>
          </a:p>
          <a:p>
            <a:pPr marL="157480" marR="92710" indent="-145415">
              <a:lnSpc>
                <a:spcPct val="116199"/>
              </a:lnSpc>
              <a:buFont typeface="Arial"/>
              <a:buChar char="•"/>
              <a:tabLst>
                <a:tab pos="157480" algn="l"/>
                <a:tab pos="172085" algn="l"/>
              </a:tabLst>
            </a:pPr>
            <a:r>
              <a:rPr lang="en-US" sz="900" noProof="1">
                <a:solidFill>
                  <a:srgbClr val="22373A"/>
                </a:solidFill>
                <a:latin typeface="Courier New"/>
                <a:cs typeface="Courier New"/>
              </a:rPr>
              <a:t>	</a:t>
            </a:r>
            <a:r>
              <a:rPr lang="en-US" sz="900" spc="-70" noProof="1">
                <a:latin typeface="Courier New"/>
                <a:cs typeface="Courier New"/>
              </a:rPr>
              <a:t>pip install </a:t>
            </a:r>
            <a:r>
              <a:rPr lang="en-US" sz="900" spc="-75" noProof="1">
                <a:latin typeface="Courier New"/>
                <a:cs typeface="Courier New"/>
              </a:rPr>
              <a:t>numpy==1.21.0</a:t>
            </a:r>
            <a:r>
              <a:rPr lang="en-US" sz="900" spc="-44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Install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specific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version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package.</a:t>
            </a:r>
            <a:r>
              <a:rPr lang="en-US" sz="900" spc="1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(In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case,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Numpy 1.21.0).</a:t>
            </a:r>
            <a:endParaRPr lang="en-US" sz="900" noProof="1">
              <a:latin typeface="Arial"/>
              <a:cs typeface="Arial"/>
            </a:endParaRPr>
          </a:p>
          <a:p>
            <a:pPr marL="160020" marR="59055" indent="-147955">
              <a:lnSpc>
                <a:spcPct val="116199"/>
              </a:lnSpc>
              <a:buFont typeface="Arial"/>
              <a:buChar char="•"/>
              <a:tabLst>
                <a:tab pos="160020" algn="l"/>
                <a:tab pos="172085" algn="l"/>
              </a:tabLst>
            </a:pPr>
            <a:r>
              <a:rPr lang="en-US" sz="900" noProof="1">
                <a:solidFill>
                  <a:srgbClr val="22373A"/>
                </a:solidFill>
                <a:latin typeface="Courier New"/>
                <a:cs typeface="Courier New"/>
              </a:rPr>
              <a:t>	</a:t>
            </a:r>
            <a:r>
              <a:rPr lang="en-US" sz="900" spc="-70" noProof="1">
                <a:latin typeface="Courier New"/>
                <a:cs typeface="Courier New"/>
              </a:rPr>
              <a:t>jupyter notebook </a:t>
            </a:r>
            <a:r>
              <a:rPr lang="en-US" sz="900" spc="-75" noProof="1">
                <a:latin typeface="Courier New"/>
                <a:cs typeface="Courier New"/>
              </a:rPr>
              <a:t>--</a:t>
            </a:r>
            <a:r>
              <a:rPr lang="en-US" sz="900" spc="-70" noProof="1">
                <a:latin typeface="Courier New"/>
                <a:cs typeface="Courier New"/>
              </a:rPr>
              <a:t>port=8888 </a:t>
            </a:r>
            <a:r>
              <a:rPr lang="en-US" sz="900" spc="-75" noProof="1">
                <a:latin typeface="Courier New"/>
                <a:cs typeface="Courier New"/>
              </a:rPr>
              <a:t>--ip=0.0.0.0</a:t>
            </a:r>
            <a:r>
              <a:rPr lang="en-US" sz="900" spc="-44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Run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Jupyter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port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8888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listen on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all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addresses.</a:t>
            </a:r>
            <a:endParaRPr lang="en-US" sz="900" noProof="1">
              <a:latin typeface="Arial"/>
              <a:cs typeface="Arial"/>
            </a:endParaRPr>
          </a:p>
          <a:p>
            <a:pPr marL="172720" indent="-160020">
              <a:lnSpc>
                <a:spcPct val="100000"/>
              </a:lnSpc>
              <a:spcBef>
                <a:spcPts val="175"/>
              </a:spcBef>
              <a:buClr>
                <a:srgbClr val="22373A"/>
              </a:buClr>
              <a:buFont typeface="Arial"/>
              <a:buChar char="•"/>
              <a:tabLst>
                <a:tab pos="172720" algn="l"/>
              </a:tabLst>
            </a:pPr>
            <a:r>
              <a:rPr lang="en-US" sz="900" spc="-50" noProof="1">
                <a:latin typeface="Courier New"/>
                <a:cs typeface="Courier New"/>
              </a:rPr>
              <a:t>deactivate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900" spc="8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Deactivate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the current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environment.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29" name="object 29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30" name="object 30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31" name="object 31"/>
            <p:cNvSpPr/>
            <p:nvPr/>
          </p:nvSpPr>
          <p:spPr>
            <a:xfrm>
              <a:off x="0" y="3234963"/>
              <a:ext cx="5434330" cy="5080"/>
            </a:xfrm>
            <a:custGeom>
              <a:avLst/>
              <a:gdLst/>
              <a:ahLst/>
              <a:cxnLst/>
              <a:rect l="l" t="t" r="r" b="b"/>
              <a:pathLst>
                <a:path w="5434330" h="5080">
                  <a:moveTo>
                    <a:pt x="0" y="5060"/>
                  </a:moveTo>
                  <a:lnTo>
                    <a:pt x="0" y="0"/>
                  </a:lnTo>
                  <a:lnTo>
                    <a:pt x="5433995" y="0"/>
                  </a:lnTo>
                  <a:lnTo>
                    <a:pt x="543399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45" noProof="1"/>
              <a:t>Commands</a:t>
            </a:r>
            <a:r>
              <a:rPr lang="en-US" spc="45" noProof="1"/>
              <a:t> </a:t>
            </a:r>
            <a:r>
              <a:rPr lang="en-US" noProof="1"/>
              <a:t>to</a:t>
            </a:r>
            <a:r>
              <a:rPr lang="en-US" spc="50" noProof="1"/>
              <a:t> </a:t>
            </a:r>
            <a:r>
              <a:rPr lang="en-US" spc="-25" noProof="1"/>
              <a:t>remember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810497" y="1387822"/>
            <a:ext cx="504190" cy="147320"/>
            <a:chOff x="2810497" y="1387822"/>
            <a:chExt cx="504190" cy="147320"/>
          </a:xfrm>
        </p:grpSpPr>
        <p:sp>
          <p:nvSpPr>
            <p:cNvPr id="4" name="object 4"/>
            <p:cNvSpPr/>
            <p:nvPr/>
          </p:nvSpPr>
          <p:spPr>
            <a:xfrm>
              <a:off x="2810497" y="1387822"/>
              <a:ext cx="504190" cy="147320"/>
            </a:xfrm>
            <a:custGeom>
              <a:avLst/>
              <a:gdLst/>
              <a:ahLst/>
              <a:cxnLst/>
              <a:rect l="l" t="t" r="r" b="b"/>
              <a:pathLst>
                <a:path w="504189" h="147319">
                  <a:moveTo>
                    <a:pt x="46757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467577" y="147290"/>
                  </a:lnTo>
                  <a:lnTo>
                    <a:pt x="481590" y="144460"/>
                  </a:lnTo>
                  <a:lnTo>
                    <a:pt x="493033" y="136745"/>
                  </a:lnTo>
                  <a:lnTo>
                    <a:pt x="500748" y="125302"/>
                  </a:lnTo>
                  <a:lnTo>
                    <a:pt x="503577" y="111289"/>
                  </a:lnTo>
                  <a:lnTo>
                    <a:pt x="503577" y="36000"/>
                  </a:lnTo>
                  <a:lnTo>
                    <a:pt x="500748" y="21987"/>
                  </a:lnTo>
                  <a:lnTo>
                    <a:pt x="493033" y="10544"/>
                  </a:lnTo>
                  <a:lnTo>
                    <a:pt x="481590" y="2829"/>
                  </a:lnTo>
                  <a:lnTo>
                    <a:pt x="467577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2810497" y="1387822"/>
              <a:ext cx="504190" cy="147320"/>
            </a:xfrm>
            <a:custGeom>
              <a:avLst/>
              <a:gdLst/>
              <a:ahLst/>
              <a:cxnLst/>
              <a:rect l="l" t="t" r="r" b="b"/>
              <a:pathLst>
                <a:path w="504189" h="147319">
                  <a:moveTo>
                    <a:pt x="46757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467577" y="147290"/>
                  </a:lnTo>
                  <a:lnTo>
                    <a:pt x="481590" y="144460"/>
                  </a:lnTo>
                  <a:lnTo>
                    <a:pt x="493033" y="136745"/>
                  </a:lnTo>
                  <a:lnTo>
                    <a:pt x="500748" y="125302"/>
                  </a:lnTo>
                  <a:lnTo>
                    <a:pt x="503577" y="111289"/>
                  </a:lnTo>
                  <a:lnTo>
                    <a:pt x="503577" y="36000"/>
                  </a:lnTo>
                  <a:lnTo>
                    <a:pt x="500748" y="21987"/>
                  </a:lnTo>
                  <a:lnTo>
                    <a:pt x="493033" y="10544"/>
                  </a:lnTo>
                  <a:lnTo>
                    <a:pt x="481590" y="2829"/>
                  </a:lnTo>
                  <a:lnTo>
                    <a:pt x="46757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994827" y="1547156"/>
            <a:ext cx="504190" cy="147320"/>
            <a:chOff x="1994827" y="1547156"/>
            <a:chExt cx="504190" cy="147320"/>
          </a:xfrm>
        </p:grpSpPr>
        <p:sp>
          <p:nvSpPr>
            <p:cNvPr id="7" name="object 7"/>
            <p:cNvSpPr/>
            <p:nvPr/>
          </p:nvSpPr>
          <p:spPr>
            <a:xfrm>
              <a:off x="1994827" y="1547156"/>
              <a:ext cx="504190" cy="147320"/>
            </a:xfrm>
            <a:custGeom>
              <a:avLst/>
              <a:gdLst/>
              <a:ahLst/>
              <a:cxnLst/>
              <a:rect l="l" t="t" r="r" b="b"/>
              <a:pathLst>
                <a:path w="504189" h="147319">
                  <a:moveTo>
                    <a:pt x="46757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467577" y="147290"/>
                  </a:lnTo>
                  <a:lnTo>
                    <a:pt x="481590" y="144460"/>
                  </a:lnTo>
                  <a:lnTo>
                    <a:pt x="493033" y="136745"/>
                  </a:lnTo>
                  <a:lnTo>
                    <a:pt x="500748" y="125302"/>
                  </a:lnTo>
                  <a:lnTo>
                    <a:pt x="503577" y="111289"/>
                  </a:lnTo>
                  <a:lnTo>
                    <a:pt x="503577" y="36000"/>
                  </a:lnTo>
                  <a:lnTo>
                    <a:pt x="500748" y="21987"/>
                  </a:lnTo>
                  <a:lnTo>
                    <a:pt x="493033" y="10544"/>
                  </a:lnTo>
                  <a:lnTo>
                    <a:pt x="481590" y="2829"/>
                  </a:lnTo>
                  <a:lnTo>
                    <a:pt x="467577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1994827" y="1547156"/>
              <a:ext cx="504190" cy="147320"/>
            </a:xfrm>
            <a:custGeom>
              <a:avLst/>
              <a:gdLst/>
              <a:ahLst/>
              <a:cxnLst/>
              <a:rect l="l" t="t" r="r" b="b"/>
              <a:pathLst>
                <a:path w="504189" h="147319">
                  <a:moveTo>
                    <a:pt x="46757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467577" y="147290"/>
                  </a:lnTo>
                  <a:lnTo>
                    <a:pt x="481590" y="144460"/>
                  </a:lnTo>
                  <a:lnTo>
                    <a:pt x="493033" y="136745"/>
                  </a:lnTo>
                  <a:lnTo>
                    <a:pt x="500748" y="125302"/>
                  </a:lnTo>
                  <a:lnTo>
                    <a:pt x="503577" y="111289"/>
                  </a:lnTo>
                  <a:lnTo>
                    <a:pt x="503577" y="36000"/>
                  </a:lnTo>
                  <a:lnTo>
                    <a:pt x="500748" y="21987"/>
                  </a:lnTo>
                  <a:lnTo>
                    <a:pt x="493033" y="10544"/>
                  </a:lnTo>
                  <a:lnTo>
                    <a:pt x="481590" y="2829"/>
                  </a:lnTo>
                  <a:lnTo>
                    <a:pt x="46757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587743" y="1387822"/>
            <a:ext cx="1460500" cy="625475"/>
            <a:chOff x="587743" y="1387822"/>
            <a:chExt cx="1460500" cy="625475"/>
          </a:xfrm>
        </p:grpSpPr>
        <p:sp>
          <p:nvSpPr>
            <p:cNvPr id="10" name="object 10"/>
            <p:cNvSpPr/>
            <p:nvPr/>
          </p:nvSpPr>
          <p:spPr>
            <a:xfrm>
              <a:off x="587743" y="1387822"/>
              <a:ext cx="862330" cy="147320"/>
            </a:xfrm>
            <a:custGeom>
              <a:avLst/>
              <a:gdLst/>
              <a:ahLst/>
              <a:cxnLst/>
              <a:rect l="l" t="t" r="r" b="b"/>
              <a:pathLst>
                <a:path w="862330" h="147319">
                  <a:moveTo>
                    <a:pt x="82628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826282" y="147290"/>
                  </a:lnTo>
                  <a:lnTo>
                    <a:pt x="840295" y="144460"/>
                  </a:lnTo>
                  <a:lnTo>
                    <a:pt x="851738" y="136745"/>
                  </a:lnTo>
                  <a:lnTo>
                    <a:pt x="859453" y="125302"/>
                  </a:lnTo>
                  <a:lnTo>
                    <a:pt x="862282" y="111289"/>
                  </a:lnTo>
                  <a:lnTo>
                    <a:pt x="862282" y="36000"/>
                  </a:lnTo>
                  <a:lnTo>
                    <a:pt x="859453" y="21987"/>
                  </a:lnTo>
                  <a:lnTo>
                    <a:pt x="851738" y="10544"/>
                  </a:lnTo>
                  <a:lnTo>
                    <a:pt x="840295" y="2829"/>
                  </a:lnTo>
                  <a:lnTo>
                    <a:pt x="826282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1" name="object 11"/>
            <p:cNvSpPr/>
            <p:nvPr/>
          </p:nvSpPr>
          <p:spPr>
            <a:xfrm>
              <a:off x="587743" y="1387822"/>
              <a:ext cx="862330" cy="147320"/>
            </a:xfrm>
            <a:custGeom>
              <a:avLst/>
              <a:gdLst/>
              <a:ahLst/>
              <a:cxnLst/>
              <a:rect l="l" t="t" r="r" b="b"/>
              <a:pathLst>
                <a:path w="862330" h="147319">
                  <a:moveTo>
                    <a:pt x="82628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826282" y="147290"/>
                  </a:lnTo>
                  <a:lnTo>
                    <a:pt x="840295" y="144460"/>
                  </a:lnTo>
                  <a:lnTo>
                    <a:pt x="851738" y="136745"/>
                  </a:lnTo>
                  <a:lnTo>
                    <a:pt x="859453" y="125302"/>
                  </a:lnTo>
                  <a:lnTo>
                    <a:pt x="862282" y="111289"/>
                  </a:lnTo>
                  <a:lnTo>
                    <a:pt x="862282" y="36000"/>
                  </a:lnTo>
                  <a:lnTo>
                    <a:pt x="859453" y="21987"/>
                  </a:lnTo>
                  <a:lnTo>
                    <a:pt x="851738" y="10544"/>
                  </a:lnTo>
                  <a:lnTo>
                    <a:pt x="840295" y="2829"/>
                  </a:lnTo>
                  <a:lnTo>
                    <a:pt x="82628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2" name="object 12"/>
            <p:cNvSpPr/>
            <p:nvPr/>
          </p:nvSpPr>
          <p:spPr>
            <a:xfrm>
              <a:off x="587743" y="1547156"/>
              <a:ext cx="683260" cy="147320"/>
            </a:xfrm>
            <a:custGeom>
              <a:avLst/>
              <a:gdLst/>
              <a:ahLst/>
              <a:cxnLst/>
              <a:rect l="l" t="t" r="r" b="b"/>
              <a:pathLst>
                <a:path w="683260" h="147319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646930" y="147290"/>
                  </a:lnTo>
                  <a:lnTo>
                    <a:pt x="660943" y="144460"/>
                  </a:lnTo>
                  <a:lnTo>
                    <a:pt x="672386" y="136745"/>
                  </a:lnTo>
                  <a:lnTo>
                    <a:pt x="680101" y="125302"/>
                  </a:lnTo>
                  <a:lnTo>
                    <a:pt x="682930" y="111289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3" name="object 13"/>
            <p:cNvSpPr/>
            <p:nvPr/>
          </p:nvSpPr>
          <p:spPr>
            <a:xfrm>
              <a:off x="587743" y="1547156"/>
              <a:ext cx="683260" cy="147320"/>
            </a:xfrm>
            <a:custGeom>
              <a:avLst/>
              <a:gdLst/>
              <a:ahLst/>
              <a:cxnLst/>
              <a:rect l="l" t="t" r="r" b="b"/>
              <a:pathLst>
                <a:path w="683260" h="147319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646930" y="147290"/>
                  </a:lnTo>
                  <a:lnTo>
                    <a:pt x="660943" y="144460"/>
                  </a:lnTo>
                  <a:lnTo>
                    <a:pt x="672386" y="136745"/>
                  </a:lnTo>
                  <a:lnTo>
                    <a:pt x="680101" y="125302"/>
                  </a:lnTo>
                  <a:lnTo>
                    <a:pt x="682930" y="111289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4" name="object 14"/>
            <p:cNvSpPr/>
            <p:nvPr/>
          </p:nvSpPr>
          <p:spPr>
            <a:xfrm>
              <a:off x="587743" y="1707737"/>
              <a:ext cx="324485" cy="121285"/>
            </a:xfrm>
            <a:custGeom>
              <a:avLst/>
              <a:gdLst/>
              <a:ahLst/>
              <a:cxnLst/>
              <a:rect l="l" t="t" r="r" b="b"/>
              <a:pathLst>
                <a:path w="324484" h="121285">
                  <a:moveTo>
                    <a:pt x="28822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288225" y="120757"/>
                  </a:lnTo>
                  <a:lnTo>
                    <a:pt x="302238" y="117928"/>
                  </a:lnTo>
                  <a:lnTo>
                    <a:pt x="313681" y="110213"/>
                  </a:lnTo>
                  <a:lnTo>
                    <a:pt x="321396" y="98770"/>
                  </a:lnTo>
                  <a:lnTo>
                    <a:pt x="324225" y="84757"/>
                  </a:lnTo>
                  <a:lnTo>
                    <a:pt x="324225" y="36000"/>
                  </a:lnTo>
                  <a:lnTo>
                    <a:pt x="321396" y="21987"/>
                  </a:lnTo>
                  <a:lnTo>
                    <a:pt x="313681" y="10544"/>
                  </a:lnTo>
                  <a:lnTo>
                    <a:pt x="302238" y="2829"/>
                  </a:lnTo>
                  <a:lnTo>
                    <a:pt x="288225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5" name="object 15"/>
            <p:cNvSpPr/>
            <p:nvPr/>
          </p:nvSpPr>
          <p:spPr>
            <a:xfrm>
              <a:off x="587743" y="1707737"/>
              <a:ext cx="324485" cy="121285"/>
            </a:xfrm>
            <a:custGeom>
              <a:avLst/>
              <a:gdLst/>
              <a:ahLst/>
              <a:cxnLst/>
              <a:rect l="l" t="t" r="r" b="b"/>
              <a:pathLst>
                <a:path w="324484" h="121285">
                  <a:moveTo>
                    <a:pt x="28822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288225" y="120757"/>
                  </a:lnTo>
                  <a:lnTo>
                    <a:pt x="302238" y="117928"/>
                  </a:lnTo>
                  <a:lnTo>
                    <a:pt x="313681" y="110213"/>
                  </a:lnTo>
                  <a:lnTo>
                    <a:pt x="321396" y="98770"/>
                  </a:lnTo>
                  <a:lnTo>
                    <a:pt x="324225" y="84757"/>
                  </a:lnTo>
                  <a:lnTo>
                    <a:pt x="324225" y="36000"/>
                  </a:lnTo>
                  <a:lnTo>
                    <a:pt x="321396" y="21987"/>
                  </a:lnTo>
                  <a:lnTo>
                    <a:pt x="313681" y="10544"/>
                  </a:lnTo>
                  <a:lnTo>
                    <a:pt x="302238" y="2829"/>
                  </a:lnTo>
                  <a:lnTo>
                    <a:pt x="28822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6" name="object 16"/>
            <p:cNvSpPr/>
            <p:nvPr/>
          </p:nvSpPr>
          <p:spPr>
            <a:xfrm>
              <a:off x="587743" y="1857613"/>
              <a:ext cx="1460500" cy="155575"/>
            </a:xfrm>
            <a:custGeom>
              <a:avLst/>
              <a:gdLst/>
              <a:ahLst/>
              <a:cxnLst/>
              <a:rect l="l" t="t" r="r" b="b"/>
              <a:pathLst>
                <a:path w="1460500" h="155575">
                  <a:moveTo>
                    <a:pt x="142412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1424123" y="155489"/>
                  </a:lnTo>
                  <a:lnTo>
                    <a:pt x="1438136" y="152659"/>
                  </a:lnTo>
                  <a:lnTo>
                    <a:pt x="1449579" y="144944"/>
                  </a:lnTo>
                  <a:lnTo>
                    <a:pt x="1457294" y="133501"/>
                  </a:lnTo>
                  <a:lnTo>
                    <a:pt x="1460123" y="119488"/>
                  </a:lnTo>
                  <a:lnTo>
                    <a:pt x="1460123" y="36000"/>
                  </a:lnTo>
                  <a:lnTo>
                    <a:pt x="1457294" y="21987"/>
                  </a:lnTo>
                  <a:lnTo>
                    <a:pt x="1449579" y="10544"/>
                  </a:lnTo>
                  <a:lnTo>
                    <a:pt x="1438136" y="2829"/>
                  </a:lnTo>
                  <a:lnTo>
                    <a:pt x="1424123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7" name="object 17"/>
            <p:cNvSpPr/>
            <p:nvPr/>
          </p:nvSpPr>
          <p:spPr>
            <a:xfrm>
              <a:off x="587743" y="1857613"/>
              <a:ext cx="1460500" cy="155575"/>
            </a:xfrm>
            <a:custGeom>
              <a:avLst/>
              <a:gdLst/>
              <a:ahLst/>
              <a:cxnLst/>
              <a:rect l="l" t="t" r="r" b="b"/>
              <a:pathLst>
                <a:path w="1460500" h="155575">
                  <a:moveTo>
                    <a:pt x="142412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1424123" y="155489"/>
                  </a:lnTo>
                  <a:lnTo>
                    <a:pt x="1438136" y="152659"/>
                  </a:lnTo>
                  <a:lnTo>
                    <a:pt x="1449579" y="144944"/>
                  </a:lnTo>
                  <a:lnTo>
                    <a:pt x="1457294" y="133501"/>
                  </a:lnTo>
                  <a:lnTo>
                    <a:pt x="1460123" y="119488"/>
                  </a:lnTo>
                  <a:lnTo>
                    <a:pt x="1460123" y="36000"/>
                  </a:lnTo>
                  <a:lnTo>
                    <a:pt x="1457294" y="21987"/>
                  </a:lnTo>
                  <a:lnTo>
                    <a:pt x="1449579" y="10544"/>
                  </a:lnTo>
                  <a:lnTo>
                    <a:pt x="1438136" y="2829"/>
                  </a:lnTo>
                  <a:lnTo>
                    <a:pt x="1424123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3922471" y="1857613"/>
            <a:ext cx="1221105" cy="155575"/>
            <a:chOff x="3922471" y="1857613"/>
            <a:chExt cx="1221105" cy="155575"/>
          </a:xfrm>
        </p:grpSpPr>
        <p:sp>
          <p:nvSpPr>
            <p:cNvPr id="19" name="object 19"/>
            <p:cNvSpPr/>
            <p:nvPr/>
          </p:nvSpPr>
          <p:spPr>
            <a:xfrm>
              <a:off x="3922471" y="1857613"/>
              <a:ext cx="1221105" cy="155575"/>
            </a:xfrm>
            <a:custGeom>
              <a:avLst/>
              <a:gdLst/>
              <a:ahLst/>
              <a:cxnLst/>
              <a:rect l="l" t="t" r="r" b="b"/>
              <a:pathLst>
                <a:path w="1221104" h="155575">
                  <a:moveTo>
                    <a:pt x="1184986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1184986" y="155489"/>
                  </a:lnTo>
                  <a:lnTo>
                    <a:pt x="1198999" y="152659"/>
                  </a:lnTo>
                  <a:lnTo>
                    <a:pt x="1210442" y="144944"/>
                  </a:lnTo>
                  <a:lnTo>
                    <a:pt x="1218158" y="133501"/>
                  </a:lnTo>
                  <a:lnTo>
                    <a:pt x="1220987" y="119488"/>
                  </a:lnTo>
                  <a:lnTo>
                    <a:pt x="1220987" y="36000"/>
                  </a:lnTo>
                  <a:lnTo>
                    <a:pt x="1218158" y="21987"/>
                  </a:lnTo>
                  <a:lnTo>
                    <a:pt x="1210442" y="10544"/>
                  </a:lnTo>
                  <a:lnTo>
                    <a:pt x="1198999" y="2829"/>
                  </a:lnTo>
                  <a:lnTo>
                    <a:pt x="1184986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20" name="object 20"/>
            <p:cNvSpPr/>
            <p:nvPr/>
          </p:nvSpPr>
          <p:spPr>
            <a:xfrm>
              <a:off x="3922471" y="1857613"/>
              <a:ext cx="1221105" cy="155575"/>
            </a:xfrm>
            <a:custGeom>
              <a:avLst/>
              <a:gdLst/>
              <a:ahLst/>
              <a:cxnLst/>
              <a:rect l="l" t="t" r="r" b="b"/>
              <a:pathLst>
                <a:path w="1221104" h="155575">
                  <a:moveTo>
                    <a:pt x="1184986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1184986" y="155489"/>
                  </a:lnTo>
                  <a:lnTo>
                    <a:pt x="1198999" y="152659"/>
                  </a:lnTo>
                  <a:lnTo>
                    <a:pt x="1210442" y="144944"/>
                  </a:lnTo>
                  <a:lnTo>
                    <a:pt x="1218158" y="133501"/>
                  </a:lnTo>
                  <a:lnTo>
                    <a:pt x="1220987" y="119488"/>
                  </a:lnTo>
                  <a:lnTo>
                    <a:pt x="1220987" y="36000"/>
                  </a:lnTo>
                  <a:lnTo>
                    <a:pt x="1218158" y="21987"/>
                  </a:lnTo>
                  <a:lnTo>
                    <a:pt x="1210442" y="10544"/>
                  </a:lnTo>
                  <a:lnTo>
                    <a:pt x="1198999" y="2829"/>
                  </a:lnTo>
                  <a:lnTo>
                    <a:pt x="1184986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27126" y="1334722"/>
            <a:ext cx="4761865" cy="66294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72720" indent="-160020">
              <a:lnSpc>
                <a:spcPct val="100000"/>
              </a:lnSpc>
              <a:spcBef>
                <a:spcPts val="275"/>
              </a:spcBef>
              <a:buClr>
                <a:srgbClr val="22373A"/>
              </a:buClr>
              <a:buFont typeface="Arial"/>
              <a:buChar char="•"/>
              <a:tabLst>
                <a:tab pos="172720" algn="l"/>
              </a:tabLst>
            </a:pPr>
            <a:r>
              <a:rPr lang="en-US" sz="900" spc="-75" noProof="1">
                <a:latin typeface="Courier New"/>
                <a:cs typeface="Courier New"/>
              </a:rPr>
              <a:t>mkdir</a:t>
            </a:r>
            <a:r>
              <a:rPr lang="en-US" sz="900" spc="-70" noProof="1">
                <a:latin typeface="Courier New"/>
                <a:cs typeface="Courier New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project1</a:t>
            </a:r>
            <a:r>
              <a:rPr lang="en-US" sz="900" spc="-44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900" spc="9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directory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named</a:t>
            </a:r>
            <a:r>
              <a:rPr lang="en-US" sz="900" spc="1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project1</a:t>
            </a:r>
            <a:r>
              <a:rPr lang="en-US" sz="900" spc="-445" noProof="1">
                <a:latin typeface="Courier New"/>
                <a:cs typeface="Courier New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172720" indent="-160020">
              <a:lnSpc>
                <a:spcPct val="100000"/>
              </a:lnSpc>
              <a:spcBef>
                <a:spcPts val="175"/>
              </a:spcBef>
              <a:buClr>
                <a:srgbClr val="22373A"/>
              </a:buClr>
              <a:buFont typeface="Arial"/>
              <a:buChar char="•"/>
              <a:tabLst>
                <a:tab pos="172720" algn="l"/>
              </a:tabLst>
            </a:pPr>
            <a:r>
              <a:rPr lang="en-US" sz="900" spc="-75" noProof="1">
                <a:latin typeface="Courier New"/>
                <a:cs typeface="Courier New"/>
              </a:rPr>
              <a:t>cd</a:t>
            </a:r>
            <a:r>
              <a:rPr lang="en-US" sz="900" spc="-65" noProof="1">
                <a:latin typeface="Courier New"/>
                <a:cs typeface="Courier New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project1</a:t>
            </a:r>
            <a:r>
              <a:rPr lang="en-US" sz="900" spc="-44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900" spc="16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Move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6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6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project1</a:t>
            </a:r>
            <a:r>
              <a:rPr lang="en-US" sz="900" spc="-130" noProof="1">
                <a:latin typeface="Courier New"/>
                <a:cs typeface="Courier New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directory.</a:t>
            </a:r>
            <a:endParaRPr lang="en-US" sz="900" noProof="1">
              <a:latin typeface="Arial"/>
              <a:cs typeface="Arial"/>
            </a:endParaRPr>
          </a:p>
          <a:p>
            <a:pPr marL="172720" indent="-160020">
              <a:lnSpc>
                <a:spcPct val="100000"/>
              </a:lnSpc>
              <a:spcBef>
                <a:spcPts val="175"/>
              </a:spcBef>
              <a:buClr>
                <a:srgbClr val="22373A"/>
              </a:buClr>
              <a:buFont typeface="Arial"/>
              <a:buChar char="•"/>
              <a:tabLst>
                <a:tab pos="172720" algn="l"/>
              </a:tabLst>
            </a:pPr>
            <a:r>
              <a:rPr lang="en-US" sz="900" spc="-75" noProof="1">
                <a:latin typeface="Courier New"/>
                <a:cs typeface="Courier New"/>
              </a:rPr>
              <a:t>cd</a:t>
            </a:r>
            <a:r>
              <a:rPr lang="en-US" sz="900" spc="-70" noProof="1">
                <a:latin typeface="Courier New"/>
                <a:cs typeface="Courier New"/>
              </a:rPr>
              <a:t> </a:t>
            </a:r>
            <a:r>
              <a:rPr lang="en-US" sz="900" noProof="1">
                <a:latin typeface="Courier New"/>
                <a:cs typeface="Courier New"/>
              </a:rPr>
              <a:t>..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900" spc="7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Move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parent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directory.</a:t>
            </a:r>
            <a:endParaRPr lang="en-US" sz="900" noProof="1">
              <a:latin typeface="Arial"/>
              <a:cs typeface="Arial"/>
            </a:endParaRPr>
          </a:p>
          <a:p>
            <a:pPr marL="172720" indent="-160020">
              <a:lnSpc>
                <a:spcPct val="100000"/>
              </a:lnSpc>
              <a:spcBef>
                <a:spcPts val="170"/>
              </a:spcBef>
              <a:buClr>
                <a:srgbClr val="22373A"/>
              </a:buClr>
              <a:buFont typeface="Arial"/>
              <a:buChar char="•"/>
              <a:tabLst>
                <a:tab pos="172720" algn="l"/>
              </a:tabLst>
            </a:pPr>
            <a:r>
              <a:rPr lang="en-US" sz="900" spc="-70" noProof="1">
                <a:latin typeface="Courier New"/>
                <a:cs typeface="Courier New"/>
              </a:rPr>
              <a:t>cat </a:t>
            </a:r>
            <a:r>
              <a:rPr lang="en-US" sz="900" spc="-75" noProof="1">
                <a:latin typeface="Courier New"/>
                <a:cs typeface="Courier New"/>
              </a:rPr>
              <a:t>.ssh/aws-</a:t>
            </a:r>
            <a:r>
              <a:rPr lang="en-US" sz="900" spc="-50" noProof="1">
                <a:latin typeface="Courier New"/>
                <a:cs typeface="Courier New"/>
              </a:rPr>
              <a:t>keypair.pub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900" spc="8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Show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contents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located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at</a:t>
            </a:r>
            <a:r>
              <a:rPr lang="en-US" sz="900" spc="1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.ssh/aws-</a:t>
            </a:r>
            <a:r>
              <a:rPr lang="en-US" sz="900" spc="-40" noProof="1">
                <a:latin typeface="Courier New"/>
                <a:cs typeface="Courier New"/>
              </a:rPr>
              <a:t>keypair.pub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23" name="object 23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24" name="object 24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25" name="object 25"/>
            <p:cNvSpPr/>
            <p:nvPr/>
          </p:nvSpPr>
          <p:spPr>
            <a:xfrm>
              <a:off x="0" y="3234963"/>
              <a:ext cx="5542915" cy="5080"/>
            </a:xfrm>
            <a:custGeom>
              <a:avLst/>
              <a:gdLst/>
              <a:ahLst/>
              <a:cxnLst/>
              <a:rect l="l" t="t" r="r" b="b"/>
              <a:pathLst>
                <a:path w="5542915" h="5080">
                  <a:moveTo>
                    <a:pt x="0" y="5060"/>
                  </a:moveTo>
                  <a:lnTo>
                    <a:pt x="0" y="0"/>
                  </a:lnTo>
                  <a:lnTo>
                    <a:pt x="5542717" y="0"/>
                  </a:lnTo>
                  <a:lnTo>
                    <a:pt x="554271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5167"/>
            <a:ext cx="7061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b="1" spc="-65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Conclusion</a:t>
            </a:r>
            <a:endParaRPr lang="en-US" sz="1100" noProof="1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7056"/>
            <a:ext cx="2505710" cy="5080"/>
            <a:chOff x="1627403" y="1647056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7056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7056"/>
              <a:ext cx="2411095" cy="5080"/>
            </a:xfrm>
            <a:custGeom>
              <a:avLst/>
              <a:gdLst/>
              <a:ahLst/>
              <a:cxnLst/>
              <a:rect l="l" t="t" r="r" b="b"/>
              <a:pathLst>
                <a:path w="2411095" h="5080">
                  <a:moveTo>
                    <a:pt x="0" y="5060"/>
                  </a:moveTo>
                  <a:lnTo>
                    <a:pt x="0" y="0"/>
                  </a:lnTo>
                  <a:lnTo>
                    <a:pt x="2410702" y="0"/>
                  </a:lnTo>
                  <a:lnTo>
                    <a:pt x="241070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RECAP:</a:t>
            </a:r>
            <a:r>
              <a:rPr lang="en-US" spc="20" noProof="1"/>
              <a:t> </a:t>
            </a:r>
            <a:r>
              <a:rPr lang="en-US" spc="-35" noProof="1"/>
              <a:t>Summary</a:t>
            </a:r>
            <a:r>
              <a:rPr lang="en-US" spc="20" noProof="1"/>
              <a:t> </a:t>
            </a:r>
            <a:r>
              <a:rPr lang="en-US" noProof="1"/>
              <a:t>of</a:t>
            </a:r>
            <a:r>
              <a:rPr lang="en-US" spc="20" noProof="1"/>
              <a:t> </a:t>
            </a:r>
            <a:r>
              <a:rPr lang="en-US" noProof="1"/>
              <a:t>the</a:t>
            </a:r>
            <a:r>
              <a:rPr lang="en-US" spc="20" noProof="1"/>
              <a:t> </a:t>
            </a:r>
            <a:r>
              <a:rPr lang="en-US" spc="-70" noProof="1"/>
              <a:t>session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4335" y="1291572"/>
            <a:ext cx="5039360" cy="7994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4940" indent="-14224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154940" algn="l"/>
              </a:tabLst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learned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about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AWS,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specifically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EC2.</a:t>
            </a:r>
            <a:endParaRPr lang="en-US" sz="900" noProof="1">
              <a:latin typeface="Arial"/>
              <a:cs typeface="Arial"/>
            </a:endParaRPr>
          </a:p>
          <a:p>
            <a:pPr marL="15240" marR="5080" indent="142240">
              <a:lnSpc>
                <a:spcPct val="116199"/>
              </a:lnSpc>
              <a:spcBef>
                <a:spcPts val="625"/>
              </a:spcBef>
              <a:buAutoNum type="arabicPeriod"/>
              <a:tabLst>
                <a:tab pos="157480" algn="l"/>
              </a:tabLst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learned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to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deploy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Jupyter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in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manage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Python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environments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with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uv.</a:t>
            </a:r>
            <a:endParaRPr lang="en-US" sz="900" noProof="1">
              <a:latin typeface="Arial"/>
              <a:cs typeface="Arial"/>
            </a:endParaRPr>
          </a:p>
          <a:p>
            <a:pPr marL="157480" indent="-142240">
              <a:lnSpc>
                <a:spcPct val="100000"/>
              </a:lnSpc>
              <a:spcBef>
                <a:spcPts val="805"/>
              </a:spcBef>
              <a:buAutoNum type="arabicPeriod"/>
              <a:tabLst>
                <a:tab pos="157480" algn="l"/>
              </a:tabLst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learned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about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groups,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pairs,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and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to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connect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to the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SSH.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651500" cy="5080"/>
            </a:xfrm>
            <a:custGeom>
              <a:avLst/>
              <a:gdLst/>
              <a:ahLst/>
              <a:cxnLst/>
              <a:rect l="l" t="t" r="r" b="b"/>
              <a:pathLst>
                <a:path w="5651500" h="5080">
                  <a:moveTo>
                    <a:pt x="0" y="5060"/>
                  </a:moveTo>
                  <a:lnTo>
                    <a:pt x="0" y="0"/>
                  </a:lnTo>
                  <a:lnTo>
                    <a:pt x="5651351" y="0"/>
                  </a:lnTo>
                  <a:lnTo>
                    <a:pt x="565135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18681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Why</a:t>
            </a:r>
            <a:r>
              <a:rPr lang="en-US" spc="10" noProof="1"/>
              <a:t> </a:t>
            </a:r>
            <a:r>
              <a:rPr lang="en-US" spc="-45" noProof="1"/>
              <a:t>use</a:t>
            </a:r>
            <a:r>
              <a:rPr lang="en-US" spc="10" noProof="1"/>
              <a:t> </a:t>
            </a:r>
            <a:r>
              <a:rPr lang="en-US" spc="-20" noProof="1"/>
              <a:t>Jupyter</a:t>
            </a:r>
            <a:r>
              <a:rPr lang="en-US" spc="15" noProof="1"/>
              <a:t> </a:t>
            </a:r>
            <a:r>
              <a:rPr lang="en-US" noProof="1"/>
              <a:t>on</a:t>
            </a:r>
            <a:r>
              <a:rPr lang="en-US" spc="10" noProof="1"/>
              <a:t> </a:t>
            </a:r>
            <a:r>
              <a:rPr lang="en-US" noProof="1"/>
              <a:t>the</a:t>
            </a:r>
            <a:r>
              <a:rPr lang="en-US" spc="10" noProof="1"/>
              <a:t> </a:t>
            </a:r>
            <a:r>
              <a:rPr lang="en-US" spc="-40" noProof="1"/>
              <a:t>Cloud?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1023856"/>
            <a:ext cx="5008245" cy="13569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Example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Cases</a:t>
            </a:r>
            <a:endParaRPr lang="en-US" sz="900" noProof="1">
              <a:latin typeface="Arial"/>
              <a:cs typeface="Arial"/>
            </a:endParaRPr>
          </a:p>
          <a:p>
            <a:pPr marL="240029" marR="213995" indent="-147955">
              <a:lnSpc>
                <a:spcPct val="116199"/>
              </a:lnSpc>
              <a:spcBef>
                <a:spcPts val="625"/>
              </a:spcBef>
              <a:buChar char="•"/>
              <a:tabLst>
                <a:tab pos="240029" algn="l"/>
              </a:tabLst>
            </a:pP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Large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Datasets:</a:t>
            </a:r>
            <a:r>
              <a:rPr lang="en-US" sz="900" spc="9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dataset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big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local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machine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(e.g.,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1000GB),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storage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compute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power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essential.</a:t>
            </a:r>
            <a:endParaRPr lang="en-US" sz="900" noProof="1">
              <a:latin typeface="Arial"/>
              <a:cs typeface="Arial"/>
            </a:endParaRPr>
          </a:p>
          <a:p>
            <a:pPr marL="240029" marR="5080" indent="-147955">
              <a:lnSpc>
                <a:spcPct val="116199"/>
              </a:lnSpc>
              <a:spcBef>
                <a:spcPts val="630"/>
              </a:spcBef>
              <a:buChar char="•"/>
              <a:tabLst>
                <a:tab pos="240029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High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Computational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Requirements:</a:t>
            </a:r>
            <a:r>
              <a:rPr lang="en-US" sz="900" spc="9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Some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models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require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GPUs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high-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memory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machines,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which can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rented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via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AWS.</a:t>
            </a:r>
            <a:endParaRPr lang="en-US" sz="900" noProof="1">
              <a:latin typeface="Arial"/>
              <a:cs typeface="Arial"/>
            </a:endParaRPr>
          </a:p>
          <a:p>
            <a:pPr marL="240029" marR="124460" indent="-147955">
              <a:lnSpc>
                <a:spcPct val="116199"/>
              </a:lnSpc>
              <a:spcBef>
                <a:spcPts val="625"/>
              </a:spcBef>
              <a:buChar char="•"/>
              <a:tabLst>
                <a:tab pos="240029" algn="l"/>
              </a:tabLst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Collaboration:</a:t>
            </a:r>
            <a:r>
              <a:rPr lang="en-US" sz="900" spc="1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give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others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my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Jupyter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same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environment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data.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370</TotalTime>
  <Words>2928</Words>
  <Application>Microsoft Macintosh PowerPoint</Application>
  <PresentationFormat>Personalizado</PresentationFormat>
  <Paragraphs>316</Paragraphs>
  <Slides>54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54</vt:i4>
      </vt:variant>
    </vt:vector>
  </HeadingPairs>
  <TitlesOfParts>
    <vt:vector size="58" baseType="lpstr">
      <vt:lpstr>Aptos</vt:lpstr>
      <vt:lpstr>Arial</vt:lpstr>
      <vt:lpstr>Courier New</vt:lpstr>
      <vt:lpstr>Office Theme</vt:lpstr>
      <vt:lpstr>Presentación de PowerPoint</vt:lpstr>
      <vt:lpstr>Amazon Web Services</vt:lpstr>
      <vt:lpstr>Amazon Web Services: EC2</vt:lpstr>
      <vt:lpstr>Presentación de PowerPoint</vt:lpstr>
      <vt:lpstr>A remote terminal through SSH</vt:lpstr>
      <vt:lpstr>How does SSH work?</vt:lpstr>
      <vt:lpstr>What do you mean by client and server?</vt:lpstr>
      <vt:lpstr>Presentación de PowerPoint</vt:lpstr>
      <vt:lpstr>Ports</vt:lpstr>
      <vt:lpstr>Security groups</vt:lpstr>
      <vt:lpstr>Presentación de PowerPoint</vt:lpstr>
      <vt:lpstr>Goals for today</vt:lpstr>
      <vt:lpstr>Presentación de PowerPoint</vt:lpstr>
      <vt:lpstr>Presentación de PowerPoint</vt:lpstr>
      <vt:lpstr>Presentación de PowerPoint</vt:lpstr>
      <vt:lpstr>Logging in from now on</vt:lpstr>
      <vt:lpstr>Logging in from now on</vt:lpstr>
      <vt:lpstr>Available courses</vt:lpstr>
      <vt:lpstr>Available courses: AWS Cloud Foundation Course</vt:lpstr>
      <vt:lpstr>Available courses: AWS Learner Lab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Creating an SSH Key Pair</vt:lpstr>
      <vt:lpstr>Creating an SSH Key Pair</vt:lpstr>
      <vt:lpstr>Importing our generated key pair</vt:lpstr>
      <vt:lpstr>Creating an EC2 instance</vt:lpstr>
      <vt:lpstr>Security Group</vt:lpstr>
      <vt:lpstr>Presentación de PowerPoint</vt:lpstr>
      <vt:lpstr>Connecting to the instance</vt:lpstr>
      <vt:lpstr>Managing Python environments with uv</vt:lpstr>
      <vt:lpstr>Why use uv?</vt:lpstr>
      <vt:lpstr>Installing uv</vt:lpstr>
      <vt:lpstr>Creating two example uv Projects</vt:lpstr>
      <vt:lpstr>Creating two example uv Projects</vt:lpstr>
      <vt:lpstr>Working with the environments</vt:lpstr>
      <vt:lpstr>Working with the environments</vt:lpstr>
      <vt:lpstr>Running Jupyter Notebook (I)</vt:lpstr>
      <vt:lpstr>Running Jupyter Notebook (I)</vt:lpstr>
      <vt:lpstr>Opening the port 8888</vt:lpstr>
      <vt:lpstr>Running Jupyter Notebook (II)</vt:lpstr>
      <vt:lpstr>Accessing the Jupyter Notebook</vt:lpstr>
      <vt:lpstr>Accessing the Jupyter Notebook</vt:lpstr>
      <vt:lpstr>Running python code in the notebook</vt:lpstr>
      <vt:lpstr>Commands to remember</vt:lpstr>
      <vt:lpstr>Commands to remember</vt:lpstr>
      <vt:lpstr>Presentación de PowerPoint</vt:lpstr>
      <vt:lpstr>RECAP: Summary of the session</vt:lpstr>
      <vt:lpstr>Why use Jupyter on the Cloud?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High Performance and Distributed Computing for Big Data - Unit 3: Hands-On AWS Setup</dc:title>
  <dc:creator>Ferran Aran Domingo ` `%%%`#`&amp;12_`__~~~ౡ氀猀攀</dc:creator>
  <cp:keywords>Cloud Computing, AWS, EC2, Jupyter, Security Groups</cp:keywords>
  <cp:lastModifiedBy>Francesc Xavier Solsona Tehas</cp:lastModifiedBy>
  <cp:revision>33</cp:revision>
  <dcterms:created xsi:type="dcterms:W3CDTF">2025-05-19T16:09:11Z</dcterms:created>
  <dcterms:modified xsi:type="dcterms:W3CDTF">2026-04-21T16:37:38Z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2025-02-26T00:00:00Z</vt:filetime>
  </property>
  <property fmtid="{D5CDD505-2E9C-101B-9397-08002B2CF9AE}" pid="3" name="Creator">
    <vt:lpwstr>LaTeX via pandoc</vt:lpwstr>
  </property>
  <property fmtid="{D5CDD505-2E9C-101B-9397-08002B2CF9AE}" pid="4" name="Producer">
    <vt:lpwstr>xdvipdfmx (20240210)</vt:lpwstr>
  </property>
  <property fmtid="{D5CDD505-2E9C-101B-9397-08002B2CF9AE}" pid="5" name="LastSaved">
    <vt:filetime>2025-02-26T00:00:00Z</vt:filetime>
  </property>
</Properties>
</file>