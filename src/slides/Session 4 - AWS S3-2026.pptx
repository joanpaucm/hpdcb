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9"/>
  </p:notesMasterIdLst>
  <p:sldIdLst>
    <p:sldId id="256" r:id="rId2"/>
    <p:sldId id="264" r:id="rId3"/>
    <p:sldId id="265" r:id="rId4"/>
    <p:sldId id="266" r:id="rId5"/>
    <p:sldId id="267" r:id="rId6"/>
    <p:sldId id="268" r:id="rId7"/>
    <p:sldId id="269" r:id="rId8"/>
    <p:sldId id="270" r:id="rId9"/>
    <p:sldId id="271" r:id="rId10"/>
    <p:sldId id="272" r:id="rId11"/>
    <p:sldId id="273" r:id="rId12"/>
    <p:sldId id="274" r:id="rId13"/>
    <p:sldId id="275" r:id="rId14"/>
    <p:sldId id="276" r:id="rId15"/>
    <p:sldId id="277" r:id="rId16"/>
    <p:sldId id="278" r:id="rId17"/>
    <p:sldId id="279" r:id="rId18"/>
    <p:sldId id="280" r:id="rId19"/>
    <p:sldId id="281" r:id="rId20"/>
    <p:sldId id="282" r:id="rId21"/>
    <p:sldId id="283" r:id="rId22"/>
    <p:sldId id="284" r:id="rId23"/>
    <p:sldId id="285" r:id="rId24"/>
    <p:sldId id="286" r:id="rId25"/>
    <p:sldId id="287" r:id="rId26"/>
    <p:sldId id="288" r:id="rId27"/>
    <p:sldId id="289" r:id="rId28"/>
    <p:sldId id="290" r:id="rId29"/>
    <p:sldId id="291" r:id="rId30"/>
    <p:sldId id="292" r:id="rId31"/>
    <p:sldId id="293" r:id="rId32"/>
    <p:sldId id="294" r:id="rId33"/>
    <p:sldId id="297" r:id="rId34"/>
    <p:sldId id="301" r:id="rId35"/>
    <p:sldId id="302" r:id="rId36"/>
    <p:sldId id="303" r:id="rId37"/>
    <p:sldId id="304" r:id="rId38"/>
    <p:sldId id="305" r:id="rId39"/>
    <p:sldId id="308" r:id="rId40"/>
    <p:sldId id="309" r:id="rId41"/>
    <p:sldId id="310" r:id="rId42"/>
    <p:sldId id="311" r:id="rId43"/>
    <p:sldId id="312" r:id="rId44"/>
    <p:sldId id="316" r:id="rId45"/>
    <p:sldId id="317" r:id="rId46"/>
    <p:sldId id="318" r:id="rId47"/>
    <p:sldId id="319" r:id="rId48"/>
    <p:sldId id="320" r:id="rId49"/>
    <p:sldId id="321" r:id="rId50"/>
    <p:sldId id="322" r:id="rId51"/>
    <p:sldId id="323" r:id="rId52"/>
    <p:sldId id="324" r:id="rId53"/>
    <p:sldId id="325" r:id="rId54"/>
    <p:sldId id="326" r:id="rId55"/>
    <p:sldId id="327" r:id="rId56"/>
    <p:sldId id="328" r:id="rId57"/>
    <p:sldId id="329" r:id="rId58"/>
  </p:sldIdLst>
  <p:sldSz cx="5765800" cy="3244850"/>
  <p:notesSz cx="5765800" cy="324485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C059E8B-818E-5141-A4D1-302A56EDA28F}" v="27" dt="2026-02-27T18:03:08.764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806"/>
    <p:restoredTop sz="94755"/>
  </p:normalViewPr>
  <p:slideViewPr>
    <p:cSldViewPr>
      <p:cViewPr varScale="1">
        <p:scale>
          <a:sx n="203" d="100"/>
          <a:sy n="203" d="100"/>
        </p:scale>
        <p:origin x="280" y="168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61" Type="http://schemas.openxmlformats.org/officeDocument/2006/relationships/viewProps" Target="view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microsoft.com/office/2016/11/relationships/changesInfo" Target="changesInfos/changesInfo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presProps" Target="presProps.xml"/><Relationship Id="rId65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rancesc Xavier Solsona Tehas" userId="1f95e2c3-a25c-4efc-a37b-de93ab79e53c" providerId="ADAL" clId="{C51773D9-DD29-5A84-A509-762D3F3EA38B}"/>
    <pc:docChg chg="undo custSel modSld">
      <pc:chgData name="Francesc Xavier Solsona Tehas" userId="1f95e2c3-a25c-4efc-a37b-de93ab79e53c" providerId="ADAL" clId="{C51773D9-DD29-5A84-A509-762D3F3EA38B}" dt="2026-02-27T18:03:46.786" v="426" actId="14100"/>
      <pc:docMkLst>
        <pc:docMk/>
      </pc:docMkLst>
      <pc:sldChg chg="modSp mod">
        <pc:chgData name="Francesc Xavier Solsona Tehas" userId="1f95e2c3-a25c-4efc-a37b-de93ab79e53c" providerId="ADAL" clId="{C51773D9-DD29-5A84-A509-762D3F3EA38B}" dt="2026-02-27T17:28:15.654" v="355" actId="20577"/>
        <pc:sldMkLst>
          <pc:docMk/>
          <pc:sldMk cId="0" sldId="256"/>
        </pc:sldMkLst>
        <pc:spChg chg="mod">
          <ac:chgData name="Francesc Xavier Solsona Tehas" userId="1f95e2c3-a25c-4efc-a37b-de93ab79e53c" providerId="ADAL" clId="{C51773D9-DD29-5A84-A509-762D3F3EA38B}" dt="2026-02-27T17:28:15.654" v="355" actId="20577"/>
          <ac:spMkLst>
            <pc:docMk/>
            <pc:sldMk cId="0" sldId="256"/>
            <ac:spMk id="5" creationId="{00000000-0000-0000-0000-000000000000}"/>
          </ac:spMkLst>
        </pc:spChg>
      </pc:sldChg>
      <pc:sldChg chg="addSp delSp modSp mod">
        <pc:chgData name="Francesc Xavier Solsona Tehas" userId="1f95e2c3-a25c-4efc-a37b-de93ab79e53c" providerId="ADAL" clId="{C51773D9-DD29-5A84-A509-762D3F3EA38B}" dt="2026-02-25T17:31:07.196" v="278" actId="20577"/>
        <pc:sldMkLst>
          <pc:docMk/>
          <pc:sldMk cId="0" sldId="288"/>
        </pc:sldMkLst>
        <pc:spChg chg="mod">
          <ac:chgData name="Francesc Xavier Solsona Tehas" userId="1f95e2c3-a25c-4efc-a37b-de93ab79e53c" providerId="ADAL" clId="{C51773D9-DD29-5A84-A509-762D3F3EA38B}" dt="2026-02-25T17:22:58.782" v="67" actId="20577"/>
          <ac:spMkLst>
            <pc:docMk/>
            <pc:sldMk cId="0" sldId="288"/>
            <ac:spMk id="2" creationId="{00000000-0000-0000-0000-000000000000}"/>
          </ac:spMkLst>
        </pc:spChg>
        <pc:spChg chg="mod">
          <ac:chgData name="Francesc Xavier Solsona Tehas" userId="1f95e2c3-a25c-4efc-a37b-de93ab79e53c" providerId="ADAL" clId="{C51773D9-DD29-5A84-A509-762D3F3EA38B}" dt="2026-02-25T17:31:07.196" v="278" actId="20577"/>
          <ac:spMkLst>
            <pc:docMk/>
            <pc:sldMk cId="0" sldId="288"/>
            <ac:spMk id="6" creationId="{00000000-0000-0000-0000-000000000000}"/>
          </ac:spMkLst>
        </pc:spChg>
        <pc:spChg chg="add mod">
          <ac:chgData name="Francesc Xavier Solsona Tehas" userId="1f95e2c3-a25c-4efc-a37b-de93ab79e53c" providerId="ADAL" clId="{C51773D9-DD29-5A84-A509-762D3F3EA38B}" dt="2026-02-25T17:28:34.407" v="222"/>
          <ac:spMkLst>
            <pc:docMk/>
            <pc:sldMk cId="0" sldId="288"/>
            <ac:spMk id="11" creationId="{3D3B9152-8B31-2A5B-394E-4D54985509B5}"/>
          </ac:spMkLst>
        </pc:spChg>
      </pc:sldChg>
      <pc:sldChg chg="addSp delSp modSp mod modNotesTx">
        <pc:chgData name="Francesc Xavier Solsona Tehas" userId="1f95e2c3-a25c-4efc-a37b-de93ab79e53c" providerId="ADAL" clId="{C51773D9-DD29-5A84-A509-762D3F3EA38B}" dt="2026-02-25T17:29:46.780" v="241" actId="1036"/>
        <pc:sldMkLst>
          <pc:docMk/>
          <pc:sldMk cId="0" sldId="290"/>
        </pc:sldMkLst>
        <pc:spChg chg="mod">
          <ac:chgData name="Francesc Xavier Solsona Tehas" userId="1f95e2c3-a25c-4efc-a37b-de93ab79e53c" providerId="ADAL" clId="{C51773D9-DD29-5A84-A509-762D3F3EA38B}" dt="2026-02-25T17:29:46.780" v="241" actId="1036"/>
          <ac:spMkLst>
            <pc:docMk/>
            <pc:sldMk cId="0" sldId="290"/>
            <ac:spMk id="17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25T17:41:45.980" v="280" actId="20577"/>
        <pc:sldMkLst>
          <pc:docMk/>
          <pc:sldMk cId="0" sldId="297"/>
        </pc:sldMkLst>
        <pc:spChg chg="mod">
          <ac:chgData name="Francesc Xavier Solsona Tehas" userId="1f95e2c3-a25c-4efc-a37b-de93ab79e53c" providerId="ADAL" clId="{C51773D9-DD29-5A84-A509-762D3F3EA38B}" dt="2026-02-25T17:41:45.980" v="280" actId="20577"/>
          <ac:spMkLst>
            <pc:docMk/>
            <pc:sldMk cId="0" sldId="297"/>
            <ac:spMk id="3" creationId="{00000000-0000-0000-0000-000000000000}"/>
          </ac:spMkLst>
        </pc:spChg>
      </pc:sldChg>
      <pc:sldChg chg="addSp delSp modSp mod modNotesTx">
        <pc:chgData name="Francesc Xavier Solsona Tehas" userId="1f95e2c3-a25c-4efc-a37b-de93ab79e53c" providerId="ADAL" clId="{C51773D9-DD29-5A84-A509-762D3F3EA38B}" dt="2026-02-27T17:39:44.207" v="360" actId="1076"/>
        <pc:sldMkLst>
          <pc:docMk/>
          <pc:sldMk cId="0" sldId="309"/>
        </pc:sldMkLst>
        <pc:spChg chg="mod">
          <ac:chgData name="Francesc Xavier Solsona Tehas" userId="1f95e2c3-a25c-4efc-a37b-de93ab79e53c" providerId="ADAL" clId="{C51773D9-DD29-5A84-A509-762D3F3EA38B}" dt="2026-02-27T17:39:29.804" v="359" actId="20577"/>
          <ac:spMkLst>
            <pc:docMk/>
            <pc:sldMk cId="0" sldId="309"/>
            <ac:spMk id="12" creationId="{00000000-0000-0000-0000-000000000000}"/>
          </ac:spMkLst>
        </pc:spChg>
        <pc:grpChg chg="mod">
          <ac:chgData name="Francesc Xavier Solsona Tehas" userId="1f95e2c3-a25c-4efc-a37b-de93ab79e53c" providerId="ADAL" clId="{C51773D9-DD29-5A84-A509-762D3F3EA38B}" dt="2026-02-27T17:39:44.207" v="360" actId="1076"/>
          <ac:grpSpMkLst>
            <pc:docMk/>
            <pc:sldMk cId="0" sldId="309"/>
            <ac:grpSpMk id="9" creationId="{00000000-0000-0000-0000-000000000000}"/>
          </ac:grpSpMkLst>
        </pc:grpChg>
      </pc:sldChg>
      <pc:sldChg chg="modSp mod">
        <pc:chgData name="Francesc Xavier Solsona Tehas" userId="1f95e2c3-a25c-4efc-a37b-de93ab79e53c" providerId="ADAL" clId="{C51773D9-DD29-5A84-A509-762D3F3EA38B}" dt="2026-02-25T18:24:42.332" v="332" actId="20577"/>
        <pc:sldMkLst>
          <pc:docMk/>
          <pc:sldMk cId="0" sldId="317"/>
        </pc:sldMkLst>
        <pc:spChg chg="mod">
          <ac:chgData name="Francesc Xavier Solsona Tehas" userId="1f95e2c3-a25c-4efc-a37b-de93ab79e53c" providerId="ADAL" clId="{C51773D9-DD29-5A84-A509-762D3F3EA38B}" dt="2026-02-25T18:24:42.332" v="332" actId="20577"/>
          <ac:spMkLst>
            <pc:docMk/>
            <pc:sldMk cId="0" sldId="317"/>
            <ac:spMk id="10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27T18:03:46.786" v="426" actId="14100"/>
        <pc:sldMkLst>
          <pc:docMk/>
          <pc:sldMk cId="0" sldId="318"/>
        </pc:sldMkLst>
        <pc:spChg chg="mod">
          <ac:chgData name="Francesc Xavier Solsona Tehas" userId="1f95e2c3-a25c-4efc-a37b-de93ab79e53c" providerId="ADAL" clId="{C51773D9-DD29-5A84-A509-762D3F3EA38B}" dt="2026-02-27T18:03:36.935" v="424" actId="1076"/>
          <ac:spMkLst>
            <pc:docMk/>
            <pc:sldMk cId="0" sldId="318"/>
            <ac:spMk id="6" creationId="{00000000-0000-0000-0000-000000000000}"/>
          </ac:spMkLst>
        </pc:spChg>
        <pc:grpChg chg="mod">
          <ac:chgData name="Francesc Xavier Solsona Tehas" userId="1f95e2c3-a25c-4efc-a37b-de93ab79e53c" providerId="ADAL" clId="{C51773D9-DD29-5A84-A509-762D3F3EA38B}" dt="2026-02-27T18:03:46.786" v="426" actId="14100"/>
          <ac:grpSpMkLst>
            <pc:docMk/>
            <pc:sldMk cId="0" sldId="318"/>
            <ac:grpSpMk id="3" creationId="{00000000-0000-0000-0000-000000000000}"/>
          </ac:grpSpMkLst>
        </pc:grpChg>
      </pc:sldChg>
      <pc:sldChg chg="modSp mod">
        <pc:chgData name="Francesc Xavier Solsona Tehas" userId="1f95e2c3-a25c-4efc-a37b-de93ab79e53c" providerId="ADAL" clId="{C51773D9-DD29-5A84-A509-762D3F3EA38B}" dt="2026-02-25T17:51:20.860" v="290" actId="12"/>
        <pc:sldMkLst>
          <pc:docMk/>
          <pc:sldMk cId="0" sldId="324"/>
        </pc:sldMkLst>
        <pc:spChg chg="mod">
          <ac:chgData name="Francesc Xavier Solsona Tehas" userId="1f95e2c3-a25c-4efc-a37b-de93ab79e53c" providerId="ADAL" clId="{C51773D9-DD29-5A84-A509-762D3F3EA38B}" dt="2026-02-25T17:51:20.860" v="290" actId="12"/>
          <ac:spMkLst>
            <pc:docMk/>
            <pc:sldMk cId="0" sldId="324"/>
            <ac:spMk id="13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265488" y="0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7A4E720-A3C4-334A-A6E2-ECDE84EDBA49}" type="datetimeFigureOut">
              <a:rPr lang="es-ES" smtClean="0"/>
              <a:t>29/4/26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1911350" y="406400"/>
            <a:ext cx="1943100" cy="10937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576263" y="1562100"/>
            <a:ext cx="4613275" cy="12779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3082925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265488" y="3082925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E515D25-6C48-DB4D-ADA2-CDADC6B20D1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9130939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>
                <a:solidFill>
                  <a:srgbClr val="FF0000"/>
                </a:solidFill>
              </a:rPr>
              <a:t>REPASSAR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515D25-6C48-DB4D-ADA2-CDADC6B20D16}" type="slidenum">
              <a:rPr lang="es-ES" smtClean="0"/>
              <a:t>28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0856952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515D25-6C48-DB4D-ADA2-CDADC6B20D16}" type="slidenum">
              <a:rPr lang="es-ES" smtClean="0"/>
              <a:t>29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7352830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t"/>
            <a:r>
              <a:rPr lang="es-E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boto3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library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allows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Python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interact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with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AWS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services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such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as: S3, EC2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s-E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515D25-6C48-DB4D-ADA2-CDADC6B20D16}" type="slidenum">
              <a:rPr lang="es-ES" smtClean="0"/>
              <a:t>40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47397047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515D25-6C48-DB4D-ADA2-CDADC6B20D16}" type="slidenum">
              <a:rPr lang="es-ES" smtClean="0"/>
              <a:t>41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697885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25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8526" y="59834"/>
            <a:ext cx="2860040" cy="1778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347294" y="1824239"/>
            <a:ext cx="1904364" cy="37718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" b="0" i="0">
                <a:solidFill>
                  <a:srgbClr val="22373A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4/29/26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22373A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4/29/26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288290" y="746315"/>
            <a:ext cx="2508123" cy="214160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2969387" y="746315"/>
            <a:ext cx="2508123" cy="214160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4/29/26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4/29/26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25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4/29/26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25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8526" y="59834"/>
            <a:ext cx="3060700" cy="1778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427126" y="1145470"/>
            <a:ext cx="3063875" cy="10845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" b="0" i="0">
                <a:solidFill>
                  <a:srgbClr val="22373A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1960372" y="3017710"/>
            <a:ext cx="1845056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288290" y="3017710"/>
            <a:ext cx="1326134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4/29/26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4151376" y="3017710"/>
            <a:ext cx="1326134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francescsolsonatehas.github.io/HPDCB/session4.html" TargetMode="External"/><Relationship Id="rId2" Type="http://schemas.openxmlformats.org/officeDocument/2006/relationships/hyperlink" Target="mailto:francesc.solsona@udl.cat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" Target="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aws.amazon.com/s3/pricing/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" Target="slide7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hyperlink" Target="https://docs.aws.amazon.com/cli/latest/userguide/getting-started-install.html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hdbc-17705110-mdbs.github.io/HandsOnLabs/guide2.html" TargetMode="External"/><Relationship Id="rId2" Type="http://schemas.openxmlformats.org/officeDocument/2006/relationships/hyperlink" Target="https://hdbc-17705110-mdbs.github.io/HandsOnLabs/guide1.html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jpg"/><Relationship Id="rId4" Type="http://schemas.openxmlformats.org/officeDocument/2006/relationships/hyperlink" Target="https://hdbc-17705110-mdbs.github.io/HandsOnLabs/" TargetMode="Externa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slide" Target="slide20.xml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slide" Target="slide27.xml"/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5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slide" Target="slide32.xml"/><Relationship Id="rId1" Type="http://schemas.openxmlformats.org/officeDocument/2006/relationships/slideLayout" Target="../slideLayouts/slideLayout5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hdbc-17705110-mdbs.github.io/HandsOnLabs/guide2.html" TargetMode="External"/><Relationship Id="rId2" Type="http://schemas.openxmlformats.org/officeDocument/2006/relationships/hyperlink" Target="https://francescsolsonatehas.github.io/HPDCB/session3.html" TargetMode="Externa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5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5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g"/><Relationship Id="rId1" Type="http://schemas.openxmlformats.org/officeDocument/2006/relationships/slideLayout" Target="../slideLayouts/slideLayout5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g"/><Relationship Id="rId1" Type="http://schemas.openxmlformats.org/officeDocument/2006/relationships/slideLayout" Target="../slideLayouts/slideLayout5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hyperlink" Target="https://pypi.org/project/boto3/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hyperlink" Target="https://francescsolsonatehas.github.io/HPDCB/session3.html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g"/><Relationship Id="rId1" Type="http://schemas.openxmlformats.org/officeDocument/2006/relationships/slideLayout" Target="../slideLayouts/slideLayout4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jpg"/><Relationship Id="rId1" Type="http://schemas.openxmlformats.org/officeDocument/2006/relationships/slideLayout" Target="../slideLayouts/slideLayout5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slide" Target="slide51.xml"/><Relationship Id="rId1" Type="http://schemas.openxmlformats.org/officeDocument/2006/relationships/slideLayout" Target="../slideLayouts/slideLayout5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jp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slide" Target="slide54.xml"/><Relationship Id="rId1" Type="http://schemas.openxmlformats.org/officeDocument/2006/relationships/slideLayout" Target="../slideLayouts/slideLayout5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hyperlink" Target="https://hdbc-17705110-mdbs.github.io/HandsOnLabs/guide1.html" TargetMode="External"/><Relationship Id="rId2" Type="http://schemas.openxmlformats.org/officeDocument/2006/relationships/hyperlink" Target="https://francescsolsonatehas.github.io/HPDCB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hdbc-17705110-mdbs.github.io/HandsOnLabs/guide2.html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347294" y="631825"/>
            <a:ext cx="379984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</a:rPr>
              <a:t>High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40" noProof="1">
                <a:solidFill>
                  <a:srgbClr val="22373A"/>
                </a:solidFill>
                <a:latin typeface="Arial"/>
                <a:cs typeface="Arial"/>
              </a:rPr>
              <a:t>Performance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2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20" noProof="1">
                <a:solidFill>
                  <a:srgbClr val="22373A"/>
                </a:solidFill>
                <a:latin typeface="Arial"/>
                <a:cs typeface="Arial"/>
              </a:rPr>
              <a:t>Distributed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3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</a:rPr>
              <a:t>Big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2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endParaRPr lang="en-US" sz="1100" noProof="1">
              <a:latin typeface="Arial"/>
              <a:cs typeface="Arial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347294" y="936625"/>
            <a:ext cx="4364406" cy="332783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lang="en-US" sz="1000" noProof="1">
                <a:solidFill>
                  <a:srgbClr val="22373A"/>
                </a:solidFill>
                <a:latin typeface="Arial"/>
                <a:cs typeface="Arial"/>
              </a:rPr>
              <a:t>Unit</a:t>
            </a:r>
            <a:r>
              <a:rPr lang="en-US" sz="1000" spc="30" noProof="1">
                <a:solidFill>
                  <a:srgbClr val="22373A"/>
                </a:solidFill>
                <a:latin typeface="Arial"/>
                <a:cs typeface="Arial"/>
              </a:rPr>
              <a:t> 3</a:t>
            </a:r>
            <a:r>
              <a:rPr lang="en-US" sz="10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1000" spc="1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000" noProof="1"/>
              <a:t>Cloud Systems and Big Data Management</a:t>
            </a:r>
            <a:endParaRPr lang="en-US" sz="1000" noProof="1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95"/>
              </a:spcBef>
            </a:pPr>
            <a:endParaRPr lang="en-US" sz="1000" noProof="1">
              <a:latin typeface="Arial"/>
              <a:cs typeface="Arial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359994" y="1599698"/>
            <a:ext cx="5040630" cy="5080"/>
          </a:xfrm>
          <a:custGeom>
            <a:avLst/>
            <a:gdLst/>
            <a:ahLst/>
            <a:cxnLst/>
            <a:rect l="l" t="t" r="r" b="b"/>
            <a:pathLst>
              <a:path w="5040630" h="5080">
                <a:moveTo>
                  <a:pt x="0" y="5060"/>
                </a:moveTo>
                <a:lnTo>
                  <a:pt x="0" y="0"/>
                </a:lnTo>
                <a:lnTo>
                  <a:pt x="5040064" y="0"/>
                </a:lnTo>
                <a:lnTo>
                  <a:pt x="5040064" y="5060"/>
                </a:lnTo>
                <a:lnTo>
                  <a:pt x="0" y="5060"/>
                </a:lnTo>
                <a:close/>
              </a:path>
            </a:pathLst>
          </a:custGeom>
          <a:solidFill>
            <a:srgbClr val="EB811B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5" name="object 5"/>
          <p:cNvSpPr txBox="1">
            <a:spLocks noGrp="1"/>
          </p:cNvSpPr>
          <p:nvPr>
            <p:ph type="subTitle" idx="4"/>
          </p:nvPr>
        </p:nvSpPr>
        <p:spPr>
          <a:xfrm>
            <a:off x="347294" y="1824239"/>
            <a:ext cx="2459406" cy="37638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spc="-10" noProof="1"/>
              <a:t>Francesc Solsona Tehas </a:t>
            </a:r>
            <a:r>
              <a:rPr lang="en-US" sz="800" spc="-20" noProof="1">
                <a:hlinkClick r:id="rId2"/>
              </a:rPr>
              <a:t>francesc.solsona@udl.cat</a:t>
            </a:r>
            <a:endParaRPr lang="en-US" sz="800" noProof="1"/>
          </a:p>
          <a:p>
            <a:pPr>
              <a:lnSpc>
                <a:spcPct val="100000"/>
              </a:lnSpc>
              <a:spcBef>
                <a:spcPts val="170"/>
              </a:spcBef>
            </a:pPr>
            <a:endParaRPr lang="en-US" sz="800" noProof="1"/>
          </a:p>
          <a:p>
            <a:pPr marL="12700">
              <a:lnSpc>
                <a:spcPct val="100000"/>
              </a:lnSpc>
            </a:pPr>
            <a:r>
              <a:rPr lang="en-US" sz="600" noProof="1"/>
              <a:t>Universitat</a:t>
            </a:r>
            <a:r>
              <a:rPr lang="en-US" sz="600" spc="20" noProof="1"/>
              <a:t> </a:t>
            </a:r>
            <a:r>
              <a:rPr lang="en-US" sz="600" noProof="1"/>
              <a:t>Rovira</a:t>
            </a:r>
            <a:r>
              <a:rPr lang="en-US" sz="600" spc="25" noProof="1"/>
              <a:t> </a:t>
            </a:r>
            <a:r>
              <a:rPr lang="en-US" sz="600" noProof="1"/>
              <a:t>i</a:t>
            </a:r>
            <a:r>
              <a:rPr lang="en-US" sz="600" spc="25" noProof="1"/>
              <a:t> </a:t>
            </a:r>
            <a:r>
              <a:rPr lang="en-US" sz="600" noProof="1"/>
              <a:t>Virgili</a:t>
            </a:r>
            <a:r>
              <a:rPr lang="en-US" sz="600" spc="25" noProof="1"/>
              <a:t> </a:t>
            </a:r>
            <a:r>
              <a:rPr lang="en-US" sz="600" noProof="1"/>
              <a:t>and</a:t>
            </a:r>
            <a:r>
              <a:rPr lang="en-US" sz="600" spc="25" noProof="1"/>
              <a:t> </a:t>
            </a:r>
            <a:r>
              <a:rPr lang="en-US" sz="600" noProof="1"/>
              <a:t>Universitat</a:t>
            </a:r>
            <a:r>
              <a:rPr lang="en-US" sz="600" spc="20" noProof="1"/>
              <a:t> </a:t>
            </a:r>
            <a:r>
              <a:rPr lang="en-US" sz="600" noProof="1"/>
              <a:t>de</a:t>
            </a:r>
            <a:r>
              <a:rPr lang="en-US" sz="600" spc="25" noProof="1"/>
              <a:t> </a:t>
            </a:r>
            <a:r>
              <a:rPr lang="en-US" sz="600" spc="-10" noProof="1"/>
              <a:t>Lleida</a:t>
            </a:r>
            <a:endParaRPr lang="en-US" sz="600" noProof="1"/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115570" cy="5080"/>
            </a:xfrm>
            <a:custGeom>
              <a:avLst/>
              <a:gdLst/>
              <a:ahLst/>
              <a:cxnLst/>
              <a:rect l="l" t="t" r="r" b="b"/>
              <a:pathLst>
                <a:path w="115570" h="5080">
                  <a:moveTo>
                    <a:pt x="0" y="5060"/>
                  </a:moveTo>
                  <a:lnTo>
                    <a:pt x="0" y="0"/>
                  </a:lnTo>
                  <a:lnTo>
                    <a:pt x="115225" y="0"/>
                  </a:lnTo>
                  <a:lnTo>
                    <a:pt x="11522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0" name="object 3">
            <a:extLst>
              <a:ext uri="{FF2B5EF4-FFF2-40B4-BE49-F238E27FC236}">
                <a16:creationId xmlns:a16="http://schemas.microsoft.com/office/drawing/2014/main" id="{E6AB77B9-FC09-0838-8567-E0878694CB7A}"/>
              </a:ext>
            </a:extLst>
          </p:cNvPr>
          <p:cNvSpPr txBox="1"/>
          <p:nvPr/>
        </p:nvSpPr>
        <p:spPr>
          <a:xfrm>
            <a:off x="347294" y="1224034"/>
            <a:ext cx="1621206" cy="1660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u="sng" noProof="1">
                <a:hlinkClick r:id="rId3"/>
              </a:rPr>
              <a:t>Session 4 - AWS CLI + S3</a:t>
            </a:r>
            <a:endParaRPr lang="en-US" sz="1000" noProof="1">
              <a:latin typeface="Arial"/>
              <a:cs typeface="Arial"/>
            </a:endParaRPr>
          </a:p>
        </p:txBody>
      </p:sp>
    </p:spTree>
  </p:cSld>
  <p:clrMapOvr>
    <a:masterClrMapping/>
  </p:clrMapOvr>
  <p:transition>
    <p:cut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noProof="1"/>
              <a:t>Today’s</a:t>
            </a:r>
            <a:r>
              <a:rPr lang="en-US" spc="-5" noProof="1"/>
              <a:t> </a:t>
            </a:r>
            <a:r>
              <a:rPr lang="en-US" spc="-20" noProof="1"/>
              <a:t>lecture</a:t>
            </a:r>
          </a:p>
        </p:txBody>
      </p:sp>
      <p:sp>
        <p:nvSpPr>
          <p:cNvPr id="3" name="object 3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19685" rIns="0" bIns="0" rtlCol="0">
            <a:spAutoFit/>
          </a:bodyPr>
          <a:lstStyle/>
          <a:p>
            <a:pPr marL="156210" indent="-143510">
              <a:lnSpc>
                <a:spcPct val="100000"/>
              </a:lnSpc>
              <a:spcBef>
                <a:spcPts val="155"/>
              </a:spcBef>
              <a:buChar char="•"/>
              <a:tabLst>
                <a:tab pos="156210" algn="l"/>
              </a:tabLst>
            </a:pPr>
            <a:r>
              <a:rPr lang="en-US" spc="-25" noProof="1"/>
              <a:t>AWS</a:t>
            </a:r>
            <a:r>
              <a:rPr lang="en-US" spc="-5" noProof="1"/>
              <a:t> </a:t>
            </a:r>
            <a:r>
              <a:rPr lang="en-US" noProof="1"/>
              <a:t>S3:</a:t>
            </a:r>
            <a:r>
              <a:rPr lang="en-US" spc="75" noProof="1"/>
              <a:t> </a:t>
            </a:r>
            <a:r>
              <a:rPr lang="en-US" spc="-10" noProof="1"/>
              <a:t>Storing</a:t>
            </a:r>
            <a:r>
              <a:rPr lang="en-US" spc="-5" noProof="1"/>
              <a:t> </a:t>
            </a:r>
            <a:r>
              <a:rPr lang="en-US" spc="-10" noProof="1"/>
              <a:t>files</a:t>
            </a:r>
            <a:r>
              <a:rPr lang="en-US" spc="-5" noProof="1"/>
              <a:t> </a:t>
            </a:r>
            <a:r>
              <a:rPr lang="en-US" noProof="1"/>
              <a:t>in</a:t>
            </a:r>
            <a:r>
              <a:rPr lang="en-US" spc="-5" noProof="1"/>
              <a:t> </a:t>
            </a:r>
            <a:r>
              <a:rPr lang="en-US" noProof="1"/>
              <a:t>the</a:t>
            </a:r>
            <a:r>
              <a:rPr lang="en-US" spc="-5" noProof="1"/>
              <a:t> </a:t>
            </a:r>
            <a:r>
              <a:rPr lang="en-US" spc="-20" noProof="1"/>
              <a:t>cloud</a:t>
            </a:r>
          </a:p>
          <a:p>
            <a:pPr marL="387985" lvl="1" indent="-140335">
              <a:lnSpc>
                <a:spcPct val="100000"/>
              </a:lnSpc>
              <a:spcBef>
                <a:spcPts val="55"/>
              </a:spcBef>
              <a:buChar char="•"/>
              <a:tabLst>
                <a:tab pos="387985" algn="l"/>
              </a:tabLst>
            </a:pP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Installing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CLI</a:t>
            </a:r>
            <a:endParaRPr lang="en-US" sz="8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Char char="•"/>
              <a:tabLst>
                <a:tab pos="387985" algn="l"/>
              </a:tabLst>
            </a:pP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Configuring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credentials</a:t>
            </a:r>
            <a:endParaRPr lang="en-US" sz="8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Char char="•"/>
              <a:tabLst>
                <a:tab pos="387985" algn="l"/>
              </a:tabLst>
            </a:pP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Creating</a:t>
            </a:r>
            <a:r>
              <a:rPr lang="en-US" sz="8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 S3</a:t>
            </a:r>
            <a:r>
              <a:rPr lang="en-US" sz="8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endParaRPr lang="en-US" sz="8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Char char="•"/>
              <a:tabLst>
                <a:tab pos="387985" algn="l"/>
              </a:tabLst>
            </a:pP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Syncing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directory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upload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endParaRPr lang="en-US" sz="8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Char char="•"/>
              <a:tabLst>
                <a:tab pos="387985" algn="l"/>
              </a:tabLst>
            </a:pP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Loading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notebook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python</a:t>
            </a:r>
            <a:endParaRPr lang="en-US" sz="800" noProof="1">
              <a:latin typeface="Arial"/>
              <a:cs typeface="Arial"/>
            </a:endParaRPr>
          </a:p>
          <a:p>
            <a:pPr marL="382905" lvl="1" indent="-135255">
              <a:lnSpc>
                <a:spcPct val="100000"/>
              </a:lnSpc>
              <a:spcBef>
                <a:spcPts val="75"/>
              </a:spcBef>
              <a:buChar char="•"/>
              <a:tabLst>
                <a:tab pos="382905" algn="l"/>
              </a:tabLst>
            </a:pP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Writing</a:t>
            </a:r>
            <a:r>
              <a:rPr lang="en-US" sz="8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r>
              <a:rPr lang="en-US" sz="8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8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notebook</a:t>
            </a:r>
            <a:r>
              <a:rPr lang="en-US" sz="8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8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8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8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python</a:t>
            </a:r>
            <a:endParaRPr lang="en-US" sz="8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Char char="•"/>
              <a:tabLst>
                <a:tab pos="387985" algn="l"/>
              </a:tabLst>
            </a:pP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Syncinc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directory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download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230504" cy="5080"/>
            </a:xfrm>
            <a:custGeom>
              <a:avLst/>
              <a:gdLst/>
              <a:ahLst/>
              <a:cxnLst/>
              <a:rect l="l" t="t" r="r" b="b"/>
              <a:pathLst>
                <a:path w="230504" h="5080">
                  <a:moveTo>
                    <a:pt x="0" y="5060"/>
                  </a:moveTo>
                  <a:lnTo>
                    <a:pt x="0" y="0"/>
                  </a:lnTo>
                  <a:lnTo>
                    <a:pt x="230364" y="0"/>
                  </a:lnTo>
                  <a:lnTo>
                    <a:pt x="23036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865"/>
            <a:ext cx="1894205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S3</a:t>
            </a:r>
            <a:r>
              <a:rPr lang="en-US" sz="1100" b="1" spc="2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-</a:t>
            </a:r>
            <a:r>
              <a:rPr lang="en-US" sz="1100" b="1" spc="3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3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Storing</a:t>
            </a:r>
            <a:r>
              <a:rPr lang="en-US" sz="1100" b="1" spc="3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3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files</a:t>
            </a:r>
            <a:r>
              <a:rPr lang="en-US" sz="1100" b="1" spc="3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in</a:t>
            </a:r>
            <a:r>
              <a:rPr lang="en-US" sz="1100" b="1" spc="3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the</a:t>
            </a:r>
            <a:r>
              <a:rPr lang="en-US" sz="1100" b="1" spc="2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3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cloud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755"/>
            <a:ext cx="2505710" cy="5080"/>
            <a:chOff x="1627403" y="1647755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755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755"/>
              <a:ext cx="100330" cy="5080"/>
            </a:xfrm>
            <a:custGeom>
              <a:avLst/>
              <a:gdLst/>
              <a:ahLst/>
              <a:cxnLst/>
              <a:rect l="l" t="t" r="r" b="b"/>
              <a:pathLst>
                <a:path w="100330" h="5080">
                  <a:moveTo>
                    <a:pt x="0" y="5060"/>
                  </a:moveTo>
                  <a:lnTo>
                    <a:pt x="0" y="0"/>
                  </a:lnTo>
                  <a:lnTo>
                    <a:pt x="100192" y="0"/>
                  </a:lnTo>
                  <a:lnTo>
                    <a:pt x="10019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73660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What</a:t>
            </a:r>
            <a:r>
              <a:rPr lang="en-US" spc="55" noProof="1"/>
              <a:t> </a:t>
            </a:r>
            <a:r>
              <a:rPr lang="en-US" spc="-25" noProof="1"/>
              <a:t>is</a:t>
            </a:r>
            <a:r>
              <a:rPr lang="en-US" spc="55" noProof="1"/>
              <a:t> </a:t>
            </a:r>
            <a:r>
              <a:rPr lang="en-US" spc="-30" noProof="1"/>
              <a:t>S3?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433" y="431803"/>
            <a:ext cx="5076825" cy="5035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5080" indent="-4445">
              <a:lnSpc>
                <a:spcPct val="116199"/>
              </a:lnSpc>
              <a:spcBef>
                <a:spcPts val="100"/>
              </a:spcBef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Amazon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(Simple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Service)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is an object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that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industry-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leading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scalability,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availability,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security,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performance.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designed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store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retrieve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amount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5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anywhere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web.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83" y="1015375"/>
            <a:ext cx="5039847" cy="1900620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346075" cy="5080"/>
            </a:xfrm>
            <a:custGeom>
              <a:avLst/>
              <a:gdLst/>
              <a:ahLst/>
              <a:cxnLst/>
              <a:rect l="l" t="t" r="r" b="b"/>
              <a:pathLst>
                <a:path w="346075" h="5080">
                  <a:moveTo>
                    <a:pt x="0" y="5060"/>
                  </a:moveTo>
                  <a:lnTo>
                    <a:pt x="0" y="0"/>
                  </a:lnTo>
                  <a:lnTo>
                    <a:pt x="345590" y="0"/>
                  </a:lnTo>
                  <a:lnTo>
                    <a:pt x="34559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S3</a:t>
            </a:r>
            <a:r>
              <a:rPr lang="en-US" spc="25" noProof="1"/>
              <a:t> </a:t>
            </a:r>
            <a:r>
              <a:rPr lang="en-US" noProof="1"/>
              <a:t>-</a:t>
            </a:r>
            <a:r>
              <a:rPr lang="en-US" spc="30" noProof="1"/>
              <a:t> </a:t>
            </a:r>
            <a:r>
              <a:rPr lang="en-US" spc="-30" noProof="1"/>
              <a:t>Buckets</a:t>
            </a:r>
            <a:r>
              <a:rPr lang="en-US" spc="25" noProof="1"/>
              <a:t> </a:t>
            </a:r>
            <a:r>
              <a:rPr lang="en-US" spc="-10" noProof="1"/>
              <a:t>and</a:t>
            </a:r>
            <a:r>
              <a:rPr lang="en-US" spc="30" noProof="1"/>
              <a:t> </a:t>
            </a:r>
            <a:r>
              <a:rPr lang="en-US" spc="-20" noProof="1"/>
              <a:t>Objects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417769"/>
            <a:ext cx="5067935" cy="171640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0029" marR="60325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240029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Buckets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Amazon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S3,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bucket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unique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container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objects.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Every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object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stored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within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bucket.</a:t>
            </a:r>
            <a:endParaRPr lang="en-US" sz="900" noProof="1">
              <a:latin typeface="Arial"/>
              <a:cs typeface="Arial"/>
            </a:endParaRPr>
          </a:p>
          <a:p>
            <a:pPr marL="464184" lvl="1" indent="-137160">
              <a:lnSpc>
                <a:spcPct val="100000"/>
              </a:lnSpc>
              <a:spcBef>
                <a:spcPts val="50"/>
              </a:spcBef>
              <a:buChar char="•"/>
              <a:tabLst>
                <a:tab pos="464184" algn="l"/>
              </a:tabLst>
            </a:pP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 bucket</a:t>
            </a:r>
            <a:r>
              <a:rPr lang="en-US" sz="8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8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must</a:t>
            </a:r>
            <a:r>
              <a:rPr lang="en-US" sz="8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8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globally unique</a:t>
            </a:r>
            <a:r>
              <a:rPr lang="en-US" sz="8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across</a:t>
            </a:r>
            <a:r>
              <a:rPr lang="en-US" sz="8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all</a:t>
            </a:r>
            <a:r>
              <a:rPr lang="en-US" sz="8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existing</a:t>
            </a:r>
            <a:r>
              <a:rPr lang="en-US" sz="8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bucket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names</a:t>
            </a:r>
            <a:r>
              <a:rPr lang="en-US" sz="8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8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Amazon</a:t>
            </a:r>
            <a:r>
              <a:rPr lang="en-US" sz="8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S3.</a:t>
            </a:r>
            <a:endParaRPr lang="en-US" sz="800" noProof="1">
              <a:latin typeface="Arial"/>
              <a:cs typeface="Arial"/>
            </a:endParaRPr>
          </a:p>
          <a:p>
            <a:pPr marL="467359" lvl="1" indent="-140335">
              <a:lnSpc>
                <a:spcPct val="100000"/>
              </a:lnSpc>
              <a:spcBef>
                <a:spcPts val="70"/>
              </a:spcBef>
              <a:buChar char="•"/>
              <a:tabLst>
                <a:tab pos="467359" algn="l"/>
              </a:tabLst>
            </a:pP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Buckets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8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to store</a:t>
            </a:r>
            <a:r>
              <a:rPr lang="en-US" sz="8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organize</a:t>
            </a:r>
            <a:r>
              <a:rPr lang="en-US" sz="8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objects.</a:t>
            </a:r>
            <a:endParaRPr lang="en-US" sz="800" noProof="1">
              <a:latin typeface="Arial"/>
              <a:cs typeface="Arial"/>
            </a:endParaRPr>
          </a:p>
          <a:p>
            <a:pPr marL="240029" marR="461009" indent="-147955">
              <a:lnSpc>
                <a:spcPct val="116199"/>
              </a:lnSpc>
              <a:spcBef>
                <a:spcPts val="20"/>
              </a:spcBef>
              <a:buFont typeface="Arial"/>
              <a:buChar char="•"/>
              <a:tabLst>
                <a:tab pos="240029" algn="l"/>
              </a:tabLst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Objects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Objects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fundamental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entities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within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 bucket.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They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consist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of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metadata.</a:t>
            </a:r>
            <a:endParaRPr lang="en-US" sz="900" noProof="1">
              <a:latin typeface="Arial"/>
              <a:cs typeface="Arial"/>
            </a:endParaRPr>
          </a:p>
          <a:p>
            <a:pPr marL="464184" lvl="1" indent="-137160">
              <a:lnSpc>
                <a:spcPct val="100000"/>
              </a:lnSpc>
              <a:spcBef>
                <a:spcPts val="50"/>
              </a:spcBef>
              <a:buChar char="•"/>
              <a:tabLst>
                <a:tab pos="464184" algn="l"/>
              </a:tabLst>
            </a:pP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information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within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object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stored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45" noProof="1">
                <a:solidFill>
                  <a:srgbClr val="22373A"/>
                </a:solidFill>
                <a:latin typeface="Arial"/>
                <a:cs typeface="Arial"/>
              </a:rPr>
              <a:t>key-</a:t>
            </a: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value</a:t>
            </a:r>
            <a:r>
              <a:rPr lang="en-US" sz="8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pair.</a:t>
            </a:r>
            <a:endParaRPr lang="en-US" sz="800" noProof="1">
              <a:latin typeface="Arial"/>
              <a:cs typeface="Arial"/>
            </a:endParaRPr>
          </a:p>
          <a:p>
            <a:pPr marL="464184" marR="388620" lvl="1" indent="-137160">
              <a:lnSpc>
                <a:spcPct val="107400"/>
              </a:lnSpc>
              <a:buChar char="•"/>
              <a:tabLst>
                <a:tab pos="467995" algn="l"/>
              </a:tabLst>
            </a:pP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key,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unique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identifier,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8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organize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objects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within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bucket.</a:t>
            </a:r>
            <a:r>
              <a:rPr lang="en-US" sz="800" spc="1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often 	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formatted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prefix</a:t>
            </a:r>
            <a:r>
              <a:rPr lang="en-US" sz="8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object</a:t>
            </a:r>
            <a:r>
              <a:rPr lang="en-US" sz="8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name.</a:t>
            </a:r>
            <a:endParaRPr lang="en-US" sz="800" noProof="1">
              <a:latin typeface="Arial"/>
              <a:cs typeface="Arial"/>
            </a:endParaRPr>
          </a:p>
          <a:p>
            <a:pPr marL="12700" marR="5080">
              <a:lnSpc>
                <a:spcPct val="116199"/>
              </a:lnSpc>
              <a:spcBef>
                <a:spcPts val="65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example,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can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called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hdcb-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{your-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name}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store objects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organized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session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or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other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criteria.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252657" y="2335545"/>
            <a:ext cx="2494915" cy="582295"/>
            <a:chOff x="252657" y="2335545"/>
            <a:chExt cx="2494915" cy="582295"/>
          </a:xfrm>
        </p:grpSpPr>
        <p:sp>
          <p:nvSpPr>
            <p:cNvPr id="5" name="object 5"/>
            <p:cNvSpPr/>
            <p:nvPr/>
          </p:nvSpPr>
          <p:spPr>
            <a:xfrm>
              <a:off x="258004" y="2340892"/>
              <a:ext cx="2484120" cy="571500"/>
            </a:xfrm>
            <a:custGeom>
              <a:avLst/>
              <a:gdLst/>
              <a:ahLst/>
              <a:cxnLst/>
              <a:rect l="l" t="t" r="r" b="b"/>
              <a:pathLst>
                <a:path w="2484120" h="571500">
                  <a:moveTo>
                    <a:pt x="244803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535136"/>
                  </a:lnTo>
                  <a:lnTo>
                    <a:pt x="2829" y="549149"/>
                  </a:lnTo>
                  <a:lnTo>
                    <a:pt x="10544" y="560592"/>
                  </a:lnTo>
                  <a:lnTo>
                    <a:pt x="21987" y="568307"/>
                  </a:lnTo>
                  <a:lnTo>
                    <a:pt x="36000" y="571136"/>
                  </a:lnTo>
                  <a:lnTo>
                    <a:pt x="2448032" y="571136"/>
                  </a:lnTo>
                  <a:lnTo>
                    <a:pt x="2462045" y="568307"/>
                  </a:lnTo>
                  <a:lnTo>
                    <a:pt x="2473488" y="560592"/>
                  </a:lnTo>
                  <a:lnTo>
                    <a:pt x="2481203" y="549149"/>
                  </a:lnTo>
                  <a:lnTo>
                    <a:pt x="2484032" y="535136"/>
                  </a:lnTo>
                  <a:lnTo>
                    <a:pt x="2484032" y="36000"/>
                  </a:lnTo>
                  <a:lnTo>
                    <a:pt x="2481203" y="21987"/>
                  </a:lnTo>
                  <a:lnTo>
                    <a:pt x="2473488" y="10544"/>
                  </a:lnTo>
                  <a:lnTo>
                    <a:pt x="2462045" y="2829"/>
                  </a:lnTo>
                  <a:lnTo>
                    <a:pt x="244803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258983" y="2341871"/>
              <a:ext cx="2482215" cy="569595"/>
            </a:xfrm>
            <a:custGeom>
              <a:avLst/>
              <a:gdLst/>
              <a:ahLst/>
              <a:cxnLst/>
              <a:rect l="l" t="t" r="r" b="b"/>
              <a:pathLst>
                <a:path w="2482215" h="569594">
                  <a:moveTo>
                    <a:pt x="0" y="534157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2447052" y="0"/>
                  </a:lnTo>
                  <a:lnTo>
                    <a:pt x="2460684" y="2752"/>
                  </a:lnTo>
                  <a:lnTo>
                    <a:pt x="2471816" y="10257"/>
                  </a:lnTo>
                  <a:lnTo>
                    <a:pt x="2479321" y="21389"/>
                  </a:lnTo>
                  <a:lnTo>
                    <a:pt x="2482074" y="35021"/>
                  </a:lnTo>
                  <a:lnTo>
                    <a:pt x="2482074" y="534157"/>
                  </a:lnTo>
                  <a:lnTo>
                    <a:pt x="2479321" y="547789"/>
                  </a:lnTo>
                  <a:lnTo>
                    <a:pt x="2471816" y="558921"/>
                  </a:lnTo>
                  <a:lnTo>
                    <a:pt x="2460684" y="566426"/>
                  </a:lnTo>
                  <a:lnTo>
                    <a:pt x="2447052" y="569178"/>
                  </a:lnTo>
                  <a:lnTo>
                    <a:pt x="35021" y="569178"/>
                  </a:lnTo>
                  <a:lnTo>
                    <a:pt x="21389" y="566426"/>
                  </a:lnTo>
                  <a:lnTo>
                    <a:pt x="10257" y="558921"/>
                  </a:lnTo>
                  <a:lnTo>
                    <a:pt x="2752" y="547789"/>
                  </a:lnTo>
                  <a:lnTo>
                    <a:pt x="0" y="534157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425310" y="2395728"/>
            <a:ext cx="1154430" cy="4184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27329" marR="5080" indent="-215265">
              <a:lnSpc>
                <a:spcPct val="107400"/>
              </a:lnSpc>
              <a:spcBef>
                <a:spcPts val="100"/>
              </a:spcBef>
            </a:pPr>
            <a:r>
              <a:rPr lang="en-US" sz="800" spc="-60" noProof="1">
                <a:latin typeface="Courier New"/>
                <a:cs typeface="Courier New"/>
              </a:rPr>
              <a:t>data-{your-</a:t>
            </a:r>
            <a:r>
              <a:rPr lang="en-US" sz="800" spc="-10" noProof="1">
                <a:latin typeface="Courier New"/>
                <a:cs typeface="Courier New"/>
              </a:rPr>
              <a:t>name}/ </a:t>
            </a:r>
            <a:r>
              <a:rPr lang="en-US" sz="800" spc="-60" noProof="1">
                <a:latin typeface="Courier New"/>
                <a:cs typeface="Courier New"/>
              </a:rPr>
              <a:t>project1/data.csv project2/data.csv</a:t>
            </a:r>
            <a:endParaRPr lang="en-US" sz="800" noProof="1">
              <a:latin typeface="Courier New"/>
              <a:cs typeface="Courier New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2987294" y="2241608"/>
            <a:ext cx="1875789" cy="66675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Terms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44"/>
              </a:spcBef>
              <a:buFont typeface="Arial"/>
              <a:buChar char="•"/>
              <a:tabLst>
                <a:tab pos="239395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Key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185" noProof="1">
                <a:solidFill>
                  <a:srgbClr val="22373A"/>
                </a:solidFill>
                <a:latin typeface="Arial"/>
                <a:cs typeface="Arial"/>
              </a:rPr>
              <a:t>=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prefix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185" noProof="1">
                <a:solidFill>
                  <a:srgbClr val="22373A"/>
                </a:solidFill>
                <a:latin typeface="Arial"/>
                <a:cs typeface="Arial"/>
              </a:rPr>
              <a:t>+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object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endParaRPr lang="en-US" sz="900" noProof="1">
              <a:latin typeface="Arial"/>
              <a:cs typeface="Arial"/>
            </a:endParaRPr>
          </a:p>
          <a:p>
            <a:pPr marL="467359" lvl="1" indent="-140335">
              <a:lnSpc>
                <a:spcPct val="100000"/>
              </a:lnSpc>
              <a:spcBef>
                <a:spcPts val="55"/>
              </a:spcBef>
              <a:buFont typeface="Arial"/>
              <a:buChar char="•"/>
              <a:tabLst>
                <a:tab pos="467359" algn="l"/>
              </a:tabLst>
            </a:pPr>
            <a:r>
              <a:rPr lang="en-US" sz="800" b="1" spc="-25" noProof="1">
                <a:solidFill>
                  <a:srgbClr val="22373A"/>
                </a:solidFill>
                <a:latin typeface="Arial"/>
                <a:cs typeface="Arial"/>
              </a:rPr>
              <a:t>prefix</a:t>
            </a:r>
            <a:r>
              <a:rPr lang="en-US" sz="800" b="1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190" noProof="1">
                <a:solidFill>
                  <a:srgbClr val="22373A"/>
                </a:solidFill>
                <a:latin typeface="Arial"/>
                <a:cs typeface="Arial"/>
              </a:rPr>
              <a:t>=</a:t>
            </a:r>
            <a:r>
              <a:rPr lang="en-US" sz="8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project1/</a:t>
            </a:r>
            <a:r>
              <a:rPr lang="en-US" sz="8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8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project2/</a:t>
            </a:r>
            <a:endParaRPr lang="en-US" sz="800" noProof="1">
              <a:latin typeface="Arial"/>
              <a:cs typeface="Arial"/>
            </a:endParaRPr>
          </a:p>
          <a:p>
            <a:pPr marL="467359" lvl="1" indent="-140335">
              <a:lnSpc>
                <a:spcPct val="100000"/>
              </a:lnSpc>
              <a:spcBef>
                <a:spcPts val="70"/>
              </a:spcBef>
              <a:buFont typeface="Arial"/>
              <a:buChar char="•"/>
              <a:tabLst>
                <a:tab pos="467359" algn="l"/>
              </a:tabLst>
            </a:pPr>
            <a:r>
              <a:rPr lang="en-US" sz="800" b="1" spc="-10" noProof="1">
                <a:solidFill>
                  <a:srgbClr val="22373A"/>
                </a:solidFill>
                <a:latin typeface="Arial"/>
                <a:cs typeface="Arial"/>
              </a:rPr>
              <a:t>object</a:t>
            </a:r>
            <a:r>
              <a:rPr lang="en-US" sz="8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8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190" noProof="1">
                <a:solidFill>
                  <a:srgbClr val="22373A"/>
                </a:solidFill>
                <a:latin typeface="Arial"/>
                <a:cs typeface="Arial"/>
              </a:rPr>
              <a:t>=</a:t>
            </a:r>
            <a:r>
              <a:rPr lang="en-US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data.csv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0" name="object 10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461009" cy="5080"/>
            </a:xfrm>
            <a:custGeom>
              <a:avLst/>
              <a:gdLst/>
              <a:ahLst/>
              <a:cxnLst/>
              <a:rect l="l" t="t" r="r" b="b"/>
              <a:pathLst>
                <a:path w="461009" h="5080">
                  <a:moveTo>
                    <a:pt x="0" y="5060"/>
                  </a:moveTo>
                  <a:lnTo>
                    <a:pt x="0" y="0"/>
                  </a:lnTo>
                  <a:lnTo>
                    <a:pt x="460816" y="0"/>
                  </a:lnTo>
                  <a:lnTo>
                    <a:pt x="46081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62230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S3</a:t>
            </a:r>
            <a:r>
              <a:rPr lang="en-US" spc="20" noProof="1"/>
              <a:t> </a:t>
            </a:r>
            <a:r>
              <a:rPr lang="en-US" spc="-25" noProof="1"/>
              <a:t>Pricing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433" y="813594"/>
            <a:ext cx="5040630" cy="1761123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Amazon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S3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pricing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based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five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factors:</a:t>
            </a:r>
            <a:endParaRPr lang="en-US" sz="900" noProof="1">
              <a:latin typeface="Arial"/>
              <a:cs typeface="Arial"/>
            </a:endParaRPr>
          </a:p>
          <a:p>
            <a:pPr marL="242570" marR="139700" indent="-147320">
              <a:lnSpc>
                <a:spcPct val="116199"/>
              </a:lnSpc>
              <a:spcBef>
                <a:spcPts val="625"/>
              </a:spcBef>
              <a:buFont typeface="Arial"/>
              <a:buAutoNum type="arabicPeriod"/>
              <a:tabLst>
                <a:tab pos="24384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Class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cost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depends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class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(Standard,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Intelligent-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Tiering,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etc.).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Font typeface="Arial"/>
              <a:buAutoNum type="arabicPeriod"/>
              <a:tabLst>
                <a:tab pos="243204" algn="l"/>
              </a:tabLst>
            </a:pP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total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volume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stored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month.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Font typeface="Arial"/>
              <a:buAutoNum type="arabicPeriod"/>
              <a:tabLst>
                <a:tab pos="243204" algn="l"/>
              </a:tabLst>
            </a:pP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Requests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number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type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requests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made.</a:t>
            </a:r>
            <a:endParaRPr lang="en-US" sz="900" noProof="1">
              <a:latin typeface="Arial"/>
              <a:cs typeface="Arial"/>
            </a:endParaRPr>
          </a:p>
          <a:p>
            <a:pPr marL="242570" marR="77470" indent="-147320">
              <a:lnSpc>
                <a:spcPct val="116199"/>
              </a:lnSpc>
              <a:buFont typeface="Arial"/>
              <a:buAutoNum type="arabicPeriod"/>
              <a:tabLst>
                <a:tab pos="243840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Transfer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cost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transferring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vary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region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also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affected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whether 	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 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transferred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out.</a:t>
            </a:r>
            <a:endParaRPr lang="en-US" sz="900" noProof="1">
              <a:latin typeface="Arial"/>
              <a:cs typeface="Arial"/>
            </a:endParaRPr>
          </a:p>
          <a:p>
            <a:pPr marL="242570" marR="5080" indent="-147320">
              <a:lnSpc>
                <a:spcPct val="116199"/>
              </a:lnSpc>
              <a:buFont typeface="Arial"/>
              <a:buAutoNum type="arabicPeriod"/>
              <a:tabLst>
                <a:tab pos="243840" algn="l"/>
              </a:tabLst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90" noProof="1">
                <a:solidFill>
                  <a:srgbClr val="22373A"/>
                </a:solidFill>
                <a:latin typeface="Arial"/>
                <a:cs typeface="Arial"/>
              </a:rPr>
              <a:t>&amp;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Replication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Additional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features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replication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operations 	can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also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affect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cost.</a:t>
            </a:r>
            <a:endParaRPr lang="en-US" sz="900" noProof="1">
              <a:latin typeface="Arial"/>
              <a:cs typeface="Arial"/>
            </a:endParaRPr>
          </a:p>
          <a:p>
            <a:pPr marL="16510">
              <a:lnSpc>
                <a:spcPct val="100000"/>
              </a:lnSpc>
              <a:spcBef>
                <a:spcPts val="8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For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detailed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information,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you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 refer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Amazon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S3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Pricing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 Page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580" cy="5080"/>
            </a:xfrm>
            <a:custGeom>
              <a:avLst/>
              <a:gdLst/>
              <a:ahLst/>
              <a:cxnLst/>
              <a:rect l="l" t="t" r="r" b="b"/>
              <a:pathLst>
                <a:path w="576580" h="5080">
                  <a:moveTo>
                    <a:pt x="0" y="5060"/>
                  </a:moveTo>
                  <a:lnTo>
                    <a:pt x="0" y="0"/>
                  </a:lnTo>
                  <a:lnTo>
                    <a:pt x="576042" y="0"/>
                  </a:lnTo>
                  <a:lnTo>
                    <a:pt x="57604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865"/>
            <a:ext cx="61341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AWS</a:t>
            </a:r>
            <a:r>
              <a:rPr lang="en-US" sz="1100" b="1" spc="-3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2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CLI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755"/>
            <a:ext cx="2505710" cy="5080"/>
            <a:chOff x="1627403" y="1647755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755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755"/>
              <a:ext cx="250825" cy="5080"/>
            </a:xfrm>
            <a:custGeom>
              <a:avLst/>
              <a:gdLst/>
              <a:ahLst/>
              <a:cxnLst/>
              <a:rect l="l" t="t" r="r" b="b"/>
              <a:pathLst>
                <a:path w="250825" h="5080">
                  <a:moveTo>
                    <a:pt x="0" y="5060"/>
                  </a:moveTo>
                  <a:lnTo>
                    <a:pt x="0" y="0"/>
                  </a:lnTo>
                  <a:lnTo>
                    <a:pt x="250538" y="0"/>
                  </a:lnTo>
                  <a:lnTo>
                    <a:pt x="25053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What</a:t>
            </a:r>
            <a:r>
              <a:rPr lang="en-US" spc="35" noProof="1"/>
              <a:t> </a:t>
            </a:r>
            <a:r>
              <a:rPr lang="en-US" spc="-25" noProof="1"/>
              <a:t>is</a:t>
            </a:r>
            <a:r>
              <a:rPr lang="en-US" spc="35" noProof="1"/>
              <a:t> </a:t>
            </a:r>
            <a:r>
              <a:rPr lang="en-US" noProof="1"/>
              <a:t>the</a:t>
            </a:r>
            <a:r>
              <a:rPr lang="en-US" spc="35" noProof="1"/>
              <a:t> </a:t>
            </a:r>
            <a:r>
              <a:rPr lang="en-US" noProof="1"/>
              <a:t>AWS</a:t>
            </a:r>
            <a:r>
              <a:rPr lang="en-US" spc="35" noProof="1"/>
              <a:t> </a:t>
            </a:r>
            <a:r>
              <a:rPr lang="en-US" spc="-20" noProof="1"/>
              <a:t>CLI?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72646" y="774806"/>
            <a:ext cx="5015230" cy="1760220"/>
            <a:chOff x="372646" y="774806"/>
            <a:chExt cx="5015230" cy="1760220"/>
          </a:xfrm>
        </p:grpSpPr>
        <p:sp>
          <p:nvSpPr>
            <p:cNvPr id="4" name="object 4"/>
            <p:cNvSpPr/>
            <p:nvPr/>
          </p:nvSpPr>
          <p:spPr>
            <a:xfrm>
              <a:off x="377994" y="780153"/>
              <a:ext cx="5004435" cy="1749425"/>
            </a:xfrm>
            <a:custGeom>
              <a:avLst/>
              <a:gdLst/>
              <a:ahLst/>
              <a:cxnLst/>
              <a:rect l="l" t="t" r="r" b="b"/>
              <a:pathLst>
                <a:path w="5004435" h="1749425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713224"/>
                  </a:lnTo>
                  <a:lnTo>
                    <a:pt x="2829" y="1727237"/>
                  </a:lnTo>
                  <a:lnTo>
                    <a:pt x="10544" y="1738681"/>
                  </a:lnTo>
                  <a:lnTo>
                    <a:pt x="21987" y="1746396"/>
                  </a:lnTo>
                  <a:lnTo>
                    <a:pt x="36000" y="1749225"/>
                  </a:lnTo>
                  <a:lnTo>
                    <a:pt x="4968064" y="1749225"/>
                  </a:lnTo>
                  <a:lnTo>
                    <a:pt x="4982077" y="1746396"/>
                  </a:lnTo>
                  <a:lnTo>
                    <a:pt x="4993521" y="1738681"/>
                  </a:lnTo>
                  <a:lnTo>
                    <a:pt x="5001236" y="1727237"/>
                  </a:lnTo>
                  <a:lnTo>
                    <a:pt x="5004065" y="1713224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78973" y="781132"/>
              <a:ext cx="5002530" cy="1747520"/>
            </a:xfrm>
            <a:custGeom>
              <a:avLst/>
              <a:gdLst/>
              <a:ahLst/>
              <a:cxnLst/>
              <a:rect l="l" t="t" r="r" b="b"/>
              <a:pathLst>
                <a:path w="5002530" h="1747520">
                  <a:moveTo>
                    <a:pt x="0" y="1712245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1712245"/>
                  </a:lnTo>
                  <a:lnTo>
                    <a:pt x="4999354" y="1725877"/>
                  </a:lnTo>
                  <a:lnTo>
                    <a:pt x="4991849" y="1737009"/>
                  </a:lnTo>
                  <a:lnTo>
                    <a:pt x="4980717" y="1744514"/>
                  </a:lnTo>
                  <a:lnTo>
                    <a:pt x="4967085" y="1747266"/>
                  </a:lnTo>
                  <a:lnTo>
                    <a:pt x="35021" y="1747266"/>
                  </a:lnTo>
                  <a:lnTo>
                    <a:pt x="21389" y="1744514"/>
                  </a:lnTo>
                  <a:lnTo>
                    <a:pt x="10257" y="1737009"/>
                  </a:lnTo>
                  <a:lnTo>
                    <a:pt x="2752" y="1725877"/>
                  </a:lnTo>
                  <a:lnTo>
                    <a:pt x="0" y="1712245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3319" y="348847"/>
            <a:ext cx="5055870" cy="27387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100330" indent="-4445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tool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allows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interact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command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line.</a:t>
            </a:r>
            <a:r>
              <a:rPr lang="en-US" sz="900" spc="114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powerful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tool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automate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tasks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resources.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4629">
              <a:lnSpc>
                <a:spcPct val="100000"/>
              </a:lnSpc>
            </a:pPr>
            <a:r>
              <a:rPr lang="en-US" sz="800" spc="-60" noProof="1">
                <a:latin typeface="Courier New"/>
                <a:cs typeface="Courier New"/>
              </a:rPr>
              <a:t>[ec2-user@ip-172-31-86-</a:t>
            </a:r>
            <a:r>
              <a:rPr lang="en-US" sz="800" spc="-50" noProof="1">
                <a:latin typeface="Courier New"/>
                <a:cs typeface="Courier New"/>
              </a:rPr>
              <a:t>82</a:t>
            </a:r>
            <a:r>
              <a:rPr lang="en-US" sz="800" spc="20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~]$</a:t>
            </a:r>
            <a:r>
              <a:rPr lang="en-US" sz="800" spc="25" noProof="1">
                <a:latin typeface="Courier New"/>
                <a:cs typeface="Courier New"/>
              </a:rPr>
              <a:t> </a:t>
            </a:r>
            <a:r>
              <a:rPr lang="en-US" sz="800" spc="-25" noProof="1">
                <a:latin typeface="Courier New"/>
                <a:cs typeface="Courier New"/>
              </a:rPr>
              <a:t>aws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125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214629" marR="802005">
              <a:lnSpc>
                <a:spcPct val="107400"/>
              </a:lnSpc>
            </a:pPr>
            <a:r>
              <a:rPr lang="en-US" sz="800" spc="-60" noProof="1">
                <a:latin typeface="Courier New"/>
                <a:cs typeface="Courier New"/>
              </a:rPr>
              <a:t>usage:</a:t>
            </a:r>
            <a:r>
              <a:rPr lang="en-US" sz="800" spc="-40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aws</a:t>
            </a:r>
            <a:r>
              <a:rPr lang="en-US" sz="800" spc="-3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[options]</a:t>
            </a:r>
            <a:r>
              <a:rPr lang="en-US" sz="800" spc="-3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&lt;command&gt;</a:t>
            </a:r>
            <a:r>
              <a:rPr lang="en-US" sz="800" spc="-3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&lt;subcommand&gt;</a:t>
            </a:r>
            <a:r>
              <a:rPr lang="en-US" sz="800" spc="-3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[&lt;subcommand&gt;</a:t>
            </a:r>
            <a:r>
              <a:rPr lang="en-US" sz="800" spc="-40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...]</a:t>
            </a:r>
            <a:r>
              <a:rPr lang="en-US" sz="800" spc="-3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[parameters] </a:t>
            </a:r>
            <a:r>
              <a:rPr lang="en-US" sz="800" spc="-50" noProof="1">
                <a:latin typeface="Courier New"/>
                <a:cs typeface="Courier New"/>
              </a:rPr>
              <a:t>To</a:t>
            </a:r>
            <a:r>
              <a:rPr lang="en-US" sz="800" spc="-60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see</a:t>
            </a:r>
            <a:r>
              <a:rPr lang="en-US" sz="800" spc="-55" noProof="1">
                <a:latin typeface="Courier New"/>
                <a:cs typeface="Courier New"/>
              </a:rPr>
              <a:t> help </a:t>
            </a:r>
            <a:r>
              <a:rPr lang="en-US" sz="800" spc="-60" noProof="1">
                <a:latin typeface="Courier New"/>
                <a:cs typeface="Courier New"/>
              </a:rPr>
              <a:t>text,</a:t>
            </a:r>
            <a:r>
              <a:rPr lang="en-US" sz="800" spc="-55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you</a:t>
            </a:r>
            <a:r>
              <a:rPr lang="en-US" sz="800" spc="-55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can</a:t>
            </a:r>
            <a:r>
              <a:rPr lang="en-US" sz="800" spc="-55" noProof="1">
                <a:latin typeface="Courier New"/>
                <a:cs typeface="Courier New"/>
              </a:rPr>
              <a:t> </a:t>
            </a:r>
            <a:r>
              <a:rPr lang="en-US" sz="800" spc="-20" noProof="1">
                <a:latin typeface="Courier New"/>
                <a:cs typeface="Courier New"/>
              </a:rPr>
              <a:t>run: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195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321945">
              <a:lnSpc>
                <a:spcPct val="100000"/>
              </a:lnSpc>
            </a:pPr>
            <a:r>
              <a:rPr lang="en-US" sz="800" spc="-50" noProof="1">
                <a:latin typeface="Courier New"/>
                <a:cs typeface="Courier New"/>
              </a:rPr>
              <a:t>aws</a:t>
            </a:r>
            <a:r>
              <a:rPr lang="en-US" sz="800" spc="-70" noProof="1">
                <a:latin typeface="Courier New"/>
                <a:cs typeface="Courier New"/>
              </a:rPr>
              <a:t> </a:t>
            </a:r>
            <a:r>
              <a:rPr lang="en-US" sz="800" spc="-20" noProof="1">
                <a:latin typeface="Courier New"/>
                <a:cs typeface="Courier New"/>
              </a:rPr>
              <a:t>help</a:t>
            </a:r>
            <a:endParaRPr lang="en-US" sz="800" noProof="1">
              <a:latin typeface="Courier New"/>
              <a:cs typeface="Courier New"/>
            </a:endParaRPr>
          </a:p>
          <a:p>
            <a:pPr marL="321945">
              <a:lnSpc>
                <a:spcPct val="100000"/>
              </a:lnSpc>
              <a:spcBef>
                <a:spcPts val="70"/>
              </a:spcBef>
            </a:pPr>
            <a:r>
              <a:rPr lang="en-US" sz="800" spc="-50" noProof="1">
                <a:latin typeface="Courier New"/>
                <a:cs typeface="Courier New"/>
              </a:rPr>
              <a:t>aws</a:t>
            </a:r>
            <a:r>
              <a:rPr lang="en-US" sz="800" spc="-55" noProof="1">
                <a:latin typeface="Courier New"/>
                <a:cs typeface="Courier New"/>
              </a:rPr>
              <a:t> &lt;command&gt;</a:t>
            </a:r>
            <a:r>
              <a:rPr lang="en-US" sz="800" spc="-50" noProof="1">
                <a:latin typeface="Courier New"/>
                <a:cs typeface="Courier New"/>
              </a:rPr>
              <a:t> </a:t>
            </a:r>
            <a:r>
              <a:rPr lang="en-US" sz="800" spc="-20" noProof="1">
                <a:latin typeface="Courier New"/>
                <a:cs typeface="Courier New"/>
              </a:rPr>
              <a:t>help</a:t>
            </a:r>
            <a:endParaRPr lang="en-US" sz="800" noProof="1">
              <a:latin typeface="Courier New"/>
              <a:cs typeface="Courier New"/>
            </a:endParaRPr>
          </a:p>
          <a:p>
            <a:pPr marL="321945">
              <a:lnSpc>
                <a:spcPct val="100000"/>
              </a:lnSpc>
              <a:spcBef>
                <a:spcPts val="70"/>
              </a:spcBef>
            </a:pPr>
            <a:r>
              <a:rPr lang="en-US" sz="800" spc="-50" noProof="1">
                <a:latin typeface="Courier New"/>
                <a:cs typeface="Courier New"/>
              </a:rPr>
              <a:t>aws</a:t>
            </a:r>
            <a:r>
              <a:rPr lang="en-US" sz="800" spc="-4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&lt;command&gt;</a:t>
            </a:r>
            <a:r>
              <a:rPr lang="en-US" sz="800" spc="-4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&lt;subcommand&gt;</a:t>
            </a:r>
            <a:r>
              <a:rPr lang="en-US" sz="800" spc="-40" noProof="1">
                <a:latin typeface="Courier New"/>
                <a:cs typeface="Courier New"/>
              </a:rPr>
              <a:t> </a:t>
            </a:r>
            <a:r>
              <a:rPr lang="en-US" sz="800" spc="-20" noProof="1">
                <a:latin typeface="Courier New"/>
                <a:cs typeface="Courier New"/>
              </a:rPr>
              <a:t>help</a:t>
            </a:r>
            <a:endParaRPr lang="en-US" sz="800" noProof="1">
              <a:latin typeface="Courier New"/>
              <a:cs typeface="Courier New"/>
            </a:endParaRPr>
          </a:p>
          <a:p>
            <a:pPr marL="214629" marR="1769745">
              <a:lnSpc>
                <a:spcPct val="214800"/>
              </a:lnSpc>
            </a:pPr>
            <a:r>
              <a:rPr lang="en-US" sz="800" spc="-55" noProof="1">
                <a:latin typeface="Courier New"/>
                <a:cs typeface="Courier New"/>
              </a:rPr>
              <a:t>aws:</a:t>
            </a:r>
            <a:r>
              <a:rPr lang="en-US" sz="800" spc="-4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error:</a:t>
            </a:r>
            <a:r>
              <a:rPr lang="en-US" sz="800" spc="-45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the</a:t>
            </a:r>
            <a:r>
              <a:rPr lang="en-US" sz="800" spc="-40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following</a:t>
            </a:r>
            <a:r>
              <a:rPr lang="en-US" sz="800" spc="-4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arguments</a:t>
            </a:r>
            <a:r>
              <a:rPr lang="en-US" sz="800" spc="-45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are</a:t>
            </a:r>
            <a:r>
              <a:rPr lang="en-US" sz="800" spc="-40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required:</a:t>
            </a:r>
            <a:r>
              <a:rPr lang="en-US" sz="800" spc="-4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command </a:t>
            </a:r>
            <a:r>
              <a:rPr lang="en-US" sz="800" spc="-60" noProof="1">
                <a:latin typeface="Courier New"/>
                <a:cs typeface="Courier New"/>
              </a:rPr>
              <a:t>[ec2-user@ip-172-31-86-</a:t>
            </a:r>
            <a:r>
              <a:rPr lang="en-US" sz="800" spc="-50" noProof="1">
                <a:latin typeface="Courier New"/>
                <a:cs typeface="Courier New"/>
              </a:rPr>
              <a:t>82</a:t>
            </a:r>
            <a:r>
              <a:rPr lang="en-US" sz="800" spc="110" noProof="1">
                <a:latin typeface="Courier New"/>
                <a:cs typeface="Courier New"/>
              </a:rPr>
              <a:t> </a:t>
            </a:r>
            <a:r>
              <a:rPr lang="en-US" sz="800" spc="-25" noProof="1">
                <a:latin typeface="Courier New"/>
                <a:cs typeface="Courier New"/>
              </a:rPr>
              <a:t>~]$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490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16510" marR="5080" indent="-4445">
              <a:lnSpc>
                <a:spcPct val="116199"/>
              </a:lnSpc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base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command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which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 itself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doesn’t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do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anything.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going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configure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credentials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later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run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commands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other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like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S3.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691515" cy="5080"/>
            </a:xfrm>
            <a:custGeom>
              <a:avLst/>
              <a:gdLst/>
              <a:ahLst/>
              <a:cxnLst/>
              <a:rect l="l" t="t" r="r" b="b"/>
              <a:pathLst>
                <a:path w="691515" h="5080">
                  <a:moveTo>
                    <a:pt x="0" y="5060"/>
                  </a:moveTo>
                  <a:lnTo>
                    <a:pt x="0" y="0"/>
                  </a:lnTo>
                  <a:lnTo>
                    <a:pt x="691180" y="0"/>
                  </a:lnTo>
                  <a:lnTo>
                    <a:pt x="69118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noProof="1"/>
              <a:t>Installing</a:t>
            </a:r>
            <a:r>
              <a:rPr lang="en-US" spc="20" noProof="1"/>
              <a:t> </a:t>
            </a:r>
            <a:r>
              <a:rPr lang="en-US" noProof="1"/>
              <a:t>the</a:t>
            </a:r>
            <a:r>
              <a:rPr lang="en-US" spc="20" noProof="1"/>
              <a:t> </a:t>
            </a:r>
            <a:r>
              <a:rPr lang="en-US" noProof="1"/>
              <a:t>AWS</a:t>
            </a:r>
            <a:r>
              <a:rPr lang="en-US" spc="20" noProof="1"/>
              <a:t> </a:t>
            </a:r>
            <a:r>
              <a:rPr lang="en-US" spc="-25" noProof="1"/>
              <a:t>CLI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433" y="371520"/>
            <a:ext cx="383222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Visit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AWS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CLI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installation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guide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install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machine.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51064" y="613852"/>
            <a:ext cx="3657882" cy="2399107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806450" cy="5080"/>
            </a:xfrm>
            <a:custGeom>
              <a:avLst/>
              <a:gdLst/>
              <a:ahLst/>
              <a:cxnLst/>
              <a:rect l="l" t="t" r="r" b="b"/>
              <a:pathLst>
                <a:path w="806450" h="5080">
                  <a:moveTo>
                    <a:pt x="0" y="5060"/>
                  </a:moveTo>
                  <a:lnTo>
                    <a:pt x="0" y="0"/>
                  </a:lnTo>
                  <a:lnTo>
                    <a:pt x="806406" y="0"/>
                  </a:lnTo>
                  <a:lnTo>
                    <a:pt x="80640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noProof="1"/>
              <a:t>Installing</a:t>
            </a:r>
            <a:r>
              <a:rPr lang="en-US" spc="20" noProof="1"/>
              <a:t> </a:t>
            </a:r>
            <a:r>
              <a:rPr lang="en-US" noProof="1"/>
              <a:t>the</a:t>
            </a:r>
            <a:r>
              <a:rPr lang="en-US" spc="20" noProof="1"/>
              <a:t> </a:t>
            </a:r>
            <a:r>
              <a:rPr lang="en-US" noProof="1"/>
              <a:t>AWS</a:t>
            </a:r>
            <a:r>
              <a:rPr lang="en-US" spc="20" noProof="1"/>
              <a:t> </a:t>
            </a:r>
            <a:r>
              <a:rPr lang="en-US" spc="-25" noProof="1"/>
              <a:t>CLI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371520"/>
            <a:ext cx="383349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Paste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command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terminal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wait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installation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complete.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66406" y="612492"/>
            <a:ext cx="3827194" cy="2399172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922019" cy="5080"/>
            </a:xfrm>
            <a:custGeom>
              <a:avLst/>
              <a:gdLst/>
              <a:ahLst/>
              <a:cxnLst/>
              <a:rect l="l" t="t" r="r" b="b"/>
              <a:pathLst>
                <a:path w="922019" h="5080">
                  <a:moveTo>
                    <a:pt x="0" y="5060"/>
                  </a:moveTo>
                  <a:lnTo>
                    <a:pt x="0" y="0"/>
                  </a:lnTo>
                  <a:lnTo>
                    <a:pt x="921632" y="0"/>
                  </a:lnTo>
                  <a:lnTo>
                    <a:pt x="92163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noProof="1"/>
              <a:t>Installing</a:t>
            </a:r>
            <a:r>
              <a:rPr lang="en-US" spc="20" noProof="1"/>
              <a:t> </a:t>
            </a:r>
            <a:r>
              <a:rPr lang="en-US" noProof="1"/>
              <a:t>the</a:t>
            </a:r>
            <a:r>
              <a:rPr lang="en-US" spc="20" noProof="1"/>
              <a:t> </a:t>
            </a:r>
            <a:r>
              <a:rPr lang="en-US" noProof="1"/>
              <a:t>AWS</a:t>
            </a:r>
            <a:r>
              <a:rPr lang="en-US" spc="20" noProof="1"/>
              <a:t> </a:t>
            </a:r>
            <a:r>
              <a:rPr lang="en-US" spc="-25" noProof="1"/>
              <a:t>CLI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348847"/>
            <a:ext cx="4867910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 if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MacOS,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go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 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MacOS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section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also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paste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corresponding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commands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on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terminal.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38174" y="773069"/>
            <a:ext cx="4083658" cy="2399149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1036955" cy="5080"/>
            </a:xfrm>
            <a:custGeom>
              <a:avLst/>
              <a:gdLst/>
              <a:ahLst/>
              <a:cxnLst/>
              <a:rect l="l" t="t" r="r" b="b"/>
              <a:pathLst>
                <a:path w="1036955" h="5080">
                  <a:moveTo>
                    <a:pt x="0" y="5060"/>
                  </a:moveTo>
                  <a:lnTo>
                    <a:pt x="0" y="0"/>
                  </a:lnTo>
                  <a:lnTo>
                    <a:pt x="1036770" y="0"/>
                  </a:lnTo>
                  <a:lnTo>
                    <a:pt x="103677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Configuring</a:t>
            </a:r>
            <a:r>
              <a:rPr lang="en-US" spc="15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noProof="1"/>
              <a:t>AWS</a:t>
            </a:r>
            <a:r>
              <a:rPr lang="en-US" spc="15" noProof="1"/>
              <a:t> </a:t>
            </a:r>
            <a:r>
              <a:rPr lang="en-US" spc="-30" noProof="1"/>
              <a:t>Credentials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1718" y="348847"/>
            <a:ext cx="5062220" cy="5035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We’re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going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 visit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Learner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Lab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page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Academy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 get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credentials.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this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guide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this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guide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available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 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subject’s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website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help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with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setting up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AWS.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Wait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until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lab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loads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95" noProof="1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page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below.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932508"/>
            <a:ext cx="5760085" cy="2307590"/>
            <a:chOff x="0" y="932508"/>
            <a:chExt cx="5760085" cy="2307590"/>
          </a:xfrm>
        </p:grpSpPr>
        <p:pic>
          <p:nvPicPr>
            <p:cNvPr id="5" name="object 5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474129" y="932508"/>
              <a:ext cx="4811763" cy="2307515"/>
            </a:xfrm>
            <a:prstGeom prst="rect">
              <a:avLst/>
            </a:prstGeom>
          </p:spPr>
        </p:pic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1152525" cy="5080"/>
            </a:xfrm>
            <a:custGeom>
              <a:avLst/>
              <a:gdLst/>
              <a:ahLst/>
              <a:cxnLst/>
              <a:rect l="l" t="t" r="r" b="b"/>
              <a:pathLst>
                <a:path w="1152525" h="5080">
                  <a:moveTo>
                    <a:pt x="0" y="5060"/>
                  </a:moveTo>
                  <a:lnTo>
                    <a:pt x="0" y="0"/>
                  </a:lnTo>
                  <a:lnTo>
                    <a:pt x="1151997" y="0"/>
                  </a:lnTo>
                  <a:lnTo>
                    <a:pt x="115199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Configuring</a:t>
            </a:r>
            <a:r>
              <a:rPr lang="en-US" spc="15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noProof="1"/>
              <a:t>AWS</a:t>
            </a:r>
            <a:r>
              <a:rPr lang="en-US" spc="15" noProof="1"/>
              <a:t> </a:t>
            </a:r>
            <a:r>
              <a:rPr lang="en-US" spc="-30" noProof="1"/>
              <a:t>Credentials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1031163" y="815647"/>
            <a:ext cx="683260" cy="123189"/>
            <a:chOff x="1031163" y="815647"/>
            <a:chExt cx="683260" cy="123189"/>
          </a:xfrm>
        </p:grpSpPr>
        <p:sp>
          <p:nvSpPr>
            <p:cNvPr id="4" name="object 4"/>
            <p:cNvSpPr/>
            <p:nvPr/>
          </p:nvSpPr>
          <p:spPr>
            <a:xfrm>
              <a:off x="1031163" y="815647"/>
              <a:ext cx="683260" cy="123189"/>
            </a:xfrm>
            <a:custGeom>
              <a:avLst/>
              <a:gdLst/>
              <a:ahLst/>
              <a:cxnLst/>
              <a:rect l="l" t="t" r="r" b="b"/>
              <a:pathLst>
                <a:path w="683260" h="123190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7034"/>
                  </a:lnTo>
                  <a:lnTo>
                    <a:pt x="2829" y="101047"/>
                  </a:lnTo>
                  <a:lnTo>
                    <a:pt x="10544" y="112490"/>
                  </a:lnTo>
                  <a:lnTo>
                    <a:pt x="21987" y="120205"/>
                  </a:lnTo>
                  <a:lnTo>
                    <a:pt x="36000" y="123034"/>
                  </a:lnTo>
                  <a:lnTo>
                    <a:pt x="646930" y="123034"/>
                  </a:lnTo>
                  <a:lnTo>
                    <a:pt x="660943" y="120205"/>
                  </a:lnTo>
                  <a:lnTo>
                    <a:pt x="672386" y="112490"/>
                  </a:lnTo>
                  <a:lnTo>
                    <a:pt x="680101" y="101047"/>
                  </a:lnTo>
                  <a:lnTo>
                    <a:pt x="682930" y="87034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031163" y="815647"/>
              <a:ext cx="683260" cy="123189"/>
            </a:xfrm>
            <a:custGeom>
              <a:avLst/>
              <a:gdLst/>
              <a:ahLst/>
              <a:cxnLst/>
              <a:rect l="l" t="t" r="r" b="b"/>
              <a:pathLst>
                <a:path w="683260" h="123190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7034"/>
                  </a:lnTo>
                  <a:lnTo>
                    <a:pt x="2829" y="101047"/>
                  </a:lnTo>
                  <a:lnTo>
                    <a:pt x="10544" y="112490"/>
                  </a:lnTo>
                  <a:lnTo>
                    <a:pt x="21987" y="120205"/>
                  </a:lnTo>
                  <a:lnTo>
                    <a:pt x="36000" y="123034"/>
                  </a:lnTo>
                  <a:lnTo>
                    <a:pt x="646930" y="123034"/>
                  </a:lnTo>
                  <a:lnTo>
                    <a:pt x="660943" y="120205"/>
                  </a:lnTo>
                  <a:lnTo>
                    <a:pt x="672386" y="112490"/>
                  </a:lnTo>
                  <a:lnTo>
                    <a:pt x="680101" y="101047"/>
                  </a:lnTo>
                  <a:lnTo>
                    <a:pt x="682930" y="87034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2381732" y="815989"/>
            <a:ext cx="264795" cy="123189"/>
            <a:chOff x="2381732" y="815989"/>
            <a:chExt cx="264795" cy="123189"/>
          </a:xfrm>
        </p:grpSpPr>
        <p:sp>
          <p:nvSpPr>
            <p:cNvPr id="7" name="object 7"/>
            <p:cNvSpPr/>
            <p:nvPr/>
          </p:nvSpPr>
          <p:spPr>
            <a:xfrm>
              <a:off x="2381732" y="815989"/>
              <a:ext cx="264795" cy="123189"/>
            </a:xfrm>
            <a:custGeom>
              <a:avLst/>
              <a:gdLst/>
              <a:ahLst/>
              <a:cxnLst/>
              <a:rect l="l" t="t" r="r" b="b"/>
              <a:pathLst>
                <a:path w="264794" h="12319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228441" y="122693"/>
                  </a:lnTo>
                  <a:lnTo>
                    <a:pt x="242454" y="119864"/>
                  </a:lnTo>
                  <a:lnTo>
                    <a:pt x="253897" y="112148"/>
                  </a:lnTo>
                  <a:lnTo>
                    <a:pt x="261612" y="100705"/>
                  </a:lnTo>
                  <a:lnTo>
                    <a:pt x="264441" y="86692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2381732" y="815989"/>
              <a:ext cx="264795" cy="123189"/>
            </a:xfrm>
            <a:custGeom>
              <a:avLst/>
              <a:gdLst/>
              <a:ahLst/>
              <a:cxnLst/>
              <a:rect l="l" t="t" r="r" b="b"/>
              <a:pathLst>
                <a:path w="264794" h="12319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228441" y="122693"/>
                  </a:lnTo>
                  <a:lnTo>
                    <a:pt x="242454" y="119864"/>
                  </a:lnTo>
                  <a:lnTo>
                    <a:pt x="253897" y="112148"/>
                  </a:lnTo>
                  <a:lnTo>
                    <a:pt x="261612" y="100705"/>
                  </a:lnTo>
                  <a:lnTo>
                    <a:pt x="264441" y="86692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347294" y="785553"/>
            <a:ext cx="360934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0" noProof="1">
                <a:latin typeface="Courier New"/>
                <a:cs typeface="Courier New"/>
              </a:rPr>
              <a:t>AWS </a:t>
            </a:r>
            <a:r>
              <a:rPr lang="en-US" sz="900" spc="-75" noProof="1">
                <a:latin typeface="Courier New"/>
                <a:cs typeface="Courier New"/>
              </a:rPr>
              <a:t>Details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Show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reveal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credentials.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10" name="object 10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59994" y="1163766"/>
            <a:ext cx="5040057" cy="1421166"/>
          </a:xfrm>
          <a:prstGeom prst="rect">
            <a:avLst/>
          </a:prstGeom>
        </p:spPr>
      </p:pic>
      <p:grpSp>
        <p:nvGrpSpPr>
          <p:cNvPr id="11" name="object 11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2" name="object 12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4" name="object 14"/>
            <p:cNvSpPr/>
            <p:nvPr/>
          </p:nvSpPr>
          <p:spPr>
            <a:xfrm>
              <a:off x="0" y="3234963"/>
              <a:ext cx="1267460" cy="5080"/>
            </a:xfrm>
            <a:custGeom>
              <a:avLst/>
              <a:gdLst/>
              <a:ahLst/>
              <a:cxnLst/>
              <a:rect l="l" t="t" r="r" b="b"/>
              <a:pathLst>
                <a:path w="1267460" h="5080">
                  <a:moveTo>
                    <a:pt x="0" y="5060"/>
                  </a:moveTo>
                  <a:lnTo>
                    <a:pt x="0" y="0"/>
                  </a:lnTo>
                  <a:lnTo>
                    <a:pt x="1267223" y="0"/>
                  </a:lnTo>
                  <a:lnTo>
                    <a:pt x="126722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2632075" cy="4743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Configuring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AWS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10" noProof="1">
                <a:solidFill>
                  <a:srgbClr val="F9F9F9"/>
                </a:solidFill>
                <a:latin typeface="Arial"/>
                <a:cs typeface="Arial"/>
              </a:rPr>
              <a:t>Credentials</a:t>
            </a:r>
            <a:endParaRPr lang="en-US" sz="10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105"/>
              </a:spcBef>
            </a:pPr>
            <a:endParaRPr lang="en-US" sz="1000" noProof="1">
              <a:latin typeface="Arial"/>
              <a:cs typeface="Arial"/>
            </a:endParaRPr>
          </a:p>
          <a:p>
            <a:pPr marL="257175">
              <a:lnSpc>
                <a:spcPct val="100000"/>
              </a:lnSpc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You’ll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95" noProof="1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some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text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containing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credentials.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69023" y="613857"/>
            <a:ext cx="4621952" cy="2399115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1383030" cy="5080"/>
            </a:xfrm>
            <a:custGeom>
              <a:avLst/>
              <a:gdLst/>
              <a:ahLst/>
              <a:cxnLst/>
              <a:rect l="l" t="t" r="r" b="b"/>
              <a:pathLst>
                <a:path w="1383030" h="5080">
                  <a:moveTo>
                    <a:pt x="0" y="5060"/>
                  </a:moveTo>
                  <a:lnTo>
                    <a:pt x="0" y="0"/>
                  </a:lnTo>
                  <a:lnTo>
                    <a:pt x="1382449" y="0"/>
                  </a:lnTo>
                  <a:lnTo>
                    <a:pt x="138244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Configuring</a:t>
            </a:r>
            <a:r>
              <a:rPr lang="en-US" spc="15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noProof="1"/>
              <a:t>AWS</a:t>
            </a:r>
            <a:r>
              <a:rPr lang="en-US" spc="15" noProof="1"/>
              <a:t> </a:t>
            </a:r>
            <a:r>
              <a:rPr lang="en-US" spc="-30" noProof="1"/>
              <a:t>Credentials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2699067" y="648494"/>
            <a:ext cx="683260" cy="121285"/>
            <a:chOff x="2699067" y="648494"/>
            <a:chExt cx="683260" cy="121285"/>
          </a:xfrm>
        </p:grpSpPr>
        <p:sp>
          <p:nvSpPr>
            <p:cNvPr id="4" name="object 4"/>
            <p:cNvSpPr/>
            <p:nvPr/>
          </p:nvSpPr>
          <p:spPr>
            <a:xfrm>
              <a:off x="2699067" y="648494"/>
              <a:ext cx="683260" cy="121285"/>
            </a:xfrm>
            <a:custGeom>
              <a:avLst/>
              <a:gdLst/>
              <a:ahLst/>
              <a:cxnLst/>
              <a:rect l="l" t="t" r="r" b="b"/>
              <a:pathLst>
                <a:path w="683260" h="121284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646930" y="120757"/>
                  </a:lnTo>
                  <a:lnTo>
                    <a:pt x="660943" y="117928"/>
                  </a:lnTo>
                  <a:lnTo>
                    <a:pt x="672386" y="110213"/>
                  </a:lnTo>
                  <a:lnTo>
                    <a:pt x="680101" y="98770"/>
                  </a:lnTo>
                  <a:lnTo>
                    <a:pt x="682930" y="84757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2699067" y="648494"/>
              <a:ext cx="683260" cy="121285"/>
            </a:xfrm>
            <a:custGeom>
              <a:avLst/>
              <a:gdLst/>
              <a:ahLst/>
              <a:cxnLst/>
              <a:rect l="l" t="t" r="r" b="b"/>
              <a:pathLst>
                <a:path w="683260" h="121284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646930" y="120757"/>
                  </a:lnTo>
                  <a:lnTo>
                    <a:pt x="660943" y="117928"/>
                  </a:lnTo>
                  <a:lnTo>
                    <a:pt x="672386" y="110213"/>
                  </a:lnTo>
                  <a:lnTo>
                    <a:pt x="680101" y="98770"/>
                  </a:lnTo>
                  <a:lnTo>
                    <a:pt x="682930" y="84757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3927551" y="668080"/>
            <a:ext cx="264795" cy="101600"/>
            <a:chOff x="3927551" y="668080"/>
            <a:chExt cx="264795" cy="101600"/>
          </a:xfrm>
        </p:grpSpPr>
        <p:sp>
          <p:nvSpPr>
            <p:cNvPr id="7" name="object 7"/>
            <p:cNvSpPr/>
            <p:nvPr/>
          </p:nvSpPr>
          <p:spPr>
            <a:xfrm>
              <a:off x="3927551" y="668080"/>
              <a:ext cx="264795" cy="101600"/>
            </a:xfrm>
            <a:custGeom>
              <a:avLst/>
              <a:gdLst/>
              <a:ahLst/>
              <a:cxnLst/>
              <a:rect l="l" t="t" r="r" b="b"/>
              <a:pathLst>
                <a:path w="264795" h="10160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5170"/>
                  </a:lnTo>
                  <a:lnTo>
                    <a:pt x="2829" y="79183"/>
                  </a:lnTo>
                  <a:lnTo>
                    <a:pt x="10544" y="90626"/>
                  </a:lnTo>
                  <a:lnTo>
                    <a:pt x="21987" y="98341"/>
                  </a:lnTo>
                  <a:lnTo>
                    <a:pt x="36000" y="101170"/>
                  </a:lnTo>
                  <a:lnTo>
                    <a:pt x="228441" y="101170"/>
                  </a:lnTo>
                  <a:lnTo>
                    <a:pt x="242454" y="98341"/>
                  </a:lnTo>
                  <a:lnTo>
                    <a:pt x="253897" y="90626"/>
                  </a:lnTo>
                  <a:lnTo>
                    <a:pt x="261612" y="79183"/>
                  </a:lnTo>
                  <a:lnTo>
                    <a:pt x="264441" y="65170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3927551" y="668080"/>
              <a:ext cx="264795" cy="101600"/>
            </a:xfrm>
            <a:custGeom>
              <a:avLst/>
              <a:gdLst/>
              <a:ahLst/>
              <a:cxnLst/>
              <a:rect l="l" t="t" r="r" b="b"/>
              <a:pathLst>
                <a:path w="264795" h="10160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5170"/>
                  </a:lnTo>
                  <a:lnTo>
                    <a:pt x="2829" y="79183"/>
                  </a:lnTo>
                  <a:lnTo>
                    <a:pt x="10544" y="90626"/>
                  </a:lnTo>
                  <a:lnTo>
                    <a:pt x="21987" y="98341"/>
                  </a:lnTo>
                  <a:lnTo>
                    <a:pt x="36000" y="101170"/>
                  </a:lnTo>
                  <a:lnTo>
                    <a:pt x="228441" y="101170"/>
                  </a:lnTo>
                  <a:lnTo>
                    <a:pt x="242454" y="98341"/>
                  </a:lnTo>
                  <a:lnTo>
                    <a:pt x="253897" y="90626"/>
                  </a:lnTo>
                  <a:lnTo>
                    <a:pt x="261612" y="79183"/>
                  </a:lnTo>
                  <a:lnTo>
                    <a:pt x="264441" y="65170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9" name="object 9"/>
          <p:cNvGrpSpPr/>
          <p:nvPr/>
        </p:nvGrpSpPr>
        <p:grpSpPr>
          <a:xfrm>
            <a:off x="1093685" y="1066391"/>
            <a:ext cx="264795" cy="101600"/>
            <a:chOff x="1093685" y="1066391"/>
            <a:chExt cx="264795" cy="101600"/>
          </a:xfrm>
        </p:grpSpPr>
        <p:sp>
          <p:nvSpPr>
            <p:cNvPr id="10" name="object 10"/>
            <p:cNvSpPr/>
            <p:nvPr/>
          </p:nvSpPr>
          <p:spPr>
            <a:xfrm>
              <a:off x="1093685" y="1066391"/>
              <a:ext cx="264795" cy="101600"/>
            </a:xfrm>
            <a:custGeom>
              <a:avLst/>
              <a:gdLst/>
              <a:ahLst/>
              <a:cxnLst/>
              <a:rect l="l" t="t" r="r" b="b"/>
              <a:pathLst>
                <a:path w="264794" h="10160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5170"/>
                  </a:lnTo>
                  <a:lnTo>
                    <a:pt x="2829" y="79183"/>
                  </a:lnTo>
                  <a:lnTo>
                    <a:pt x="10544" y="90626"/>
                  </a:lnTo>
                  <a:lnTo>
                    <a:pt x="21987" y="98341"/>
                  </a:lnTo>
                  <a:lnTo>
                    <a:pt x="36000" y="101170"/>
                  </a:lnTo>
                  <a:lnTo>
                    <a:pt x="228441" y="101170"/>
                  </a:lnTo>
                  <a:lnTo>
                    <a:pt x="242454" y="98341"/>
                  </a:lnTo>
                  <a:lnTo>
                    <a:pt x="253897" y="90626"/>
                  </a:lnTo>
                  <a:lnTo>
                    <a:pt x="261612" y="79183"/>
                  </a:lnTo>
                  <a:lnTo>
                    <a:pt x="264441" y="65170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1093685" y="1066391"/>
              <a:ext cx="264795" cy="101600"/>
            </a:xfrm>
            <a:custGeom>
              <a:avLst/>
              <a:gdLst/>
              <a:ahLst/>
              <a:cxnLst/>
              <a:rect l="l" t="t" r="r" b="b"/>
              <a:pathLst>
                <a:path w="264794" h="10160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5170"/>
                  </a:lnTo>
                  <a:lnTo>
                    <a:pt x="2829" y="79183"/>
                  </a:lnTo>
                  <a:lnTo>
                    <a:pt x="10544" y="90626"/>
                  </a:lnTo>
                  <a:lnTo>
                    <a:pt x="21987" y="98341"/>
                  </a:lnTo>
                  <a:lnTo>
                    <a:pt x="36000" y="101170"/>
                  </a:lnTo>
                  <a:lnTo>
                    <a:pt x="228441" y="101170"/>
                  </a:lnTo>
                  <a:lnTo>
                    <a:pt x="242454" y="98341"/>
                  </a:lnTo>
                  <a:lnTo>
                    <a:pt x="253897" y="90626"/>
                  </a:lnTo>
                  <a:lnTo>
                    <a:pt x="261612" y="79183"/>
                  </a:lnTo>
                  <a:lnTo>
                    <a:pt x="264441" y="65170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12" name="object 12"/>
          <p:cNvGrpSpPr/>
          <p:nvPr/>
        </p:nvGrpSpPr>
        <p:grpSpPr>
          <a:xfrm>
            <a:off x="3686251" y="1046804"/>
            <a:ext cx="623570" cy="121285"/>
            <a:chOff x="3686251" y="1046804"/>
            <a:chExt cx="623570" cy="121285"/>
          </a:xfrm>
        </p:grpSpPr>
        <p:sp>
          <p:nvSpPr>
            <p:cNvPr id="13" name="object 13"/>
            <p:cNvSpPr/>
            <p:nvPr/>
          </p:nvSpPr>
          <p:spPr>
            <a:xfrm>
              <a:off x="3686251" y="1046804"/>
              <a:ext cx="623570" cy="121285"/>
            </a:xfrm>
            <a:custGeom>
              <a:avLst/>
              <a:gdLst/>
              <a:ahLst/>
              <a:cxnLst/>
              <a:rect l="l" t="t" r="r" b="b"/>
              <a:pathLst>
                <a:path w="623570" h="121284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587145" y="120757"/>
                  </a:lnTo>
                  <a:lnTo>
                    <a:pt x="601158" y="117928"/>
                  </a:lnTo>
                  <a:lnTo>
                    <a:pt x="612602" y="110213"/>
                  </a:lnTo>
                  <a:lnTo>
                    <a:pt x="620317" y="98770"/>
                  </a:lnTo>
                  <a:lnTo>
                    <a:pt x="623146" y="84757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4" name="object 14"/>
            <p:cNvSpPr/>
            <p:nvPr/>
          </p:nvSpPr>
          <p:spPr>
            <a:xfrm>
              <a:off x="3686251" y="1046804"/>
              <a:ext cx="623570" cy="121285"/>
            </a:xfrm>
            <a:custGeom>
              <a:avLst/>
              <a:gdLst/>
              <a:ahLst/>
              <a:cxnLst/>
              <a:rect l="l" t="t" r="r" b="b"/>
              <a:pathLst>
                <a:path w="623570" h="121284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587145" y="120757"/>
                  </a:lnTo>
                  <a:lnTo>
                    <a:pt x="601158" y="117928"/>
                  </a:lnTo>
                  <a:lnTo>
                    <a:pt x="612602" y="110213"/>
                  </a:lnTo>
                  <a:lnTo>
                    <a:pt x="620317" y="98770"/>
                  </a:lnTo>
                  <a:lnTo>
                    <a:pt x="623146" y="84757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15" name="object 15"/>
          <p:cNvGrpSpPr/>
          <p:nvPr/>
        </p:nvGrpSpPr>
        <p:grpSpPr>
          <a:xfrm>
            <a:off x="1514335" y="1365460"/>
            <a:ext cx="683260" cy="121285"/>
            <a:chOff x="1514335" y="1365460"/>
            <a:chExt cx="683260" cy="121285"/>
          </a:xfrm>
        </p:grpSpPr>
        <p:sp>
          <p:nvSpPr>
            <p:cNvPr id="16" name="object 16"/>
            <p:cNvSpPr/>
            <p:nvPr/>
          </p:nvSpPr>
          <p:spPr>
            <a:xfrm>
              <a:off x="1514335" y="1365460"/>
              <a:ext cx="683260" cy="121285"/>
            </a:xfrm>
            <a:custGeom>
              <a:avLst/>
              <a:gdLst/>
              <a:ahLst/>
              <a:cxnLst/>
              <a:rect l="l" t="t" r="r" b="b"/>
              <a:pathLst>
                <a:path w="683260" h="121284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646930" y="120757"/>
                  </a:lnTo>
                  <a:lnTo>
                    <a:pt x="660943" y="117928"/>
                  </a:lnTo>
                  <a:lnTo>
                    <a:pt x="672386" y="110213"/>
                  </a:lnTo>
                  <a:lnTo>
                    <a:pt x="680101" y="98770"/>
                  </a:lnTo>
                  <a:lnTo>
                    <a:pt x="682930" y="84757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7" name="object 17"/>
            <p:cNvSpPr/>
            <p:nvPr/>
          </p:nvSpPr>
          <p:spPr>
            <a:xfrm>
              <a:off x="1514335" y="1365460"/>
              <a:ext cx="683260" cy="121285"/>
            </a:xfrm>
            <a:custGeom>
              <a:avLst/>
              <a:gdLst/>
              <a:ahLst/>
              <a:cxnLst/>
              <a:rect l="l" t="t" r="r" b="b"/>
              <a:pathLst>
                <a:path w="683260" h="121284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646930" y="120757"/>
                  </a:lnTo>
                  <a:lnTo>
                    <a:pt x="660943" y="117928"/>
                  </a:lnTo>
                  <a:lnTo>
                    <a:pt x="672386" y="110213"/>
                  </a:lnTo>
                  <a:lnTo>
                    <a:pt x="680101" y="98770"/>
                  </a:lnTo>
                  <a:lnTo>
                    <a:pt x="682930" y="84757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18" name="object 18"/>
          <p:cNvGrpSpPr/>
          <p:nvPr/>
        </p:nvGrpSpPr>
        <p:grpSpPr>
          <a:xfrm>
            <a:off x="2924555" y="1385046"/>
            <a:ext cx="264795" cy="101600"/>
            <a:chOff x="2924555" y="1385046"/>
            <a:chExt cx="264795" cy="101600"/>
          </a:xfrm>
        </p:grpSpPr>
        <p:sp>
          <p:nvSpPr>
            <p:cNvPr id="19" name="object 19"/>
            <p:cNvSpPr/>
            <p:nvPr/>
          </p:nvSpPr>
          <p:spPr>
            <a:xfrm>
              <a:off x="2924555" y="1385046"/>
              <a:ext cx="264795" cy="101600"/>
            </a:xfrm>
            <a:custGeom>
              <a:avLst/>
              <a:gdLst/>
              <a:ahLst/>
              <a:cxnLst/>
              <a:rect l="l" t="t" r="r" b="b"/>
              <a:pathLst>
                <a:path w="264794" h="10160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5170"/>
                  </a:lnTo>
                  <a:lnTo>
                    <a:pt x="2829" y="79183"/>
                  </a:lnTo>
                  <a:lnTo>
                    <a:pt x="10544" y="90626"/>
                  </a:lnTo>
                  <a:lnTo>
                    <a:pt x="21987" y="98341"/>
                  </a:lnTo>
                  <a:lnTo>
                    <a:pt x="36000" y="101170"/>
                  </a:lnTo>
                  <a:lnTo>
                    <a:pt x="228441" y="101170"/>
                  </a:lnTo>
                  <a:lnTo>
                    <a:pt x="242454" y="98341"/>
                  </a:lnTo>
                  <a:lnTo>
                    <a:pt x="253897" y="90626"/>
                  </a:lnTo>
                  <a:lnTo>
                    <a:pt x="261612" y="79183"/>
                  </a:lnTo>
                  <a:lnTo>
                    <a:pt x="264441" y="65170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20" name="object 20"/>
            <p:cNvSpPr/>
            <p:nvPr/>
          </p:nvSpPr>
          <p:spPr>
            <a:xfrm>
              <a:off x="2924555" y="1385046"/>
              <a:ext cx="264795" cy="101600"/>
            </a:xfrm>
            <a:custGeom>
              <a:avLst/>
              <a:gdLst/>
              <a:ahLst/>
              <a:cxnLst/>
              <a:rect l="l" t="t" r="r" b="b"/>
              <a:pathLst>
                <a:path w="264794" h="10160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5170"/>
                  </a:lnTo>
                  <a:lnTo>
                    <a:pt x="2829" y="79183"/>
                  </a:lnTo>
                  <a:lnTo>
                    <a:pt x="10544" y="90626"/>
                  </a:lnTo>
                  <a:lnTo>
                    <a:pt x="21987" y="98341"/>
                  </a:lnTo>
                  <a:lnTo>
                    <a:pt x="36000" y="101170"/>
                  </a:lnTo>
                  <a:lnTo>
                    <a:pt x="228441" y="101170"/>
                  </a:lnTo>
                  <a:lnTo>
                    <a:pt x="242454" y="98341"/>
                  </a:lnTo>
                  <a:lnTo>
                    <a:pt x="253897" y="90626"/>
                  </a:lnTo>
                  <a:lnTo>
                    <a:pt x="261612" y="79183"/>
                  </a:lnTo>
                  <a:lnTo>
                    <a:pt x="264441" y="65170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21" name="object 21"/>
          <p:cNvGrpSpPr/>
          <p:nvPr/>
        </p:nvGrpSpPr>
        <p:grpSpPr>
          <a:xfrm>
            <a:off x="372646" y="1577757"/>
            <a:ext cx="5015230" cy="320040"/>
            <a:chOff x="372646" y="1577757"/>
            <a:chExt cx="5015230" cy="320040"/>
          </a:xfrm>
        </p:grpSpPr>
        <p:sp>
          <p:nvSpPr>
            <p:cNvPr id="22" name="object 22"/>
            <p:cNvSpPr/>
            <p:nvPr/>
          </p:nvSpPr>
          <p:spPr>
            <a:xfrm>
              <a:off x="377994" y="1583104"/>
              <a:ext cx="5004435" cy="309245"/>
            </a:xfrm>
            <a:custGeom>
              <a:avLst/>
              <a:gdLst/>
              <a:ahLst/>
              <a:cxnLst/>
              <a:rect l="l" t="t" r="r" b="b"/>
              <a:pathLst>
                <a:path w="5004435" h="309244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272720"/>
                  </a:lnTo>
                  <a:lnTo>
                    <a:pt x="2829" y="286733"/>
                  </a:lnTo>
                  <a:lnTo>
                    <a:pt x="10544" y="298176"/>
                  </a:lnTo>
                  <a:lnTo>
                    <a:pt x="21987" y="305892"/>
                  </a:lnTo>
                  <a:lnTo>
                    <a:pt x="36000" y="308721"/>
                  </a:lnTo>
                  <a:lnTo>
                    <a:pt x="4968064" y="308721"/>
                  </a:lnTo>
                  <a:lnTo>
                    <a:pt x="4982077" y="305892"/>
                  </a:lnTo>
                  <a:lnTo>
                    <a:pt x="4993521" y="298176"/>
                  </a:lnTo>
                  <a:lnTo>
                    <a:pt x="5001236" y="286733"/>
                  </a:lnTo>
                  <a:lnTo>
                    <a:pt x="5004065" y="272720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23" name="object 23"/>
            <p:cNvSpPr/>
            <p:nvPr/>
          </p:nvSpPr>
          <p:spPr>
            <a:xfrm>
              <a:off x="378973" y="1584084"/>
              <a:ext cx="5002530" cy="307340"/>
            </a:xfrm>
            <a:custGeom>
              <a:avLst/>
              <a:gdLst/>
              <a:ahLst/>
              <a:cxnLst/>
              <a:rect l="l" t="t" r="r" b="b"/>
              <a:pathLst>
                <a:path w="5002530" h="307339">
                  <a:moveTo>
                    <a:pt x="0" y="271741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271741"/>
                  </a:lnTo>
                  <a:lnTo>
                    <a:pt x="4999354" y="285373"/>
                  </a:lnTo>
                  <a:lnTo>
                    <a:pt x="4991849" y="296505"/>
                  </a:lnTo>
                  <a:lnTo>
                    <a:pt x="4980717" y="304010"/>
                  </a:lnTo>
                  <a:lnTo>
                    <a:pt x="4967085" y="306762"/>
                  </a:lnTo>
                  <a:lnTo>
                    <a:pt x="35021" y="306762"/>
                  </a:lnTo>
                  <a:lnTo>
                    <a:pt x="21389" y="304010"/>
                  </a:lnTo>
                  <a:lnTo>
                    <a:pt x="10257" y="296505"/>
                  </a:lnTo>
                  <a:lnTo>
                    <a:pt x="2752" y="285373"/>
                  </a:lnTo>
                  <a:lnTo>
                    <a:pt x="0" y="271741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24" name="object 24"/>
          <p:cNvGrpSpPr/>
          <p:nvPr/>
        </p:nvGrpSpPr>
        <p:grpSpPr>
          <a:xfrm>
            <a:off x="372646" y="2212757"/>
            <a:ext cx="5015230" cy="320040"/>
            <a:chOff x="372646" y="2212757"/>
            <a:chExt cx="5015230" cy="320040"/>
          </a:xfrm>
        </p:grpSpPr>
        <p:sp>
          <p:nvSpPr>
            <p:cNvPr id="25" name="object 25"/>
            <p:cNvSpPr/>
            <p:nvPr/>
          </p:nvSpPr>
          <p:spPr>
            <a:xfrm>
              <a:off x="377994" y="2218104"/>
              <a:ext cx="5004435" cy="309245"/>
            </a:xfrm>
            <a:custGeom>
              <a:avLst/>
              <a:gdLst/>
              <a:ahLst/>
              <a:cxnLst/>
              <a:rect l="l" t="t" r="r" b="b"/>
              <a:pathLst>
                <a:path w="5004435" h="309244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272720"/>
                  </a:lnTo>
                  <a:lnTo>
                    <a:pt x="2829" y="286733"/>
                  </a:lnTo>
                  <a:lnTo>
                    <a:pt x="10544" y="298176"/>
                  </a:lnTo>
                  <a:lnTo>
                    <a:pt x="21987" y="305892"/>
                  </a:lnTo>
                  <a:lnTo>
                    <a:pt x="36000" y="308721"/>
                  </a:lnTo>
                  <a:lnTo>
                    <a:pt x="4968064" y="308721"/>
                  </a:lnTo>
                  <a:lnTo>
                    <a:pt x="4982077" y="305892"/>
                  </a:lnTo>
                  <a:lnTo>
                    <a:pt x="4993521" y="298176"/>
                  </a:lnTo>
                  <a:lnTo>
                    <a:pt x="5001236" y="286733"/>
                  </a:lnTo>
                  <a:lnTo>
                    <a:pt x="5004065" y="272720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26" name="object 26"/>
            <p:cNvSpPr/>
            <p:nvPr/>
          </p:nvSpPr>
          <p:spPr>
            <a:xfrm>
              <a:off x="378973" y="2219084"/>
              <a:ext cx="5002530" cy="307340"/>
            </a:xfrm>
            <a:custGeom>
              <a:avLst/>
              <a:gdLst/>
              <a:ahLst/>
              <a:cxnLst/>
              <a:rect l="l" t="t" r="r" b="b"/>
              <a:pathLst>
                <a:path w="5002530" h="307339">
                  <a:moveTo>
                    <a:pt x="0" y="271741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271741"/>
                  </a:lnTo>
                  <a:lnTo>
                    <a:pt x="4999354" y="285373"/>
                  </a:lnTo>
                  <a:lnTo>
                    <a:pt x="4991849" y="296505"/>
                  </a:lnTo>
                  <a:lnTo>
                    <a:pt x="4980717" y="304010"/>
                  </a:lnTo>
                  <a:lnTo>
                    <a:pt x="4967085" y="306762"/>
                  </a:lnTo>
                  <a:lnTo>
                    <a:pt x="35021" y="306762"/>
                  </a:lnTo>
                  <a:lnTo>
                    <a:pt x="21389" y="304010"/>
                  </a:lnTo>
                  <a:lnTo>
                    <a:pt x="10257" y="296505"/>
                  </a:lnTo>
                  <a:lnTo>
                    <a:pt x="2752" y="285373"/>
                  </a:lnTo>
                  <a:lnTo>
                    <a:pt x="0" y="271741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27" name="object 27"/>
          <p:cNvSpPr txBox="1"/>
          <p:nvPr/>
        </p:nvSpPr>
        <p:spPr>
          <a:xfrm>
            <a:off x="343319" y="594134"/>
            <a:ext cx="5062220" cy="222176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262890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Next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paste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text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called</a:t>
            </a:r>
            <a:r>
              <a:rPr lang="en-US" sz="900" spc="1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credentials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inside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.aws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folder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home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directory.</a:t>
            </a:r>
            <a:endParaRPr lang="en-US" sz="900" noProof="1">
              <a:latin typeface="Arial"/>
              <a:cs typeface="Arial"/>
            </a:endParaRPr>
          </a:p>
          <a:p>
            <a:pPr marL="16510" marR="5080">
              <a:lnSpc>
                <a:spcPct val="116199"/>
              </a:lnSpc>
              <a:spcBef>
                <a:spcPts val="62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Make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sure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.aws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folder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exists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machine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running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mkdir</a:t>
            </a:r>
            <a:r>
              <a:rPr lang="en-US" sz="900" spc="-70" noProof="1">
                <a:latin typeface="Courier New"/>
                <a:cs typeface="Courier New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.aws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command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(remember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throws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error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there’s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nothing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worry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about,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just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means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folder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already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exists).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we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going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credentials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inside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.aws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folder.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Run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command: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4629">
              <a:lnSpc>
                <a:spcPct val="100000"/>
              </a:lnSpc>
            </a:pPr>
            <a:r>
              <a:rPr lang="en-US" sz="800" spc="-50" noProof="1">
                <a:latin typeface="Courier New"/>
                <a:cs typeface="Courier New"/>
              </a:rPr>
              <a:t>PS</a:t>
            </a:r>
            <a:r>
              <a:rPr lang="en-US" sz="800" spc="-55" noProof="1">
                <a:latin typeface="Courier New"/>
                <a:cs typeface="Courier New"/>
              </a:rPr>
              <a:t> C:</a:t>
            </a:r>
            <a:r>
              <a:rPr lang="en-US" sz="800" spc="-55" noProof="1">
                <a:solidFill>
                  <a:srgbClr val="8E2100"/>
                </a:solidFill>
                <a:latin typeface="Courier New"/>
                <a:cs typeface="Courier New"/>
              </a:rPr>
              <a:t>\U</a:t>
            </a:r>
            <a:r>
              <a:rPr lang="en-US" sz="800" spc="-55" noProof="1">
                <a:latin typeface="Courier New"/>
                <a:cs typeface="Courier New"/>
              </a:rPr>
              <a:t>sers</a:t>
            </a:r>
            <a:r>
              <a:rPr lang="en-US" sz="800" spc="-55" noProof="1">
                <a:solidFill>
                  <a:srgbClr val="8E2100"/>
                </a:solidFill>
                <a:latin typeface="Courier New"/>
                <a:cs typeface="Courier New"/>
              </a:rPr>
              <a:t>\f</a:t>
            </a:r>
            <a:r>
              <a:rPr lang="en-US" sz="800" spc="-55" noProof="1">
                <a:latin typeface="Courier New"/>
                <a:cs typeface="Courier New"/>
              </a:rPr>
              <a:t>nao</a:t>
            </a:r>
            <a:r>
              <a:rPr lang="en-US" sz="800" spc="-55" noProof="1">
                <a:solidFill>
                  <a:srgbClr val="666666"/>
                </a:solidFill>
                <a:latin typeface="Courier New"/>
                <a:cs typeface="Courier New"/>
              </a:rPr>
              <a:t>&gt;</a:t>
            </a:r>
            <a:r>
              <a:rPr lang="en-US" sz="800" spc="-60" noProof="1">
                <a:latin typeface="Courier New"/>
                <a:cs typeface="Courier New"/>
              </a:rPr>
              <a:t> notepad</a:t>
            </a:r>
            <a:r>
              <a:rPr lang="en-US" sz="800" spc="-10" noProof="1">
                <a:latin typeface="Courier New"/>
                <a:cs typeface="Courier New"/>
              </a:rPr>
              <a:t> .aws/credentials.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665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16510">
              <a:lnSpc>
                <a:spcPct val="100000"/>
              </a:lnSpc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MacOS users: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4629">
              <a:lnSpc>
                <a:spcPct val="100000"/>
              </a:lnSpc>
            </a:pPr>
            <a:r>
              <a:rPr lang="en-US" sz="800" spc="-55" noProof="1">
                <a:latin typeface="Courier New"/>
                <a:cs typeface="Courier New"/>
              </a:rPr>
              <a:t>$ open</a:t>
            </a:r>
            <a:r>
              <a:rPr lang="en-US" sz="800" spc="-50" noProof="1"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.aws/credentials.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660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open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text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editor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where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write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credentials.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28" name="object 28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29" name="object 29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30" name="object 30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31" name="object 31"/>
            <p:cNvSpPr/>
            <p:nvPr/>
          </p:nvSpPr>
          <p:spPr>
            <a:xfrm>
              <a:off x="0" y="3234963"/>
              <a:ext cx="1497965" cy="5080"/>
            </a:xfrm>
            <a:custGeom>
              <a:avLst/>
              <a:gdLst/>
              <a:ahLst/>
              <a:cxnLst/>
              <a:rect l="l" t="t" r="r" b="b"/>
              <a:pathLst>
                <a:path w="1497965" h="5080">
                  <a:moveTo>
                    <a:pt x="0" y="5060"/>
                  </a:moveTo>
                  <a:lnTo>
                    <a:pt x="0" y="0"/>
                  </a:lnTo>
                  <a:lnTo>
                    <a:pt x="1497587" y="0"/>
                  </a:lnTo>
                  <a:lnTo>
                    <a:pt x="149758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Configuring</a:t>
            </a:r>
            <a:r>
              <a:rPr lang="en-US" spc="15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noProof="1"/>
              <a:t>AWS</a:t>
            </a:r>
            <a:r>
              <a:rPr lang="en-US" spc="15" noProof="1"/>
              <a:t> </a:t>
            </a:r>
            <a:r>
              <a:rPr lang="en-US" spc="-30" noProof="1"/>
              <a:t>Credentials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371520"/>
            <a:ext cx="419862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back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 the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Academy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copy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text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containing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credentials.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715770" y="613852"/>
            <a:ext cx="2328459" cy="2399197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1612900" cy="5080"/>
            </a:xfrm>
            <a:custGeom>
              <a:avLst/>
              <a:gdLst/>
              <a:ahLst/>
              <a:cxnLst/>
              <a:rect l="l" t="t" r="r" b="b"/>
              <a:pathLst>
                <a:path w="1612900" h="5080">
                  <a:moveTo>
                    <a:pt x="0" y="5060"/>
                  </a:moveTo>
                  <a:lnTo>
                    <a:pt x="0" y="0"/>
                  </a:lnTo>
                  <a:lnTo>
                    <a:pt x="1612813" y="0"/>
                  </a:lnTo>
                  <a:lnTo>
                    <a:pt x="161281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Configuring</a:t>
            </a:r>
            <a:r>
              <a:rPr lang="en-US" spc="15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noProof="1"/>
              <a:t>AWS</a:t>
            </a:r>
            <a:r>
              <a:rPr lang="en-US" spc="15" noProof="1"/>
              <a:t> </a:t>
            </a:r>
            <a:r>
              <a:rPr lang="en-US" spc="-30" noProof="1"/>
              <a:t>Credentials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348847"/>
            <a:ext cx="4836795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back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text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editor.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Paste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credentials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save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exit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text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editor.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95083" y="750976"/>
            <a:ext cx="4569847" cy="2399169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1728470" cy="5080"/>
            </a:xfrm>
            <a:custGeom>
              <a:avLst/>
              <a:gdLst/>
              <a:ahLst/>
              <a:cxnLst/>
              <a:rect l="l" t="t" r="r" b="b"/>
              <a:pathLst>
                <a:path w="1728470" h="5080">
                  <a:moveTo>
                    <a:pt x="0" y="5060"/>
                  </a:moveTo>
                  <a:lnTo>
                    <a:pt x="0" y="0"/>
                  </a:lnTo>
                  <a:lnTo>
                    <a:pt x="1728039" y="0"/>
                  </a:lnTo>
                  <a:lnTo>
                    <a:pt x="172803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Configuring</a:t>
            </a:r>
            <a:r>
              <a:rPr lang="en-US" spc="15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noProof="1"/>
              <a:t>AWS</a:t>
            </a:r>
            <a:r>
              <a:rPr lang="en-US" spc="15" noProof="1"/>
              <a:t> </a:t>
            </a:r>
            <a:r>
              <a:rPr lang="en-US" spc="-30" noProof="1"/>
              <a:t>Credentials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519489" y="1122141"/>
            <a:ext cx="204657" cy="114266"/>
          </a:xfrm>
          <a:prstGeom prst="rect">
            <a:avLst/>
          </a:prstGeom>
        </p:spPr>
      </p:pic>
      <p:grpSp>
        <p:nvGrpSpPr>
          <p:cNvPr id="4" name="object 4"/>
          <p:cNvGrpSpPr/>
          <p:nvPr/>
        </p:nvGrpSpPr>
        <p:grpSpPr>
          <a:xfrm>
            <a:off x="372646" y="1327933"/>
            <a:ext cx="5015230" cy="960119"/>
            <a:chOff x="372646" y="1327933"/>
            <a:chExt cx="5015230" cy="960119"/>
          </a:xfrm>
        </p:grpSpPr>
        <p:sp>
          <p:nvSpPr>
            <p:cNvPr id="5" name="object 5"/>
            <p:cNvSpPr/>
            <p:nvPr/>
          </p:nvSpPr>
          <p:spPr>
            <a:xfrm>
              <a:off x="377994" y="1333280"/>
              <a:ext cx="5004435" cy="949960"/>
            </a:xfrm>
            <a:custGeom>
              <a:avLst/>
              <a:gdLst/>
              <a:ahLst/>
              <a:cxnLst/>
              <a:rect l="l" t="t" r="r" b="b"/>
              <a:pathLst>
                <a:path w="5004435" h="949960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913425"/>
                  </a:lnTo>
                  <a:lnTo>
                    <a:pt x="2829" y="927438"/>
                  </a:lnTo>
                  <a:lnTo>
                    <a:pt x="10544" y="938881"/>
                  </a:lnTo>
                  <a:lnTo>
                    <a:pt x="21987" y="946596"/>
                  </a:lnTo>
                  <a:lnTo>
                    <a:pt x="36000" y="949425"/>
                  </a:lnTo>
                  <a:lnTo>
                    <a:pt x="4968064" y="949425"/>
                  </a:lnTo>
                  <a:lnTo>
                    <a:pt x="4982077" y="946596"/>
                  </a:lnTo>
                  <a:lnTo>
                    <a:pt x="4993521" y="938881"/>
                  </a:lnTo>
                  <a:lnTo>
                    <a:pt x="5001236" y="927438"/>
                  </a:lnTo>
                  <a:lnTo>
                    <a:pt x="5004065" y="913425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378973" y="1334260"/>
              <a:ext cx="5002530" cy="948055"/>
            </a:xfrm>
            <a:custGeom>
              <a:avLst/>
              <a:gdLst/>
              <a:ahLst/>
              <a:cxnLst/>
              <a:rect l="l" t="t" r="r" b="b"/>
              <a:pathLst>
                <a:path w="5002530" h="948055">
                  <a:moveTo>
                    <a:pt x="0" y="912446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912446"/>
                  </a:lnTo>
                  <a:lnTo>
                    <a:pt x="4999354" y="926078"/>
                  </a:lnTo>
                  <a:lnTo>
                    <a:pt x="4991849" y="937209"/>
                  </a:lnTo>
                  <a:lnTo>
                    <a:pt x="4980717" y="944715"/>
                  </a:lnTo>
                  <a:lnTo>
                    <a:pt x="4967085" y="947467"/>
                  </a:lnTo>
                  <a:lnTo>
                    <a:pt x="35021" y="947467"/>
                  </a:lnTo>
                  <a:lnTo>
                    <a:pt x="21389" y="944715"/>
                  </a:lnTo>
                  <a:lnTo>
                    <a:pt x="10257" y="937209"/>
                  </a:lnTo>
                  <a:lnTo>
                    <a:pt x="2752" y="926078"/>
                  </a:lnTo>
                  <a:lnTo>
                    <a:pt x="0" y="912446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341718" y="1083965"/>
            <a:ext cx="3561715" cy="111569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 can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check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contents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latin typeface="Courier New"/>
                <a:cs typeface="Courier New"/>
              </a:rPr>
              <a:t>cat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8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5900" marR="1294765">
              <a:lnSpc>
                <a:spcPct val="107400"/>
              </a:lnSpc>
            </a:pPr>
            <a:r>
              <a:rPr lang="en-US" sz="800" spc="-50" noProof="1">
                <a:latin typeface="Courier New"/>
                <a:cs typeface="Courier New"/>
              </a:rPr>
              <a:t>PS</a:t>
            </a:r>
            <a:r>
              <a:rPr lang="en-US" sz="800" spc="-55" noProof="1">
                <a:latin typeface="Courier New"/>
                <a:cs typeface="Courier New"/>
              </a:rPr>
              <a:t> C:</a:t>
            </a:r>
            <a:r>
              <a:rPr lang="en-US" sz="800" spc="-55" noProof="1">
                <a:solidFill>
                  <a:srgbClr val="8E2100"/>
                </a:solidFill>
                <a:latin typeface="Courier New"/>
                <a:cs typeface="Courier New"/>
              </a:rPr>
              <a:t>\U</a:t>
            </a:r>
            <a:r>
              <a:rPr lang="en-US" sz="800" spc="-55" noProof="1">
                <a:latin typeface="Courier New"/>
                <a:cs typeface="Courier New"/>
              </a:rPr>
              <a:t>sers</a:t>
            </a:r>
            <a:r>
              <a:rPr lang="en-US" sz="800" spc="-55" noProof="1">
                <a:solidFill>
                  <a:srgbClr val="8E2100"/>
                </a:solidFill>
                <a:latin typeface="Courier New"/>
                <a:cs typeface="Courier New"/>
              </a:rPr>
              <a:t>\f</a:t>
            </a:r>
            <a:r>
              <a:rPr lang="en-US" sz="800" spc="-55" noProof="1">
                <a:latin typeface="Courier New"/>
                <a:cs typeface="Courier New"/>
              </a:rPr>
              <a:t>nao</a:t>
            </a:r>
            <a:r>
              <a:rPr lang="en-US" sz="800" spc="-55" noProof="1">
                <a:solidFill>
                  <a:srgbClr val="666666"/>
                </a:solidFill>
                <a:latin typeface="Courier New"/>
                <a:cs typeface="Courier New"/>
              </a:rPr>
              <a:t>&gt;</a:t>
            </a:r>
            <a:r>
              <a:rPr lang="en-US" sz="800" spc="-50" noProof="1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cat </a:t>
            </a:r>
            <a:r>
              <a:rPr lang="en-US" sz="800" spc="-60" noProof="1">
                <a:latin typeface="Courier New"/>
                <a:cs typeface="Courier New"/>
              </a:rPr>
              <a:t>.aws</a:t>
            </a:r>
            <a:r>
              <a:rPr lang="en-US" sz="800" spc="-60" noProof="1">
                <a:solidFill>
                  <a:srgbClr val="8E2100"/>
                </a:solidFill>
                <a:latin typeface="Courier New"/>
                <a:cs typeface="Courier New"/>
              </a:rPr>
              <a:t>\c</a:t>
            </a:r>
            <a:r>
              <a:rPr lang="en-US" sz="800" spc="-60" noProof="1">
                <a:latin typeface="Courier New"/>
                <a:cs typeface="Courier New"/>
              </a:rPr>
              <a:t>redentials </a:t>
            </a:r>
            <a:r>
              <a:rPr lang="en-US" sz="800" spc="-10" noProof="1">
                <a:latin typeface="Courier New"/>
                <a:cs typeface="Courier New"/>
              </a:rPr>
              <a:t>[default] </a:t>
            </a:r>
            <a:r>
              <a:rPr lang="en-US" sz="800" spc="-60" noProof="1">
                <a:solidFill>
                  <a:srgbClr val="19167C"/>
                </a:solidFill>
                <a:latin typeface="Courier New"/>
                <a:cs typeface="Courier New"/>
              </a:rPr>
              <a:t>aws_access_key_id</a:t>
            </a:r>
            <a:r>
              <a:rPr lang="en-US" sz="800" spc="-60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60" noProof="1">
                <a:latin typeface="Courier New"/>
                <a:cs typeface="Courier New"/>
              </a:rPr>
              <a:t>ASIA2CKYVHJAOXR6P57M</a:t>
            </a:r>
            <a:endParaRPr lang="en-US" sz="800" noProof="1">
              <a:latin typeface="Courier New"/>
              <a:cs typeface="Courier New"/>
            </a:endParaRPr>
          </a:p>
          <a:p>
            <a:pPr marL="215900" marR="5080">
              <a:lnSpc>
                <a:spcPct val="107400"/>
              </a:lnSpc>
            </a:pPr>
            <a:r>
              <a:rPr lang="en-US" sz="800" spc="-60" noProof="1">
                <a:solidFill>
                  <a:srgbClr val="19167C"/>
                </a:solidFill>
                <a:latin typeface="Courier New"/>
                <a:cs typeface="Courier New"/>
              </a:rPr>
              <a:t>aws_secret_access_key</a:t>
            </a:r>
            <a:r>
              <a:rPr lang="en-US" sz="800" spc="-60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60" noProof="1">
                <a:latin typeface="Courier New"/>
                <a:cs typeface="Courier New"/>
              </a:rPr>
              <a:t>lu/KjIjBylX60GTfsqHvRyAqcqhsEVHsdzWDPlrT </a:t>
            </a:r>
            <a:r>
              <a:rPr lang="en-US" sz="800" spc="-30" noProof="1">
                <a:solidFill>
                  <a:srgbClr val="19167C"/>
                </a:solidFill>
                <a:latin typeface="Courier New"/>
                <a:cs typeface="Courier New"/>
              </a:rPr>
              <a:t>aws_session_token</a:t>
            </a:r>
            <a:r>
              <a:rPr lang="en-US" sz="800" spc="-30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30" noProof="1">
                <a:latin typeface="Courier New"/>
                <a:cs typeface="Courier New"/>
              </a:rPr>
              <a:t>IQoJb3JpZ2...</a:t>
            </a:r>
            <a:endParaRPr lang="en-US" sz="800" noProof="1">
              <a:latin typeface="Courier New"/>
              <a:cs typeface="Courier New"/>
            </a:endParaRPr>
          </a:p>
          <a:p>
            <a:pPr marL="215900">
              <a:lnSpc>
                <a:spcPct val="100000"/>
              </a:lnSpc>
              <a:spcBef>
                <a:spcPts val="70"/>
              </a:spcBef>
            </a:pPr>
            <a:r>
              <a:rPr lang="en-US" sz="800" spc="-50" noProof="1">
                <a:latin typeface="Courier New"/>
                <a:cs typeface="Courier New"/>
              </a:rPr>
              <a:t>PS</a:t>
            </a:r>
            <a:r>
              <a:rPr lang="en-US" sz="800" spc="-65" noProof="1"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C:</a:t>
            </a:r>
            <a:r>
              <a:rPr lang="en-US" sz="800" spc="-10" noProof="1">
                <a:solidFill>
                  <a:srgbClr val="8E2100"/>
                </a:solidFill>
                <a:latin typeface="Courier New"/>
                <a:cs typeface="Courier New"/>
              </a:rPr>
              <a:t>\U</a:t>
            </a:r>
            <a:r>
              <a:rPr lang="en-US" sz="800" spc="-10" noProof="1">
                <a:latin typeface="Courier New"/>
                <a:cs typeface="Courier New"/>
              </a:rPr>
              <a:t>sers</a:t>
            </a:r>
            <a:r>
              <a:rPr lang="en-US" sz="800" spc="-10" noProof="1">
                <a:solidFill>
                  <a:srgbClr val="8E2100"/>
                </a:solidFill>
                <a:latin typeface="Courier New"/>
                <a:cs typeface="Courier New"/>
              </a:rPr>
              <a:t>\f</a:t>
            </a:r>
            <a:r>
              <a:rPr lang="en-US" sz="800" spc="-10" noProof="1">
                <a:latin typeface="Courier New"/>
                <a:cs typeface="Courier New"/>
              </a:rPr>
              <a:t>nao</a:t>
            </a:r>
            <a:r>
              <a:rPr lang="en-US" sz="800" spc="-10" noProof="1">
                <a:solidFill>
                  <a:srgbClr val="666666"/>
                </a:solidFill>
                <a:latin typeface="Courier New"/>
                <a:cs typeface="Courier New"/>
              </a:rPr>
              <a:t>&gt;</a:t>
            </a:r>
            <a:endParaRPr lang="en-US" sz="800" noProof="1">
              <a:latin typeface="Courier New"/>
              <a:cs typeface="Courier New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9" name="object 9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0" y="3234963"/>
              <a:ext cx="1843405" cy="5080"/>
            </a:xfrm>
            <a:custGeom>
              <a:avLst/>
              <a:gdLst/>
              <a:ahLst/>
              <a:cxnLst/>
              <a:rect l="l" t="t" r="r" b="b"/>
              <a:pathLst>
                <a:path w="1843405" h="5080">
                  <a:moveTo>
                    <a:pt x="0" y="5060"/>
                  </a:moveTo>
                  <a:lnTo>
                    <a:pt x="0" y="0"/>
                  </a:lnTo>
                  <a:lnTo>
                    <a:pt x="1843265" y="0"/>
                  </a:lnTo>
                  <a:lnTo>
                    <a:pt x="184326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Configuring</a:t>
            </a:r>
            <a:r>
              <a:rPr lang="en-US" spc="15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noProof="1"/>
              <a:t>AWS</a:t>
            </a:r>
            <a:r>
              <a:rPr lang="en-US" spc="15" noProof="1"/>
              <a:t> </a:t>
            </a:r>
            <a:r>
              <a:rPr lang="en-US" spc="-30" noProof="1"/>
              <a:t>Credentials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2681643" y="714476"/>
            <a:ext cx="1639570" cy="146685"/>
            <a:chOff x="2681643" y="714476"/>
            <a:chExt cx="1639570" cy="146685"/>
          </a:xfrm>
        </p:grpSpPr>
        <p:sp>
          <p:nvSpPr>
            <p:cNvPr id="4" name="object 4"/>
            <p:cNvSpPr/>
            <p:nvPr/>
          </p:nvSpPr>
          <p:spPr>
            <a:xfrm>
              <a:off x="2681643" y="714476"/>
              <a:ext cx="1639570" cy="146685"/>
            </a:xfrm>
            <a:custGeom>
              <a:avLst/>
              <a:gdLst/>
              <a:ahLst/>
              <a:cxnLst/>
              <a:rect l="l" t="t" r="r" b="b"/>
              <a:pathLst>
                <a:path w="1639570" h="146684">
                  <a:moveTo>
                    <a:pt x="160347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151"/>
                  </a:lnTo>
                  <a:lnTo>
                    <a:pt x="2829" y="124164"/>
                  </a:lnTo>
                  <a:lnTo>
                    <a:pt x="10544" y="135607"/>
                  </a:lnTo>
                  <a:lnTo>
                    <a:pt x="21987" y="143322"/>
                  </a:lnTo>
                  <a:lnTo>
                    <a:pt x="36000" y="146151"/>
                  </a:lnTo>
                  <a:lnTo>
                    <a:pt x="1603475" y="146151"/>
                  </a:lnTo>
                  <a:lnTo>
                    <a:pt x="1617488" y="143322"/>
                  </a:lnTo>
                  <a:lnTo>
                    <a:pt x="1628931" y="135607"/>
                  </a:lnTo>
                  <a:lnTo>
                    <a:pt x="1636646" y="124164"/>
                  </a:lnTo>
                  <a:lnTo>
                    <a:pt x="1639475" y="110151"/>
                  </a:lnTo>
                  <a:lnTo>
                    <a:pt x="1639475" y="36000"/>
                  </a:lnTo>
                  <a:lnTo>
                    <a:pt x="1636646" y="21987"/>
                  </a:lnTo>
                  <a:lnTo>
                    <a:pt x="1628931" y="10544"/>
                  </a:lnTo>
                  <a:lnTo>
                    <a:pt x="1617488" y="2829"/>
                  </a:lnTo>
                  <a:lnTo>
                    <a:pt x="1603475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2681643" y="714476"/>
              <a:ext cx="1639570" cy="146685"/>
            </a:xfrm>
            <a:custGeom>
              <a:avLst/>
              <a:gdLst/>
              <a:ahLst/>
              <a:cxnLst/>
              <a:rect l="l" t="t" r="r" b="b"/>
              <a:pathLst>
                <a:path w="1639570" h="146684">
                  <a:moveTo>
                    <a:pt x="160347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151"/>
                  </a:lnTo>
                  <a:lnTo>
                    <a:pt x="2829" y="124164"/>
                  </a:lnTo>
                  <a:lnTo>
                    <a:pt x="10544" y="135607"/>
                  </a:lnTo>
                  <a:lnTo>
                    <a:pt x="21987" y="143322"/>
                  </a:lnTo>
                  <a:lnTo>
                    <a:pt x="36000" y="146151"/>
                  </a:lnTo>
                  <a:lnTo>
                    <a:pt x="1603475" y="146151"/>
                  </a:lnTo>
                  <a:lnTo>
                    <a:pt x="1617488" y="143322"/>
                  </a:lnTo>
                  <a:lnTo>
                    <a:pt x="1628931" y="135607"/>
                  </a:lnTo>
                  <a:lnTo>
                    <a:pt x="1636646" y="124164"/>
                  </a:lnTo>
                  <a:lnTo>
                    <a:pt x="1639475" y="110151"/>
                  </a:lnTo>
                  <a:lnTo>
                    <a:pt x="1639475" y="36000"/>
                  </a:lnTo>
                  <a:lnTo>
                    <a:pt x="1636646" y="21987"/>
                  </a:lnTo>
                  <a:lnTo>
                    <a:pt x="1628931" y="10544"/>
                  </a:lnTo>
                  <a:lnTo>
                    <a:pt x="1617488" y="2829"/>
                  </a:lnTo>
                  <a:lnTo>
                    <a:pt x="1603475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372646" y="1086090"/>
            <a:ext cx="5015230" cy="1222375"/>
            <a:chOff x="372646" y="1086090"/>
            <a:chExt cx="5015230" cy="1222375"/>
          </a:xfrm>
        </p:grpSpPr>
        <p:sp>
          <p:nvSpPr>
            <p:cNvPr id="7" name="object 7"/>
            <p:cNvSpPr/>
            <p:nvPr/>
          </p:nvSpPr>
          <p:spPr>
            <a:xfrm>
              <a:off x="377994" y="1091436"/>
              <a:ext cx="5004435" cy="1211580"/>
            </a:xfrm>
            <a:custGeom>
              <a:avLst/>
              <a:gdLst/>
              <a:ahLst/>
              <a:cxnLst/>
              <a:rect l="l" t="t" r="r" b="b"/>
              <a:pathLst>
                <a:path w="5004435" h="1211580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75335"/>
                  </a:lnTo>
                  <a:lnTo>
                    <a:pt x="2829" y="1189348"/>
                  </a:lnTo>
                  <a:lnTo>
                    <a:pt x="10544" y="1200791"/>
                  </a:lnTo>
                  <a:lnTo>
                    <a:pt x="21987" y="1208506"/>
                  </a:lnTo>
                  <a:lnTo>
                    <a:pt x="36000" y="1211335"/>
                  </a:lnTo>
                  <a:lnTo>
                    <a:pt x="4968064" y="1211335"/>
                  </a:lnTo>
                  <a:lnTo>
                    <a:pt x="4982077" y="1208506"/>
                  </a:lnTo>
                  <a:lnTo>
                    <a:pt x="4993521" y="1200791"/>
                  </a:lnTo>
                  <a:lnTo>
                    <a:pt x="5001236" y="1189348"/>
                  </a:lnTo>
                  <a:lnTo>
                    <a:pt x="5004065" y="1175335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378973" y="1092416"/>
              <a:ext cx="5002530" cy="1209675"/>
            </a:xfrm>
            <a:custGeom>
              <a:avLst/>
              <a:gdLst/>
              <a:ahLst/>
              <a:cxnLst/>
              <a:rect l="l" t="t" r="r" b="b"/>
              <a:pathLst>
                <a:path w="5002530" h="1209675">
                  <a:moveTo>
                    <a:pt x="0" y="1174356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1174356"/>
                  </a:lnTo>
                  <a:lnTo>
                    <a:pt x="4999354" y="1187987"/>
                  </a:lnTo>
                  <a:lnTo>
                    <a:pt x="4991849" y="1199119"/>
                  </a:lnTo>
                  <a:lnTo>
                    <a:pt x="4980717" y="1206624"/>
                  </a:lnTo>
                  <a:lnTo>
                    <a:pt x="4967085" y="1209377"/>
                  </a:lnTo>
                  <a:lnTo>
                    <a:pt x="35021" y="1209377"/>
                  </a:lnTo>
                  <a:lnTo>
                    <a:pt x="21389" y="1206624"/>
                  </a:lnTo>
                  <a:lnTo>
                    <a:pt x="10257" y="1199119"/>
                  </a:lnTo>
                  <a:lnTo>
                    <a:pt x="2752" y="1187987"/>
                  </a:lnTo>
                  <a:lnTo>
                    <a:pt x="0" y="1174356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343319" y="660111"/>
            <a:ext cx="5060315" cy="20415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109220" indent="-4445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test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configuration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was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successful,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run</a:t>
            </a:r>
            <a:r>
              <a:rPr lang="en-US" sz="900" spc="1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0" noProof="1">
                <a:latin typeface="Courier New"/>
                <a:cs typeface="Courier New"/>
              </a:rPr>
              <a:t>aws sts </a:t>
            </a:r>
            <a:r>
              <a:rPr lang="en-US" sz="900" spc="-75" noProof="1">
                <a:latin typeface="Courier New"/>
                <a:cs typeface="Courier New"/>
              </a:rPr>
              <a:t>get-caller-identity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should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see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something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like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this: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4629">
              <a:lnSpc>
                <a:spcPct val="100000"/>
              </a:lnSpc>
            </a:pPr>
            <a:r>
              <a:rPr lang="en-US" sz="800" spc="-50" noProof="1">
                <a:latin typeface="Courier New"/>
                <a:cs typeface="Courier New"/>
              </a:rPr>
              <a:t>PS</a:t>
            </a:r>
            <a:r>
              <a:rPr lang="en-US" sz="800" spc="-3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C:</a:t>
            </a:r>
            <a:r>
              <a:rPr lang="en-US" sz="800" spc="-55" noProof="1">
                <a:solidFill>
                  <a:srgbClr val="8E2100"/>
                </a:solidFill>
                <a:latin typeface="Courier New"/>
                <a:cs typeface="Courier New"/>
              </a:rPr>
              <a:t>\U</a:t>
            </a:r>
            <a:r>
              <a:rPr lang="en-US" sz="800" spc="-55" noProof="1">
                <a:latin typeface="Courier New"/>
                <a:cs typeface="Courier New"/>
              </a:rPr>
              <a:t>sers</a:t>
            </a:r>
            <a:r>
              <a:rPr lang="en-US" sz="800" spc="-55" noProof="1">
                <a:solidFill>
                  <a:srgbClr val="8E2100"/>
                </a:solidFill>
                <a:latin typeface="Courier New"/>
                <a:cs typeface="Courier New"/>
              </a:rPr>
              <a:t>\f</a:t>
            </a:r>
            <a:r>
              <a:rPr lang="en-US" sz="800" spc="-55" noProof="1">
                <a:latin typeface="Courier New"/>
                <a:cs typeface="Courier New"/>
              </a:rPr>
              <a:t>nao</a:t>
            </a:r>
            <a:r>
              <a:rPr lang="en-US" sz="800" spc="-55" noProof="1">
                <a:solidFill>
                  <a:srgbClr val="666666"/>
                </a:solidFill>
                <a:latin typeface="Courier New"/>
                <a:cs typeface="Courier New"/>
              </a:rPr>
              <a:t>&gt;</a:t>
            </a:r>
            <a:r>
              <a:rPr lang="en-US" sz="800" spc="-35" noProof="1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aws</a:t>
            </a:r>
            <a:r>
              <a:rPr lang="en-US" sz="800" spc="-35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sts</a:t>
            </a:r>
            <a:r>
              <a:rPr lang="en-US" sz="800" spc="-3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get-caller-</a:t>
            </a:r>
            <a:r>
              <a:rPr lang="en-US" sz="800" spc="-10" noProof="1">
                <a:latin typeface="Courier New"/>
                <a:cs typeface="Courier New"/>
              </a:rPr>
              <a:t>identity</a:t>
            </a:r>
            <a:endParaRPr lang="en-US" sz="800" noProof="1">
              <a:latin typeface="Courier New"/>
              <a:cs typeface="Courier New"/>
            </a:endParaRPr>
          </a:p>
          <a:p>
            <a:pPr marL="214629">
              <a:lnSpc>
                <a:spcPct val="100000"/>
              </a:lnSpc>
              <a:spcBef>
                <a:spcPts val="70"/>
              </a:spcBef>
            </a:pPr>
            <a:r>
              <a:rPr lang="en-US" sz="800" b="1" spc="-50" noProof="1">
                <a:solidFill>
                  <a:srgbClr val="007021"/>
                </a:solidFill>
                <a:latin typeface="Courier New"/>
                <a:cs typeface="Courier New"/>
              </a:rPr>
              <a:t>{</a:t>
            </a:r>
            <a:endParaRPr lang="en-US" sz="800" noProof="1">
              <a:latin typeface="Courier New"/>
              <a:cs typeface="Courier New"/>
            </a:endParaRPr>
          </a:p>
          <a:p>
            <a:pPr marL="429259" marR="1236345">
              <a:lnSpc>
                <a:spcPct val="107400"/>
              </a:lnSpc>
            </a:pPr>
            <a:r>
              <a:rPr lang="en-US" sz="800" spc="-55" noProof="1">
                <a:solidFill>
                  <a:srgbClr val="3F70A0"/>
                </a:solidFill>
                <a:latin typeface="Courier New"/>
                <a:cs typeface="Courier New"/>
              </a:rPr>
              <a:t>"UserId"</a:t>
            </a:r>
            <a:r>
              <a:rPr lang="en-US" sz="800" spc="-55" noProof="1">
                <a:latin typeface="Courier New"/>
                <a:cs typeface="Courier New"/>
              </a:rPr>
              <a:t>:</a:t>
            </a:r>
            <a:r>
              <a:rPr lang="en-US" sz="800" spc="-4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"AROA2CKYVHJALK46ZMHVM:user3869188=Ferran_Aran_Test"</a:t>
            </a:r>
            <a:r>
              <a:rPr lang="en-US" sz="800" spc="-60" noProof="1">
                <a:latin typeface="Courier New"/>
                <a:cs typeface="Courier New"/>
              </a:rPr>
              <a:t>, </a:t>
            </a:r>
            <a:r>
              <a:rPr lang="en-US" sz="800" spc="-55" noProof="1">
                <a:solidFill>
                  <a:srgbClr val="3F70A0"/>
                </a:solidFill>
                <a:latin typeface="Courier New"/>
                <a:cs typeface="Courier New"/>
              </a:rPr>
              <a:t>"Account"</a:t>
            </a:r>
            <a:r>
              <a:rPr lang="en-US" sz="800" spc="-55" noProof="1">
                <a:latin typeface="Courier New"/>
                <a:cs typeface="Courier New"/>
              </a:rPr>
              <a:t>:</a:t>
            </a:r>
            <a:r>
              <a:rPr lang="en-US" sz="800" spc="-35" noProof="1">
                <a:latin typeface="Courier New"/>
                <a:cs typeface="Courier New"/>
              </a:rPr>
              <a:t> </a:t>
            </a:r>
            <a:r>
              <a:rPr lang="en-US" sz="800" spc="-10" noProof="1">
                <a:solidFill>
                  <a:srgbClr val="3F70A0"/>
                </a:solidFill>
                <a:latin typeface="Courier New"/>
                <a:cs typeface="Courier New"/>
              </a:rPr>
              <a:t>"692212546112"</a:t>
            </a:r>
            <a:r>
              <a:rPr lang="en-US" sz="800" spc="-10" noProof="1">
                <a:latin typeface="Courier New"/>
                <a:cs typeface="Courier New"/>
              </a:rPr>
              <a:t>,</a:t>
            </a:r>
            <a:endParaRPr lang="en-US" sz="800" noProof="1">
              <a:latin typeface="Courier New"/>
              <a:cs typeface="Courier New"/>
            </a:endParaRPr>
          </a:p>
          <a:p>
            <a:pPr marL="429259">
              <a:lnSpc>
                <a:spcPct val="100000"/>
              </a:lnSpc>
              <a:spcBef>
                <a:spcPts val="70"/>
              </a:spcBef>
            </a:pP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"Arn"</a:t>
            </a:r>
            <a:r>
              <a:rPr lang="en-US" sz="800" spc="-60" noProof="1">
                <a:latin typeface="Courier New"/>
                <a:cs typeface="Courier New"/>
              </a:rPr>
              <a:t>:</a:t>
            </a:r>
            <a:r>
              <a:rPr lang="en-US" sz="800" spc="254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"arn:aws:sts::692212546112:assumed-</a:t>
            </a:r>
            <a:r>
              <a:rPr lang="en-US" sz="800" spc="-40" noProof="1">
                <a:solidFill>
                  <a:srgbClr val="3F70A0"/>
                </a:solidFill>
                <a:latin typeface="Courier New"/>
                <a:cs typeface="Courier New"/>
              </a:rPr>
              <a:t>role/voclabs/user3869188=Ferran_Aran_Test"</a:t>
            </a:r>
            <a:endParaRPr lang="en-US" sz="800" noProof="1">
              <a:latin typeface="Courier New"/>
              <a:cs typeface="Courier New"/>
            </a:endParaRPr>
          </a:p>
          <a:p>
            <a:pPr marL="214629">
              <a:lnSpc>
                <a:spcPct val="100000"/>
              </a:lnSpc>
              <a:spcBef>
                <a:spcPts val="70"/>
              </a:spcBef>
            </a:pPr>
            <a:r>
              <a:rPr lang="en-US" sz="800" b="1" spc="-50" noProof="1">
                <a:solidFill>
                  <a:srgbClr val="007021"/>
                </a:solidFill>
                <a:latin typeface="Courier New"/>
                <a:cs typeface="Courier New"/>
              </a:rPr>
              <a:t>}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200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214629">
              <a:lnSpc>
                <a:spcPct val="100000"/>
              </a:lnSpc>
            </a:pPr>
            <a:r>
              <a:rPr lang="en-US" sz="800" spc="-50" noProof="1">
                <a:latin typeface="Courier New"/>
                <a:cs typeface="Courier New"/>
              </a:rPr>
              <a:t>PS</a:t>
            </a:r>
            <a:r>
              <a:rPr lang="en-US" sz="800" spc="-65" noProof="1"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C:</a:t>
            </a:r>
            <a:r>
              <a:rPr lang="en-US" sz="800" spc="-10" noProof="1">
                <a:solidFill>
                  <a:srgbClr val="8E2100"/>
                </a:solidFill>
                <a:latin typeface="Courier New"/>
                <a:cs typeface="Courier New"/>
              </a:rPr>
              <a:t>\U</a:t>
            </a:r>
            <a:r>
              <a:rPr lang="en-US" sz="800" spc="-10" noProof="1">
                <a:latin typeface="Courier New"/>
                <a:cs typeface="Courier New"/>
              </a:rPr>
              <a:t>sers</a:t>
            </a:r>
            <a:r>
              <a:rPr lang="en-US" sz="800" spc="-10" noProof="1">
                <a:solidFill>
                  <a:srgbClr val="8E2100"/>
                </a:solidFill>
                <a:latin typeface="Courier New"/>
                <a:cs typeface="Courier New"/>
              </a:rPr>
              <a:t>\f</a:t>
            </a:r>
            <a:r>
              <a:rPr lang="en-US" sz="800" spc="-10" noProof="1">
                <a:latin typeface="Courier New"/>
                <a:cs typeface="Courier New"/>
              </a:rPr>
              <a:t>nao</a:t>
            </a:r>
            <a:r>
              <a:rPr lang="en-US" sz="800" spc="-10" noProof="1">
                <a:solidFill>
                  <a:srgbClr val="666666"/>
                </a:solidFill>
                <a:latin typeface="Courier New"/>
                <a:cs typeface="Courier New"/>
              </a:rPr>
              <a:t>&gt;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375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16510" marR="5080">
              <a:lnSpc>
                <a:spcPct val="116199"/>
              </a:lnSpc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Great!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now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run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commands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machine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resources.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For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example,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upload files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1958975" cy="5080"/>
            </a:xfrm>
            <a:custGeom>
              <a:avLst/>
              <a:gdLst/>
              <a:ahLst/>
              <a:cxnLst/>
              <a:rect l="l" t="t" r="r" b="b"/>
              <a:pathLst>
                <a:path w="1958975" h="5080">
                  <a:moveTo>
                    <a:pt x="0" y="5060"/>
                  </a:moveTo>
                  <a:lnTo>
                    <a:pt x="0" y="0"/>
                  </a:lnTo>
                  <a:lnTo>
                    <a:pt x="1958403" y="0"/>
                  </a:lnTo>
                  <a:lnTo>
                    <a:pt x="195840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865"/>
            <a:ext cx="73914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S3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4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Buckets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755"/>
            <a:ext cx="2505710" cy="5080"/>
            <a:chOff x="1627403" y="1647755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755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755"/>
              <a:ext cx="852169" cy="5080"/>
            </a:xfrm>
            <a:custGeom>
              <a:avLst/>
              <a:gdLst/>
              <a:ahLst/>
              <a:cxnLst/>
              <a:rect l="l" t="t" r="r" b="b"/>
              <a:pathLst>
                <a:path w="852169" h="5080">
                  <a:moveTo>
                    <a:pt x="0" y="5060"/>
                  </a:moveTo>
                  <a:lnTo>
                    <a:pt x="0" y="0"/>
                  </a:lnTo>
                  <a:lnTo>
                    <a:pt x="851771" y="0"/>
                  </a:lnTo>
                  <a:lnTo>
                    <a:pt x="85177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25222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10" noProof="1">
                <a:solidFill>
                  <a:srgbClr val="F9F9F9"/>
                </a:solidFill>
                <a:latin typeface="Arial"/>
                <a:cs typeface="Arial"/>
              </a:rPr>
              <a:t>Creating</a:t>
            </a:r>
            <a:r>
              <a:rPr lang="en-US" sz="1000" b="1" spc="1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S3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noProof="1">
                <a:solidFill>
                  <a:srgbClr val="F9F9F9"/>
                </a:solidFill>
                <a:latin typeface="Arial"/>
                <a:cs typeface="Arial"/>
              </a:rPr>
              <a:t>bucket</a:t>
            </a:r>
            <a:endParaRPr lang="en-US" sz="10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47294" y="535045"/>
            <a:ext cx="219075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searchbar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head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service.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06" y="756443"/>
            <a:ext cx="5039992" cy="2078996"/>
          </a:xfrm>
          <a:prstGeom prst="rect">
            <a:avLst/>
          </a:prstGeom>
        </p:spPr>
      </p:pic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2073910" cy="5080"/>
            </a:xfrm>
            <a:custGeom>
              <a:avLst/>
              <a:gdLst/>
              <a:ahLst/>
              <a:cxnLst/>
              <a:rect l="l" t="t" r="r" b="b"/>
              <a:pathLst>
                <a:path w="2073910" h="5080">
                  <a:moveTo>
                    <a:pt x="0" y="5060"/>
                  </a:moveTo>
                  <a:lnTo>
                    <a:pt x="0" y="0"/>
                  </a:lnTo>
                  <a:lnTo>
                    <a:pt x="2073629" y="0"/>
                  </a:lnTo>
                  <a:lnTo>
                    <a:pt x="207362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25222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10" noProof="1">
                <a:solidFill>
                  <a:srgbClr val="F9F9F9"/>
                </a:solidFill>
                <a:latin typeface="Arial"/>
                <a:cs typeface="Arial"/>
              </a:rPr>
              <a:t>Creating</a:t>
            </a:r>
            <a:r>
              <a:rPr lang="en-US" sz="1000" b="1" spc="1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S3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noProof="1">
                <a:solidFill>
                  <a:srgbClr val="F9F9F9"/>
                </a:solidFill>
                <a:latin typeface="Arial"/>
                <a:cs typeface="Arial"/>
              </a:rPr>
              <a:t>bucket</a:t>
            </a:r>
            <a:endParaRPr lang="en-US" sz="10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796925" y="682613"/>
            <a:ext cx="802640" cy="123189"/>
            <a:chOff x="796925" y="682613"/>
            <a:chExt cx="802640" cy="123189"/>
          </a:xfrm>
        </p:grpSpPr>
        <p:sp>
          <p:nvSpPr>
            <p:cNvPr id="5" name="object 5"/>
            <p:cNvSpPr/>
            <p:nvPr/>
          </p:nvSpPr>
          <p:spPr>
            <a:xfrm>
              <a:off x="796925" y="682613"/>
              <a:ext cx="802640" cy="123189"/>
            </a:xfrm>
            <a:custGeom>
              <a:avLst/>
              <a:gdLst/>
              <a:ahLst/>
              <a:cxnLst/>
              <a:rect l="l" t="t" r="r" b="b"/>
              <a:pathLst>
                <a:path w="802640" h="123190">
                  <a:moveTo>
                    <a:pt x="766498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766498" y="122693"/>
                  </a:lnTo>
                  <a:lnTo>
                    <a:pt x="780511" y="119864"/>
                  </a:lnTo>
                  <a:lnTo>
                    <a:pt x="791954" y="112148"/>
                  </a:lnTo>
                  <a:lnTo>
                    <a:pt x="799669" y="100705"/>
                  </a:lnTo>
                  <a:lnTo>
                    <a:pt x="802498" y="86692"/>
                  </a:lnTo>
                  <a:lnTo>
                    <a:pt x="802498" y="36000"/>
                  </a:lnTo>
                  <a:lnTo>
                    <a:pt x="799669" y="21987"/>
                  </a:lnTo>
                  <a:lnTo>
                    <a:pt x="791954" y="10544"/>
                  </a:lnTo>
                  <a:lnTo>
                    <a:pt x="780511" y="2829"/>
                  </a:lnTo>
                  <a:lnTo>
                    <a:pt x="766498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796925" y="682613"/>
              <a:ext cx="802640" cy="123189"/>
            </a:xfrm>
            <a:custGeom>
              <a:avLst/>
              <a:gdLst/>
              <a:ahLst/>
              <a:cxnLst/>
              <a:rect l="l" t="t" r="r" b="b"/>
              <a:pathLst>
                <a:path w="802640" h="123190">
                  <a:moveTo>
                    <a:pt x="766498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766498" y="122693"/>
                  </a:lnTo>
                  <a:lnTo>
                    <a:pt x="780511" y="119864"/>
                  </a:lnTo>
                  <a:lnTo>
                    <a:pt x="791954" y="112148"/>
                  </a:lnTo>
                  <a:lnTo>
                    <a:pt x="799669" y="100705"/>
                  </a:lnTo>
                  <a:lnTo>
                    <a:pt x="802498" y="86692"/>
                  </a:lnTo>
                  <a:lnTo>
                    <a:pt x="802498" y="36000"/>
                  </a:lnTo>
                  <a:lnTo>
                    <a:pt x="799669" y="21987"/>
                  </a:lnTo>
                  <a:lnTo>
                    <a:pt x="791954" y="10544"/>
                  </a:lnTo>
                  <a:lnTo>
                    <a:pt x="780511" y="2829"/>
                  </a:lnTo>
                  <a:lnTo>
                    <a:pt x="766498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347294" y="652178"/>
            <a:ext cx="129794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14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Create</a:t>
            </a:r>
            <a:r>
              <a:rPr lang="en-US" sz="900" spc="-70" noProof="1">
                <a:latin typeface="Courier New"/>
                <a:cs typeface="Courier New"/>
              </a:rPr>
              <a:t> </a:t>
            </a:r>
            <a:r>
              <a:rPr lang="en-US" sz="900" spc="-35" noProof="1">
                <a:latin typeface="Courier New"/>
                <a:cs typeface="Courier New"/>
              </a:rPr>
              <a:t>bucket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8" name="object 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06" y="897610"/>
            <a:ext cx="5039992" cy="1820697"/>
          </a:xfrm>
          <a:prstGeom prst="rect">
            <a:avLst/>
          </a:prstGeom>
        </p:spPr>
      </p:pic>
      <p:grpSp>
        <p:nvGrpSpPr>
          <p:cNvPr id="9" name="object 9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0" name="object 10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2189480" cy="5080"/>
            </a:xfrm>
            <a:custGeom>
              <a:avLst/>
              <a:gdLst/>
              <a:ahLst/>
              <a:cxnLst/>
              <a:rect l="l" t="t" r="r" b="b"/>
              <a:pathLst>
                <a:path w="2189480" h="5080">
                  <a:moveTo>
                    <a:pt x="0" y="5060"/>
                  </a:moveTo>
                  <a:lnTo>
                    <a:pt x="0" y="0"/>
                  </a:lnTo>
                  <a:lnTo>
                    <a:pt x="2188856" y="0"/>
                  </a:lnTo>
                  <a:lnTo>
                    <a:pt x="218885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noProof="1"/>
              <a:t>Creating</a:t>
            </a:r>
            <a:r>
              <a:rPr lang="en-US" spc="10" noProof="1"/>
              <a:t> </a:t>
            </a:r>
            <a:r>
              <a:rPr lang="en-US" noProof="1"/>
              <a:t>a</a:t>
            </a:r>
            <a:r>
              <a:rPr lang="en-US" spc="15" noProof="1"/>
              <a:t> </a:t>
            </a:r>
            <a:r>
              <a:rPr lang="en-US" noProof="1"/>
              <a:t>S3</a:t>
            </a:r>
            <a:r>
              <a:rPr lang="en-US" spc="15" noProof="1"/>
              <a:t> </a:t>
            </a:r>
            <a:r>
              <a:rPr lang="en-US" spc="-25" noProof="1"/>
              <a:t>bucket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1237056" y="393760"/>
            <a:ext cx="982344" cy="155575"/>
            <a:chOff x="1237056" y="393760"/>
            <a:chExt cx="982344" cy="155575"/>
          </a:xfrm>
        </p:grpSpPr>
        <p:sp>
          <p:nvSpPr>
            <p:cNvPr id="4" name="object 4"/>
            <p:cNvSpPr/>
            <p:nvPr/>
          </p:nvSpPr>
          <p:spPr>
            <a:xfrm>
              <a:off x="1237056" y="393760"/>
              <a:ext cx="982344" cy="155575"/>
            </a:xfrm>
            <a:custGeom>
              <a:avLst/>
              <a:gdLst/>
              <a:ahLst/>
              <a:cxnLst/>
              <a:rect l="l" t="t" r="r" b="b"/>
              <a:pathLst>
                <a:path w="982344" h="155575">
                  <a:moveTo>
                    <a:pt x="94585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945850" y="155489"/>
                  </a:lnTo>
                  <a:lnTo>
                    <a:pt x="959863" y="152659"/>
                  </a:lnTo>
                  <a:lnTo>
                    <a:pt x="971306" y="144944"/>
                  </a:lnTo>
                  <a:lnTo>
                    <a:pt x="979021" y="133501"/>
                  </a:lnTo>
                  <a:lnTo>
                    <a:pt x="981850" y="119488"/>
                  </a:lnTo>
                  <a:lnTo>
                    <a:pt x="981850" y="36000"/>
                  </a:lnTo>
                  <a:lnTo>
                    <a:pt x="979021" y="21987"/>
                  </a:lnTo>
                  <a:lnTo>
                    <a:pt x="971306" y="10544"/>
                  </a:lnTo>
                  <a:lnTo>
                    <a:pt x="959863" y="2829"/>
                  </a:lnTo>
                  <a:lnTo>
                    <a:pt x="945850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237056" y="393760"/>
              <a:ext cx="982344" cy="155575"/>
            </a:xfrm>
            <a:custGeom>
              <a:avLst/>
              <a:gdLst/>
              <a:ahLst/>
              <a:cxnLst/>
              <a:rect l="l" t="t" r="r" b="b"/>
              <a:pathLst>
                <a:path w="982344" h="155575">
                  <a:moveTo>
                    <a:pt x="94585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945850" y="155489"/>
                  </a:lnTo>
                  <a:lnTo>
                    <a:pt x="959863" y="152659"/>
                  </a:lnTo>
                  <a:lnTo>
                    <a:pt x="971306" y="144944"/>
                  </a:lnTo>
                  <a:lnTo>
                    <a:pt x="979021" y="133501"/>
                  </a:lnTo>
                  <a:lnTo>
                    <a:pt x="981850" y="119488"/>
                  </a:lnTo>
                  <a:lnTo>
                    <a:pt x="981850" y="36000"/>
                  </a:lnTo>
                  <a:lnTo>
                    <a:pt x="979021" y="21987"/>
                  </a:lnTo>
                  <a:lnTo>
                    <a:pt x="971306" y="10544"/>
                  </a:lnTo>
                  <a:lnTo>
                    <a:pt x="959863" y="2829"/>
                  </a:lnTo>
                  <a:lnTo>
                    <a:pt x="94585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3870312" y="402637"/>
            <a:ext cx="982344" cy="121920"/>
            <a:chOff x="3870312" y="402637"/>
            <a:chExt cx="982344" cy="121920"/>
          </a:xfrm>
        </p:grpSpPr>
        <p:sp>
          <p:nvSpPr>
            <p:cNvPr id="7" name="object 7"/>
            <p:cNvSpPr/>
            <p:nvPr/>
          </p:nvSpPr>
          <p:spPr>
            <a:xfrm>
              <a:off x="3870312" y="402637"/>
              <a:ext cx="982344" cy="121920"/>
            </a:xfrm>
            <a:custGeom>
              <a:avLst/>
              <a:gdLst/>
              <a:ahLst/>
              <a:cxnLst/>
              <a:rect l="l" t="t" r="r" b="b"/>
              <a:pathLst>
                <a:path w="982345" h="121920">
                  <a:moveTo>
                    <a:pt x="94585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5326"/>
                  </a:lnTo>
                  <a:lnTo>
                    <a:pt x="2829" y="99339"/>
                  </a:lnTo>
                  <a:lnTo>
                    <a:pt x="10544" y="110782"/>
                  </a:lnTo>
                  <a:lnTo>
                    <a:pt x="21987" y="118497"/>
                  </a:lnTo>
                  <a:lnTo>
                    <a:pt x="36000" y="121326"/>
                  </a:lnTo>
                  <a:lnTo>
                    <a:pt x="945850" y="121326"/>
                  </a:lnTo>
                  <a:lnTo>
                    <a:pt x="959863" y="118497"/>
                  </a:lnTo>
                  <a:lnTo>
                    <a:pt x="971306" y="110782"/>
                  </a:lnTo>
                  <a:lnTo>
                    <a:pt x="979021" y="99339"/>
                  </a:lnTo>
                  <a:lnTo>
                    <a:pt x="981850" y="85326"/>
                  </a:lnTo>
                  <a:lnTo>
                    <a:pt x="981850" y="36000"/>
                  </a:lnTo>
                  <a:lnTo>
                    <a:pt x="979021" y="21987"/>
                  </a:lnTo>
                  <a:lnTo>
                    <a:pt x="971306" y="10544"/>
                  </a:lnTo>
                  <a:lnTo>
                    <a:pt x="959863" y="2829"/>
                  </a:lnTo>
                  <a:lnTo>
                    <a:pt x="945850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3870312" y="402637"/>
              <a:ext cx="982344" cy="121920"/>
            </a:xfrm>
            <a:custGeom>
              <a:avLst/>
              <a:gdLst/>
              <a:ahLst/>
              <a:cxnLst/>
              <a:rect l="l" t="t" r="r" b="b"/>
              <a:pathLst>
                <a:path w="982345" h="121920">
                  <a:moveTo>
                    <a:pt x="94585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5326"/>
                  </a:lnTo>
                  <a:lnTo>
                    <a:pt x="2829" y="99339"/>
                  </a:lnTo>
                  <a:lnTo>
                    <a:pt x="10544" y="110782"/>
                  </a:lnTo>
                  <a:lnTo>
                    <a:pt x="21987" y="118497"/>
                  </a:lnTo>
                  <a:lnTo>
                    <a:pt x="36000" y="121326"/>
                  </a:lnTo>
                  <a:lnTo>
                    <a:pt x="945850" y="121326"/>
                  </a:lnTo>
                  <a:lnTo>
                    <a:pt x="959863" y="118497"/>
                  </a:lnTo>
                  <a:lnTo>
                    <a:pt x="971306" y="110782"/>
                  </a:lnTo>
                  <a:lnTo>
                    <a:pt x="979021" y="99339"/>
                  </a:lnTo>
                  <a:lnTo>
                    <a:pt x="981850" y="85326"/>
                  </a:lnTo>
                  <a:lnTo>
                    <a:pt x="981850" y="36000"/>
                  </a:lnTo>
                  <a:lnTo>
                    <a:pt x="979021" y="21987"/>
                  </a:lnTo>
                  <a:lnTo>
                    <a:pt x="971306" y="10544"/>
                  </a:lnTo>
                  <a:lnTo>
                    <a:pt x="959863" y="2829"/>
                  </a:lnTo>
                  <a:lnTo>
                    <a:pt x="94585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347294" y="348847"/>
            <a:ext cx="4966970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data-{your-</a:t>
            </a:r>
            <a:r>
              <a:rPr lang="en-US" sz="900" spc="-25" noProof="1">
                <a:latin typeface="Courier New"/>
                <a:cs typeface="Courier New"/>
              </a:rPr>
              <a:t>name}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example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naming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data-ferran-</a:t>
            </a:r>
            <a:r>
              <a:rPr lang="en-US" sz="900" spc="-10" noProof="1">
                <a:latin typeface="Courier New"/>
                <a:cs typeface="Courier New"/>
              </a:rPr>
              <a:t>aran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Bucket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names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unique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60" noProof="1">
                <a:solidFill>
                  <a:srgbClr val="22373A"/>
                </a:solidFill>
                <a:latin typeface="Arial"/>
                <a:cs typeface="Arial"/>
              </a:rPr>
              <a:t>across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all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10" name="object 10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06" y="771813"/>
            <a:ext cx="5039992" cy="2258546"/>
          </a:xfrm>
          <a:prstGeom prst="rect">
            <a:avLst/>
          </a:prstGeom>
        </p:spPr>
      </p:pic>
      <p:grpSp>
        <p:nvGrpSpPr>
          <p:cNvPr id="11" name="object 11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2" name="object 12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4" name="object 14"/>
            <p:cNvSpPr/>
            <p:nvPr/>
          </p:nvSpPr>
          <p:spPr>
            <a:xfrm>
              <a:off x="0" y="3234963"/>
              <a:ext cx="2304415" cy="5080"/>
            </a:xfrm>
            <a:custGeom>
              <a:avLst/>
              <a:gdLst/>
              <a:ahLst/>
              <a:cxnLst/>
              <a:rect l="l" t="t" r="r" b="b"/>
              <a:pathLst>
                <a:path w="2304415" h="5080">
                  <a:moveTo>
                    <a:pt x="0" y="5060"/>
                  </a:moveTo>
                  <a:lnTo>
                    <a:pt x="0" y="0"/>
                  </a:lnTo>
                  <a:lnTo>
                    <a:pt x="2303994" y="0"/>
                  </a:lnTo>
                  <a:lnTo>
                    <a:pt x="230399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noProof="1"/>
              <a:t>Creating</a:t>
            </a:r>
            <a:r>
              <a:rPr lang="en-US" spc="10" noProof="1"/>
              <a:t> </a:t>
            </a:r>
            <a:r>
              <a:rPr lang="en-US" noProof="1"/>
              <a:t>a</a:t>
            </a:r>
            <a:r>
              <a:rPr lang="en-US" spc="15" noProof="1"/>
              <a:t> </a:t>
            </a:r>
            <a:r>
              <a:rPr lang="en-US" noProof="1"/>
              <a:t>S3</a:t>
            </a:r>
            <a:r>
              <a:rPr lang="en-US" spc="15" noProof="1"/>
              <a:t> </a:t>
            </a:r>
            <a:r>
              <a:rPr lang="en-US" spc="-25" noProof="1"/>
              <a:t>bucket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764000" y="433757"/>
            <a:ext cx="802640" cy="123189"/>
            <a:chOff x="3764000" y="433757"/>
            <a:chExt cx="802640" cy="123189"/>
          </a:xfrm>
        </p:grpSpPr>
        <p:sp>
          <p:nvSpPr>
            <p:cNvPr id="4" name="object 4"/>
            <p:cNvSpPr/>
            <p:nvPr/>
          </p:nvSpPr>
          <p:spPr>
            <a:xfrm>
              <a:off x="3764000" y="433757"/>
              <a:ext cx="802640" cy="123189"/>
            </a:xfrm>
            <a:custGeom>
              <a:avLst/>
              <a:gdLst/>
              <a:ahLst/>
              <a:cxnLst/>
              <a:rect l="l" t="t" r="r" b="b"/>
              <a:pathLst>
                <a:path w="802639" h="123190">
                  <a:moveTo>
                    <a:pt x="766498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766498" y="122693"/>
                  </a:lnTo>
                  <a:lnTo>
                    <a:pt x="780511" y="119864"/>
                  </a:lnTo>
                  <a:lnTo>
                    <a:pt x="791954" y="112148"/>
                  </a:lnTo>
                  <a:lnTo>
                    <a:pt x="799669" y="100705"/>
                  </a:lnTo>
                  <a:lnTo>
                    <a:pt x="802498" y="86692"/>
                  </a:lnTo>
                  <a:lnTo>
                    <a:pt x="802498" y="36000"/>
                  </a:lnTo>
                  <a:lnTo>
                    <a:pt x="799669" y="21987"/>
                  </a:lnTo>
                  <a:lnTo>
                    <a:pt x="791954" y="10544"/>
                  </a:lnTo>
                  <a:lnTo>
                    <a:pt x="780511" y="2829"/>
                  </a:lnTo>
                  <a:lnTo>
                    <a:pt x="766498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764000" y="433757"/>
              <a:ext cx="802640" cy="123189"/>
            </a:xfrm>
            <a:custGeom>
              <a:avLst/>
              <a:gdLst/>
              <a:ahLst/>
              <a:cxnLst/>
              <a:rect l="l" t="t" r="r" b="b"/>
              <a:pathLst>
                <a:path w="802639" h="123190">
                  <a:moveTo>
                    <a:pt x="766498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766498" y="122693"/>
                  </a:lnTo>
                  <a:lnTo>
                    <a:pt x="780511" y="119864"/>
                  </a:lnTo>
                  <a:lnTo>
                    <a:pt x="791954" y="112148"/>
                  </a:lnTo>
                  <a:lnTo>
                    <a:pt x="799669" y="100705"/>
                  </a:lnTo>
                  <a:lnTo>
                    <a:pt x="802498" y="86692"/>
                  </a:lnTo>
                  <a:lnTo>
                    <a:pt x="802498" y="36000"/>
                  </a:lnTo>
                  <a:lnTo>
                    <a:pt x="799669" y="21987"/>
                  </a:lnTo>
                  <a:lnTo>
                    <a:pt x="791954" y="10544"/>
                  </a:lnTo>
                  <a:lnTo>
                    <a:pt x="780511" y="2829"/>
                  </a:lnTo>
                  <a:lnTo>
                    <a:pt x="766498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7294" y="403321"/>
            <a:ext cx="426466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Leave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everything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else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default,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scroll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all 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way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down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 on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Create</a:t>
            </a:r>
            <a:r>
              <a:rPr lang="en-US" sz="900" spc="-70" noProof="1">
                <a:latin typeface="Courier New"/>
                <a:cs typeface="Courier New"/>
              </a:rPr>
              <a:t> </a:t>
            </a:r>
            <a:r>
              <a:rPr lang="en-US" sz="900" spc="-20" noProof="1">
                <a:latin typeface="Courier New"/>
                <a:cs typeface="Courier New"/>
              </a:rPr>
              <a:t>bucket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7" name="object 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06" y="648767"/>
            <a:ext cx="5039992" cy="2318396"/>
          </a:xfrm>
          <a:prstGeom prst="rect">
            <a:avLst/>
          </a:prstGeom>
        </p:spPr>
      </p:pic>
      <p:grpSp>
        <p:nvGrpSpPr>
          <p:cNvPr id="8" name="object 8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9" name="object 9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0" y="3234963"/>
              <a:ext cx="2419350" cy="5080"/>
            </a:xfrm>
            <a:custGeom>
              <a:avLst/>
              <a:gdLst/>
              <a:ahLst/>
              <a:cxnLst/>
              <a:rect l="l" t="t" r="r" b="b"/>
              <a:pathLst>
                <a:path w="2419350" h="5080">
                  <a:moveTo>
                    <a:pt x="0" y="5060"/>
                  </a:moveTo>
                  <a:lnTo>
                    <a:pt x="0" y="0"/>
                  </a:lnTo>
                  <a:lnTo>
                    <a:pt x="2419220" y="0"/>
                  </a:lnTo>
                  <a:lnTo>
                    <a:pt x="241922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noProof="1"/>
              <a:t>Creating</a:t>
            </a:r>
            <a:r>
              <a:rPr lang="en-US" spc="10" noProof="1"/>
              <a:t> </a:t>
            </a:r>
            <a:r>
              <a:rPr lang="en-US" noProof="1"/>
              <a:t>a</a:t>
            </a:r>
            <a:r>
              <a:rPr lang="en-US" spc="15" noProof="1"/>
              <a:t> </a:t>
            </a:r>
            <a:r>
              <a:rPr lang="en-US" noProof="1"/>
              <a:t>S3</a:t>
            </a:r>
            <a:r>
              <a:rPr lang="en-US" spc="15" noProof="1"/>
              <a:t> </a:t>
            </a:r>
            <a:r>
              <a:rPr lang="en-US" spc="-25" noProof="1"/>
              <a:t>bucket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433" y="543551"/>
            <a:ext cx="4936490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5080" indent="-4445">
              <a:lnSpc>
                <a:spcPct val="116199"/>
              </a:lnSpc>
              <a:spcBef>
                <a:spcPts val="100"/>
              </a:spcBef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headed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dashboard.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should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95" noProof="1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0" noProof="1">
                <a:solidFill>
                  <a:srgbClr val="22373A"/>
                </a:solidFill>
                <a:latin typeface="Arial"/>
                <a:cs typeface="Arial"/>
              </a:rPr>
              <a:t>success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message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you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just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created.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06" y="967801"/>
            <a:ext cx="5039992" cy="1836447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2534920" cy="5080"/>
            </a:xfrm>
            <a:custGeom>
              <a:avLst/>
              <a:gdLst/>
              <a:ahLst/>
              <a:cxnLst/>
              <a:rect l="l" t="t" r="r" b="b"/>
              <a:pathLst>
                <a:path w="2534920" h="5080">
                  <a:moveTo>
                    <a:pt x="0" y="5060"/>
                  </a:moveTo>
                  <a:lnTo>
                    <a:pt x="0" y="0"/>
                  </a:lnTo>
                  <a:lnTo>
                    <a:pt x="2534446" y="0"/>
                  </a:lnTo>
                  <a:lnTo>
                    <a:pt x="253444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176593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noProof="1"/>
              <a:t>Uploading</a:t>
            </a:r>
            <a:r>
              <a:rPr lang="en-US" spc="35" noProof="1"/>
              <a:t> </a:t>
            </a:r>
            <a:r>
              <a:rPr lang="en-US" noProof="1"/>
              <a:t>a</a:t>
            </a:r>
            <a:r>
              <a:rPr lang="en-US" spc="40" noProof="1"/>
              <a:t> </a:t>
            </a:r>
            <a:r>
              <a:rPr lang="en-US" noProof="1"/>
              <a:t>file</a:t>
            </a:r>
            <a:r>
              <a:rPr lang="en-US" spc="40" noProof="1"/>
              <a:t> </a:t>
            </a:r>
            <a:r>
              <a:rPr lang="en-US" noProof="1"/>
              <a:t>to</a:t>
            </a:r>
            <a:r>
              <a:rPr lang="en-US" spc="40" noProof="1"/>
              <a:t> </a:t>
            </a:r>
            <a:r>
              <a:rPr lang="en-US" noProof="1"/>
              <a:t>the</a:t>
            </a:r>
            <a:r>
              <a:rPr lang="en-US" spc="35" noProof="1"/>
              <a:t> </a:t>
            </a:r>
            <a:r>
              <a:rPr lang="en-US" spc="-20" noProof="1"/>
              <a:t>bucket</a:t>
            </a:r>
          </a:p>
        </p:txBody>
      </p:sp>
      <p:sp>
        <p:nvSpPr>
          <p:cNvPr id="6" name="object 6"/>
          <p:cNvSpPr txBox="1"/>
          <p:nvPr/>
        </p:nvSpPr>
        <p:spPr>
          <a:xfrm>
            <a:off x="368300" y="631825"/>
            <a:ext cx="4976495" cy="1555875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95884">
              <a:lnSpc>
                <a:spcPct val="100000"/>
              </a:lnSpc>
              <a:spcBef>
                <a:spcPts val="275"/>
              </a:spcBef>
              <a:tabLst>
                <a:tab pos="243204" algn="l"/>
              </a:tabLst>
            </a:pPr>
            <a:r>
              <a:rPr lang="en-US" sz="900" b="1" noProof="1">
                <a:solidFill>
                  <a:srgbClr val="0070C0"/>
                </a:solidFill>
                <a:latin typeface="Arial"/>
                <a:cs typeface="Arial"/>
              </a:rPr>
              <a:t>From the S3 dashboard</a:t>
            </a:r>
          </a:p>
          <a:p>
            <a:pPr marL="243204" indent="-147320">
              <a:lnSpc>
                <a:spcPct val="100000"/>
              </a:lnSpc>
              <a:spcBef>
                <a:spcPts val="275"/>
              </a:spcBef>
              <a:buAutoNum type="arabicPeriod"/>
              <a:tabLst>
                <a:tab pos="243204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bucket.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43204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folder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10" noProof="1">
                <a:solidFill>
                  <a:schemeClr val="accent3">
                    <a:lumMod val="50000"/>
                  </a:schemeClr>
                </a:solidFill>
                <a:latin typeface="Courier New"/>
                <a:cs typeface="Courier New"/>
              </a:rPr>
              <a:t>test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43204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folder.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0"/>
              </a:spcBef>
              <a:buAutoNum type="arabicPeriod"/>
              <a:tabLst>
                <a:tab pos="243204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Upload.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43204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Add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select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example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file.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43204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Upload.</a:t>
            </a:r>
            <a:endParaRPr lang="en-US" sz="900" noProof="1">
              <a:latin typeface="Arial"/>
              <a:cs typeface="Arial"/>
            </a:endParaRPr>
          </a:p>
          <a:p>
            <a:pPr marL="12700" marR="5080" indent="3810">
              <a:lnSpc>
                <a:spcPct val="116199"/>
              </a:lnSpc>
              <a:spcBef>
                <a:spcPts val="63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data-{your-name}/</a:t>
            </a:r>
            <a:r>
              <a:rPr lang="en-US" sz="900" b="1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contains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900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file.</a:t>
            </a:r>
            <a:r>
              <a:rPr lang="en-US" sz="900" spc="1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stored</a:t>
            </a:r>
            <a:r>
              <a:rPr lang="en-US" sz="900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s3://data-{your-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name}/test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by default.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Only the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owner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them.</a:t>
            </a: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2649855" cy="5080"/>
            </a:xfrm>
            <a:custGeom>
              <a:avLst/>
              <a:gdLst/>
              <a:ahLst/>
              <a:cxnLst/>
              <a:rect l="l" t="t" r="r" b="b"/>
              <a:pathLst>
                <a:path w="2649855" h="5080">
                  <a:moveTo>
                    <a:pt x="0" y="5060"/>
                  </a:moveTo>
                  <a:lnTo>
                    <a:pt x="0" y="0"/>
                  </a:lnTo>
                  <a:lnTo>
                    <a:pt x="2649672" y="0"/>
                  </a:lnTo>
                  <a:lnTo>
                    <a:pt x="264967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1" name="object 6">
            <a:extLst>
              <a:ext uri="{FF2B5EF4-FFF2-40B4-BE49-F238E27FC236}">
                <a16:creationId xmlns:a16="http://schemas.microsoft.com/office/drawing/2014/main" id="{3D3B9152-8B31-2A5B-394E-4D54985509B5}"/>
              </a:ext>
            </a:extLst>
          </p:cNvPr>
          <p:cNvSpPr txBox="1"/>
          <p:nvPr/>
        </p:nvSpPr>
        <p:spPr>
          <a:xfrm>
            <a:off x="520700" y="2308225"/>
            <a:ext cx="4976495" cy="881652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95884">
              <a:lnSpc>
                <a:spcPct val="100000"/>
              </a:lnSpc>
              <a:spcBef>
                <a:spcPts val="275"/>
              </a:spcBef>
              <a:tabLst>
                <a:tab pos="243204" algn="l"/>
              </a:tabLst>
            </a:pPr>
            <a:r>
              <a:rPr lang="en-US" sz="900" b="1" noProof="1">
                <a:solidFill>
                  <a:srgbClr val="0070C0"/>
                </a:solidFill>
                <a:latin typeface="Arial"/>
                <a:cs typeface="Arial"/>
              </a:rPr>
              <a:t>From the AWS CLI</a:t>
            </a:r>
          </a:p>
          <a:p>
            <a:pPr marL="267334" indent="-171450">
              <a:lnSpc>
                <a:spcPct val="100000"/>
              </a:lnSpc>
              <a:spcBef>
                <a:spcPts val="275"/>
              </a:spcBef>
              <a:buFont typeface="Arial" panose="020B0604020202020204" pitchFamily="34" charset="0"/>
              <a:buChar char="•"/>
              <a:tabLst>
                <a:tab pos="243204" algn="l"/>
              </a:tabLst>
            </a:pPr>
            <a:r>
              <a:rPr lang="en-US" sz="900" noProof="1"/>
              <a:t>$ aws s3 cp &lt;local-file-path&gt; s3://&lt;bucket-name&gt;/&lt;optional-target-name&gt;</a:t>
            </a:r>
          </a:p>
          <a:p>
            <a:pPr marL="95884">
              <a:lnSpc>
                <a:spcPct val="100000"/>
              </a:lnSpc>
              <a:spcBef>
                <a:spcPts val="275"/>
              </a:spcBef>
              <a:tabLst>
                <a:tab pos="243204" algn="l"/>
              </a:tabLst>
            </a:pPr>
            <a:r>
              <a:rPr lang="en-US" sz="900" b="1" noProof="1">
                <a:solidFill>
                  <a:schemeClr val="tx1"/>
                </a:solidFill>
                <a:latin typeface="Arial"/>
                <a:cs typeface="Arial"/>
              </a:rPr>
              <a:t>Example (upload photo.jpg to a bucket named my-bucket):</a:t>
            </a:r>
          </a:p>
          <a:p>
            <a:pPr marL="267334" indent="-171450">
              <a:lnSpc>
                <a:spcPct val="100000"/>
              </a:lnSpc>
              <a:spcBef>
                <a:spcPts val="275"/>
              </a:spcBef>
              <a:buFont typeface="Arial" panose="020B0604020202020204" pitchFamily="34" charset="0"/>
              <a:buChar char="•"/>
              <a:tabLst>
                <a:tab pos="243204" algn="l"/>
              </a:tabLst>
            </a:pPr>
            <a:r>
              <a:rPr lang="en-US" sz="900" noProof="1"/>
              <a:t>$ aws s3 cp photo.jpg s3://my-bucket/test/file.txt</a:t>
            </a:r>
            <a:endParaRPr lang="en-US" sz="900" b="1" noProof="1">
              <a:solidFill>
                <a:schemeClr val="tx1"/>
              </a:solidFill>
              <a:latin typeface="Arial"/>
              <a:cs typeface="Arial"/>
            </a:endParaRPr>
          </a:p>
          <a:p>
            <a:pPr marL="95884">
              <a:lnSpc>
                <a:spcPct val="100000"/>
              </a:lnSpc>
              <a:spcBef>
                <a:spcPts val="275"/>
              </a:spcBef>
              <a:tabLst>
                <a:tab pos="243204" algn="l"/>
              </a:tabLst>
            </a:pPr>
            <a:endParaRPr lang="en-US" sz="900" b="1" noProof="1">
              <a:solidFill>
                <a:schemeClr val="tx1"/>
              </a:solidFill>
              <a:latin typeface="Arial"/>
              <a:cs typeface="Arial"/>
            </a:endParaRPr>
          </a:p>
        </p:txBody>
      </p:sp>
    </p:spTree>
  </p:cSld>
  <p:clrMapOvr>
    <a:masterClrMapping/>
  </p:clrMapOvr>
  <p:transition>
    <p:cut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865"/>
            <a:ext cx="124206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4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Sync</a:t>
            </a:r>
            <a:r>
              <a:rPr lang="en-US" sz="1100" b="1" spc="1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with</a:t>
            </a:r>
            <a:r>
              <a:rPr lang="en-US" sz="1100" b="1" spc="1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a</a:t>
            </a:r>
            <a:r>
              <a:rPr lang="en-US" sz="1100" b="1" spc="2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3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bucket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755"/>
            <a:ext cx="2505710" cy="5080"/>
            <a:chOff x="1627403" y="1647755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755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755"/>
              <a:ext cx="1152525" cy="5080"/>
            </a:xfrm>
            <a:custGeom>
              <a:avLst/>
              <a:gdLst/>
              <a:ahLst/>
              <a:cxnLst/>
              <a:rect l="l" t="t" r="r" b="b"/>
              <a:pathLst>
                <a:path w="1152525" h="5080">
                  <a:moveTo>
                    <a:pt x="0" y="5060"/>
                  </a:moveTo>
                  <a:lnTo>
                    <a:pt x="0" y="0"/>
                  </a:lnTo>
                  <a:lnTo>
                    <a:pt x="1152426" y="0"/>
                  </a:lnTo>
                  <a:lnTo>
                    <a:pt x="115242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75272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45" noProof="1"/>
              <a:t>Syncing</a:t>
            </a:r>
            <a:r>
              <a:rPr lang="en-US" spc="30" noProof="1"/>
              <a:t> </a:t>
            </a:r>
            <a:r>
              <a:rPr lang="en-US" noProof="1"/>
              <a:t>a</a:t>
            </a:r>
            <a:r>
              <a:rPr lang="en-US" spc="35" noProof="1"/>
              <a:t> </a:t>
            </a:r>
            <a:r>
              <a:rPr lang="en-US" spc="-10" noProof="1"/>
              <a:t>local</a:t>
            </a:r>
            <a:r>
              <a:rPr lang="en-US" spc="35" noProof="1"/>
              <a:t> </a:t>
            </a:r>
            <a:r>
              <a:rPr lang="en-US" spc="-25" noProof="1"/>
              <a:t>directory</a:t>
            </a:r>
            <a:r>
              <a:rPr lang="en-US" spc="30" noProof="1"/>
              <a:t> </a:t>
            </a:r>
            <a:r>
              <a:rPr lang="en-US" noProof="1"/>
              <a:t>to</a:t>
            </a:r>
            <a:r>
              <a:rPr lang="en-US" spc="35" noProof="1"/>
              <a:t> </a:t>
            </a:r>
            <a:r>
              <a:rPr lang="en-US" spc="-35" noProof="1"/>
              <a:t>upload</a:t>
            </a:r>
            <a:r>
              <a:rPr lang="en-US" spc="35" noProof="1"/>
              <a:t> </a:t>
            </a:r>
            <a:r>
              <a:rPr lang="en-US" noProof="1"/>
              <a:t>to</a:t>
            </a:r>
            <a:r>
              <a:rPr lang="en-US" spc="35" noProof="1"/>
              <a:t> </a:t>
            </a:r>
            <a:r>
              <a:rPr lang="en-US" noProof="1"/>
              <a:t>a</a:t>
            </a:r>
            <a:r>
              <a:rPr lang="en-US" spc="30" noProof="1"/>
              <a:t> </a:t>
            </a:r>
            <a:r>
              <a:rPr lang="en-US" spc="-10" noProof="1"/>
              <a:t>bucket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2886836" y="940721"/>
            <a:ext cx="264795" cy="121285"/>
            <a:chOff x="2886836" y="940721"/>
            <a:chExt cx="264795" cy="121285"/>
          </a:xfrm>
        </p:grpSpPr>
        <p:sp>
          <p:nvSpPr>
            <p:cNvPr id="4" name="object 4"/>
            <p:cNvSpPr/>
            <p:nvPr/>
          </p:nvSpPr>
          <p:spPr>
            <a:xfrm>
              <a:off x="2886836" y="940721"/>
              <a:ext cx="264795" cy="121285"/>
            </a:xfrm>
            <a:custGeom>
              <a:avLst/>
              <a:gdLst/>
              <a:ahLst/>
              <a:cxnLst/>
              <a:rect l="l" t="t" r="r" b="b"/>
              <a:pathLst>
                <a:path w="264794" h="121284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228441" y="120757"/>
                  </a:lnTo>
                  <a:lnTo>
                    <a:pt x="242454" y="117928"/>
                  </a:lnTo>
                  <a:lnTo>
                    <a:pt x="253897" y="110213"/>
                  </a:lnTo>
                  <a:lnTo>
                    <a:pt x="261612" y="98770"/>
                  </a:lnTo>
                  <a:lnTo>
                    <a:pt x="264441" y="84757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2886836" y="940721"/>
              <a:ext cx="264795" cy="121285"/>
            </a:xfrm>
            <a:custGeom>
              <a:avLst/>
              <a:gdLst/>
              <a:ahLst/>
              <a:cxnLst/>
              <a:rect l="l" t="t" r="r" b="b"/>
              <a:pathLst>
                <a:path w="264794" h="121284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228441" y="120757"/>
                  </a:lnTo>
                  <a:lnTo>
                    <a:pt x="242454" y="117928"/>
                  </a:lnTo>
                  <a:lnTo>
                    <a:pt x="253897" y="110213"/>
                  </a:lnTo>
                  <a:lnTo>
                    <a:pt x="261612" y="98770"/>
                  </a:lnTo>
                  <a:lnTo>
                    <a:pt x="264441" y="84757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1582432" y="1100048"/>
            <a:ext cx="862330" cy="146050"/>
            <a:chOff x="1582432" y="1100048"/>
            <a:chExt cx="862330" cy="146050"/>
          </a:xfrm>
        </p:grpSpPr>
        <p:sp>
          <p:nvSpPr>
            <p:cNvPr id="7" name="object 7"/>
            <p:cNvSpPr/>
            <p:nvPr/>
          </p:nvSpPr>
          <p:spPr>
            <a:xfrm>
              <a:off x="1582432" y="1100048"/>
              <a:ext cx="862330" cy="146050"/>
            </a:xfrm>
            <a:custGeom>
              <a:avLst/>
              <a:gdLst/>
              <a:ahLst/>
              <a:cxnLst/>
              <a:rect l="l" t="t" r="r" b="b"/>
              <a:pathLst>
                <a:path w="862330" h="146050">
                  <a:moveTo>
                    <a:pt x="82628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037"/>
                  </a:lnTo>
                  <a:lnTo>
                    <a:pt x="2829" y="124050"/>
                  </a:lnTo>
                  <a:lnTo>
                    <a:pt x="10544" y="135493"/>
                  </a:lnTo>
                  <a:lnTo>
                    <a:pt x="21987" y="143208"/>
                  </a:lnTo>
                  <a:lnTo>
                    <a:pt x="36000" y="146037"/>
                  </a:lnTo>
                  <a:lnTo>
                    <a:pt x="826282" y="146037"/>
                  </a:lnTo>
                  <a:lnTo>
                    <a:pt x="840295" y="143208"/>
                  </a:lnTo>
                  <a:lnTo>
                    <a:pt x="851738" y="135493"/>
                  </a:lnTo>
                  <a:lnTo>
                    <a:pt x="859453" y="124050"/>
                  </a:lnTo>
                  <a:lnTo>
                    <a:pt x="862282" y="110037"/>
                  </a:lnTo>
                  <a:lnTo>
                    <a:pt x="862282" y="36000"/>
                  </a:lnTo>
                  <a:lnTo>
                    <a:pt x="859453" y="21987"/>
                  </a:lnTo>
                  <a:lnTo>
                    <a:pt x="851738" y="10544"/>
                  </a:lnTo>
                  <a:lnTo>
                    <a:pt x="840295" y="2829"/>
                  </a:lnTo>
                  <a:lnTo>
                    <a:pt x="826282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1582432" y="1100048"/>
              <a:ext cx="862330" cy="146050"/>
            </a:xfrm>
            <a:custGeom>
              <a:avLst/>
              <a:gdLst/>
              <a:ahLst/>
              <a:cxnLst/>
              <a:rect l="l" t="t" r="r" b="b"/>
              <a:pathLst>
                <a:path w="862330" h="146050">
                  <a:moveTo>
                    <a:pt x="82628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037"/>
                  </a:lnTo>
                  <a:lnTo>
                    <a:pt x="2829" y="124050"/>
                  </a:lnTo>
                  <a:lnTo>
                    <a:pt x="10544" y="135493"/>
                  </a:lnTo>
                  <a:lnTo>
                    <a:pt x="21987" y="143208"/>
                  </a:lnTo>
                  <a:lnTo>
                    <a:pt x="36000" y="146037"/>
                  </a:lnTo>
                  <a:lnTo>
                    <a:pt x="826282" y="146037"/>
                  </a:lnTo>
                  <a:lnTo>
                    <a:pt x="840295" y="143208"/>
                  </a:lnTo>
                  <a:lnTo>
                    <a:pt x="851738" y="135493"/>
                  </a:lnTo>
                  <a:lnTo>
                    <a:pt x="859453" y="124050"/>
                  </a:lnTo>
                  <a:lnTo>
                    <a:pt x="862282" y="110037"/>
                  </a:lnTo>
                  <a:lnTo>
                    <a:pt x="862282" y="36000"/>
                  </a:lnTo>
                  <a:lnTo>
                    <a:pt x="859453" y="21987"/>
                  </a:lnTo>
                  <a:lnTo>
                    <a:pt x="851738" y="10544"/>
                  </a:lnTo>
                  <a:lnTo>
                    <a:pt x="840295" y="2829"/>
                  </a:lnTo>
                  <a:lnTo>
                    <a:pt x="82628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9" name="object 9"/>
          <p:cNvGrpSpPr/>
          <p:nvPr/>
        </p:nvGrpSpPr>
        <p:grpSpPr>
          <a:xfrm>
            <a:off x="820280" y="1259367"/>
            <a:ext cx="2799080" cy="305435"/>
            <a:chOff x="820280" y="1259367"/>
            <a:chExt cx="2799080" cy="305435"/>
          </a:xfrm>
        </p:grpSpPr>
        <p:sp>
          <p:nvSpPr>
            <p:cNvPr id="10" name="object 10"/>
            <p:cNvSpPr/>
            <p:nvPr/>
          </p:nvSpPr>
          <p:spPr>
            <a:xfrm>
              <a:off x="2995968" y="1259367"/>
              <a:ext cx="623570" cy="146050"/>
            </a:xfrm>
            <a:custGeom>
              <a:avLst/>
              <a:gdLst/>
              <a:ahLst/>
              <a:cxnLst/>
              <a:rect l="l" t="t" r="r" b="b"/>
              <a:pathLst>
                <a:path w="623570" h="146050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9467"/>
                  </a:lnTo>
                  <a:lnTo>
                    <a:pt x="2829" y="123480"/>
                  </a:lnTo>
                  <a:lnTo>
                    <a:pt x="10544" y="134923"/>
                  </a:lnTo>
                  <a:lnTo>
                    <a:pt x="21987" y="142638"/>
                  </a:lnTo>
                  <a:lnTo>
                    <a:pt x="36000" y="145467"/>
                  </a:lnTo>
                  <a:lnTo>
                    <a:pt x="587145" y="145467"/>
                  </a:lnTo>
                  <a:lnTo>
                    <a:pt x="601158" y="142638"/>
                  </a:lnTo>
                  <a:lnTo>
                    <a:pt x="612602" y="134923"/>
                  </a:lnTo>
                  <a:lnTo>
                    <a:pt x="620317" y="123480"/>
                  </a:lnTo>
                  <a:lnTo>
                    <a:pt x="623146" y="109467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2995968" y="1259367"/>
              <a:ext cx="623570" cy="146050"/>
            </a:xfrm>
            <a:custGeom>
              <a:avLst/>
              <a:gdLst/>
              <a:ahLst/>
              <a:cxnLst/>
              <a:rect l="l" t="t" r="r" b="b"/>
              <a:pathLst>
                <a:path w="623570" h="146050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9467"/>
                  </a:lnTo>
                  <a:lnTo>
                    <a:pt x="2829" y="123480"/>
                  </a:lnTo>
                  <a:lnTo>
                    <a:pt x="10544" y="134923"/>
                  </a:lnTo>
                  <a:lnTo>
                    <a:pt x="21987" y="142638"/>
                  </a:lnTo>
                  <a:lnTo>
                    <a:pt x="36000" y="145467"/>
                  </a:lnTo>
                  <a:lnTo>
                    <a:pt x="587145" y="145467"/>
                  </a:lnTo>
                  <a:lnTo>
                    <a:pt x="601158" y="142638"/>
                  </a:lnTo>
                  <a:lnTo>
                    <a:pt x="612602" y="134923"/>
                  </a:lnTo>
                  <a:lnTo>
                    <a:pt x="620317" y="123480"/>
                  </a:lnTo>
                  <a:lnTo>
                    <a:pt x="623146" y="109467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820280" y="1409252"/>
              <a:ext cx="2297430" cy="155575"/>
            </a:xfrm>
            <a:custGeom>
              <a:avLst/>
              <a:gdLst/>
              <a:ahLst/>
              <a:cxnLst/>
              <a:rect l="l" t="t" r="r" b="b"/>
              <a:pathLst>
                <a:path w="2297430" h="155575">
                  <a:moveTo>
                    <a:pt x="226110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2261100" y="155489"/>
                  </a:lnTo>
                  <a:lnTo>
                    <a:pt x="2275113" y="152659"/>
                  </a:lnTo>
                  <a:lnTo>
                    <a:pt x="2286556" y="144944"/>
                  </a:lnTo>
                  <a:lnTo>
                    <a:pt x="2294271" y="133501"/>
                  </a:lnTo>
                  <a:lnTo>
                    <a:pt x="2297100" y="119488"/>
                  </a:lnTo>
                  <a:lnTo>
                    <a:pt x="2297100" y="36000"/>
                  </a:lnTo>
                  <a:lnTo>
                    <a:pt x="2294271" y="21987"/>
                  </a:lnTo>
                  <a:lnTo>
                    <a:pt x="2286556" y="10544"/>
                  </a:lnTo>
                  <a:lnTo>
                    <a:pt x="2275113" y="2829"/>
                  </a:lnTo>
                  <a:lnTo>
                    <a:pt x="2261100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820280" y="1409252"/>
              <a:ext cx="2297430" cy="155575"/>
            </a:xfrm>
            <a:custGeom>
              <a:avLst/>
              <a:gdLst/>
              <a:ahLst/>
              <a:cxnLst/>
              <a:rect l="l" t="t" r="r" b="b"/>
              <a:pathLst>
                <a:path w="2297430" h="155575">
                  <a:moveTo>
                    <a:pt x="226110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2261100" y="155489"/>
                  </a:lnTo>
                  <a:lnTo>
                    <a:pt x="2275113" y="152659"/>
                  </a:lnTo>
                  <a:lnTo>
                    <a:pt x="2286556" y="144944"/>
                  </a:lnTo>
                  <a:lnTo>
                    <a:pt x="2294271" y="133501"/>
                  </a:lnTo>
                  <a:lnTo>
                    <a:pt x="2297100" y="119488"/>
                  </a:lnTo>
                  <a:lnTo>
                    <a:pt x="2297100" y="36000"/>
                  </a:lnTo>
                  <a:lnTo>
                    <a:pt x="2294271" y="21987"/>
                  </a:lnTo>
                  <a:lnTo>
                    <a:pt x="2286556" y="10544"/>
                  </a:lnTo>
                  <a:lnTo>
                    <a:pt x="2275113" y="2829"/>
                  </a:lnTo>
                  <a:lnTo>
                    <a:pt x="226110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14" name="object 14"/>
          <p:cNvGrpSpPr/>
          <p:nvPr/>
        </p:nvGrpSpPr>
        <p:grpSpPr>
          <a:xfrm>
            <a:off x="372646" y="1790314"/>
            <a:ext cx="5015230" cy="451484"/>
            <a:chOff x="372646" y="1790314"/>
            <a:chExt cx="5015230" cy="451484"/>
          </a:xfrm>
        </p:grpSpPr>
        <p:sp>
          <p:nvSpPr>
            <p:cNvPr id="15" name="object 15"/>
            <p:cNvSpPr/>
            <p:nvPr/>
          </p:nvSpPr>
          <p:spPr>
            <a:xfrm>
              <a:off x="377994" y="1795661"/>
              <a:ext cx="5004435" cy="440690"/>
            </a:xfrm>
            <a:custGeom>
              <a:avLst/>
              <a:gdLst/>
              <a:ahLst/>
              <a:cxnLst/>
              <a:rect l="l" t="t" r="r" b="b"/>
              <a:pathLst>
                <a:path w="5004435" h="440689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404181"/>
                  </a:lnTo>
                  <a:lnTo>
                    <a:pt x="2829" y="418194"/>
                  </a:lnTo>
                  <a:lnTo>
                    <a:pt x="10544" y="429637"/>
                  </a:lnTo>
                  <a:lnTo>
                    <a:pt x="21987" y="437353"/>
                  </a:lnTo>
                  <a:lnTo>
                    <a:pt x="36000" y="440182"/>
                  </a:lnTo>
                  <a:lnTo>
                    <a:pt x="4968064" y="440182"/>
                  </a:lnTo>
                  <a:lnTo>
                    <a:pt x="4982077" y="437353"/>
                  </a:lnTo>
                  <a:lnTo>
                    <a:pt x="4993521" y="429637"/>
                  </a:lnTo>
                  <a:lnTo>
                    <a:pt x="5001236" y="418194"/>
                  </a:lnTo>
                  <a:lnTo>
                    <a:pt x="5004065" y="404181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6" name="object 16"/>
            <p:cNvSpPr/>
            <p:nvPr/>
          </p:nvSpPr>
          <p:spPr>
            <a:xfrm>
              <a:off x="378973" y="1796640"/>
              <a:ext cx="5002530" cy="438784"/>
            </a:xfrm>
            <a:custGeom>
              <a:avLst/>
              <a:gdLst/>
              <a:ahLst/>
              <a:cxnLst/>
              <a:rect l="l" t="t" r="r" b="b"/>
              <a:pathLst>
                <a:path w="5002530" h="438785">
                  <a:moveTo>
                    <a:pt x="0" y="403202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403202"/>
                  </a:lnTo>
                  <a:lnTo>
                    <a:pt x="4999354" y="416834"/>
                  </a:lnTo>
                  <a:lnTo>
                    <a:pt x="4991849" y="427966"/>
                  </a:lnTo>
                  <a:lnTo>
                    <a:pt x="4980717" y="435471"/>
                  </a:lnTo>
                  <a:lnTo>
                    <a:pt x="4967085" y="438223"/>
                  </a:lnTo>
                  <a:lnTo>
                    <a:pt x="35021" y="438223"/>
                  </a:lnTo>
                  <a:lnTo>
                    <a:pt x="21389" y="435471"/>
                  </a:lnTo>
                  <a:lnTo>
                    <a:pt x="10257" y="427966"/>
                  </a:lnTo>
                  <a:lnTo>
                    <a:pt x="2752" y="416834"/>
                  </a:lnTo>
                  <a:lnTo>
                    <a:pt x="0" y="403202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7" name="object 17"/>
          <p:cNvSpPr txBox="1"/>
          <p:nvPr/>
        </p:nvSpPr>
        <p:spPr>
          <a:xfrm>
            <a:off x="345223" y="390725"/>
            <a:ext cx="5012055" cy="2146100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243204" indent="-147320">
              <a:lnSpc>
                <a:spcPct val="100000"/>
              </a:lnSpc>
              <a:spcBef>
                <a:spcPts val="275"/>
              </a:spcBef>
              <a:buAutoNum type="arabicPeriod"/>
              <a:tabLst>
                <a:tab pos="243204" algn="l"/>
              </a:tabLst>
            </a:pPr>
            <a:endParaRPr lang="en-US" sz="900" spc="-20" noProof="1">
              <a:solidFill>
                <a:srgbClr val="22373A"/>
              </a:solidFill>
              <a:latin typeface="Arial"/>
              <a:cs typeface="Arial"/>
            </a:endParaRPr>
          </a:p>
          <a:p>
            <a:pPr marL="95884">
              <a:spcBef>
                <a:spcPts val="275"/>
              </a:spcBef>
              <a:tabLst>
                <a:tab pos="243204" algn="l"/>
              </a:tabLst>
            </a:pPr>
            <a:r>
              <a:rPr lang="en-US" sz="900" b="1" noProof="1">
                <a:solidFill>
                  <a:srgbClr val="0070C0"/>
                </a:solidFill>
                <a:latin typeface="Arial"/>
                <a:cs typeface="Arial"/>
              </a:rPr>
              <a:t>From the AWS CLI</a:t>
            </a:r>
          </a:p>
          <a:p>
            <a:pPr marL="243204" indent="-147320">
              <a:lnSpc>
                <a:spcPct val="100000"/>
              </a:lnSpc>
              <a:spcBef>
                <a:spcPts val="275"/>
              </a:spcBef>
              <a:buAutoNum type="arabicPeriod"/>
              <a:tabLst>
                <a:tab pos="243204" algn="l"/>
              </a:tabLst>
            </a:pPr>
            <a:endParaRPr lang="en-US" sz="900" spc="-20" noProof="1">
              <a:solidFill>
                <a:srgbClr val="22373A"/>
              </a:solidFill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275"/>
              </a:spcBef>
              <a:buAutoNum type="arabicPeriod"/>
              <a:tabLst>
                <a:tab pos="243204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desktop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folder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named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latin typeface="Courier New"/>
                <a:cs typeface="Courier New"/>
              </a:rPr>
              <a:t>data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43204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named</a:t>
            </a:r>
            <a:r>
              <a:rPr lang="en-US" sz="900" spc="1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my-dataset.txt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write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some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text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it.</a:t>
            </a:r>
            <a:r>
              <a:rPr lang="en-US" sz="900" spc="1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Save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it.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43204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Open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terminal 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navigate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Desktop directory.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cd</a:t>
            </a:r>
            <a:r>
              <a:rPr lang="en-US" sz="900" spc="-70" noProof="1">
                <a:latin typeface="Courier New"/>
                <a:cs typeface="Courier New"/>
              </a:rPr>
              <a:t> </a:t>
            </a:r>
            <a:r>
              <a:rPr lang="en-US" sz="900" spc="-10" noProof="1">
                <a:latin typeface="Courier New"/>
                <a:cs typeface="Courier New"/>
              </a:rPr>
              <a:t>Desktop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42570" marR="5080" indent="-147320">
              <a:lnSpc>
                <a:spcPct val="116199"/>
              </a:lnSpc>
              <a:buAutoNum type="arabicPeriod"/>
              <a:tabLst>
                <a:tab pos="24384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Run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aws s3</a:t>
            </a:r>
            <a:r>
              <a:rPr lang="en-US" sz="900" spc="-70" noProof="1">
                <a:latin typeface="Courier New"/>
                <a:cs typeface="Courier New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sync</a:t>
            </a:r>
            <a:r>
              <a:rPr lang="en-US" sz="900" spc="-70" noProof="1">
                <a:latin typeface="Courier New"/>
                <a:cs typeface="Courier New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data</a:t>
            </a:r>
            <a:r>
              <a:rPr lang="en-US" sz="900" spc="-70" noProof="1">
                <a:latin typeface="Courier New"/>
                <a:cs typeface="Courier New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s3://data-{your-name}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upload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bucket.</a:t>
            </a:r>
            <a:r>
              <a:rPr lang="en-US" sz="900" spc="1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my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case 	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result: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80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4629" marR="1188085">
              <a:lnSpc>
                <a:spcPct val="107400"/>
              </a:lnSpc>
            </a:pPr>
            <a:r>
              <a:rPr lang="en-US" sz="800" spc="-50" noProof="1">
                <a:latin typeface="Courier New"/>
                <a:cs typeface="Courier New"/>
              </a:rPr>
              <a:t>PS</a:t>
            </a:r>
            <a:r>
              <a:rPr lang="en-US" sz="800" spc="-30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C:</a:t>
            </a:r>
            <a:r>
              <a:rPr lang="en-US" sz="800" spc="-55" noProof="1">
                <a:solidFill>
                  <a:srgbClr val="8E2100"/>
                </a:solidFill>
                <a:latin typeface="Courier New"/>
                <a:cs typeface="Courier New"/>
              </a:rPr>
              <a:t>\U</a:t>
            </a:r>
            <a:r>
              <a:rPr lang="en-US" sz="800" spc="-55" noProof="1">
                <a:latin typeface="Courier New"/>
                <a:cs typeface="Courier New"/>
              </a:rPr>
              <a:t>sers</a:t>
            </a:r>
            <a:r>
              <a:rPr lang="en-US" sz="800" spc="-55" noProof="1">
                <a:solidFill>
                  <a:srgbClr val="8E2100"/>
                </a:solidFill>
                <a:latin typeface="Courier New"/>
                <a:cs typeface="Courier New"/>
              </a:rPr>
              <a:t>\f</a:t>
            </a:r>
            <a:r>
              <a:rPr lang="en-US" sz="800" spc="-55" noProof="1">
                <a:latin typeface="Courier New"/>
                <a:cs typeface="Courier New"/>
              </a:rPr>
              <a:t>nao</a:t>
            </a:r>
            <a:r>
              <a:rPr lang="en-US" sz="800" spc="-55" noProof="1">
                <a:solidFill>
                  <a:srgbClr val="8E2100"/>
                </a:solidFill>
                <a:latin typeface="Courier New"/>
                <a:cs typeface="Courier New"/>
              </a:rPr>
              <a:t>\D</a:t>
            </a:r>
            <a:r>
              <a:rPr lang="en-US" sz="800" spc="-55" noProof="1">
                <a:latin typeface="Courier New"/>
                <a:cs typeface="Courier New"/>
              </a:rPr>
              <a:t>esktop</a:t>
            </a:r>
            <a:r>
              <a:rPr lang="en-US" sz="800" spc="-55" noProof="1">
                <a:solidFill>
                  <a:srgbClr val="666666"/>
                </a:solidFill>
                <a:latin typeface="Courier New"/>
                <a:cs typeface="Courier New"/>
              </a:rPr>
              <a:t>&gt;</a:t>
            </a:r>
            <a:r>
              <a:rPr lang="en-US" sz="800" spc="-25" noProof="1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aws</a:t>
            </a:r>
            <a:r>
              <a:rPr lang="en-US" sz="800" spc="-30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s3</a:t>
            </a:r>
            <a:r>
              <a:rPr lang="en-US" sz="800" spc="-2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sync</a:t>
            </a:r>
            <a:r>
              <a:rPr lang="en-US" sz="800" spc="-2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data</a:t>
            </a:r>
            <a:r>
              <a:rPr lang="en-US" sz="800" spc="-3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s3://data-ferran-</a:t>
            </a:r>
            <a:r>
              <a:rPr lang="en-US" sz="800" spc="-20" noProof="1">
                <a:latin typeface="Courier New"/>
                <a:cs typeface="Courier New"/>
              </a:rPr>
              <a:t>aran </a:t>
            </a:r>
            <a:r>
              <a:rPr lang="en-US" sz="800" spc="-60" noProof="1">
                <a:latin typeface="Courier New"/>
                <a:cs typeface="Courier New"/>
              </a:rPr>
              <a:t>upload:</a:t>
            </a:r>
            <a:r>
              <a:rPr lang="en-US" sz="800" spc="5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data</a:t>
            </a:r>
            <a:r>
              <a:rPr lang="en-US" sz="800" spc="-60" noProof="1">
                <a:solidFill>
                  <a:srgbClr val="8E2100"/>
                </a:solidFill>
                <a:latin typeface="Courier New"/>
                <a:cs typeface="Courier New"/>
              </a:rPr>
              <a:t>\m</a:t>
            </a:r>
            <a:r>
              <a:rPr lang="en-US" sz="800" spc="-60" noProof="1">
                <a:latin typeface="Courier New"/>
                <a:cs typeface="Courier New"/>
              </a:rPr>
              <a:t>y-</a:t>
            </a:r>
            <a:r>
              <a:rPr lang="en-US" sz="800" spc="-55" noProof="1">
                <a:latin typeface="Courier New"/>
                <a:cs typeface="Courier New"/>
              </a:rPr>
              <a:t>dataset.txt</a:t>
            </a:r>
            <a:r>
              <a:rPr lang="en-US" sz="800" spc="50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to</a:t>
            </a:r>
            <a:r>
              <a:rPr lang="en-US" sz="800" spc="5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s3://data-ferran-aran/my-dataset.txt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670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That’s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it!</a:t>
            </a:r>
            <a:r>
              <a:rPr lang="en-US" sz="900" spc="1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uploaded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bucket!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9" name="object 19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20" name="object 20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21" name="object 21"/>
            <p:cNvSpPr/>
            <p:nvPr/>
          </p:nvSpPr>
          <p:spPr>
            <a:xfrm>
              <a:off x="0" y="3234963"/>
              <a:ext cx="2765425" cy="5080"/>
            </a:xfrm>
            <a:custGeom>
              <a:avLst/>
              <a:gdLst/>
              <a:ahLst/>
              <a:cxnLst/>
              <a:rect l="l" t="t" r="r" b="b"/>
              <a:pathLst>
                <a:path w="2765425" h="5080">
                  <a:moveTo>
                    <a:pt x="0" y="5060"/>
                  </a:moveTo>
                  <a:lnTo>
                    <a:pt x="0" y="0"/>
                  </a:lnTo>
                  <a:lnTo>
                    <a:pt x="2764810" y="0"/>
                  </a:lnTo>
                  <a:lnTo>
                    <a:pt x="276481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noProof="1"/>
              <a:t>Inspecting</a:t>
            </a:r>
            <a:r>
              <a:rPr lang="en-US" spc="15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spc="-25" noProof="1"/>
              <a:t>bucket</a:t>
            </a:r>
            <a:r>
              <a:rPr lang="en-US" spc="15" noProof="1"/>
              <a:t> </a:t>
            </a:r>
            <a:r>
              <a:rPr lang="en-US" noProof="1"/>
              <a:t>from</a:t>
            </a:r>
            <a:r>
              <a:rPr lang="en-US" spc="20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noProof="1"/>
              <a:t>AWS</a:t>
            </a:r>
            <a:r>
              <a:rPr lang="en-US" spc="15" noProof="1"/>
              <a:t> </a:t>
            </a:r>
            <a:r>
              <a:rPr lang="en-US" spc="-40" noProof="1"/>
              <a:t>Console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775050"/>
            <a:ext cx="363029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dashboard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click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 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just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created.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60006" y="1017287"/>
            <a:ext cx="5039992" cy="1578147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2880360" cy="5080"/>
            </a:xfrm>
            <a:custGeom>
              <a:avLst/>
              <a:gdLst/>
              <a:ahLst/>
              <a:cxnLst/>
              <a:rect l="l" t="t" r="r" b="b"/>
              <a:pathLst>
                <a:path w="2880360" h="5080">
                  <a:moveTo>
                    <a:pt x="0" y="5060"/>
                  </a:moveTo>
                  <a:lnTo>
                    <a:pt x="0" y="0"/>
                  </a:lnTo>
                  <a:lnTo>
                    <a:pt x="2880037" y="0"/>
                  </a:lnTo>
                  <a:lnTo>
                    <a:pt x="28800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noProof="1"/>
              <a:t>Inspecting</a:t>
            </a:r>
            <a:r>
              <a:rPr lang="en-US" spc="15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spc="-25" noProof="1"/>
              <a:t>bucket</a:t>
            </a:r>
            <a:r>
              <a:rPr lang="en-US" spc="15" noProof="1"/>
              <a:t> </a:t>
            </a:r>
            <a:r>
              <a:rPr lang="en-US" noProof="1"/>
              <a:t>from</a:t>
            </a:r>
            <a:r>
              <a:rPr lang="en-US" spc="20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noProof="1"/>
              <a:t>AWS</a:t>
            </a:r>
            <a:r>
              <a:rPr lang="en-US" spc="15" noProof="1"/>
              <a:t> </a:t>
            </a:r>
            <a:r>
              <a:rPr lang="en-US" spc="-40" noProof="1"/>
              <a:t>Console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300768" y="800709"/>
            <a:ext cx="862330" cy="146050"/>
            <a:chOff x="3300768" y="800709"/>
            <a:chExt cx="862330" cy="146050"/>
          </a:xfrm>
        </p:grpSpPr>
        <p:sp>
          <p:nvSpPr>
            <p:cNvPr id="4" name="object 4"/>
            <p:cNvSpPr/>
            <p:nvPr/>
          </p:nvSpPr>
          <p:spPr>
            <a:xfrm>
              <a:off x="3300768" y="800709"/>
              <a:ext cx="862330" cy="146050"/>
            </a:xfrm>
            <a:custGeom>
              <a:avLst/>
              <a:gdLst/>
              <a:ahLst/>
              <a:cxnLst/>
              <a:rect l="l" t="t" r="r" b="b"/>
              <a:pathLst>
                <a:path w="862329" h="146050">
                  <a:moveTo>
                    <a:pt x="82628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037"/>
                  </a:lnTo>
                  <a:lnTo>
                    <a:pt x="2829" y="124050"/>
                  </a:lnTo>
                  <a:lnTo>
                    <a:pt x="10544" y="135493"/>
                  </a:lnTo>
                  <a:lnTo>
                    <a:pt x="21987" y="143208"/>
                  </a:lnTo>
                  <a:lnTo>
                    <a:pt x="36000" y="146037"/>
                  </a:lnTo>
                  <a:lnTo>
                    <a:pt x="826282" y="146037"/>
                  </a:lnTo>
                  <a:lnTo>
                    <a:pt x="840295" y="143208"/>
                  </a:lnTo>
                  <a:lnTo>
                    <a:pt x="851738" y="135493"/>
                  </a:lnTo>
                  <a:lnTo>
                    <a:pt x="859453" y="124050"/>
                  </a:lnTo>
                  <a:lnTo>
                    <a:pt x="862282" y="110037"/>
                  </a:lnTo>
                  <a:lnTo>
                    <a:pt x="862282" y="36000"/>
                  </a:lnTo>
                  <a:lnTo>
                    <a:pt x="859453" y="21987"/>
                  </a:lnTo>
                  <a:lnTo>
                    <a:pt x="851738" y="10544"/>
                  </a:lnTo>
                  <a:lnTo>
                    <a:pt x="840295" y="2829"/>
                  </a:lnTo>
                  <a:lnTo>
                    <a:pt x="826282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300768" y="800709"/>
              <a:ext cx="862330" cy="146050"/>
            </a:xfrm>
            <a:custGeom>
              <a:avLst/>
              <a:gdLst/>
              <a:ahLst/>
              <a:cxnLst/>
              <a:rect l="l" t="t" r="r" b="b"/>
              <a:pathLst>
                <a:path w="862329" h="146050">
                  <a:moveTo>
                    <a:pt x="82628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037"/>
                  </a:lnTo>
                  <a:lnTo>
                    <a:pt x="2829" y="124050"/>
                  </a:lnTo>
                  <a:lnTo>
                    <a:pt x="10544" y="135493"/>
                  </a:lnTo>
                  <a:lnTo>
                    <a:pt x="21987" y="143208"/>
                  </a:lnTo>
                  <a:lnTo>
                    <a:pt x="36000" y="146037"/>
                  </a:lnTo>
                  <a:lnTo>
                    <a:pt x="826282" y="146037"/>
                  </a:lnTo>
                  <a:lnTo>
                    <a:pt x="840295" y="143208"/>
                  </a:lnTo>
                  <a:lnTo>
                    <a:pt x="851738" y="135493"/>
                  </a:lnTo>
                  <a:lnTo>
                    <a:pt x="859453" y="124050"/>
                  </a:lnTo>
                  <a:lnTo>
                    <a:pt x="862282" y="110037"/>
                  </a:lnTo>
                  <a:lnTo>
                    <a:pt x="862282" y="36000"/>
                  </a:lnTo>
                  <a:lnTo>
                    <a:pt x="859453" y="21987"/>
                  </a:lnTo>
                  <a:lnTo>
                    <a:pt x="851738" y="10544"/>
                  </a:lnTo>
                  <a:lnTo>
                    <a:pt x="840295" y="2829"/>
                  </a:lnTo>
                  <a:lnTo>
                    <a:pt x="82628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3433" y="769030"/>
            <a:ext cx="386524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95" noProof="1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contents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bucket,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case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my-</a:t>
            </a:r>
            <a:r>
              <a:rPr lang="en-US" sz="900" spc="-40" noProof="1">
                <a:latin typeface="Courier New"/>
                <a:cs typeface="Courier New"/>
              </a:rPr>
              <a:t>dataset.txt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7" name="object 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06" y="1039057"/>
            <a:ext cx="5039992" cy="1562397"/>
          </a:xfrm>
          <a:prstGeom prst="rect">
            <a:avLst/>
          </a:prstGeom>
        </p:spPr>
      </p:pic>
      <p:grpSp>
        <p:nvGrpSpPr>
          <p:cNvPr id="8" name="object 8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9" name="object 9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0" y="3234963"/>
              <a:ext cx="2995295" cy="5080"/>
            </a:xfrm>
            <a:custGeom>
              <a:avLst/>
              <a:gdLst/>
              <a:ahLst/>
              <a:cxnLst/>
              <a:rect l="l" t="t" r="r" b="b"/>
              <a:pathLst>
                <a:path w="2995295" h="5080">
                  <a:moveTo>
                    <a:pt x="0" y="5060"/>
                  </a:moveTo>
                  <a:lnTo>
                    <a:pt x="0" y="0"/>
                  </a:lnTo>
                  <a:lnTo>
                    <a:pt x="2995262" y="0"/>
                  </a:lnTo>
                  <a:lnTo>
                    <a:pt x="299526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265684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30" noProof="1">
                <a:solidFill>
                  <a:srgbClr val="F9F9F9"/>
                </a:solidFill>
                <a:latin typeface="Arial"/>
                <a:cs typeface="Arial"/>
              </a:rPr>
              <a:t>Inspecting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noProof="1">
                <a:solidFill>
                  <a:srgbClr val="F9F9F9"/>
                </a:solidFill>
                <a:latin typeface="Arial"/>
                <a:cs typeface="Arial"/>
              </a:rPr>
              <a:t>bucket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from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AWS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40" noProof="1">
                <a:solidFill>
                  <a:srgbClr val="F9F9F9"/>
                </a:solidFill>
                <a:latin typeface="Arial"/>
                <a:cs typeface="Arial"/>
              </a:rPr>
              <a:t>Console</a:t>
            </a:r>
            <a:endParaRPr lang="en-US" sz="10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47294" y="650653"/>
            <a:ext cx="188023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95" noProof="1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further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details.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06" y="870784"/>
            <a:ext cx="5039992" cy="1849047"/>
          </a:xfrm>
          <a:prstGeom prst="rect">
            <a:avLst/>
          </a:prstGeom>
        </p:spPr>
      </p:pic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3110865" cy="5080"/>
            </a:xfrm>
            <a:custGeom>
              <a:avLst/>
              <a:gdLst/>
              <a:ahLst/>
              <a:cxnLst/>
              <a:rect l="l" t="t" r="r" b="b"/>
              <a:pathLst>
                <a:path w="3110865" h="5080">
                  <a:moveTo>
                    <a:pt x="0" y="5060"/>
                  </a:moveTo>
                  <a:lnTo>
                    <a:pt x="0" y="0"/>
                  </a:lnTo>
                  <a:lnTo>
                    <a:pt x="3110401" y="0"/>
                  </a:lnTo>
                  <a:lnTo>
                    <a:pt x="311040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865"/>
            <a:ext cx="1913255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2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Working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with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S3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from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3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python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755"/>
            <a:ext cx="2505710" cy="5080"/>
            <a:chOff x="1627403" y="1647755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755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755"/>
              <a:ext cx="1353185" cy="5080"/>
            </a:xfrm>
            <a:custGeom>
              <a:avLst/>
              <a:gdLst/>
              <a:ahLst/>
              <a:cxnLst/>
              <a:rect l="l" t="t" r="r" b="b"/>
              <a:pathLst>
                <a:path w="1353185" h="5080">
                  <a:moveTo>
                    <a:pt x="0" y="5060"/>
                  </a:moveTo>
                  <a:lnTo>
                    <a:pt x="0" y="0"/>
                  </a:lnTo>
                  <a:lnTo>
                    <a:pt x="1352811" y="0"/>
                  </a:lnTo>
                  <a:lnTo>
                    <a:pt x="135281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Configuring</a:t>
            </a:r>
            <a:r>
              <a:rPr lang="en-US" spc="5" noProof="1"/>
              <a:t> </a:t>
            </a:r>
            <a:r>
              <a:rPr lang="en-US" noProof="1"/>
              <a:t>AWS</a:t>
            </a:r>
            <a:r>
              <a:rPr lang="en-US" spc="5" noProof="1"/>
              <a:t> </a:t>
            </a:r>
            <a:r>
              <a:rPr lang="en-US" spc="-35" noProof="1"/>
              <a:t>credentials</a:t>
            </a:r>
            <a:r>
              <a:rPr lang="en-US" spc="5" noProof="1"/>
              <a:t> </a:t>
            </a:r>
            <a:r>
              <a:rPr lang="en-US" noProof="1"/>
              <a:t>on</a:t>
            </a:r>
            <a:r>
              <a:rPr lang="en-US" spc="5" noProof="1"/>
              <a:t> </a:t>
            </a:r>
            <a:r>
              <a:rPr lang="en-US" noProof="1"/>
              <a:t>an</a:t>
            </a:r>
            <a:r>
              <a:rPr lang="en-US" spc="5" noProof="1"/>
              <a:t> </a:t>
            </a:r>
            <a:r>
              <a:rPr lang="en-US" noProof="1"/>
              <a:t>EC2</a:t>
            </a:r>
            <a:r>
              <a:rPr lang="en-US" spc="10" noProof="1"/>
              <a:t> </a:t>
            </a:r>
            <a:r>
              <a:rPr lang="en-US" spc="-30" noProof="1"/>
              <a:t>instance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1110262"/>
            <a:ext cx="4937125" cy="152804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31115" indent="-4445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first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we’ll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connect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configured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during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last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session.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information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last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session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can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found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here (Session 3)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</a:p>
          <a:p>
            <a:pPr marL="16510" marR="31115" indent="-4445">
              <a:lnSpc>
                <a:spcPct val="116199"/>
              </a:lnSpc>
              <a:spcBef>
                <a:spcPts val="100"/>
              </a:spcBef>
            </a:pPr>
            <a:endParaRPr lang="en-US" sz="900" noProof="1">
              <a:latin typeface="Arial"/>
              <a:cs typeface="Arial"/>
            </a:endParaRPr>
          </a:p>
          <a:p>
            <a:pPr marL="16510" marR="5080">
              <a:lnSpc>
                <a:spcPct val="116199"/>
              </a:lnSpc>
              <a:spcBef>
                <a:spcPts val="625"/>
              </a:spcBef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Once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connected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through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SSH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on a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remote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terminal, we’ll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configure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Credentials similarly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how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machine.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terminal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editor.</a:t>
            </a:r>
            <a:endParaRPr lang="en-US" sz="900" noProof="1">
              <a:latin typeface="Arial"/>
              <a:cs typeface="Arial"/>
            </a:endParaRPr>
          </a:p>
          <a:p>
            <a:pPr marL="16510" marR="13335">
              <a:lnSpc>
                <a:spcPct val="116199"/>
              </a:lnSpc>
              <a:spcBef>
                <a:spcPts val="625"/>
              </a:spcBef>
            </a:pPr>
            <a:endParaRPr lang="en-US" sz="900" noProof="1">
              <a:solidFill>
                <a:srgbClr val="22373A"/>
              </a:solidFill>
              <a:latin typeface="Arial"/>
              <a:cs typeface="Arial"/>
            </a:endParaRPr>
          </a:p>
          <a:p>
            <a:pPr marL="16510" marR="13335">
              <a:lnSpc>
                <a:spcPct val="116199"/>
              </a:lnSpc>
              <a:spcBef>
                <a:spcPts val="62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steps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get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confusing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suggest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checking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this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guide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subject’s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detailed explanation.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225800" cy="5080"/>
            </a:xfrm>
            <a:custGeom>
              <a:avLst/>
              <a:gdLst/>
              <a:ahLst/>
              <a:cxnLst/>
              <a:rect l="l" t="t" r="r" b="b"/>
              <a:pathLst>
                <a:path w="3225800" h="5080">
                  <a:moveTo>
                    <a:pt x="0" y="5060"/>
                  </a:moveTo>
                  <a:lnTo>
                    <a:pt x="0" y="0"/>
                  </a:lnTo>
                  <a:lnTo>
                    <a:pt x="3225627" y="0"/>
                  </a:lnTo>
                  <a:lnTo>
                    <a:pt x="322562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Configuring</a:t>
            </a:r>
            <a:r>
              <a:rPr lang="en-US" spc="5" noProof="1"/>
              <a:t> </a:t>
            </a:r>
            <a:r>
              <a:rPr lang="en-US" noProof="1"/>
              <a:t>AWS</a:t>
            </a:r>
            <a:r>
              <a:rPr lang="en-US" spc="5" noProof="1"/>
              <a:t> </a:t>
            </a:r>
            <a:r>
              <a:rPr lang="en-US" spc="-35" noProof="1"/>
              <a:t>credentials</a:t>
            </a:r>
            <a:r>
              <a:rPr lang="en-US" spc="5" noProof="1"/>
              <a:t> </a:t>
            </a:r>
            <a:r>
              <a:rPr lang="en-US" noProof="1"/>
              <a:t>on</a:t>
            </a:r>
            <a:r>
              <a:rPr lang="en-US" spc="5" noProof="1"/>
              <a:t> </a:t>
            </a:r>
            <a:r>
              <a:rPr lang="en-US" noProof="1"/>
              <a:t>an</a:t>
            </a:r>
            <a:r>
              <a:rPr lang="en-US" spc="5" noProof="1"/>
              <a:t> </a:t>
            </a:r>
            <a:r>
              <a:rPr lang="en-US" noProof="1"/>
              <a:t>EC2</a:t>
            </a:r>
            <a:r>
              <a:rPr lang="en-US" spc="10" noProof="1"/>
              <a:t> </a:t>
            </a:r>
            <a:r>
              <a:rPr lang="en-US" spc="-30" noProof="1"/>
              <a:t>instance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2445473" y="1104541"/>
            <a:ext cx="264795" cy="101600"/>
            <a:chOff x="2445473" y="1104541"/>
            <a:chExt cx="264795" cy="101600"/>
          </a:xfrm>
        </p:grpSpPr>
        <p:sp>
          <p:nvSpPr>
            <p:cNvPr id="4" name="object 4"/>
            <p:cNvSpPr/>
            <p:nvPr/>
          </p:nvSpPr>
          <p:spPr>
            <a:xfrm>
              <a:off x="2445473" y="1104541"/>
              <a:ext cx="264795" cy="101600"/>
            </a:xfrm>
            <a:custGeom>
              <a:avLst/>
              <a:gdLst/>
              <a:ahLst/>
              <a:cxnLst/>
              <a:rect l="l" t="t" r="r" b="b"/>
              <a:pathLst>
                <a:path w="264794" h="10160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5170"/>
                  </a:lnTo>
                  <a:lnTo>
                    <a:pt x="2829" y="79183"/>
                  </a:lnTo>
                  <a:lnTo>
                    <a:pt x="10544" y="90626"/>
                  </a:lnTo>
                  <a:lnTo>
                    <a:pt x="21987" y="98341"/>
                  </a:lnTo>
                  <a:lnTo>
                    <a:pt x="36000" y="101170"/>
                  </a:lnTo>
                  <a:lnTo>
                    <a:pt x="228441" y="101170"/>
                  </a:lnTo>
                  <a:lnTo>
                    <a:pt x="242454" y="98341"/>
                  </a:lnTo>
                  <a:lnTo>
                    <a:pt x="253897" y="90626"/>
                  </a:lnTo>
                  <a:lnTo>
                    <a:pt x="261612" y="79183"/>
                  </a:lnTo>
                  <a:lnTo>
                    <a:pt x="264441" y="65170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2445473" y="1104541"/>
              <a:ext cx="264795" cy="101600"/>
            </a:xfrm>
            <a:custGeom>
              <a:avLst/>
              <a:gdLst/>
              <a:ahLst/>
              <a:cxnLst/>
              <a:rect l="l" t="t" r="r" b="b"/>
              <a:pathLst>
                <a:path w="264794" h="10160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5170"/>
                  </a:lnTo>
                  <a:lnTo>
                    <a:pt x="2829" y="79183"/>
                  </a:lnTo>
                  <a:lnTo>
                    <a:pt x="10544" y="90626"/>
                  </a:lnTo>
                  <a:lnTo>
                    <a:pt x="21987" y="98341"/>
                  </a:lnTo>
                  <a:lnTo>
                    <a:pt x="36000" y="101170"/>
                  </a:lnTo>
                  <a:lnTo>
                    <a:pt x="228441" y="101170"/>
                  </a:lnTo>
                  <a:lnTo>
                    <a:pt x="242454" y="98341"/>
                  </a:lnTo>
                  <a:lnTo>
                    <a:pt x="253897" y="90626"/>
                  </a:lnTo>
                  <a:lnTo>
                    <a:pt x="261612" y="79183"/>
                  </a:lnTo>
                  <a:lnTo>
                    <a:pt x="264441" y="65170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2943136" y="1244289"/>
            <a:ext cx="623570" cy="121285"/>
            <a:chOff x="2943136" y="1244289"/>
            <a:chExt cx="623570" cy="121285"/>
          </a:xfrm>
        </p:grpSpPr>
        <p:sp>
          <p:nvSpPr>
            <p:cNvPr id="7" name="object 7"/>
            <p:cNvSpPr/>
            <p:nvPr/>
          </p:nvSpPr>
          <p:spPr>
            <a:xfrm>
              <a:off x="2943136" y="1244289"/>
              <a:ext cx="623570" cy="121285"/>
            </a:xfrm>
            <a:custGeom>
              <a:avLst/>
              <a:gdLst/>
              <a:ahLst/>
              <a:cxnLst/>
              <a:rect l="l" t="t" r="r" b="b"/>
              <a:pathLst>
                <a:path w="623570" h="121284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587145" y="120757"/>
                  </a:lnTo>
                  <a:lnTo>
                    <a:pt x="601158" y="117928"/>
                  </a:lnTo>
                  <a:lnTo>
                    <a:pt x="612602" y="110213"/>
                  </a:lnTo>
                  <a:lnTo>
                    <a:pt x="620317" y="98770"/>
                  </a:lnTo>
                  <a:lnTo>
                    <a:pt x="623146" y="84757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2943136" y="1244289"/>
              <a:ext cx="623570" cy="121285"/>
            </a:xfrm>
            <a:custGeom>
              <a:avLst/>
              <a:gdLst/>
              <a:ahLst/>
              <a:cxnLst/>
              <a:rect l="l" t="t" r="r" b="b"/>
              <a:pathLst>
                <a:path w="623570" h="121284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587145" y="120757"/>
                  </a:lnTo>
                  <a:lnTo>
                    <a:pt x="601158" y="117928"/>
                  </a:lnTo>
                  <a:lnTo>
                    <a:pt x="612602" y="110213"/>
                  </a:lnTo>
                  <a:lnTo>
                    <a:pt x="620317" y="98770"/>
                  </a:lnTo>
                  <a:lnTo>
                    <a:pt x="623146" y="84757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9" name="object 9"/>
          <p:cNvGrpSpPr/>
          <p:nvPr/>
        </p:nvGrpSpPr>
        <p:grpSpPr>
          <a:xfrm>
            <a:off x="1729206" y="1483278"/>
            <a:ext cx="683260" cy="121285"/>
            <a:chOff x="1729206" y="1483278"/>
            <a:chExt cx="683260" cy="121285"/>
          </a:xfrm>
        </p:grpSpPr>
        <p:sp>
          <p:nvSpPr>
            <p:cNvPr id="10" name="object 10"/>
            <p:cNvSpPr/>
            <p:nvPr/>
          </p:nvSpPr>
          <p:spPr>
            <a:xfrm>
              <a:off x="1729206" y="1483278"/>
              <a:ext cx="683260" cy="121285"/>
            </a:xfrm>
            <a:custGeom>
              <a:avLst/>
              <a:gdLst/>
              <a:ahLst/>
              <a:cxnLst/>
              <a:rect l="l" t="t" r="r" b="b"/>
              <a:pathLst>
                <a:path w="683260" h="121284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646930" y="120757"/>
                  </a:lnTo>
                  <a:lnTo>
                    <a:pt x="660943" y="117928"/>
                  </a:lnTo>
                  <a:lnTo>
                    <a:pt x="672386" y="110213"/>
                  </a:lnTo>
                  <a:lnTo>
                    <a:pt x="680101" y="98770"/>
                  </a:lnTo>
                  <a:lnTo>
                    <a:pt x="682930" y="84757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1729206" y="1483278"/>
              <a:ext cx="683260" cy="121285"/>
            </a:xfrm>
            <a:custGeom>
              <a:avLst/>
              <a:gdLst/>
              <a:ahLst/>
              <a:cxnLst/>
              <a:rect l="l" t="t" r="r" b="b"/>
              <a:pathLst>
                <a:path w="683260" h="121284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646930" y="120757"/>
                  </a:lnTo>
                  <a:lnTo>
                    <a:pt x="660943" y="117928"/>
                  </a:lnTo>
                  <a:lnTo>
                    <a:pt x="672386" y="110213"/>
                  </a:lnTo>
                  <a:lnTo>
                    <a:pt x="680101" y="98770"/>
                  </a:lnTo>
                  <a:lnTo>
                    <a:pt x="682930" y="84757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12" name="object 12"/>
          <p:cNvGrpSpPr/>
          <p:nvPr/>
        </p:nvGrpSpPr>
        <p:grpSpPr>
          <a:xfrm>
            <a:off x="3139439" y="1502864"/>
            <a:ext cx="264795" cy="101600"/>
            <a:chOff x="3139439" y="1502864"/>
            <a:chExt cx="264795" cy="101600"/>
          </a:xfrm>
        </p:grpSpPr>
        <p:sp>
          <p:nvSpPr>
            <p:cNvPr id="13" name="object 13"/>
            <p:cNvSpPr/>
            <p:nvPr/>
          </p:nvSpPr>
          <p:spPr>
            <a:xfrm>
              <a:off x="3139439" y="1502864"/>
              <a:ext cx="264795" cy="101600"/>
            </a:xfrm>
            <a:custGeom>
              <a:avLst/>
              <a:gdLst/>
              <a:ahLst/>
              <a:cxnLst/>
              <a:rect l="l" t="t" r="r" b="b"/>
              <a:pathLst>
                <a:path w="264795" h="10160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5170"/>
                  </a:lnTo>
                  <a:lnTo>
                    <a:pt x="2829" y="79183"/>
                  </a:lnTo>
                  <a:lnTo>
                    <a:pt x="10544" y="90626"/>
                  </a:lnTo>
                  <a:lnTo>
                    <a:pt x="21987" y="98341"/>
                  </a:lnTo>
                  <a:lnTo>
                    <a:pt x="36000" y="101170"/>
                  </a:lnTo>
                  <a:lnTo>
                    <a:pt x="228441" y="101170"/>
                  </a:lnTo>
                  <a:lnTo>
                    <a:pt x="242454" y="98341"/>
                  </a:lnTo>
                  <a:lnTo>
                    <a:pt x="253897" y="90626"/>
                  </a:lnTo>
                  <a:lnTo>
                    <a:pt x="261612" y="79183"/>
                  </a:lnTo>
                  <a:lnTo>
                    <a:pt x="264441" y="65170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4" name="object 14"/>
            <p:cNvSpPr/>
            <p:nvPr/>
          </p:nvSpPr>
          <p:spPr>
            <a:xfrm>
              <a:off x="3139439" y="1502864"/>
              <a:ext cx="264795" cy="101600"/>
            </a:xfrm>
            <a:custGeom>
              <a:avLst/>
              <a:gdLst/>
              <a:ahLst/>
              <a:cxnLst/>
              <a:rect l="l" t="t" r="r" b="b"/>
              <a:pathLst>
                <a:path w="264795" h="10160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5170"/>
                  </a:lnTo>
                  <a:lnTo>
                    <a:pt x="2829" y="79183"/>
                  </a:lnTo>
                  <a:lnTo>
                    <a:pt x="10544" y="90626"/>
                  </a:lnTo>
                  <a:lnTo>
                    <a:pt x="21987" y="98341"/>
                  </a:lnTo>
                  <a:lnTo>
                    <a:pt x="36000" y="101170"/>
                  </a:lnTo>
                  <a:lnTo>
                    <a:pt x="228441" y="101170"/>
                  </a:lnTo>
                  <a:lnTo>
                    <a:pt x="242454" y="98341"/>
                  </a:lnTo>
                  <a:lnTo>
                    <a:pt x="253897" y="90626"/>
                  </a:lnTo>
                  <a:lnTo>
                    <a:pt x="261612" y="79183"/>
                  </a:lnTo>
                  <a:lnTo>
                    <a:pt x="264441" y="65170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15" name="object 15"/>
          <p:cNvGrpSpPr/>
          <p:nvPr/>
        </p:nvGrpSpPr>
        <p:grpSpPr>
          <a:xfrm>
            <a:off x="359994" y="1633143"/>
            <a:ext cx="1280795" cy="139700"/>
            <a:chOff x="359994" y="1633143"/>
            <a:chExt cx="1280795" cy="139700"/>
          </a:xfrm>
        </p:grpSpPr>
        <p:sp>
          <p:nvSpPr>
            <p:cNvPr id="16" name="object 16"/>
            <p:cNvSpPr/>
            <p:nvPr/>
          </p:nvSpPr>
          <p:spPr>
            <a:xfrm>
              <a:off x="359994" y="1633143"/>
              <a:ext cx="1280795" cy="139700"/>
            </a:xfrm>
            <a:custGeom>
              <a:avLst/>
              <a:gdLst/>
              <a:ahLst/>
              <a:cxnLst/>
              <a:rect l="l" t="t" r="r" b="b"/>
              <a:pathLst>
                <a:path w="1280795" h="139700">
                  <a:moveTo>
                    <a:pt x="124477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3090"/>
                  </a:lnTo>
                  <a:lnTo>
                    <a:pt x="2829" y="117103"/>
                  </a:lnTo>
                  <a:lnTo>
                    <a:pt x="10544" y="128546"/>
                  </a:lnTo>
                  <a:lnTo>
                    <a:pt x="21987" y="136261"/>
                  </a:lnTo>
                  <a:lnTo>
                    <a:pt x="36000" y="139090"/>
                  </a:lnTo>
                  <a:lnTo>
                    <a:pt x="1244770" y="139090"/>
                  </a:lnTo>
                  <a:lnTo>
                    <a:pt x="1258783" y="136261"/>
                  </a:lnTo>
                  <a:lnTo>
                    <a:pt x="1270227" y="128546"/>
                  </a:lnTo>
                  <a:lnTo>
                    <a:pt x="1277942" y="117103"/>
                  </a:lnTo>
                  <a:lnTo>
                    <a:pt x="1280771" y="103090"/>
                  </a:lnTo>
                  <a:lnTo>
                    <a:pt x="1280771" y="36000"/>
                  </a:lnTo>
                  <a:lnTo>
                    <a:pt x="1277942" y="21987"/>
                  </a:lnTo>
                  <a:lnTo>
                    <a:pt x="1270227" y="10544"/>
                  </a:lnTo>
                  <a:lnTo>
                    <a:pt x="1258783" y="2829"/>
                  </a:lnTo>
                  <a:lnTo>
                    <a:pt x="1244770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7" name="object 17"/>
            <p:cNvSpPr/>
            <p:nvPr/>
          </p:nvSpPr>
          <p:spPr>
            <a:xfrm>
              <a:off x="359994" y="1633143"/>
              <a:ext cx="1280795" cy="139700"/>
            </a:xfrm>
            <a:custGeom>
              <a:avLst/>
              <a:gdLst/>
              <a:ahLst/>
              <a:cxnLst/>
              <a:rect l="l" t="t" r="r" b="b"/>
              <a:pathLst>
                <a:path w="1280795" h="139700">
                  <a:moveTo>
                    <a:pt x="124477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3090"/>
                  </a:lnTo>
                  <a:lnTo>
                    <a:pt x="2829" y="117103"/>
                  </a:lnTo>
                  <a:lnTo>
                    <a:pt x="10544" y="128546"/>
                  </a:lnTo>
                  <a:lnTo>
                    <a:pt x="21987" y="136261"/>
                  </a:lnTo>
                  <a:lnTo>
                    <a:pt x="36000" y="139090"/>
                  </a:lnTo>
                  <a:lnTo>
                    <a:pt x="1244770" y="139090"/>
                  </a:lnTo>
                  <a:lnTo>
                    <a:pt x="1258783" y="136261"/>
                  </a:lnTo>
                  <a:lnTo>
                    <a:pt x="1270227" y="128546"/>
                  </a:lnTo>
                  <a:lnTo>
                    <a:pt x="1277942" y="117103"/>
                  </a:lnTo>
                  <a:lnTo>
                    <a:pt x="1280771" y="103090"/>
                  </a:lnTo>
                  <a:lnTo>
                    <a:pt x="1280771" y="36000"/>
                  </a:lnTo>
                  <a:lnTo>
                    <a:pt x="1277942" y="21987"/>
                  </a:lnTo>
                  <a:lnTo>
                    <a:pt x="1270227" y="10544"/>
                  </a:lnTo>
                  <a:lnTo>
                    <a:pt x="1258783" y="2829"/>
                  </a:lnTo>
                  <a:lnTo>
                    <a:pt x="124477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18" name="object 18"/>
          <p:cNvGrpSpPr/>
          <p:nvPr/>
        </p:nvGrpSpPr>
        <p:grpSpPr>
          <a:xfrm>
            <a:off x="1799018" y="2278648"/>
            <a:ext cx="504190" cy="123189"/>
            <a:chOff x="1799018" y="2278648"/>
            <a:chExt cx="504190" cy="123189"/>
          </a:xfrm>
        </p:grpSpPr>
        <p:sp>
          <p:nvSpPr>
            <p:cNvPr id="19" name="object 19"/>
            <p:cNvSpPr/>
            <p:nvPr/>
          </p:nvSpPr>
          <p:spPr>
            <a:xfrm>
              <a:off x="1799018" y="2278648"/>
              <a:ext cx="504190" cy="123189"/>
            </a:xfrm>
            <a:custGeom>
              <a:avLst/>
              <a:gdLst/>
              <a:ahLst/>
              <a:cxnLst/>
              <a:rect l="l" t="t" r="r" b="b"/>
              <a:pathLst>
                <a:path w="504189" h="123189">
                  <a:moveTo>
                    <a:pt x="467578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467578" y="122693"/>
                  </a:lnTo>
                  <a:lnTo>
                    <a:pt x="481590" y="119864"/>
                  </a:lnTo>
                  <a:lnTo>
                    <a:pt x="493034" y="112148"/>
                  </a:lnTo>
                  <a:lnTo>
                    <a:pt x="500749" y="100705"/>
                  </a:lnTo>
                  <a:lnTo>
                    <a:pt x="503578" y="86692"/>
                  </a:lnTo>
                  <a:lnTo>
                    <a:pt x="503578" y="36000"/>
                  </a:lnTo>
                  <a:lnTo>
                    <a:pt x="500749" y="21987"/>
                  </a:lnTo>
                  <a:lnTo>
                    <a:pt x="493034" y="10544"/>
                  </a:lnTo>
                  <a:lnTo>
                    <a:pt x="481590" y="2829"/>
                  </a:lnTo>
                  <a:lnTo>
                    <a:pt x="467578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20" name="object 20"/>
            <p:cNvSpPr/>
            <p:nvPr/>
          </p:nvSpPr>
          <p:spPr>
            <a:xfrm>
              <a:off x="1799018" y="2278648"/>
              <a:ext cx="504190" cy="123189"/>
            </a:xfrm>
            <a:custGeom>
              <a:avLst/>
              <a:gdLst/>
              <a:ahLst/>
              <a:cxnLst/>
              <a:rect l="l" t="t" r="r" b="b"/>
              <a:pathLst>
                <a:path w="504189" h="123189">
                  <a:moveTo>
                    <a:pt x="467578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467578" y="122693"/>
                  </a:lnTo>
                  <a:lnTo>
                    <a:pt x="481590" y="119864"/>
                  </a:lnTo>
                  <a:lnTo>
                    <a:pt x="493034" y="112148"/>
                  </a:lnTo>
                  <a:lnTo>
                    <a:pt x="500749" y="100705"/>
                  </a:lnTo>
                  <a:lnTo>
                    <a:pt x="503578" y="86692"/>
                  </a:lnTo>
                  <a:lnTo>
                    <a:pt x="503578" y="36000"/>
                  </a:lnTo>
                  <a:lnTo>
                    <a:pt x="500749" y="21987"/>
                  </a:lnTo>
                  <a:lnTo>
                    <a:pt x="493034" y="10544"/>
                  </a:lnTo>
                  <a:lnTo>
                    <a:pt x="481590" y="2829"/>
                  </a:lnTo>
                  <a:lnTo>
                    <a:pt x="467578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pic>
        <p:nvPicPr>
          <p:cNvPr id="21" name="object 21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812160" y="2279908"/>
            <a:ext cx="85089" cy="120187"/>
          </a:xfrm>
          <a:prstGeom prst="rect">
            <a:avLst/>
          </a:prstGeom>
        </p:spPr>
      </p:pic>
      <p:grpSp>
        <p:nvGrpSpPr>
          <p:cNvPr id="22" name="object 22"/>
          <p:cNvGrpSpPr/>
          <p:nvPr/>
        </p:nvGrpSpPr>
        <p:grpSpPr>
          <a:xfrm>
            <a:off x="3480854" y="2279911"/>
            <a:ext cx="324485" cy="121285"/>
            <a:chOff x="3480854" y="2279911"/>
            <a:chExt cx="324485" cy="121285"/>
          </a:xfrm>
        </p:grpSpPr>
        <p:sp>
          <p:nvSpPr>
            <p:cNvPr id="23" name="object 23"/>
            <p:cNvSpPr/>
            <p:nvPr/>
          </p:nvSpPr>
          <p:spPr>
            <a:xfrm>
              <a:off x="3480854" y="2279911"/>
              <a:ext cx="324485" cy="121285"/>
            </a:xfrm>
            <a:custGeom>
              <a:avLst/>
              <a:gdLst/>
              <a:ahLst/>
              <a:cxnLst/>
              <a:rect l="l" t="t" r="r" b="b"/>
              <a:pathLst>
                <a:path w="324485" h="121285">
                  <a:moveTo>
                    <a:pt x="28822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288225" y="120757"/>
                  </a:lnTo>
                  <a:lnTo>
                    <a:pt x="302238" y="117928"/>
                  </a:lnTo>
                  <a:lnTo>
                    <a:pt x="313681" y="110213"/>
                  </a:lnTo>
                  <a:lnTo>
                    <a:pt x="321396" y="98770"/>
                  </a:lnTo>
                  <a:lnTo>
                    <a:pt x="324225" y="84757"/>
                  </a:lnTo>
                  <a:lnTo>
                    <a:pt x="324225" y="36000"/>
                  </a:lnTo>
                  <a:lnTo>
                    <a:pt x="321396" y="21987"/>
                  </a:lnTo>
                  <a:lnTo>
                    <a:pt x="313681" y="10544"/>
                  </a:lnTo>
                  <a:lnTo>
                    <a:pt x="302238" y="2829"/>
                  </a:lnTo>
                  <a:lnTo>
                    <a:pt x="288225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24" name="object 24"/>
            <p:cNvSpPr/>
            <p:nvPr/>
          </p:nvSpPr>
          <p:spPr>
            <a:xfrm>
              <a:off x="3480854" y="2279911"/>
              <a:ext cx="324485" cy="121285"/>
            </a:xfrm>
            <a:custGeom>
              <a:avLst/>
              <a:gdLst/>
              <a:ahLst/>
              <a:cxnLst/>
              <a:rect l="l" t="t" r="r" b="b"/>
              <a:pathLst>
                <a:path w="324485" h="121285">
                  <a:moveTo>
                    <a:pt x="28822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288225" y="120757"/>
                  </a:lnTo>
                  <a:lnTo>
                    <a:pt x="302238" y="117928"/>
                  </a:lnTo>
                  <a:lnTo>
                    <a:pt x="313681" y="110213"/>
                  </a:lnTo>
                  <a:lnTo>
                    <a:pt x="321396" y="98770"/>
                  </a:lnTo>
                  <a:lnTo>
                    <a:pt x="324225" y="84757"/>
                  </a:lnTo>
                  <a:lnTo>
                    <a:pt x="324225" y="36000"/>
                  </a:lnTo>
                  <a:lnTo>
                    <a:pt x="321396" y="21987"/>
                  </a:lnTo>
                  <a:lnTo>
                    <a:pt x="313681" y="10544"/>
                  </a:lnTo>
                  <a:lnTo>
                    <a:pt x="302238" y="2829"/>
                  </a:lnTo>
                  <a:lnTo>
                    <a:pt x="288225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25" name="object 25"/>
          <p:cNvSpPr txBox="1"/>
          <p:nvPr/>
        </p:nvSpPr>
        <p:spPr>
          <a:xfrm>
            <a:off x="343319" y="814280"/>
            <a:ext cx="5000625" cy="175577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6510">
              <a:lnSpc>
                <a:spcPct val="100000"/>
              </a:lnSpc>
              <a:spcBef>
                <a:spcPts val="95"/>
              </a:spcBef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machines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already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installed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won’t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worry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about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that.</a:t>
            </a:r>
            <a:endParaRPr lang="en-US" sz="900" noProof="1">
              <a:latin typeface="Arial"/>
              <a:cs typeface="Arial"/>
            </a:endParaRPr>
          </a:p>
          <a:p>
            <a:pPr marL="16510" marR="5080">
              <a:lnSpc>
                <a:spcPct val="116199"/>
              </a:lnSpc>
              <a:spcBef>
                <a:spcPts val="625"/>
              </a:spcBef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Remember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first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make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sure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.aws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folder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exists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home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directory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user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are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using.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doesn’t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exist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running</a:t>
            </a:r>
            <a:r>
              <a:rPr lang="en-US" sz="900" spc="1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mkdir </a:t>
            </a:r>
            <a:r>
              <a:rPr lang="en-US" sz="900" spc="-10" noProof="1">
                <a:latin typeface="Courier New"/>
                <a:cs typeface="Courier New"/>
              </a:rPr>
              <a:t>.aws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16510">
              <a:lnSpc>
                <a:spcPct val="100000"/>
              </a:lnSpc>
              <a:spcBef>
                <a:spcPts val="80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Next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credentials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inside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.aws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folder.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running</a:t>
            </a:r>
            <a:endParaRPr lang="en-US" sz="900" noProof="1">
              <a:latin typeface="Arial"/>
              <a:cs typeface="Arial"/>
            </a:endParaRPr>
          </a:p>
          <a:p>
            <a:pPr marL="29209">
              <a:lnSpc>
                <a:spcPct val="100000"/>
              </a:lnSpc>
              <a:spcBef>
                <a:spcPts val="175"/>
              </a:spcBef>
            </a:pPr>
            <a:r>
              <a:rPr lang="en-US" sz="900" spc="-75" noProof="1">
                <a:latin typeface="Courier New"/>
                <a:cs typeface="Courier New"/>
              </a:rPr>
              <a:t>nano</a:t>
            </a:r>
            <a:r>
              <a:rPr lang="en-US" sz="900" spc="-50" noProof="1">
                <a:latin typeface="Courier New"/>
                <a:cs typeface="Courier New"/>
              </a:rPr>
              <a:t> </a:t>
            </a:r>
            <a:r>
              <a:rPr lang="en-US" sz="900" spc="-10" noProof="1">
                <a:latin typeface="Courier New"/>
                <a:cs typeface="Courier New"/>
              </a:rPr>
              <a:t>.aws/credentials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12700" marR="113664">
              <a:lnSpc>
                <a:spcPct val="116199"/>
              </a:lnSpc>
              <a:spcBef>
                <a:spcPts val="62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nano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text editor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open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paste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credentials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copied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Academy website.</a:t>
            </a:r>
            <a:endParaRPr lang="en-US" sz="900" noProof="1">
              <a:latin typeface="Arial"/>
              <a:cs typeface="Arial"/>
            </a:endParaRPr>
          </a:p>
          <a:p>
            <a:pPr marL="16510" marR="20955" indent="-4445">
              <a:lnSpc>
                <a:spcPct val="116199"/>
              </a:lnSpc>
              <a:spcBef>
                <a:spcPts val="62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save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the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can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press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Ctrl </a:t>
            </a:r>
            <a:r>
              <a:rPr lang="en-US" sz="900" spc="-70" noProof="1">
                <a:latin typeface="Courier New"/>
                <a:cs typeface="Courier New"/>
              </a:rPr>
              <a:t>+ </a:t>
            </a:r>
            <a:r>
              <a:rPr lang="en-US" sz="900" spc="-75" noProof="1">
                <a:latin typeface="Courier New"/>
                <a:cs typeface="Courier New"/>
              </a:rPr>
              <a:t>X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then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Y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finally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latin typeface="Courier New"/>
                <a:cs typeface="Courier New"/>
              </a:rPr>
              <a:t>Enter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85" noProof="1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screenshots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process.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26" name="object 2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27" name="object 2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28" name="object 2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29" name="object 29"/>
            <p:cNvSpPr/>
            <p:nvPr/>
          </p:nvSpPr>
          <p:spPr>
            <a:xfrm>
              <a:off x="0" y="3234963"/>
              <a:ext cx="3341370" cy="5080"/>
            </a:xfrm>
            <a:custGeom>
              <a:avLst/>
              <a:gdLst/>
              <a:ahLst/>
              <a:cxnLst/>
              <a:rect l="l" t="t" r="r" b="b"/>
              <a:pathLst>
                <a:path w="3341370" h="5080">
                  <a:moveTo>
                    <a:pt x="0" y="5060"/>
                  </a:moveTo>
                  <a:lnTo>
                    <a:pt x="0" y="0"/>
                  </a:lnTo>
                  <a:lnTo>
                    <a:pt x="3340853" y="0"/>
                  </a:lnTo>
                  <a:lnTo>
                    <a:pt x="334085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286004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Configuring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AWS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credentials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on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an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EC2</a:t>
            </a:r>
            <a:r>
              <a:rPr lang="en-US" sz="1000" b="1" spc="1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noProof="1">
                <a:solidFill>
                  <a:srgbClr val="F9F9F9"/>
                </a:solidFill>
                <a:latin typeface="Arial"/>
                <a:cs typeface="Arial"/>
              </a:rPr>
              <a:t>instance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05891" y="475596"/>
            <a:ext cx="4548223" cy="2399187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3456304" cy="5080"/>
            </a:xfrm>
            <a:custGeom>
              <a:avLst/>
              <a:gdLst/>
              <a:ahLst/>
              <a:cxnLst/>
              <a:rect l="l" t="t" r="r" b="b"/>
              <a:pathLst>
                <a:path w="3456304" h="5080">
                  <a:moveTo>
                    <a:pt x="0" y="5060"/>
                  </a:moveTo>
                  <a:lnTo>
                    <a:pt x="0" y="0"/>
                  </a:lnTo>
                  <a:lnTo>
                    <a:pt x="3456079" y="0"/>
                  </a:lnTo>
                  <a:lnTo>
                    <a:pt x="345607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286004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Configuring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AWS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credentials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on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an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EC2</a:t>
            </a:r>
            <a:r>
              <a:rPr lang="en-US" sz="1000" b="1" spc="1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noProof="1">
                <a:solidFill>
                  <a:srgbClr val="F9F9F9"/>
                </a:solidFill>
                <a:latin typeface="Arial"/>
                <a:cs typeface="Arial"/>
              </a:rPr>
              <a:t>instance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27291" y="475612"/>
            <a:ext cx="4505440" cy="2399147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3571240" cy="5080"/>
            </a:xfrm>
            <a:custGeom>
              <a:avLst/>
              <a:gdLst/>
              <a:ahLst/>
              <a:cxnLst/>
              <a:rect l="l" t="t" r="r" b="b"/>
              <a:pathLst>
                <a:path w="3571240" h="5080">
                  <a:moveTo>
                    <a:pt x="0" y="5060"/>
                  </a:moveTo>
                  <a:lnTo>
                    <a:pt x="0" y="0"/>
                  </a:lnTo>
                  <a:lnTo>
                    <a:pt x="3571217" y="0"/>
                  </a:lnTo>
                  <a:lnTo>
                    <a:pt x="357121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286004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Configuring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AWS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credentials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on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an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EC2</a:t>
            </a:r>
            <a:r>
              <a:rPr lang="en-US" sz="1000" b="1" spc="1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noProof="1">
                <a:solidFill>
                  <a:srgbClr val="F9F9F9"/>
                </a:solidFill>
                <a:latin typeface="Arial"/>
                <a:cs typeface="Arial"/>
              </a:rPr>
              <a:t>instance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03224" y="475609"/>
            <a:ext cx="4553571" cy="2399162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3686810" cy="5080"/>
            </a:xfrm>
            <a:custGeom>
              <a:avLst/>
              <a:gdLst/>
              <a:ahLst/>
              <a:cxnLst/>
              <a:rect l="l" t="t" r="r" b="b"/>
              <a:pathLst>
                <a:path w="3686810" h="5080">
                  <a:moveTo>
                    <a:pt x="0" y="5060"/>
                  </a:moveTo>
                  <a:lnTo>
                    <a:pt x="0" y="0"/>
                  </a:lnTo>
                  <a:lnTo>
                    <a:pt x="3686443" y="0"/>
                  </a:lnTo>
                  <a:lnTo>
                    <a:pt x="368644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286004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Configuring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AWS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credentials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on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an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EC2</a:t>
            </a:r>
            <a:r>
              <a:rPr lang="en-US" sz="1000" b="1" spc="1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noProof="1">
                <a:solidFill>
                  <a:srgbClr val="F9F9F9"/>
                </a:solidFill>
                <a:latin typeface="Arial"/>
                <a:cs typeface="Arial"/>
              </a:rPr>
              <a:t>instance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37743" y="475582"/>
            <a:ext cx="4484514" cy="2399215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3801745" cy="5080"/>
            </a:xfrm>
            <a:custGeom>
              <a:avLst/>
              <a:gdLst/>
              <a:ahLst/>
              <a:cxnLst/>
              <a:rect l="l" t="t" r="r" b="b"/>
              <a:pathLst>
                <a:path w="3801745" h="5080">
                  <a:moveTo>
                    <a:pt x="0" y="5060"/>
                  </a:moveTo>
                  <a:lnTo>
                    <a:pt x="0" y="0"/>
                  </a:lnTo>
                  <a:lnTo>
                    <a:pt x="3801669" y="0"/>
                  </a:lnTo>
                  <a:lnTo>
                    <a:pt x="380166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Configuring</a:t>
            </a:r>
            <a:r>
              <a:rPr lang="en-US" spc="5" noProof="1"/>
              <a:t> </a:t>
            </a:r>
            <a:r>
              <a:rPr lang="en-US" noProof="1"/>
              <a:t>AWS</a:t>
            </a:r>
            <a:r>
              <a:rPr lang="en-US" spc="5" noProof="1"/>
              <a:t> </a:t>
            </a:r>
            <a:r>
              <a:rPr lang="en-US" spc="-35" noProof="1"/>
              <a:t>credentials</a:t>
            </a:r>
            <a:r>
              <a:rPr lang="en-US" spc="5" noProof="1"/>
              <a:t> </a:t>
            </a:r>
            <a:r>
              <a:rPr lang="en-US" noProof="1"/>
              <a:t>on</a:t>
            </a:r>
            <a:r>
              <a:rPr lang="en-US" spc="5" noProof="1"/>
              <a:t> </a:t>
            </a:r>
            <a:r>
              <a:rPr lang="en-US" noProof="1"/>
              <a:t>an</a:t>
            </a:r>
            <a:r>
              <a:rPr lang="en-US" spc="5" noProof="1"/>
              <a:t> </a:t>
            </a:r>
            <a:r>
              <a:rPr lang="en-US" noProof="1"/>
              <a:t>EC2</a:t>
            </a:r>
            <a:r>
              <a:rPr lang="en-US" spc="10" noProof="1"/>
              <a:t> </a:t>
            </a:r>
            <a:r>
              <a:rPr lang="en-US" spc="-30" noProof="1"/>
              <a:t>instance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478301" y="1061834"/>
            <a:ext cx="1639570" cy="146685"/>
            <a:chOff x="3478301" y="1061834"/>
            <a:chExt cx="1639570" cy="146685"/>
          </a:xfrm>
        </p:grpSpPr>
        <p:sp>
          <p:nvSpPr>
            <p:cNvPr id="4" name="object 4"/>
            <p:cNvSpPr/>
            <p:nvPr/>
          </p:nvSpPr>
          <p:spPr>
            <a:xfrm>
              <a:off x="3478301" y="1061834"/>
              <a:ext cx="1639570" cy="146685"/>
            </a:xfrm>
            <a:custGeom>
              <a:avLst/>
              <a:gdLst/>
              <a:ahLst/>
              <a:cxnLst/>
              <a:rect l="l" t="t" r="r" b="b"/>
              <a:pathLst>
                <a:path w="1639570" h="146684">
                  <a:moveTo>
                    <a:pt x="160347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151"/>
                  </a:lnTo>
                  <a:lnTo>
                    <a:pt x="2829" y="124164"/>
                  </a:lnTo>
                  <a:lnTo>
                    <a:pt x="10544" y="135607"/>
                  </a:lnTo>
                  <a:lnTo>
                    <a:pt x="21987" y="143322"/>
                  </a:lnTo>
                  <a:lnTo>
                    <a:pt x="36000" y="146151"/>
                  </a:lnTo>
                  <a:lnTo>
                    <a:pt x="1603475" y="146151"/>
                  </a:lnTo>
                  <a:lnTo>
                    <a:pt x="1617488" y="143322"/>
                  </a:lnTo>
                  <a:lnTo>
                    <a:pt x="1628931" y="135607"/>
                  </a:lnTo>
                  <a:lnTo>
                    <a:pt x="1636646" y="124164"/>
                  </a:lnTo>
                  <a:lnTo>
                    <a:pt x="1639475" y="110151"/>
                  </a:lnTo>
                  <a:lnTo>
                    <a:pt x="1639475" y="36000"/>
                  </a:lnTo>
                  <a:lnTo>
                    <a:pt x="1636646" y="21987"/>
                  </a:lnTo>
                  <a:lnTo>
                    <a:pt x="1628931" y="10544"/>
                  </a:lnTo>
                  <a:lnTo>
                    <a:pt x="1617488" y="2829"/>
                  </a:lnTo>
                  <a:lnTo>
                    <a:pt x="1603475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478301" y="1061834"/>
              <a:ext cx="1639570" cy="146685"/>
            </a:xfrm>
            <a:custGeom>
              <a:avLst/>
              <a:gdLst/>
              <a:ahLst/>
              <a:cxnLst/>
              <a:rect l="l" t="t" r="r" b="b"/>
              <a:pathLst>
                <a:path w="1639570" h="146684">
                  <a:moveTo>
                    <a:pt x="160347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151"/>
                  </a:lnTo>
                  <a:lnTo>
                    <a:pt x="2829" y="124164"/>
                  </a:lnTo>
                  <a:lnTo>
                    <a:pt x="10544" y="135607"/>
                  </a:lnTo>
                  <a:lnTo>
                    <a:pt x="21987" y="143322"/>
                  </a:lnTo>
                  <a:lnTo>
                    <a:pt x="36000" y="146151"/>
                  </a:lnTo>
                  <a:lnTo>
                    <a:pt x="1603475" y="146151"/>
                  </a:lnTo>
                  <a:lnTo>
                    <a:pt x="1617488" y="143322"/>
                  </a:lnTo>
                  <a:lnTo>
                    <a:pt x="1628931" y="135607"/>
                  </a:lnTo>
                  <a:lnTo>
                    <a:pt x="1636646" y="124164"/>
                  </a:lnTo>
                  <a:lnTo>
                    <a:pt x="1639475" y="110151"/>
                  </a:lnTo>
                  <a:lnTo>
                    <a:pt x="1639475" y="36000"/>
                  </a:lnTo>
                  <a:lnTo>
                    <a:pt x="1636646" y="21987"/>
                  </a:lnTo>
                  <a:lnTo>
                    <a:pt x="1628931" y="10544"/>
                  </a:lnTo>
                  <a:lnTo>
                    <a:pt x="1617488" y="2829"/>
                  </a:lnTo>
                  <a:lnTo>
                    <a:pt x="1603475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372646" y="1513116"/>
            <a:ext cx="5015230" cy="829310"/>
            <a:chOff x="372646" y="1513116"/>
            <a:chExt cx="5015230" cy="829310"/>
          </a:xfrm>
        </p:grpSpPr>
        <p:sp>
          <p:nvSpPr>
            <p:cNvPr id="7" name="object 7"/>
            <p:cNvSpPr/>
            <p:nvPr/>
          </p:nvSpPr>
          <p:spPr>
            <a:xfrm>
              <a:off x="377994" y="1518463"/>
              <a:ext cx="5004435" cy="818515"/>
            </a:xfrm>
            <a:custGeom>
              <a:avLst/>
              <a:gdLst/>
              <a:ahLst/>
              <a:cxnLst/>
              <a:rect l="l" t="t" r="r" b="b"/>
              <a:pathLst>
                <a:path w="5004435" h="818514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782065"/>
                  </a:lnTo>
                  <a:lnTo>
                    <a:pt x="2829" y="796078"/>
                  </a:lnTo>
                  <a:lnTo>
                    <a:pt x="10544" y="807521"/>
                  </a:lnTo>
                  <a:lnTo>
                    <a:pt x="21987" y="815236"/>
                  </a:lnTo>
                  <a:lnTo>
                    <a:pt x="36000" y="818065"/>
                  </a:lnTo>
                  <a:lnTo>
                    <a:pt x="4968064" y="818065"/>
                  </a:lnTo>
                  <a:lnTo>
                    <a:pt x="4982077" y="815236"/>
                  </a:lnTo>
                  <a:lnTo>
                    <a:pt x="4993521" y="807521"/>
                  </a:lnTo>
                  <a:lnTo>
                    <a:pt x="5001236" y="796078"/>
                  </a:lnTo>
                  <a:lnTo>
                    <a:pt x="5004065" y="782065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378973" y="1519442"/>
              <a:ext cx="5002530" cy="816610"/>
            </a:xfrm>
            <a:custGeom>
              <a:avLst/>
              <a:gdLst/>
              <a:ahLst/>
              <a:cxnLst/>
              <a:rect l="l" t="t" r="r" b="b"/>
              <a:pathLst>
                <a:path w="5002530" h="816610">
                  <a:moveTo>
                    <a:pt x="0" y="781086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781086"/>
                  </a:lnTo>
                  <a:lnTo>
                    <a:pt x="4999354" y="794718"/>
                  </a:lnTo>
                  <a:lnTo>
                    <a:pt x="4991849" y="805850"/>
                  </a:lnTo>
                  <a:lnTo>
                    <a:pt x="4980717" y="813355"/>
                  </a:lnTo>
                  <a:lnTo>
                    <a:pt x="4967085" y="816107"/>
                  </a:lnTo>
                  <a:lnTo>
                    <a:pt x="35021" y="816107"/>
                  </a:lnTo>
                  <a:lnTo>
                    <a:pt x="21389" y="813355"/>
                  </a:lnTo>
                  <a:lnTo>
                    <a:pt x="10257" y="805850"/>
                  </a:lnTo>
                  <a:lnTo>
                    <a:pt x="2752" y="794718"/>
                  </a:lnTo>
                  <a:lnTo>
                    <a:pt x="0" y="781086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341718" y="1030142"/>
            <a:ext cx="4959350" cy="1223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test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configuration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was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successful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running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aws </a:t>
            </a:r>
            <a:r>
              <a:rPr lang="en-US" sz="900" spc="-70" noProof="1">
                <a:latin typeface="Courier New"/>
                <a:cs typeface="Courier New"/>
              </a:rPr>
              <a:t>sts </a:t>
            </a:r>
            <a:r>
              <a:rPr lang="en-US" sz="900" spc="-75" noProof="1">
                <a:latin typeface="Courier New"/>
                <a:cs typeface="Courier New"/>
              </a:rPr>
              <a:t>get-caller-</a:t>
            </a:r>
            <a:r>
              <a:rPr lang="en-US" sz="900" spc="-10" noProof="1">
                <a:latin typeface="Courier New"/>
                <a:cs typeface="Courier New"/>
              </a:rPr>
              <a:t>identity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17780">
              <a:lnSpc>
                <a:spcPct val="100000"/>
              </a:lnSpc>
              <a:spcBef>
                <a:spcPts val="8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configuration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was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successful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should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95" noProof="1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something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this: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5900">
              <a:lnSpc>
                <a:spcPct val="100000"/>
              </a:lnSpc>
            </a:pPr>
            <a:r>
              <a:rPr lang="en-US" sz="800" b="1" spc="-50" noProof="1">
                <a:solidFill>
                  <a:srgbClr val="007021"/>
                </a:solidFill>
                <a:latin typeface="Courier New"/>
                <a:cs typeface="Courier New"/>
              </a:rPr>
              <a:t>{</a:t>
            </a:r>
            <a:endParaRPr lang="en-US" sz="800" noProof="1">
              <a:latin typeface="Courier New"/>
              <a:cs typeface="Courier New"/>
            </a:endParaRPr>
          </a:p>
          <a:p>
            <a:pPr marL="431165" marR="1133475">
              <a:lnSpc>
                <a:spcPct val="107400"/>
              </a:lnSpc>
            </a:pPr>
            <a:r>
              <a:rPr lang="en-US" sz="800" spc="-55" noProof="1">
                <a:solidFill>
                  <a:srgbClr val="3F70A0"/>
                </a:solidFill>
                <a:latin typeface="Courier New"/>
                <a:cs typeface="Courier New"/>
              </a:rPr>
              <a:t>"UserId"</a:t>
            </a:r>
            <a:r>
              <a:rPr lang="en-US" sz="800" spc="-55" noProof="1">
                <a:latin typeface="Courier New"/>
                <a:cs typeface="Courier New"/>
              </a:rPr>
              <a:t>:</a:t>
            </a:r>
            <a:r>
              <a:rPr lang="en-US" sz="800" spc="-4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"AROA2CKYVHJALK46ZMHVM:user3869188=Ferran_Aran_Test"</a:t>
            </a:r>
            <a:r>
              <a:rPr lang="en-US" sz="800" spc="-60" noProof="1">
                <a:latin typeface="Courier New"/>
                <a:cs typeface="Courier New"/>
              </a:rPr>
              <a:t>, </a:t>
            </a:r>
            <a:r>
              <a:rPr lang="en-US" sz="800" spc="-55" noProof="1">
                <a:solidFill>
                  <a:srgbClr val="3F70A0"/>
                </a:solidFill>
                <a:latin typeface="Courier New"/>
                <a:cs typeface="Courier New"/>
              </a:rPr>
              <a:t>"Account"</a:t>
            </a:r>
            <a:r>
              <a:rPr lang="en-US" sz="800" spc="-55" noProof="1">
                <a:latin typeface="Courier New"/>
                <a:cs typeface="Courier New"/>
              </a:rPr>
              <a:t>:</a:t>
            </a:r>
            <a:r>
              <a:rPr lang="en-US" sz="800" spc="-35" noProof="1">
                <a:latin typeface="Courier New"/>
                <a:cs typeface="Courier New"/>
              </a:rPr>
              <a:t> </a:t>
            </a:r>
            <a:r>
              <a:rPr lang="en-US" sz="800" spc="-10" noProof="1">
                <a:solidFill>
                  <a:srgbClr val="3F70A0"/>
                </a:solidFill>
                <a:latin typeface="Courier New"/>
                <a:cs typeface="Courier New"/>
              </a:rPr>
              <a:t>"692212546112"</a:t>
            </a:r>
            <a:r>
              <a:rPr lang="en-US" sz="800" spc="-10" noProof="1">
                <a:latin typeface="Courier New"/>
                <a:cs typeface="Courier New"/>
              </a:rPr>
              <a:t>,</a:t>
            </a:r>
            <a:endParaRPr lang="en-US" sz="800" noProof="1">
              <a:latin typeface="Courier New"/>
              <a:cs typeface="Courier New"/>
            </a:endParaRPr>
          </a:p>
          <a:p>
            <a:pPr marL="431165">
              <a:lnSpc>
                <a:spcPct val="100000"/>
              </a:lnSpc>
              <a:spcBef>
                <a:spcPts val="70"/>
              </a:spcBef>
            </a:pP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"Arn"</a:t>
            </a:r>
            <a:r>
              <a:rPr lang="en-US" sz="800" spc="-60" noProof="1">
                <a:latin typeface="Courier New"/>
                <a:cs typeface="Courier New"/>
              </a:rPr>
              <a:t>:</a:t>
            </a:r>
            <a:r>
              <a:rPr lang="en-US" sz="800" spc="254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"arn:aws:sts::692212546112:assumed-</a:t>
            </a:r>
            <a:r>
              <a:rPr lang="en-US" sz="800" spc="-55" noProof="1">
                <a:solidFill>
                  <a:srgbClr val="3F70A0"/>
                </a:solidFill>
                <a:latin typeface="Courier New"/>
                <a:cs typeface="Courier New"/>
              </a:rPr>
              <a:t>role/voclabs/user3869188=Ferran_Aran_Test"</a:t>
            </a:r>
            <a:endParaRPr lang="en-US" sz="800" noProof="1">
              <a:latin typeface="Courier New"/>
              <a:cs typeface="Courier New"/>
            </a:endParaRPr>
          </a:p>
          <a:p>
            <a:pPr marL="215900">
              <a:lnSpc>
                <a:spcPct val="100000"/>
              </a:lnSpc>
              <a:spcBef>
                <a:spcPts val="75"/>
              </a:spcBef>
            </a:pPr>
            <a:r>
              <a:rPr lang="en-US" sz="800" b="1" spc="-50" noProof="1">
                <a:solidFill>
                  <a:srgbClr val="007021"/>
                </a:solidFill>
                <a:latin typeface="Courier New"/>
                <a:cs typeface="Courier New"/>
              </a:rPr>
              <a:t>}</a:t>
            </a:r>
            <a:endParaRPr lang="en-US" sz="800" noProof="1">
              <a:latin typeface="Courier New"/>
              <a:cs typeface="Courier New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3917315" cy="5080"/>
            </a:xfrm>
            <a:custGeom>
              <a:avLst/>
              <a:gdLst/>
              <a:ahLst/>
              <a:cxnLst/>
              <a:rect l="l" t="t" r="r" b="b"/>
              <a:pathLst>
                <a:path w="3917315" h="5080">
                  <a:moveTo>
                    <a:pt x="0" y="5060"/>
                  </a:moveTo>
                  <a:lnTo>
                    <a:pt x="0" y="0"/>
                  </a:lnTo>
                  <a:lnTo>
                    <a:pt x="3916808" y="0"/>
                  </a:lnTo>
                  <a:lnTo>
                    <a:pt x="391680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00406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Reading</a:t>
            </a:r>
            <a:r>
              <a:rPr lang="en-US" spc="5" noProof="1"/>
              <a:t> </a:t>
            </a:r>
            <a:r>
              <a:rPr lang="en-US" spc="-30" noProof="1"/>
              <a:t>files</a:t>
            </a:r>
            <a:r>
              <a:rPr lang="en-US" spc="5" noProof="1"/>
              <a:t> </a:t>
            </a:r>
            <a:r>
              <a:rPr lang="en-US" noProof="1"/>
              <a:t>from</a:t>
            </a:r>
            <a:r>
              <a:rPr lang="en-US" spc="10" noProof="1"/>
              <a:t> </a:t>
            </a:r>
            <a:r>
              <a:rPr lang="en-US" noProof="1"/>
              <a:t>S3</a:t>
            </a:r>
            <a:r>
              <a:rPr lang="en-US" spc="5" noProof="1"/>
              <a:t> </a:t>
            </a:r>
            <a:r>
              <a:rPr lang="en-US" noProof="1"/>
              <a:t>with</a:t>
            </a:r>
            <a:r>
              <a:rPr lang="en-US" spc="5" noProof="1"/>
              <a:t> </a:t>
            </a:r>
            <a:r>
              <a:rPr lang="en-US" spc="-20" noProof="1"/>
              <a:t>python</a:t>
            </a:r>
          </a:p>
        </p:txBody>
      </p:sp>
      <p:grpSp>
        <p:nvGrpSpPr>
          <p:cNvPr id="9" name="object 9"/>
          <p:cNvGrpSpPr/>
          <p:nvPr/>
        </p:nvGrpSpPr>
        <p:grpSpPr>
          <a:xfrm>
            <a:off x="393651" y="2194918"/>
            <a:ext cx="5015230" cy="574040"/>
            <a:chOff x="372646" y="1959176"/>
            <a:chExt cx="5015230" cy="574040"/>
          </a:xfrm>
        </p:grpSpPr>
        <p:sp>
          <p:nvSpPr>
            <p:cNvPr id="10" name="object 10"/>
            <p:cNvSpPr/>
            <p:nvPr/>
          </p:nvSpPr>
          <p:spPr>
            <a:xfrm>
              <a:off x="377994" y="1964524"/>
              <a:ext cx="5004435" cy="563245"/>
            </a:xfrm>
            <a:custGeom>
              <a:avLst/>
              <a:gdLst/>
              <a:ahLst/>
              <a:cxnLst/>
              <a:rect l="l" t="t" r="r" b="b"/>
              <a:pathLst>
                <a:path w="5004435" h="563244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527241"/>
                  </a:lnTo>
                  <a:lnTo>
                    <a:pt x="2829" y="541254"/>
                  </a:lnTo>
                  <a:lnTo>
                    <a:pt x="10544" y="552697"/>
                  </a:lnTo>
                  <a:lnTo>
                    <a:pt x="21987" y="560412"/>
                  </a:lnTo>
                  <a:lnTo>
                    <a:pt x="36000" y="563241"/>
                  </a:lnTo>
                  <a:lnTo>
                    <a:pt x="4968064" y="563241"/>
                  </a:lnTo>
                  <a:lnTo>
                    <a:pt x="4982077" y="560412"/>
                  </a:lnTo>
                  <a:lnTo>
                    <a:pt x="4993521" y="552697"/>
                  </a:lnTo>
                  <a:lnTo>
                    <a:pt x="5001236" y="541254"/>
                  </a:lnTo>
                  <a:lnTo>
                    <a:pt x="5004065" y="527241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378973" y="1965503"/>
              <a:ext cx="5002530" cy="561340"/>
            </a:xfrm>
            <a:custGeom>
              <a:avLst/>
              <a:gdLst/>
              <a:ahLst/>
              <a:cxnLst/>
              <a:rect l="l" t="t" r="r" b="b"/>
              <a:pathLst>
                <a:path w="5002530" h="561339">
                  <a:moveTo>
                    <a:pt x="0" y="526262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526262"/>
                  </a:lnTo>
                  <a:lnTo>
                    <a:pt x="4999354" y="539894"/>
                  </a:lnTo>
                  <a:lnTo>
                    <a:pt x="4991849" y="551026"/>
                  </a:lnTo>
                  <a:lnTo>
                    <a:pt x="4980717" y="558531"/>
                  </a:lnTo>
                  <a:lnTo>
                    <a:pt x="4967085" y="561283"/>
                  </a:lnTo>
                  <a:lnTo>
                    <a:pt x="35021" y="561283"/>
                  </a:lnTo>
                  <a:lnTo>
                    <a:pt x="21389" y="558531"/>
                  </a:lnTo>
                  <a:lnTo>
                    <a:pt x="10257" y="551026"/>
                  </a:lnTo>
                  <a:lnTo>
                    <a:pt x="2752" y="539894"/>
                  </a:lnTo>
                  <a:lnTo>
                    <a:pt x="0" y="526262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2" name="object 12"/>
          <p:cNvSpPr txBox="1"/>
          <p:nvPr/>
        </p:nvSpPr>
        <p:spPr>
          <a:xfrm>
            <a:off x="260827" y="1228038"/>
            <a:ext cx="5093970" cy="146315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3970" marR="5080" indent="-1905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going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 use 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boto3 python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library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write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from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 jupyter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notebook.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library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allows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Python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developers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write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makes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Amazon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on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AWS.</a:t>
            </a:r>
            <a:endParaRPr lang="en-US" sz="900" noProof="1">
              <a:latin typeface="Arial"/>
              <a:cs typeface="Arial"/>
            </a:endParaRPr>
          </a:p>
          <a:p>
            <a:pPr marL="13970" marR="125095" indent="-1905" algn="just">
              <a:lnSpc>
                <a:spcPct val="116199"/>
              </a:lnSpc>
              <a:spcBef>
                <a:spcPts val="62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We’ll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first activate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environment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created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during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last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session.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example,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will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80" noProof="1">
                <a:latin typeface="Courier New"/>
                <a:cs typeface="Courier New"/>
              </a:rPr>
              <a:t>project1</a:t>
            </a:r>
            <a:r>
              <a:rPr lang="en-US" sz="900" spc="-50" noProof="1">
                <a:latin typeface="Courier New"/>
                <a:cs typeface="Courier New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environment.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steps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below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activate 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environment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install </a:t>
            </a:r>
            <a:r>
              <a:rPr lang="en-US" sz="900" spc="-75" noProof="1">
                <a:latin typeface="Courier New"/>
                <a:cs typeface="Courier New"/>
              </a:rPr>
              <a:t>boto3</a:t>
            </a:r>
            <a:r>
              <a:rPr lang="en-US" sz="900" spc="-420" noProof="1">
                <a:latin typeface="Courier New"/>
                <a:cs typeface="Courier New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9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0185" marR="3192145">
              <a:lnSpc>
                <a:spcPct val="107400"/>
              </a:lnSpc>
              <a:spcBef>
                <a:spcPts val="5"/>
              </a:spcBef>
            </a:pPr>
            <a:r>
              <a:rPr lang="en-US" sz="800" noProof="1"/>
              <a:t>[ec2]$ </a:t>
            </a:r>
            <a:r>
              <a:rPr lang="en-US" sz="800" spc="-50" noProof="1">
                <a:solidFill>
                  <a:srgbClr val="007F00"/>
                </a:solidFill>
                <a:latin typeface="Courier New"/>
                <a:cs typeface="Courier New"/>
              </a:rPr>
              <a:t>cd</a:t>
            </a:r>
            <a:r>
              <a:rPr lang="en-US" sz="800" spc="-65" noProof="1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project1</a:t>
            </a:r>
            <a:endParaRPr lang="en-US" sz="800" noProof="1">
              <a:latin typeface="Courier New"/>
              <a:cs typeface="Courier New"/>
            </a:endParaRPr>
          </a:p>
          <a:p>
            <a:pPr marL="210185" marR="1687195">
              <a:lnSpc>
                <a:spcPct val="107400"/>
              </a:lnSpc>
            </a:pPr>
            <a:r>
              <a:rPr lang="en-US" sz="800" noProof="1"/>
              <a:t>[ec2]$ </a:t>
            </a:r>
            <a:r>
              <a:rPr lang="en-US" sz="800" spc="-60" noProof="1">
                <a:solidFill>
                  <a:srgbClr val="007F00"/>
                </a:solidFill>
                <a:latin typeface="Courier New"/>
                <a:cs typeface="Courier New"/>
              </a:rPr>
              <a:t>source</a:t>
            </a:r>
            <a:r>
              <a:rPr lang="en-US" sz="800" spc="60" noProof="1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.project1-</a:t>
            </a:r>
            <a:r>
              <a:rPr lang="en-US" sz="800" spc="-10" noProof="1">
                <a:latin typeface="Courier New"/>
                <a:cs typeface="Courier New"/>
              </a:rPr>
              <a:t>venv/bin/activate</a:t>
            </a:r>
            <a:endParaRPr lang="en-US" sz="800" noProof="1">
              <a:latin typeface="Courier New"/>
              <a:cs typeface="Courier New"/>
            </a:endParaRPr>
          </a:p>
          <a:p>
            <a:pPr marL="215900" marR="3310890">
              <a:lnSpc>
                <a:spcPct val="107400"/>
              </a:lnSpc>
            </a:pPr>
            <a:r>
              <a:rPr lang="en-US" sz="800" noProof="1"/>
              <a:t>[ec2]$ </a:t>
            </a:r>
            <a:r>
              <a:rPr lang="en-US" sz="800" spc="-50" noProof="1">
                <a:latin typeface="Courier New"/>
                <a:cs typeface="Courier New"/>
              </a:rPr>
              <a:t>pip</a:t>
            </a:r>
            <a:r>
              <a:rPr lang="en-US" sz="800" spc="-4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install</a:t>
            </a:r>
            <a:r>
              <a:rPr lang="en-US" sz="800" spc="-35" noProof="1"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boto3  </a:t>
            </a:r>
            <a:endParaRPr lang="en-US" sz="800" noProof="1">
              <a:latin typeface="Courier New"/>
              <a:cs typeface="Courier New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4" name="object 14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5" name="object 15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6" name="object 16"/>
            <p:cNvSpPr/>
            <p:nvPr/>
          </p:nvSpPr>
          <p:spPr>
            <a:xfrm>
              <a:off x="0" y="3234963"/>
              <a:ext cx="4032250" cy="5080"/>
            </a:xfrm>
            <a:custGeom>
              <a:avLst/>
              <a:gdLst/>
              <a:ahLst/>
              <a:cxnLst/>
              <a:rect l="l" t="t" r="r" b="b"/>
              <a:pathLst>
                <a:path w="4032250" h="5080">
                  <a:moveTo>
                    <a:pt x="0" y="5060"/>
                  </a:moveTo>
                  <a:lnTo>
                    <a:pt x="0" y="0"/>
                  </a:lnTo>
                  <a:lnTo>
                    <a:pt x="4032034" y="0"/>
                  </a:lnTo>
                  <a:lnTo>
                    <a:pt x="403203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00406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Reading</a:t>
            </a:r>
            <a:r>
              <a:rPr lang="en-US" spc="5" noProof="1"/>
              <a:t> </a:t>
            </a:r>
            <a:r>
              <a:rPr lang="en-US" spc="-30" noProof="1"/>
              <a:t>files</a:t>
            </a:r>
            <a:r>
              <a:rPr lang="en-US" spc="5" noProof="1"/>
              <a:t> </a:t>
            </a:r>
            <a:r>
              <a:rPr lang="en-US" noProof="1"/>
              <a:t>from</a:t>
            </a:r>
            <a:r>
              <a:rPr lang="en-US" spc="10" noProof="1"/>
              <a:t> </a:t>
            </a:r>
            <a:r>
              <a:rPr lang="en-US" noProof="1"/>
              <a:t>S3</a:t>
            </a:r>
            <a:r>
              <a:rPr lang="en-US" spc="5" noProof="1"/>
              <a:t> </a:t>
            </a:r>
            <a:r>
              <a:rPr lang="en-US" noProof="1"/>
              <a:t>with</a:t>
            </a:r>
            <a:r>
              <a:rPr lang="en-US" spc="5" noProof="1"/>
              <a:t> </a:t>
            </a:r>
            <a:r>
              <a:rPr lang="en-US" spc="-20" noProof="1"/>
              <a:t>python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72646" y="1460549"/>
            <a:ext cx="5015230" cy="313055"/>
            <a:chOff x="372646" y="1460549"/>
            <a:chExt cx="5015230" cy="313055"/>
          </a:xfrm>
        </p:grpSpPr>
        <p:sp>
          <p:nvSpPr>
            <p:cNvPr id="4" name="object 4"/>
            <p:cNvSpPr/>
            <p:nvPr/>
          </p:nvSpPr>
          <p:spPr>
            <a:xfrm>
              <a:off x="377994" y="1465896"/>
              <a:ext cx="5004435" cy="302260"/>
            </a:xfrm>
            <a:custGeom>
              <a:avLst/>
              <a:gdLst/>
              <a:ahLst/>
              <a:cxnLst/>
              <a:rect l="l" t="t" r="r" b="b"/>
              <a:pathLst>
                <a:path w="5004435" h="302260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265837"/>
                  </a:lnTo>
                  <a:lnTo>
                    <a:pt x="2829" y="279850"/>
                  </a:lnTo>
                  <a:lnTo>
                    <a:pt x="10544" y="291293"/>
                  </a:lnTo>
                  <a:lnTo>
                    <a:pt x="21987" y="299008"/>
                  </a:lnTo>
                  <a:lnTo>
                    <a:pt x="36000" y="301837"/>
                  </a:lnTo>
                  <a:lnTo>
                    <a:pt x="4968064" y="301837"/>
                  </a:lnTo>
                  <a:lnTo>
                    <a:pt x="4982077" y="299008"/>
                  </a:lnTo>
                  <a:lnTo>
                    <a:pt x="4993521" y="291293"/>
                  </a:lnTo>
                  <a:lnTo>
                    <a:pt x="5001236" y="279850"/>
                  </a:lnTo>
                  <a:lnTo>
                    <a:pt x="5004065" y="265837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78973" y="1466875"/>
              <a:ext cx="5002530" cy="300355"/>
            </a:xfrm>
            <a:custGeom>
              <a:avLst/>
              <a:gdLst/>
              <a:ahLst/>
              <a:cxnLst/>
              <a:rect l="l" t="t" r="r" b="b"/>
              <a:pathLst>
                <a:path w="5002530" h="300355">
                  <a:moveTo>
                    <a:pt x="0" y="264858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264858"/>
                  </a:lnTo>
                  <a:lnTo>
                    <a:pt x="4999354" y="278490"/>
                  </a:lnTo>
                  <a:lnTo>
                    <a:pt x="4991849" y="289622"/>
                  </a:lnTo>
                  <a:lnTo>
                    <a:pt x="4980717" y="297127"/>
                  </a:lnTo>
                  <a:lnTo>
                    <a:pt x="4967085" y="299879"/>
                  </a:lnTo>
                  <a:lnTo>
                    <a:pt x="35021" y="299879"/>
                  </a:lnTo>
                  <a:lnTo>
                    <a:pt x="21389" y="297127"/>
                  </a:lnTo>
                  <a:lnTo>
                    <a:pt x="10257" y="289622"/>
                  </a:lnTo>
                  <a:lnTo>
                    <a:pt x="2752" y="278490"/>
                  </a:lnTo>
                  <a:lnTo>
                    <a:pt x="0" y="264858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7294" y="1216566"/>
            <a:ext cx="5018405" cy="9499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Once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done,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launch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jupyter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server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command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below: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9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0185">
              <a:lnSpc>
                <a:spcPct val="100000"/>
              </a:lnSpc>
            </a:pPr>
            <a:r>
              <a:rPr lang="en-US" sz="800" noProof="1"/>
              <a:t>[ec2]$ </a:t>
            </a:r>
            <a:r>
              <a:rPr lang="en-US" sz="800" spc="-60" noProof="1">
                <a:latin typeface="Courier New"/>
                <a:cs typeface="Courier New"/>
              </a:rPr>
              <a:t>jupyter</a:t>
            </a:r>
            <a:r>
              <a:rPr lang="en-US" sz="800" spc="-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notebook</a:t>
            </a:r>
            <a:r>
              <a:rPr lang="en-US" sz="800" spc="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7C8E28"/>
                </a:solidFill>
                <a:latin typeface="Courier New"/>
                <a:cs typeface="Courier New"/>
              </a:rPr>
              <a:t>--no-browser</a:t>
            </a:r>
            <a:r>
              <a:rPr lang="en-US" sz="800" spc="5" noProof="1">
                <a:solidFill>
                  <a:srgbClr val="7C8E28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7C8E28"/>
                </a:solidFill>
                <a:latin typeface="Courier New"/>
                <a:cs typeface="Courier New"/>
              </a:rPr>
              <a:t>--</a:t>
            </a:r>
            <a:r>
              <a:rPr lang="en-US" sz="800" spc="-55" noProof="1">
                <a:solidFill>
                  <a:srgbClr val="7C8E28"/>
                </a:solidFill>
                <a:latin typeface="Courier New"/>
                <a:cs typeface="Courier New"/>
              </a:rPr>
              <a:t>port</a:t>
            </a:r>
            <a:r>
              <a:rPr lang="en-US" sz="800" spc="-55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55" noProof="1">
                <a:latin typeface="Courier New"/>
                <a:cs typeface="Courier New"/>
              </a:rPr>
              <a:t>8888</a:t>
            </a:r>
            <a:r>
              <a:rPr lang="en-US" sz="800" spc="1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7C8E28"/>
                </a:solidFill>
                <a:latin typeface="Courier New"/>
                <a:cs typeface="Courier New"/>
              </a:rPr>
              <a:t>--</a:t>
            </a:r>
            <a:r>
              <a:rPr lang="en-US" sz="800" spc="-10" noProof="1">
                <a:solidFill>
                  <a:srgbClr val="7C8E28"/>
                </a:solidFill>
                <a:latin typeface="Courier New"/>
                <a:cs typeface="Courier New"/>
              </a:rPr>
              <a:t>ip</a:t>
            </a:r>
            <a:r>
              <a:rPr lang="en-US" sz="800" spc="-10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10" noProof="1">
                <a:latin typeface="Courier New"/>
                <a:cs typeface="Courier New"/>
              </a:rPr>
              <a:t>0.0.0.0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495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12700" marR="5080">
              <a:lnSpc>
                <a:spcPct val="116199"/>
              </a:lnSpc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Remember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last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session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saw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steps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jupyter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notebook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machine.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If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refresher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 can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check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5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Session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3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subject’s website.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4147820" cy="5080"/>
            </a:xfrm>
            <a:custGeom>
              <a:avLst/>
              <a:gdLst/>
              <a:ahLst/>
              <a:cxnLst/>
              <a:rect l="l" t="t" r="r" b="b"/>
              <a:pathLst>
                <a:path w="4147820" h="5080">
                  <a:moveTo>
                    <a:pt x="0" y="5060"/>
                  </a:moveTo>
                  <a:lnTo>
                    <a:pt x="0" y="0"/>
                  </a:lnTo>
                  <a:lnTo>
                    <a:pt x="4147260" y="0"/>
                  </a:lnTo>
                  <a:lnTo>
                    <a:pt x="414726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00406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Reading</a:t>
            </a:r>
            <a:r>
              <a:rPr lang="en-US" spc="5" noProof="1"/>
              <a:t> </a:t>
            </a:r>
            <a:r>
              <a:rPr lang="en-US" spc="-30" noProof="1"/>
              <a:t>files</a:t>
            </a:r>
            <a:r>
              <a:rPr lang="en-US" spc="5" noProof="1"/>
              <a:t> </a:t>
            </a:r>
            <a:r>
              <a:rPr lang="en-US" noProof="1"/>
              <a:t>from</a:t>
            </a:r>
            <a:r>
              <a:rPr lang="en-US" spc="10" noProof="1"/>
              <a:t> </a:t>
            </a:r>
            <a:r>
              <a:rPr lang="en-US" noProof="1"/>
              <a:t>S3</a:t>
            </a:r>
            <a:r>
              <a:rPr lang="en-US" spc="5" noProof="1"/>
              <a:t> </a:t>
            </a:r>
            <a:r>
              <a:rPr lang="en-US" noProof="1"/>
              <a:t>with</a:t>
            </a:r>
            <a:r>
              <a:rPr lang="en-US" spc="5" noProof="1"/>
              <a:t> </a:t>
            </a:r>
            <a:r>
              <a:rPr lang="en-US" spc="-20" noProof="1"/>
              <a:t>python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72646" y="871499"/>
            <a:ext cx="5015230" cy="1490980"/>
            <a:chOff x="372646" y="871499"/>
            <a:chExt cx="5015230" cy="1490980"/>
          </a:xfrm>
        </p:grpSpPr>
        <p:sp>
          <p:nvSpPr>
            <p:cNvPr id="4" name="object 4"/>
            <p:cNvSpPr/>
            <p:nvPr/>
          </p:nvSpPr>
          <p:spPr>
            <a:xfrm>
              <a:off x="377994" y="876846"/>
              <a:ext cx="5004435" cy="1480185"/>
            </a:xfrm>
            <a:custGeom>
              <a:avLst/>
              <a:gdLst/>
              <a:ahLst/>
              <a:cxnLst/>
              <a:rect l="l" t="t" r="r" b="b"/>
              <a:pathLst>
                <a:path w="5004435" h="1480185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443925"/>
                  </a:lnTo>
                  <a:lnTo>
                    <a:pt x="2829" y="1457938"/>
                  </a:lnTo>
                  <a:lnTo>
                    <a:pt x="10544" y="1469381"/>
                  </a:lnTo>
                  <a:lnTo>
                    <a:pt x="21987" y="1477097"/>
                  </a:lnTo>
                  <a:lnTo>
                    <a:pt x="36000" y="1479926"/>
                  </a:lnTo>
                  <a:lnTo>
                    <a:pt x="4968064" y="1479926"/>
                  </a:lnTo>
                  <a:lnTo>
                    <a:pt x="4982077" y="1477097"/>
                  </a:lnTo>
                  <a:lnTo>
                    <a:pt x="4993521" y="1469381"/>
                  </a:lnTo>
                  <a:lnTo>
                    <a:pt x="5001236" y="1457938"/>
                  </a:lnTo>
                  <a:lnTo>
                    <a:pt x="5004065" y="1443925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78973" y="877825"/>
              <a:ext cx="5002530" cy="1478280"/>
            </a:xfrm>
            <a:custGeom>
              <a:avLst/>
              <a:gdLst/>
              <a:ahLst/>
              <a:cxnLst/>
              <a:rect l="l" t="t" r="r" b="b"/>
              <a:pathLst>
                <a:path w="5002530" h="1478280">
                  <a:moveTo>
                    <a:pt x="0" y="1442946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1442946"/>
                  </a:lnTo>
                  <a:lnTo>
                    <a:pt x="4999354" y="1456578"/>
                  </a:lnTo>
                  <a:lnTo>
                    <a:pt x="4991849" y="1467710"/>
                  </a:lnTo>
                  <a:lnTo>
                    <a:pt x="4980717" y="1475215"/>
                  </a:lnTo>
                  <a:lnTo>
                    <a:pt x="4967085" y="1477967"/>
                  </a:lnTo>
                  <a:lnTo>
                    <a:pt x="35021" y="1477967"/>
                  </a:lnTo>
                  <a:lnTo>
                    <a:pt x="21389" y="1475215"/>
                  </a:lnTo>
                  <a:lnTo>
                    <a:pt x="10257" y="1467710"/>
                  </a:lnTo>
                  <a:lnTo>
                    <a:pt x="2752" y="1456578"/>
                  </a:lnTo>
                  <a:lnTo>
                    <a:pt x="0" y="1442946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1402372" y="2465400"/>
            <a:ext cx="862330" cy="146050"/>
            <a:chOff x="1402372" y="2465400"/>
            <a:chExt cx="862330" cy="146050"/>
          </a:xfrm>
        </p:grpSpPr>
        <p:sp>
          <p:nvSpPr>
            <p:cNvPr id="7" name="object 7"/>
            <p:cNvSpPr/>
            <p:nvPr/>
          </p:nvSpPr>
          <p:spPr>
            <a:xfrm>
              <a:off x="1402372" y="2465400"/>
              <a:ext cx="862330" cy="146050"/>
            </a:xfrm>
            <a:custGeom>
              <a:avLst/>
              <a:gdLst/>
              <a:ahLst/>
              <a:cxnLst/>
              <a:rect l="l" t="t" r="r" b="b"/>
              <a:pathLst>
                <a:path w="862330" h="146050">
                  <a:moveTo>
                    <a:pt x="82628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037"/>
                  </a:lnTo>
                  <a:lnTo>
                    <a:pt x="2829" y="124050"/>
                  </a:lnTo>
                  <a:lnTo>
                    <a:pt x="10544" y="135493"/>
                  </a:lnTo>
                  <a:lnTo>
                    <a:pt x="21987" y="143208"/>
                  </a:lnTo>
                  <a:lnTo>
                    <a:pt x="36000" y="146037"/>
                  </a:lnTo>
                  <a:lnTo>
                    <a:pt x="826282" y="146037"/>
                  </a:lnTo>
                  <a:lnTo>
                    <a:pt x="840295" y="143208"/>
                  </a:lnTo>
                  <a:lnTo>
                    <a:pt x="851738" y="135493"/>
                  </a:lnTo>
                  <a:lnTo>
                    <a:pt x="859453" y="124050"/>
                  </a:lnTo>
                  <a:lnTo>
                    <a:pt x="862282" y="110037"/>
                  </a:lnTo>
                  <a:lnTo>
                    <a:pt x="862282" y="36000"/>
                  </a:lnTo>
                  <a:lnTo>
                    <a:pt x="859453" y="21987"/>
                  </a:lnTo>
                  <a:lnTo>
                    <a:pt x="851738" y="10544"/>
                  </a:lnTo>
                  <a:lnTo>
                    <a:pt x="840295" y="2829"/>
                  </a:lnTo>
                  <a:lnTo>
                    <a:pt x="826282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1402372" y="2465400"/>
              <a:ext cx="862330" cy="146050"/>
            </a:xfrm>
            <a:custGeom>
              <a:avLst/>
              <a:gdLst/>
              <a:ahLst/>
              <a:cxnLst/>
              <a:rect l="l" t="t" r="r" b="b"/>
              <a:pathLst>
                <a:path w="862330" h="146050">
                  <a:moveTo>
                    <a:pt x="82628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037"/>
                  </a:lnTo>
                  <a:lnTo>
                    <a:pt x="2829" y="124050"/>
                  </a:lnTo>
                  <a:lnTo>
                    <a:pt x="10544" y="135493"/>
                  </a:lnTo>
                  <a:lnTo>
                    <a:pt x="21987" y="143208"/>
                  </a:lnTo>
                  <a:lnTo>
                    <a:pt x="36000" y="146037"/>
                  </a:lnTo>
                  <a:lnTo>
                    <a:pt x="826282" y="146037"/>
                  </a:lnTo>
                  <a:lnTo>
                    <a:pt x="840295" y="143208"/>
                  </a:lnTo>
                  <a:lnTo>
                    <a:pt x="851738" y="135493"/>
                  </a:lnTo>
                  <a:lnTo>
                    <a:pt x="859453" y="124050"/>
                  </a:lnTo>
                  <a:lnTo>
                    <a:pt x="862282" y="110037"/>
                  </a:lnTo>
                  <a:lnTo>
                    <a:pt x="862282" y="36000"/>
                  </a:lnTo>
                  <a:lnTo>
                    <a:pt x="859453" y="21987"/>
                  </a:lnTo>
                  <a:lnTo>
                    <a:pt x="851738" y="10544"/>
                  </a:lnTo>
                  <a:lnTo>
                    <a:pt x="840295" y="2829"/>
                  </a:lnTo>
                  <a:lnTo>
                    <a:pt x="82628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9" name="object 9"/>
          <p:cNvGrpSpPr/>
          <p:nvPr/>
        </p:nvGrpSpPr>
        <p:grpSpPr>
          <a:xfrm>
            <a:off x="4537722" y="2465400"/>
            <a:ext cx="862330" cy="146050"/>
            <a:chOff x="4537722" y="2465400"/>
            <a:chExt cx="862330" cy="146050"/>
          </a:xfrm>
        </p:grpSpPr>
        <p:sp>
          <p:nvSpPr>
            <p:cNvPr id="10" name="object 10"/>
            <p:cNvSpPr/>
            <p:nvPr/>
          </p:nvSpPr>
          <p:spPr>
            <a:xfrm>
              <a:off x="4537722" y="2465400"/>
              <a:ext cx="862330" cy="146050"/>
            </a:xfrm>
            <a:custGeom>
              <a:avLst/>
              <a:gdLst/>
              <a:ahLst/>
              <a:cxnLst/>
              <a:rect l="l" t="t" r="r" b="b"/>
              <a:pathLst>
                <a:path w="862329" h="146050">
                  <a:moveTo>
                    <a:pt x="82628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037"/>
                  </a:lnTo>
                  <a:lnTo>
                    <a:pt x="2829" y="124050"/>
                  </a:lnTo>
                  <a:lnTo>
                    <a:pt x="10544" y="135493"/>
                  </a:lnTo>
                  <a:lnTo>
                    <a:pt x="21987" y="143208"/>
                  </a:lnTo>
                  <a:lnTo>
                    <a:pt x="36000" y="146037"/>
                  </a:lnTo>
                  <a:lnTo>
                    <a:pt x="826282" y="146037"/>
                  </a:lnTo>
                  <a:lnTo>
                    <a:pt x="840295" y="143208"/>
                  </a:lnTo>
                  <a:lnTo>
                    <a:pt x="851738" y="135493"/>
                  </a:lnTo>
                  <a:lnTo>
                    <a:pt x="859453" y="124050"/>
                  </a:lnTo>
                  <a:lnTo>
                    <a:pt x="862282" y="110037"/>
                  </a:lnTo>
                  <a:lnTo>
                    <a:pt x="862282" y="36000"/>
                  </a:lnTo>
                  <a:lnTo>
                    <a:pt x="859453" y="21987"/>
                  </a:lnTo>
                  <a:lnTo>
                    <a:pt x="851738" y="10544"/>
                  </a:lnTo>
                  <a:lnTo>
                    <a:pt x="840295" y="2829"/>
                  </a:lnTo>
                  <a:lnTo>
                    <a:pt x="826282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4537722" y="2465400"/>
              <a:ext cx="862330" cy="146050"/>
            </a:xfrm>
            <a:custGeom>
              <a:avLst/>
              <a:gdLst/>
              <a:ahLst/>
              <a:cxnLst/>
              <a:rect l="l" t="t" r="r" b="b"/>
              <a:pathLst>
                <a:path w="862329" h="146050">
                  <a:moveTo>
                    <a:pt x="82628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037"/>
                  </a:lnTo>
                  <a:lnTo>
                    <a:pt x="2829" y="124050"/>
                  </a:lnTo>
                  <a:lnTo>
                    <a:pt x="10544" y="135493"/>
                  </a:lnTo>
                  <a:lnTo>
                    <a:pt x="21987" y="143208"/>
                  </a:lnTo>
                  <a:lnTo>
                    <a:pt x="36000" y="146037"/>
                  </a:lnTo>
                  <a:lnTo>
                    <a:pt x="826282" y="146037"/>
                  </a:lnTo>
                  <a:lnTo>
                    <a:pt x="840295" y="143208"/>
                  </a:lnTo>
                  <a:lnTo>
                    <a:pt x="851738" y="135493"/>
                  </a:lnTo>
                  <a:lnTo>
                    <a:pt x="859453" y="124050"/>
                  </a:lnTo>
                  <a:lnTo>
                    <a:pt x="862282" y="110037"/>
                  </a:lnTo>
                  <a:lnTo>
                    <a:pt x="862282" y="36000"/>
                  </a:lnTo>
                  <a:lnTo>
                    <a:pt x="859453" y="21987"/>
                  </a:lnTo>
                  <a:lnTo>
                    <a:pt x="851738" y="10544"/>
                  </a:lnTo>
                  <a:lnTo>
                    <a:pt x="840295" y="2829"/>
                  </a:lnTo>
                  <a:lnTo>
                    <a:pt x="82628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2" name="object 12"/>
          <p:cNvSpPr txBox="1"/>
          <p:nvPr/>
        </p:nvSpPr>
        <p:spPr>
          <a:xfrm>
            <a:off x="343319" y="627527"/>
            <a:ext cx="5057140" cy="212788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6510">
              <a:lnSpc>
                <a:spcPct val="100000"/>
              </a:lnSpc>
              <a:spcBef>
                <a:spcPts val="9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Open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jupyter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notebook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paste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code: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9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4629">
              <a:lnSpc>
                <a:spcPct val="100000"/>
              </a:lnSpc>
            </a:pPr>
            <a:r>
              <a:rPr lang="en-US" sz="800" b="1" spc="-65" noProof="1">
                <a:solidFill>
                  <a:srgbClr val="007F00"/>
                </a:solidFill>
                <a:latin typeface="Courier New"/>
                <a:cs typeface="Courier New"/>
              </a:rPr>
              <a:t>import</a:t>
            </a:r>
            <a:r>
              <a:rPr lang="en-US" sz="800" b="1" spc="-15" noProof="1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boto3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195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214629">
              <a:lnSpc>
                <a:spcPct val="100000"/>
              </a:lnSpc>
              <a:spcBef>
                <a:spcPts val="5"/>
              </a:spcBef>
            </a:pPr>
            <a:r>
              <a:rPr lang="en-US" sz="800" spc="-55" noProof="1">
                <a:latin typeface="Courier New"/>
                <a:cs typeface="Courier New"/>
              </a:rPr>
              <a:t>DATA_BUCKET_NAME</a:t>
            </a:r>
            <a:r>
              <a:rPr lang="en-US" sz="800" spc="-25" noProof="1">
                <a:latin typeface="Courier New"/>
                <a:cs typeface="Courier New"/>
              </a:rPr>
              <a:t> </a:t>
            </a:r>
            <a:r>
              <a:rPr lang="en-US" sz="800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20" noProof="1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"data-your-</a:t>
            </a:r>
            <a:r>
              <a:rPr lang="en-US" sz="800" spc="-10" noProof="1">
                <a:solidFill>
                  <a:srgbClr val="3F70A0"/>
                </a:solidFill>
                <a:latin typeface="Courier New"/>
                <a:cs typeface="Courier New"/>
              </a:rPr>
              <a:t>name"</a:t>
            </a:r>
            <a:endParaRPr lang="en-US" sz="800" noProof="1">
              <a:latin typeface="Courier New"/>
              <a:cs typeface="Courier New"/>
            </a:endParaRPr>
          </a:p>
          <a:p>
            <a:pPr marL="214629">
              <a:lnSpc>
                <a:spcPct val="100000"/>
              </a:lnSpc>
              <a:spcBef>
                <a:spcPts val="70"/>
              </a:spcBef>
            </a:pPr>
            <a:r>
              <a:rPr lang="en-US" sz="800" spc="-55" noProof="1">
                <a:latin typeface="Courier New"/>
                <a:cs typeface="Courier New"/>
              </a:rPr>
              <a:t>DATA_FILE_NAME</a:t>
            </a:r>
            <a:r>
              <a:rPr lang="en-US" sz="800" spc="-65" noProof="1">
                <a:latin typeface="Courier New"/>
                <a:cs typeface="Courier New"/>
              </a:rPr>
              <a:t> </a:t>
            </a:r>
            <a:r>
              <a:rPr lang="en-US" sz="800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120" noProof="1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"my-</a:t>
            </a:r>
            <a:r>
              <a:rPr lang="en-US" sz="800" spc="-35" noProof="1">
                <a:solidFill>
                  <a:srgbClr val="3F70A0"/>
                </a:solidFill>
                <a:latin typeface="Courier New"/>
                <a:cs typeface="Courier New"/>
              </a:rPr>
              <a:t>dataset.txt"</a:t>
            </a:r>
            <a:r>
              <a:rPr lang="en-US" sz="800" spc="300" noProof="1">
                <a:solidFill>
                  <a:srgbClr val="3F70A0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#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Path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 to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the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file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 in </a:t>
            </a:r>
            <a:r>
              <a:rPr lang="en-US" sz="800" i="1" spc="-25" noProof="1">
                <a:solidFill>
                  <a:srgbClr val="60A0AF"/>
                </a:solidFill>
                <a:latin typeface="Courier New"/>
                <a:cs typeface="Courier New"/>
              </a:rPr>
              <a:t>S3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195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214629">
              <a:lnSpc>
                <a:spcPct val="100000"/>
              </a:lnSpc>
            </a:pPr>
            <a:r>
              <a:rPr lang="en-US" sz="800" spc="-50" noProof="1">
                <a:latin typeface="Courier New"/>
                <a:cs typeface="Courier New"/>
              </a:rPr>
              <a:t>s3</a:t>
            </a:r>
            <a:r>
              <a:rPr lang="en-US" sz="800" spc="-70" noProof="1">
                <a:latin typeface="Courier New"/>
                <a:cs typeface="Courier New"/>
              </a:rPr>
              <a:t> </a:t>
            </a:r>
            <a:r>
              <a:rPr lang="en-US" sz="800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110" noProof="1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boto3.client(</a:t>
            </a:r>
            <a:r>
              <a:rPr lang="en-US" sz="800" spc="-10" noProof="1">
                <a:solidFill>
                  <a:srgbClr val="3F70A0"/>
                </a:solidFill>
                <a:latin typeface="Courier New"/>
                <a:cs typeface="Courier New"/>
              </a:rPr>
              <a:t>"s3"</a:t>
            </a:r>
            <a:r>
              <a:rPr lang="en-US" sz="800" spc="-10" noProof="1">
                <a:latin typeface="Courier New"/>
                <a:cs typeface="Courier New"/>
              </a:rPr>
              <a:t>)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125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214629" marR="495934">
              <a:lnSpc>
                <a:spcPct val="107400"/>
              </a:lnSpc>
            </a:pPr>
            <a:r>
              <a:rPr lang="en-US" sz="800" spc="-60" noProof="1">
                <a:latin typeface="Courier New"/>
                <a:cs typeface="Courier New"/>
              </a:rPr>
              <a:t>response</a:t>
            </a:r>
            <a:r>
              <a:rPr lang="en-US" sz="800" spc="40" noProof="1">
                <a:latin typeface="Courier New"/>
                <a:cs typeface="Courier New"/>
              </a:rPr>
              <a:t> </a:t>
            </a:r>
            <a:r>
              <a:rPr lang="en-US" sz="800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40" noProof="1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s3.get_object(Bucket</a:t>
            </a:r>
            <a:r>
              <a:rPr lang="en-US" sz="800" spc="-60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60" noProof="1">
                <a:latin typeface="Courier New"/>
                <a:cs typeface="Courier New"/>
              </a:rPr>
              <a:t>DATA_BUCKET_NAME,</a:t>
            </a:r>
            <a:r>
              <a:rPr lang="en-US" sz="800" spc="40" noProof="1"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Key</a:t>
            </a:r>
            <a:r>
              <a:rPr lang="en-US" sz="800" spc="-10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10" noProof="1">
                <a:latin typeface="Courier New"/>
                <a:cs typeface="Courier New"/>
              </a:rPr>
              <a:t>DATA_FILE_NAME) </a:t>
            </a:r>
            <a:r>
              <a:rPr lang="en-US" sz="800" spc="-55" noProof="1">
                <a:latin typeface="Courier New"/>
                <a:cs typeface="Courier New"/>
              </a:rPr>
              <a:t>file_content</a:t>
            </a:r>
            <a:r>
              <a:rPr lang="en-US" sz="800" spc="-50" noProof="1">
                <a:latin typeface="Courier New"/>
                <a:cs typeface="Courier New"/>
              </a:rPr>
              <a:t> </a:t>
            </a:r>
            <a:r>
              <a:rPr lang="en-US" sz="800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40" noProof="1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response[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"Body"</a:t>
            </a:r>
            <a:r>
              <a:rPr lang="en-US" sz="800" spc="-60" noProof="1">
                <a:latin typeface="Courier New"/>
                <a:cs typeface="Courier New"/>
              </a:rPr>
              <a:t>].read().decode(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"utf-</a:t>
            </a:r>
            <a:r>
              <a:rPr lang="en-US" sz="800" noProof="1">
                <a:solidFill>
                  <a:srgbClr val="3F70A0"/>
                </a:solidFill>
                <a:latin typeface="Courier New"/>
                <a:cs typeface="Courier New"/>
              </a:rPr>
              <a:t>8"</a:t>
            </a:r>
            <a:r>
              <a:rPr lang="en-US" sz="800" noProof="1">
                <a:latin typeface="Courier New"/>
                <a:cs typeface="Courier New"/>
              </a:rPr>
              <a:t>)</a:t>
            </a:r>
            <a:r>
              <a:rPr lang="en-US" sz="800" spc="405" noProof="1"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#</a:t>
            </a:r>
            <a:r>
              <a:rPr lang="en-US" sz="800" i="1" spc="-4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Decode</a:t>
            </a:r>
            <a:r>
              <a:rPr lang="en-US" sz="800" i="1" spc="-4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the</a:t>
            </a:r>
            <a:r>
              <a:rPr lang="en-US" sz="800" i="1" spc="-4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file</a:t>
            </a:r>
            <a:r>
              <a:rPr lang="en-US" sz="800" i="1" spc="-40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55" noProof="1">
                <a:solidFill>
                  <a:srgbClr val="60A0AF"/>
                </a:solidFill>
                <a:latin typeface="Courier New"/>
                <a:cs typeface="Courier New"/>
              </a:rPr>
              <a:t>content </a:t>
            </a:r>
            <a:r>
              <a:rPr lang="en-US" sz="800" spc="-55" noProof="1">
                <a:solidFill>
                  <a:srgbClr val="007F00"/>
                </a:solidFill>
                <a:latin typeface="Courier New"/>
                <a:cs typeface="Courier New"/>
              </a:rPr>
              <a:t>print</a:t>
            </a:r>
            <a:r>
              <a:rPr lang="en-US" sz="800" spc="-55" noProof="1">
                <a:latin typeface="Courier New"/>
                <a:cs typeface="Courier New"/>
              </a:rPr>
              <a:t>(</a:t>
            </a:r>
            <a:r>
              <a:rPr lang="en-US" sz="800" spc="-55" noProof="1">
                <a:solidFill>
                  <a:srgbClr val="3F70A0"/>
                </a:solidFill>
                <a:latin typeface="Courier New"/>
                <a:cs typeface="Courier New"/>
              </a:rPr>
              <a:t>"File</a:t>
            </a:r>
            <a:r>
              <a:rPr lang="en-US" sz="800" spc="-30" noProof="1">
                <a:solidFill>
                  <a:srgbClr val="3F70A0"/>
                </a:solidFill>
                <a:latin typeface="Courier New"/>
                <a:cs typeface="Courier New"/>
              </a:rPr>
              <a:t> </a:t>
            </a:r>
            <a:r>
              <a:rPr lang="en-US" sz="800" spc="-55" noProof="1">
                <a:solidFill>
                  <a:srgbClr val="3F70A0"/>
                </a:solidFill>
                <a:latin typeface="Courier New"/>
                <a:cs typeface="Courier New"/>
              </a:rPr>
              <a:t>Content:\n"</a:t>
            </a:r>
            <a:r>
              <a:rPr lang="en-US" sz="800" spc="-55" noProof="1">
                <a:latin typeface="Courier New"/>
                <a:cs typeface="Courier New"/>
              </a:rPr>
              <a:t>,</a:t>
            </a:r>
            <a:r>
              <a:rPr lang="en-US" sz="800" spc="-30" noProof="1"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file_content)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665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16510">
              <a:lnSpc>
                <a:spcPct val="100000"/>
              </a:lnSpc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careful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replace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data-your-name</a:t>
            </a:r>
            <a:r>
              <a:rPr lang="en-US" sz="900" spc="-150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my-</a:t>
            </a:r>
            <a:r>
              <a:rPr lang="en-US" sz="900" spc="-45" noProof="1">
                <a:latin typeface="Courier New"/>
                <a:cs typeface="Courier New"/>
              </a:rPr>
              <a:t>dataset.txt</a:t>
            </a:r>
            <a:endParaRPr lang="en-US" sz="900" noProof="1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17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uploaded.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4" name="object 14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5" name="object 15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6" name="object 16"/>
            <p:cNvSpPr/>
            <p:nvPr/>
          </p:nvSpPr>
          <p:spPr>
            <a:xfrm>
              <a:off x="0" y="3234963"/>
              <a:ext cx="4262755" cy="5080"/>
            </a:xfrm>
            <a:custGeom>
              <a:avLst/>
              <a:gdLst/>
              <a:ahLst/>
              <a:cxnLst/>
              <a:rect l="l" t="t" r="r" b="b"/>
              <a:pathLst>
                <a:path w="4262755" h="5080">
                  <a:moveTo>
                    <a:pt x="0" y="5060"/>
                  </a:moveTo>
                  <a:lnTo>
                    <a:pt x="0" y="0"/>
                  </a:lnTo>
                  <a:lnTo>
                    <a:pt x="4262486" y="0"/>
                  </a:lnTo>
                  <a:lnTo>
                    <a:pt x="426248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00406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Reading</a:t>
            </a:r>
            <a:r>
              <a:rPr lang="en-US" spc="5" noProof="1"/>
              <a:t> </a:t>
            </a:r>
            <a:r>
              <a:rPr lang="en-US" spc="-30" noProof="1"/>
              <a:t>files</a:t>
            </a:r>
            <a:r>
              <a:rPr lang="en-US" spc="5" noProof="1"/>
              <a:t> </a:t>
            </a:r>
            <a:r>
              <a:rPr lang="en-US" noProof="1"/>
              <a:t>from</a:t>
            </a:r>
            <a:r>
              <a:rPr lang="en-US" spc="10" noProof="1"/>
              <a:t> </a:t>
            </a:r>
            <a:r>
              <a:rPr lang="en-US" noProof="1"/>
              <a:t>S3</a:t>
            </a:r>
            <a:r>
              <a:rPr lang="en-US" spc="5" noProof="1"/>
              <a:t> </a:t>
            </a:r>
            <a:r>
              <a:rPr lang="en-US" noProof="1"/>
              <a:t>with</a:t>
            </a:r>
            <a:r>
              <a:rPr lang="en-US" spc="5" noProof="1"/>
              <a:t> </a:t>
            </a:r>
            <a:r>
              <a:rPr lang="en-US" spc="-20" noProof="1"/>
              <a:t>python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619754"/>
            <a:ext cx="420433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everything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correct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should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95" noProof="1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content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printed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notebook.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45" y="862096"/>
            <a:ext cx="5039916" cy="1888634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4377690" cy="5080"/>
            </a:xfrm>
            <a:custGeom>
              <a:avLst/>
              <a:gdLst/>
              <a:ahLst/>
              <a:cxnLst/>
              <a:rect l="l" t="t" r="r" b="b"/>
              <a:pathLst>
                <a:path w="4377690" h="5080">
                  <a:moveTo>
                    <a:pt x="0" y="5060"/>
                  </a:moveTo>
                  <a:lnTo>
                    <a:pt x="0" y="0"/>
                  </a:lnTo>
                  <a:lnTo>
                    <a:pt x="4377624" y="0"/>
                  </a:lnTo>
                  <a:lnTo>
                    <a:pt x="437762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RECAP:</a:t>
            </a:r>
            <a:r>
              <a:rPr lang="en-US" spc="20" noProof="1"/>
              <a:t> </a:t>
            </a:r>
            <a:r>
              <a:rPr lang="en-US" spc="-65" noProof="1"/>
              <a:t>Accessing</a:t>
            </a:r>
            <a:r>
              <a:rPr lang="en-US" spc="20" noProof="1"/>
              <a:t> </a:t>
            </a:r>
            <a:r>
              <a:rPr lang="en-US" noProof="1"/>
              <a:t>the</a:t>
            </a:r>
            <a:r>
              <a:rPr lang="en-US" spc="20" noProof="1"/>
              <a:t> </a:t>
            </a:r>
            <a:r>
              <a:rPr lang="en-US" noProof="1"/>
              <a:t>file</a:t>
            </a:r>
            <a:r>
              <a:rPr lang="en-US" spc="20" noProof="1"/>
              <a:t> </a:t>
            </a:r>
            <a:r>
              <a:rPr lang="en-US" noProof="1"/>
              <a:t>from</a:t>
            </a:r>
            <a:r>
              <a:rPr lang="en-US" spc="20" noProof="1"/>
              <a:t> </a:t>
            </a:r>
            <a:r>
              <a:rPr lang="en-US" noProof="1"/>
              <a:t>the</a:t>
            </a:r>
            <a:r>
              <a:rPr lang="en-US" spc="20" noProof="1"/>
              <a:t> </a:t>
            </a:r>
            <a:r>
              <a:rPr lang="en-US" spc="-20" noProof="1"/>
              <a:t>notebook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863993" y="817661"/>
            <a:ext cx="4032250" cy="520065"/>
            <a:chOff x="863993" y="817661"/>
            <a:chExt cx="4032250" cy="520065"/>
          </a:xfrm>
        </p:grpSpPr>
        <p:sp>
          <p:nvSpPr>
            <p:cNvPr id="4" name="object 4"/>
            <p:cNvSpPr/>
            <p:nvPr/>
          </p:nvSpPr>
          <p:spPr>
            <a:xfrm>
              <a:off x="863993" y="817661"/>
              <a:ext cx="4032250" cy="520065"/>
            </a:xfrm>
            <a:custGeom>
              <a:avLst/>
              <a:gdLst/>
              <a:ahLst/>
              <a:cxnLst/>
              <a:rect l="l" t="t" r="r" b="b"/>
              <a:pathLst>
                <a:path w="4032250" h="520065">
                  <a:moveTo>
                    <a:pt x="3978067" y="0"/>
                  </a:moveTo>
                  <a:lnTo>
                    <a:pt x="54000" y="0"/>
                  </a:lnTo>
                  <a:lnTo>
                    <a:pt x="32980" y="4243"/>
                  </a:lnTo>
                  <a:lnTo>
                    <a:pt x="15816" y="15816"/>
                  </a:lnTo>
                  <a:lnTo>
                    <a:pt x="4243" y="32980"/>
                  </a:lnTo>
                  <a:lnTo>
                    <a:pt x="0" y="54000"/>
                  </a:lnTo>
                  <a:lnTo>
                    <a:pt x="0" y="465966"/>
                  </a:lnTo>
                  <a:lnTo>
                    <a:pt x="4243" y="486985"/>
                  </a:lnTo>
                  <a:lnTo>
                    <a:pt x="15816" y="504150"/>
                  </a:lnTo>
                  <a:lnTo>
                    <a:pt x="32980" y="515722"/>
                  </a:lnTo>
                  <a:lnTo>
                    <a:pt x="54000" y="519966"/>
                  </a:lnTo>
                  <a:lnTo>
                    <a:pt x="3978067" y="519966"/>
                  </a:lnTo>
                  <a:lnTo>
                    <a:pt x="3999086" y="515722"/>
                  </a:lnTo>
                  <a:lnTo>
                    <a:pt x="4016251" y="504150"/>
                  </a:lnTo>
                  <a:lnTo>
                    <a:pt x="4027823" y="486985"/>
                  </a:lnTo>
                  <a:lnTo>
                    <a:pt x="4032067" y="465966"/>
                  </a:lnTo>
                  <a:lnTo>
                    <a:pt x="4032067" y="54000"/>
                  </a:lnTo>
                  <a:lnTo>
                    <a:pt x="4027823" y="32980"/>
                  </a:lnTo>
                  <a:lnTo>
                    <a:pt x="4016251" y="15816"/>
                  </a:lnTo>
                  <a:lnTo>
                    <a:pt x="3999086" y="4243"/>
                  </a:lnTo>
                  <a:lnTo>
                    <a:pt x="3978067" y="0"/>
                  </a:lnTo>
                  <a:close/>
                </a:path>
              </a:pathLst>
            </a:custGeom>
            <a:solidFill>
              <a:srgbClr val="880C58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881993" y="835661"/>
              <a:ext cx="3996690" cy="484505"/>
            </a:xfrm>
            <a:custGeom>
              <a:avLst/>
              <a:gdLst/>
              <a:ahLst/>
              <a:cxnLst/>
              <a:rect l="l" t="t" r="r" b="b"/>
              <a:pathLst>
                <a:path w="3996690" h="484505">
                  <a:moveTo>
                    <a:pt x="396006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447966"/>
                  </a:lnTo>
                  <a:lnTo>
                    <a:pt x="2829" y="461979"/>
                  </a:lnTo>
                  <a:lnTo>
                    <a:pt x="10544" y="473422"/>
                  </a:lnTo>
                  <a:lnTo>
                    <a:pt x="21987" y="481137"/>
                  </a:lnTo>
                  <a:lnTo>
                    <a:pt x="36000" y="483966"/>
                  </a:lnTo>
                  <a:lnTo>
                    <a:pt x="3960067" y="483966"/>
                  </a:lnTo>
                  <a:lnTo>
                    <a:pt x="3974080" y="481137"/>
                  </a:lnTo>
                  <a:lnTo>
                    <a:pt x="3985523" y="473422"/>
                  </a:lnTo>
                  <a:lnTo>
                    <a:pt x="3993238" y="461979"/>
                  </a:lnTo>
                  <a:lnTo>
                    <a:pt x="3996067" y="447966"/>
                  </a:lnTo>
                  <a:lnTo>
                    <a:pt x="3996067" y="36000"/>
                  </a:lnTo>
                  <a:lnTo>
                    <a:pt x="3993238" y="21987"/>
                  </a:lnTo>
                  <a:lnTo>
                    <a:pt x="3985523" y="10544"/>
                  </a:lnTo>
                  <a:lnTo>
                    <a:pt x="3974080" y="2829"/>
                  </a:lnTo>
                  <a:lnTo>
                    <a:pt x="3960067" y="0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7294" y="874703"/>
            <a:ext cx="3981450" cy="6724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119505" marR="5080" indent="75565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latin typeface="Arial"/>
                <a:cs typeface="Arial"/>
              </a:rPr>
              <a:t>To</a:t>
            </a:r>
            <a:r>
              <a:rPr lang="en-US" sz="900" spc="5" noProof="1">
                <a:latin typeface="Arial"/>
                <a:cs typeface="Arial"/>
              </a:rPr>
              <a:t> </a:t>
            </a:r>
            <a:r>
              <a:rPr lang="en-US" sz="900" spc="-75" noProof="1">
                <a:latin typeface="Arial"/>
                <a:cs typeface="Arial"/>
              </a:rPr>
              <a:t>access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the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file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from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the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notebook</a:t>
            </a:r>
            <a:r>
              <a:rPr lang="en-US" sz="900" spc="5" noProof="1">
                <a:latin typeface="Arial"/>
                <a:cs typeface="Arial"/>
              </a:rPr>
              <a:t> </a:t>
            </a:r>
            <a:r>
              <a:rPr lang="en-US" sz="900" spc="-50" noProof="1">
                <a:latin typeface="Arial"/>
                <a:cs typeface="Arial"/>
              </a:rPr>
              <a:t>we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spc="-45" noProof="1">
                <a:latin typeface="Arial"/>
                <a:cs typeface="Arial"/>
              </a:rPr>
              <a:t>have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spc="-55" noProof="1">
                <a:latin typeface="Arial"/>
                <a:cs typeface="Arial"/>
              </a:rPr>
              <a:t>used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spc="-25" noProof="1">
                <a:latin typeface="Arial"/>
                <a:cs typeface="Arial"/>
              </a:rPr>
              <a:t>our </a:t>
            </a:r>
            <a:r>
              <a:rPr lang="en-US" sz="900" spc="-55" noProof="1">
                <a:latin typeface="Arial"/>
                <a:cs typeface="Arial"/>
              </a:rPr>
              <a:t>aws-</a:t>
            </a:r>
            <a:r>
              <a:rPr lang="en-US" sz="900" spc="-25" noProof="1">
                <a:latin typeface="Arial"/>
                <a:cs typeface="Arial"/>
              </a:rPr>
              <a:t>credentials</a:t>
            </a:r>
            <a:r>
              <a:rPr lang="en-US" sz="900" spc="-1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for the current </a:t>
            </a:r>
            <a:r>
              <a:rPr lang="en-US" sz="900" spc="-35" noProof="1">
                <a:latin typeface="Arial"/>
                <a:cs typeface="Arial"/>
              </a:rPr>
              <a:t>user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(owner</a:t>
            </a:r>
            <a:r>
              <a:rPr lang="en-US" sz="900" noProof="1">
                <a:latin typeface="Arial"/>
                <a:cs typeface="Arial"/>
              </a:rPr>
              <a:t> of the </a:t>
            </a:r>
            <a:r>
              <a:rPr lang="en-US" sz="900" spc="-10" noProof="1">
                <a:latin typeface="Arial"/>
                <a:cs typeface="Arial"/>
              </a:rPr>
              <a:t>bucket).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470"/>
              </a:spcBef>
            </a:pPr>
            <a:endParaRPr lang="en-US" sz="900" noProof="1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Be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aware!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347294" y="1495026"/>
            <a:ext cx="5026660" cy="40767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Someone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could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jupyter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browser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credentials.</a:t>
            </a:r>
            <a:endParaRPr lang="en-US" sz="900" noProof="1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850"/>
              </a:spcBef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900" b="1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do?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347294" y="1826454"/>
            <a:ext cx="4982210" cy="344170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7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real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life,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would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IAM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roles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give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notebook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necessary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permissions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file.</a:t>
            </a:r>
            <a:endParaRPr lang="en-US" sz="900" noProof="1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175"/>
              </a:spcBef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But,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Educate,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55" noProof="1">
                <a:solidFill>
                  <a:srgbClr val="22373A"/>
                </a:solidFill>
                <a:latin typeface="Arial"/>
                <a:cs typeface="Arial"/>
              </a:rPr>
              <a:t>IAM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roles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347294" y="2253813"/>
            <a:ext cx="2743835" cy="27622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ts val="990"/>
              </a:lnSpc>
              <a:spcBef>
                <a:spcPts val="95"/>
              </a:spcBef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Another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option</a:t>
            </a:r>
            <a:endParaRPr lang="en-US" sz="900" noProof="1">
              <a:latin typeface="Arial"/>
              <a:cs typeface="Arial"/>
            </a:endParaRPr>
          </a:p>
          <a:p>
            <a:pPr marL="12700">
              <a:lnSpc>
                <a:spcPts val="990"/>
              </a:lnSpc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Make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without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credentials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:)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4493260" cy="5080"/>
            </a:xfrm>
            <a:custGeom>
              <a:avLst/>
              <a:gdLst/>
              <a:ahLst/>
              <a:cxnLst/>
              <a:rect l="l" t="t" r="r" b="b"/>
              <a:pathLst>
                <a:path w="4493260" h="5080">
                  <a:moveTo>
                    <a:pt x="0" y="5060"/>
                  </a:moveTo>
                  <a:lnTo>
                    <a:pt x="0" y="0"/>
                  </a:lnTo>
                  <a:lnTo>
                    <a:pt x="4492850" y="0"/>
                  </a:lnTo>
                  <a:lnTo>
                    <a:pt x="449285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Writing</a:t>
            </a:r>
            <a:r>
              <a:rPr lang="en-US" spc="25" noProof="1"/>
              <a:t> </a:t>
            </a:r>
            <a:r>
              <a:rPr lang="en-US" spc="-30" noProof="1"/>
              <a:t>files</a:t>
            </a:r>
            <a:r>
              <a:rPr lang="en-US" spc="25" noProof="1"/>
              <a:t> </a:t>
            </a:r>
            <a:r>
              <a:rPr lang="en-US" noProof="1"/>
              <a:t>to</a:t>
            </a:r>
            <a:r>
              <a:rPr lang="en-US" spc="30" noProof="1"/>
              <a:t> </a:t>
            </a:r>
            <a:r>
              <a:rPr lang="en-US" noProof="1"/>
              <a:t>S3</a:t>
            </a:r>
            <a:r>
              <a:rPr lang="en-US" spc="25" noProof="1"/>
              <a:t> </a:t>
            </a:r>
            <a:r>
              <a:rPr lang="en-US" noProof="1"/>
              <a:t>with</a:t>
            </a:r>
            <a:r>
              <a:rPr lang="en-US" spc="30" noProof="1"/>
              <a:t> </a:t>
            </a:r>
            <a:r>
              <a:rPr lang="en-US" spc="-25" noProof="1"/>
              <a:t>python</a:t>
            </a:r>
          </a:p>
        </p:txBody>
      </p:sp>
      <p:grpSp>
        <p:nvGrpSpPr>
          <p:cNvPr id="4" name="object 4"/>
          <p:cNvGrpSpPr/>
          <p:nvPr/>
        </p:nvGrpSpPr>
        <p:grpSpPr>
          <a:xfrm>
            <a:off x="2672346" y="655050"/>
            <a:ext cx="1161415" cy="155575"/>
            <a:chOff x="2672346" y="655050"/>
            <a:chExt cx="1161415" cy="155575"/>
          </a:xfrm>
        </p:grpSpPr>
        <p:sp>
          <p:nvSpPr>
            <p:cNvPr id="5" name="object 5"/>
            <p:cNvSpPr/>
            <p:nvPr/>
          </p:nvSpPr>
          <p:spPr>
            <a:xfrm>
              <a:off x="2672346" y="655050"/>
              <a:ext cx="1161415" cy="155575"/>
            </a:xfrm>
            <a:custGeom>
              <a:avLst/>
              <a:gdLst/>
              <a:ahLst/>
              <a:cxnLst/>
              <a:rect l="l" t="t" r="r" b="b"/>
              <a:pathLst>
                <a:path w="1161414" h="155575">
                  <a:moveTo>
                    <a:pt x="112520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1125202" y="155489"/>
                  </a:lnTo>
                  <a:lnTo>
                    <a:pt x="1139215" y="152659"/>
                  </a:lnTo>
                  <a:lnTo>
                    <a:pt x="1150658" y="144944"/>
                  </a:lnTo>
                  <a:lnTo>
                    <a:pt x="1158373" y="133501"/>
                  </a:lnTo>
                  <a:lnTo>
                    <a:pt x="1161202" y="119488"/>
                  </a:lnTo>
                  <a:lnTo>
                    <a:pt x="1161202" y="36000"/>
                  </a:lnTo>
                  <a:lnTo>
                    <a:pt x="1158373" y="21987"/>
                  </a:lnTo>
                  <a:lnTo>
                    <a:pt x="1150658" y="10544"/>
                  </a:lnTo>
                  <a:lnTo>
                    <a:pt x="1139215" y="2829"/>
                  </a:lnTo>
                  <a:lnTo>
                    <a:pt x="1125202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2672346" y="655050"/>
              <a:ext cx="1161415" cy="155575"/>
            </a:xfrm>
            <a:custGeom>
              <a:avLst/>
              <a:gdLst/>
              <a:ahLst/>
              <a:cxnLst/>
              <a:rect l="l" t="t" r="r" b="b"/>
              <a:pathLst>
                <a:path w="1161414" h="155575">
                  <a:moveTo>
                    <a:pt x="112520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1125202" y="155489"/>
                  </a:lnTo>
                  <a:lnTo>
                    <a:pt x="1139215" y="152659"/>
                  </a:lnTo>
                  <a:lnTo>
                    <a:pt x="1150658" y="144944"/>
                  </a:lnTo>
                  <a:lnTo>
                    <a:pt x="1158373" y="133501"/>
                  </a:lnTo>
                  <a:lnTo>
                    <a:pt x="1161202" y="119488"/>
                  </a:lnTo>
                  <a:lnTo>
                    <a:pt x="1161202" y="36000"/>
                  </a:lnTo>
                  <a:lnTo>
                    <a:pt x="1158373" y="21987"/>
                  </a:lnTo>
                  <a:lnTo>
                    <a:pt x="1150658" y="10544"/>
                  </a:lnTo>
                  <a:lnTo>
                    <a:pt x="1139215" y="2829"/>
                  </a:lnTo>
                  <a:lnTo>
                    <a:pt x="112520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7" name="object 7"/>
          <p:cNvGrpSpPr/>
          <p:nvPr/>
        </p:nvGrpSpPr>
        <p:grpSpPr>
          <a:xfrm>
            <a:off x="4193984" y="902247"/>
            <a:ext cx="802640" cy="123189"/>
            <a:chOff x="4193984" y="902247"/>
            <a:chExt cx="802640" cy="123189"/>
          </a:xfrm>
        </p:grpSpPr>
        <p:sp>
          <p:nvSpPr>
            <p:cNvPr id="8" name="object 8"/>
            <p:cNvSpPr/>
            <p:nvPr/>
          </p:nvSpPr>
          <p:spPr>
            <a:xfrm>
              <a:off x="4193984" y="902247"/>
              <a:ext cx="802640" cy="123189"/>
            </a:xfrm>
            <a:custGeom>
              <a:avLst/>
              <a:gdLst/>
              <a:ahLst/>
              <a:cxnLst/>
              <a:rect l="l" t="t" r="r" b="b"/>
              <a:pathLst>
                <a:path w="802639" h="123190">
                  <a:moveTo>
                    <a:pt x="766498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766498" y="122693"/>
                  </a:lnTo>
                  <a:lnTo>
                    <a:pt x="780511" y="119864"/>
                  </a:lnTo>
                  <a:lnTo>
                    <a:pt x="791954" y="112148"/>
                  </a:lnTo>
                  <a:lnTo>
                    <a:pt x="799669" y="100705"/>
                  </a:lnTo>
                  <a:lnTo>
                    <a:pt x="802498" y="86692"/>
                  </a:lnTo>
                  <a:lnTo>
                    <a:pt x="802498" y="36000"/>
                  </a:lnTo>
                  <a:lnTo>
                    <a:pt x="799669" y="21987"/>
                  </a:lnTo>
                  <a:lnTo>
                    <a:pt x="791954" y="10544"/>
                  </a:lnTo>
                  <a:lnTo>
                    <a:pt x="780511" y="2829"/>
                  </a:lnTo>
                  <a:lnTo>
                    <a:pt x="766498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4193984" y="902247"/>
              <a:ext cx="802640" cy="123189"/>
            </a:xfrm>
            <a:custGeom>
              <a:avLst/>
              <a:gdLst/>
              <a:ahLst/>
              <a:cxnLst/>
              <a:rect l="l" t="t" r="r" b="b"/>
              <a:pathLst>
                <a:path w="802639" h="123190">
                  <a:moveTo>
                    <a:pt x="766498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766498" y="122693"/>
                  </a:lnTo>
                  <a:lnTo>
                    <a:pt x="780511" y="119864"/>
                  </a:lnTo>
                  <a:lnTo>
                    <a:pt x="791954" y="112148"/>
                  </a:lnTo>
                  <a:lnTo>
                    <a:pt x="799669" y="100705"/>
                  </a:lnTo>
                  <a:lnTo>
                    <a:pt x="802498" y="86692"/>
                  </a:lnTo>
                  <a:lnTo>
                    <a:pt x="802498" y="36000"/>
                  </a:lnTo>
                  <a:lnTo>
                    <a:pt x="799669" y="21987"/>
                  </a:lnTo>
                  <a:lnTo>
                    <a:pt x="791954" y="10544"/>
                  </a:lnTo>
                  <a:lnTo>
                    <a:pt x="780511" y="2829"/>
                  </a:lnTo>
                  <a:lnTo>
                    <a:pt x="766498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0" name="object 10"/>
          <p:cNvSpPr txBox="1"/>
          <p:nvPr/>
        </p:nvSpPr>
        <p:spPr>
          <a:xfrm>
            <a:off x="341718" y="450802"/>
            <a:ext cx="5071110" cy="5835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3970" marR="5080" indent="-1905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also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write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boto3.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Lets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first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another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store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will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write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notebook.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call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results-{your-</a:t>
            </a:r>
            <a:r>
              <a:rPr lang="en-US" sz="900" spc="-10" noProof="1">
                <a:latin typeface="Courier New"/>
                <a:cs typeface="Courier New"/>
              </a:rPr>
              <a:t>name}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17780">
              <a:lnSpc>
                <a:spcPct val="100000"/>
              </a:lnSpc>
              <a:spcBef>
                <a:spcPts val="800"/>
              </a:spcBef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Leave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everything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default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before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scroll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all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way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down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Create</a:t>
            </a:r>
            <a:r>
              <a:rPr lang="en-US" sz="900" spc="-70" noProof="1">
                <a:latin typeface="Courier New"/>
                <a:cs typeface="Courier New"/>
              </a:rPr>
              <a:t> </a:t>
            </a:r>
            <a:r>
              <a:rPr lang="en-US" sz="900" spc="-10" noProof="1">
                <a:latin typeface="Courier New"/>
                <a:cs typeface="Courier New"/>
              </a:rPr>
              <a:t>bucket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11" name="object 11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06" y="1117249"/>
            <a:ext cx="5039992" cy="1779747"/>
          </a:xfrm>
          <a:prstGeom prst="rect">
            <a:avLst/>
          </a:prstGeom>
        </p:spPr>
      </p:pic>
      <p:grpSp>
        <p:nvGrpSpPr>
          <p:cNvPr id="12" name="object 12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3" name="object 13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4" name="object 14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5" name="object 15"/>
            <p:cNvSpPr/>
            <p:nvPr/>
          </p:nvSpPr>
          <p:spPr>
            <a:xfrm>
              <a:off x="0" y="3234963"/>
              <a:ext cx="4608195" cy="5080"/>
            </a:xfrm>
            <a:custGeom>
              <a:avLst/>
              <a:gdLst/>
              <a:ahLst/>
              <a:cxnLst/>
              <a:rect l="l" t="t" r="r" b="b"/>
              <a:pathLst>
                <a:path w="4608195" h="5080">
                  <a:moveTo>
                    <a:pt x="0" y="5060"/>
                  </a:moveTo>
                  <a:lnTo>
                    <a:pt x="0" y="0"/>
                  </a:lnTo>
                  <a:lnTo>
                    <a:pt x="4608076" y="0"/>
                  </a:lnTo>
                  <a:lnTo>
                    <a:pt x="460807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Writing</a:t>
            </a:r>
            <a:r>
              <a:rPr lang="en-US" spc="25" noProof="1"/>
              <a:t> </a:t>
            </a:r>
            <a:r>
              <a:rPr lang="en-US" spc="-30" noProof="1"/>
              <a:t>files</a:t>
            </a:r>
            <a:r>
              <a:rPr lang="en-US" spc="25" noProof="1"/>
              <a:t> </a:t>
            </a:r>
            <a:r>
              <a:rPr lang="en-US" noProof="1"/>
              <a:t>to</a:t>
            </a:r>
            <a:r>
              <a:rPr lang="en-US" spc="30" noProof="1"/>
              <a:t> </a:t>
            </a:r>
            <a:r>
              <a:rPr lang="en-US" noProof="1"/>
              <a:t>S3</a:t>
            </a:r>
            <a:r>
              <a:rPr lang="en-US" spc="25" noProof="1"/>
              <a:t> </a:t>
            </a:r>
            <a:r>
              <a:rPr lang="en-US" noProof="1"/>
              <a:t>with</a:t>
            </a:r>
            <a:r>
              <a:rPr lang="en-US" spc="30" noProof="1"/>
              <a:t> </a:t>
            </a:r>
            <a:r>
              <a:rPr lang="en-US" spc="-25" noProof="1"/>
              <a:t>python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72426" y="1012178"/>
            <a:ext cx="5317173" cy="2028645"/>
            <a:chOff x="372646" y="931221"/>
            <a:chExt cx="5015230" cy="1753870"/>
          </a:xfrm>
        </p:grpSpPr>
        <p:sp>
          <p:nvSpPr>
            <p:cNvPr id="4" name="object 4"/>
            <p:cNvSpPr/>
            <p:nvPr/>
          </p:nvSpPr>
          <p:spPr>
            <a:xfrm>
              <a:off x="377994" y="936568"/>
              <a:ext cx="5004435" cy="1743075"/>
            </a:xfrm>
            <a:custGeom>
              <a:avLst/>
              <a:gdLst/>
              <a:ahLst/>
              <a:cxnLst/>
              <a:rect l="l" t="t" r="r" b="b"/>
              <a:pathLst>
                <a:path w="5004435" h="1743075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706847"/>
                  </a:lnTo>
                  <a:lnTo>
                    <a:pt x="2829" y="1720860"/>
                  </a:lnTo>
                  <a:lnTo>
                    <a:pt x="10544" y="1732303"/>
                  </a:lnTo>
                  <a:lnTo>
                    <a:pt x="21987" y="1740018"/>
                  </a:lnTo>
                  <a:lnTo>
                    <a:pt x="36000" y="1742848"/>
                  </a:lnTo>
                  <a:lnTo>
                    <a:pt x="4968064" y="1742848"/>
                  </a:lnTo>
                  <a:lnTo>
                    <a:pt x="4982077" y="1740018"/>
                  </a:lnTo>
                  <a:lnTo>
                    <a:pt x="4993521" y="1732303"/>
                  </a:lnTo>
                  <a:lnTo>
                    <a:pt x="5001236" y="1720860"/>
                  </a:lnTo>
                  <a:lnTo>
                    <a:pt x="5004065" y="1706847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78973" y="937547"/>
              <a:ext cx="5002530" cy="1741170"/>
            </a:xfrm>
            <a:custGeom>
              <a:avLst/>
              <a:gdLst/>
              <a:ahLst/>
              <a:cxnLst/>
              <a:rect l="l" t="t" r="r" b="b"/>
              <a:pathLst>
                <a:path w="5002530" h="1741170">
                  <a:moveTo>
                    <a:pt x="0" y="1705868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1705868"/>
                  </a:lnTo>
                  <a:lnTo>
                    <a:pt x="4999354" y="1719500"/>
                  </a:lnTo>
                  <a:lnTo>
                    <a:pt x="4991849" y="1730632"/>
                  </a:lnTo>
                  <a:lnTo>
                    <a:pt x="4980717" y="1738137"/>
                  </a:lnTo>
                  <a:lnTo>
                    <a:pt x="4967085" y="1740889"/>
                  </a:lnTo>
                  <a:lnTo>
                    <a:pt x="35021" y="1740889"/>
                  </a:lnTo>
                  <a:lnTo>
                    <a:pt x="21389" y="1738137"/>
                  </a:lnTo>
                  <a:lnTo>
                    <a:pt x="10257" y="1730632"/>
                  </a:lnTo>
                  <a:lnTo>
                    <a:pt x="2752" y="1719500"/>
                  </a:lnTo>
                  <a:lnTo>
                    <a:pt x="0" y="1705868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215900" y="784225"/>
            <a:ext cx="5473700" cy="206928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We’re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going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code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write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just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created: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00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5900">
              <a:lnSpc>
                <a:spcPct val="100000"/>
              </a:lnSpc>
            </a:pPr>
            <a:r>
              <a:rPr lang="en-US" sz="800" spc="-55" noProof="1">
                <a:latin typeface="Courier New"/>
                <a:cs typeface="Courier New"/>
              </a:rPr>
              <a:t>RESULTS_BUCKET_NAME</a:t>
            </a:r>
            <a:r>
              <a:rPr lang="en-US" sz="800" spc="-10" noProof="1">
                <a:latin typeface="Courier New"/>
                <a:cs typeface="Courier New"/>
              </a:rPr>
              <a:t> </a:t>
            </a:r>
            <a:r>
              <a:rPr lang="en-US" sz="800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5" noProof="1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"results-your-</a:t>
            </a:r>
            <a:r>
              <a:rPr lang="en-US" sz="800" spc="-10" noProof="1">
                <a:solidFill>
                  <a:srgbClr val="3F70A0"/>
                </a:solidFill>
                <a:latin typeface="Courier New"/>
                <a:cs typeface="Courier New"/>
              </a:rPr>
              <a:t>name"</a:t>
            </a:r>
            <a:endParaRPr lang="en-US" sz="800" noProof="1">
              <a:latin typeface="Courier New"/>
              <a:cs typeface="Courier New"/>
            </a:endParaRPr>
          </a:p>
          <a:p>
            <a:pPr marL="215900">
              <a:lnSpc>
                <a:spcPct val="100000"/>
              </a:lnSpc>
              <a:spcBef>
                <a:spcPts val="70"/>
              </a:spcBef>
            </a:pPr>
            <a:r>
              <a:rPr lang="en-US" sz="800" spc="-55" noProof="1">
                <a:latin typeface="Courier New"/>
                <a:cs typeface="Courier New"/>
              </a:rPr>
              <a:t>RESULT_FILE_NAME_LOCAL</a:t>
            </a:r>
            <a:r>
              <a:rPr lang="en-US" sz="800" spc="-65" noProof="1">
                <a:latin typeface="Courier New"/>
                <a:cs typeface="Courier New"/>
              </a:rPr>
              <a:t> </a:t>
            </a:r>
            <a:r>
              <a:rPr lang="en-US" sz="800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120" noProof="1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"new-</a:t>
            </a:r>
            <a:r>
              <a:rPr lang="en-US" sz="800" spc="-25" noProof="1">
                <a:solidFill>
                  <a:srgbClr val="3F70A0"/>
                </a:solidFill>
                <a:latin typeface="Courier New"/>
                <a:cs typeface="Courier New"/>
              </a:rPr>
              <a:t>file.txt"</a:t>
            </a:r>
            <a:r>
              <a:rPr lang="en-US" sz="800" spc="290" noProof="1">
                <a:solidFill>
                  <a:srgbClr val="3F70A0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#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The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file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name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 in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this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10" noProof="1">
                <a:solidFill>
                  <a:srgbClr val="60A0AF"/>
                </a:solidFill>
                <a:latin typeface="Courier New"/>
                <a:cs typeface="Courier New"/>
              </a:rPr>
              <a:t>computer</a:t>
            </a:r>
            <a:endParaRPr lang="en-US" sz="800" noProof="1">
              <a:latin typeface="Courier New"/>
              <a:cs typeface="Courier New"/>
            </a:endParaRPr>
          </a:p>
          <a:p>
            <a:pPr marL="215900">
              <a:lnSpc>
                <a:spcPct val="100000"/>
              </a:lnSpc>
              <a:spcBef>
                <a:spcPts val="75"/>
              </a:spcBef>
            </a:pPr>
            <a:r>
              <a:rPr lang="en-US" sz="800" spc="-55" noProof="1">
                <a:latin typeface="Courier New"/>
                <a:cs typeface="Courier New"/>
              </a:rPr>
              <a:t>RESULT_FILE_NAME_S3</a:t>
            </a:r>
            <a:r>
              <a:rPr lang="en-US" sz="800" spc="-65" noProof="1">
                <a:latin typeface="Courier New"/>
                <a:cs typeface="Courier New"/>
              </a:rPr>
              <a:t> </a:t>
            </a:r>
            <a:r>
              <a:rPr lang="en-US" sz="800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120" noProof="1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"project1/new-</a:t>
            </a:r>
            <a:r>
              <a:rPr lang="en-US" sz="800" spc="-25" noProof="1">
                <a:solidFill>
                  <a:srgbClr val="3F70A0"/>
                </a:solidFill>
                <a:latin typeface="Courier New"/>
                <a:cs typeface="Courier New"/>
              </a:rPr>
              <a:t>file.txt"</a:t>
            </a:r>
            <a:r>
              <a:rPr lang="en-US" sz="800" spc="340" noProof="1">
                <a:solidFill>
                  <a:srgbClr val="3F70A0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#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The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file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name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 in </a:t>
            </a:r>
            <a:r>
              <a:rPr lang="en-US" sz="800" i="1" spc="-25" noProof="1">
                <a:solidFill>
                  <a:srgbClr val="60A0AF"/>
                </a:solidFill>
                <a:latin typeface="Courier New"/>
                <a:cs typeface="Courier New"/>
              </a:rPr>
              <a:t>S3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120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215900" marR="2262505">
              <a:lnSpc>
                <a:spcPct val="107400"/>
              </a:lnSpc>
              <a:spcBef>
                <a:spcPts val="5"/>
              </a:spcBef>
            </a:pP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#</a:t>
            </a:r>
            <a:r>
              <a:rPr lang="en-US" sz="800" i="1" spc="-50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Create</a:t>
            </a:r>
            <a:r>
              <a:rPr lang="en-US" sz="800" i="1" spc="-4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the</a:t>
            </a:r>
            <a:r>
              <a:rPr lang="en-US" sz="800" i="1" spc="-4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file</a:t>
            </a:r>
            <a:r>
              <a:rPr lang="en-US" sz="800" i="1" spc="-4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and</a:t>
            </a:r>
            <a:r>
              <a:rPr lang="en-US" sz="800" i="1" spc="-4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write</a:t>
            </a:r>
            <a:r>
              <a:rPr lang="en-US" sz="800" i="1" spc="-50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some</a:t>
            </a:r>
            <a:r>
              <a:rPr lang="en-US" sz="800" i="1" spc="-4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10" noProof="1">
                <a:solidFill>
                  <a:srgbClr val="60A0AF"/>
                </a:solidFill>
                <a:latin typeface="Courier New"/>
                <a:cs typeface="Courier New"/>
              </a:rPr>
              <a:t>content </a:t>
            </a:r>
            <a:r>
              <a:rPr lang="en-US" sz="800" spc="-55" noProof="1">
                <a:latin typeface="Courier New"/>
                <a:cs typeface="Courier New"/>
              </a:rPr>
              <a:t>file_content</a:t>
            </a:r>
            <a:r>
              <a:rPr lang="en-US" sz="800" spc="-60" noProof="1">
                <a:latin typeface="Courier New"/>
                <a:cs typeface="Courier New"/>
              </a:rPr>
              <a:t> </a:t>
            </a:r>
            <a:r>
              <a:rPr lang="en-US" sz="800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55" noProof="1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"This</a:t>
            </a:r>
            <a:r>
              <a:rPr lang="en-US" sz="800" spc="-55" noProof="1">
                <a:solidFill>
                  <a:srgbClr val="3F70A0"/>
                </a:solidFill>
                <a:latin typeface="Courier New"/>
                <a:cs typeface="Courier New"/>
              </a:rPr>
              <a:t> </a:t>
            </a:r>
            <a:r>
              <a:rPr lang="en-US" sz="800" spc="-50" noProof="1">
                <a:solidFill>
                  <a:srgbClr val="3F70A0"/>
                </a:solidFill>
                <a:latin typeface="Courier New"/>
                <a:cs typeface="Courier New"/>
              </a:rPr>
              <a:t>is</a:t>
            </a:r>
            <a:r>
              <a:rPr lang="en-US" sz="800" spc="-55" noProof="1">
                <a:solidFill>
                  <a:srgbClr val="3F70A0"/>
                </a:solidFill>
                <a:latin typeface="Courier New"/>
                <a:cs typeface="Courier New"/>
              </a:rPr>
              <a:t> </a:t>
            </a:r>
            <a:r>
              <a:rPr lang="en-US" sz="800" noProof="1">
                <a:solidFill>
                  <a:srgbClr val="3F70A0"/>
                </a:solidFill>
                <a:latin typeface="Courier New"/>
                <a:cs typeface="Courier New"/>
              </a:rPr>
              <a:t>a</a:t>
            </a:r>
            <a:r>
              <a:rPr lang="en-US" sz="800" spc="-55" noProof="1">
                <a:solidFill>
                  <a:srgbClr val="3F70A0"/>
                </a:solidFill>
                <a:latin typeface="Courier New"/>
                <a:cs typeface="Courier New"/>
              </a:rPr>
              <a:t> test file 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uploaded</a:t>
            </a:r>
            <a:r>
              <a:rPr lang="en-US" sz="800" spc="-55" noProof="1">
                <a:solidFill>
                  <a:srgbClr val="3F70A0"/>
                </a:solidFill>
                <a:latin typeface="Courier New"/>
                <a:cs typeface="Courier New"/>
              </a:rPr>
              <a:t> </a:t>
            </a:r>
            <a:r>
              <a:rPr lang="en-US" sz="800" spc="-50" noProof="1">
                <a:solidFill>
                  <a:srgbClr val="3F70A0"/>
                </a:solidFill>
                <a:latin typeface="Courier New"/>
                <a:cs typeface="Courier New"/>
              </a:rPr>
              <a:t>to</a:t>
            </a:r>
            <a:r>
              <a:rPr lang="en-US" sz="800" spc="-55" noProof="1">
                <a:solidFill>
                  <a:srgbClr val="3F70A0"/>
                </a:solidFill>
                <a:latin typeface="Courier New"/>
                <a:cs typeface="Courier New"/>
              </a:rPr>
              <a:t> </a:t>
            </a:r>
            <a:r>
              <a:rPr lang="en-US" sz="800" spc="-45" noProof="1">
                <a:solidFill>
                  <a:srgbClr val="3F70A0"/>
                </a:solidFill>
                <a:latin typeface="Courier New"/>
                <a:cs typeface="Courier New"/>
              </a:rPr>
              <a:t>S3." </a:t>
            </a:r>
            <a:r>
              <a:rPr lang="en-US" sz="800" b="1" spc="-60" noProof="1">
                <a:solidFill>
                  <a:srgbClr val="007021"/>
                </a:solidFill>
                <a:latin typeface="Courier New"/>
                <a:cs typeface="Courier New"/>
              </a:rPr>
              <a:t>with</a:t>
            </a:r>
            <a:r>
              <a:rPr lang="en-US" sz="800" b="1" noProof="1">
                <a:solidFill>
                  <a:srgbClr val="007021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007F00"/>
                </a:solidFill>
                <a:latin typeface="Courier New"/>
                <a:cs typeface="Courier New"/>
              </a:rPr>
              <a:t>open</a:t>
            </a:r>
            <a:r>
              <a:rPr lang="en-US" sz="800" spc="-60" noProof="1">
                <a:latin typeface="Courier New"/>
                <a:cs typeface="Courier New"/>
              </a:rPr>
              <a:t>(RESULT_FILE_NAME_LOCAL,</a:t>
            </a:r>
            <a:r>
              <a:rPr lang="en-US" sz="800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solidFill>
                  <a:srgbClr val="3F70A0"/>
                </a:solidFill>
                <a:latin typeface="Courier New"/>
                <a:cs typeface="Courier New"/>
              </a:rPr>
              <a:t>"w"</a:t>
            </a:r>
            <a:r>
              <a:rPr lang="en-US" sz="800" spc="-55" noProof="1">
                <a:latin typeface="Courier New"/>
                <a:cs typeface="Courier New"/>
              </a:rPr>
              <a:t>)</a:t>
            </a:r>
            <a:r>
              <a:rPr lang="en-US" sz="800" noProof="1">
                <a:latin typeface="Courier New"/>
                <a:cs typeface="Courier New"/>
              </a:rPr>
              <a:t> </a:t>
            </a:r>
            <a:r>
              <a:rPr lang="en-US" sz="800" b="1" spc="-60" noProof="1">
                <a:solidFill>
                  <a:srgbClr val="007F00"/>
                </a:solidFill>
                <a:latin typeface="Courier New"/>
                <a:cs typeface="Courier New"/>
              </a:rPr>
              <a:t>as</a:t>
            </a:r>
            <a:r>
              <a:rPr lang="en-US" sz="800" b="1" spc="5" noProof="1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10" noProof="1">
                <a:solidFill>
                  <a:srgbClr val="007F00"/>
                </a:solidFill>
                <a:latin typeface="Courier New"/>
                <a:cs typeface="Courier New"/>
              </a:rPr>
              <a:t>file</a:t>
            </a:r>
            <a:r>
              <a:rPr lang="en-US" sz="800" spc="-10" noProof="1">
                <a:latin typeface="Courier New"/>
                <a:cs typeface="Courier New"/>
              </a:rPr>
              <a:t>:</a:t>
            </a:r>
            <a:endParaRPr lang="en-US" sz="800" noProof="1">
              <a:latin typeface="Courier New"/>
              <a:cs typeface="Courier New"/>
            </a:endParaRPr>
          </a:p>
          <a:p>
            <a:pPr marL="431165">
              <a:lnSpc>
                <a:spcPct val="100000"/>
              </a:lnSpc>
              <a:spcBef>
                <a:spcPts val="70"/>
              </a:spcBef>
            </a:pPr>
            <a:r>
              <a:rPr lang="en-US" sz="800" spc="-25" noProof="1">
                <a:solidFill>
                  <a:srgbClr val="007F00"/>
                </a:solidFill>
                <a:latin typeface="Courier New"/>
                <a:cs typeface="Courier New"/>
              </a:rPr>
              <a:t>file</a:t>
            </a:r>
            <a:r>
              <a:rPr lang="en-US" sz="800" spc="-25" noProof="1">
                <a:latin typeface="Courier New"/>
                <a:cs typeface="Courier New"/>
              </a:rPr>
              <a:t>.write(file_content)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195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215900">
              <a:lnSpc>
                <a:spcPct val="100000"/>
              </a:lnSpc>
            </a:pP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#</a:t>
            </a:r>
            <a:r>
              <a:rPr lang="en-US" sz="800" i="1" spc="-4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Upload</a:t>
            </a:r>
            <a:r>
              <a:rPr lang="en-US" sz="800" i="1" spc="-4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to</a:t>
            </a:r>
            <a:r>
              <a:rPr lang="en-US" sz="800" i="1" spc="-40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25" noProof="1">
                <a:solidFill>
                  <a:srgbClr val="60A0AF"/>
                </a:solidFill>
                <a:latin typeface="Courier New"/>
                <a:cs typeface="Courier New"/>
              </a:rPr>
              <a:t>S3</a:t>
            </a:r>
            <a:endParaRPr lang="en-US" sz="800" noProof="1">
              <a:latin typeface="Courier New"/>
              <a:cs typeface="Courier New"/>
            </a:endParaRPr>
          </a:p>
          <a:p>
            <a:pPr marL="215900">
              <a:lnSpc>
                <a:spcPct val="100000"/>
              </a:lnSpc>
              <a:spcBef>
                <a:spcPts val="70"/>
              </a:spcBef>
            </a:pPr>
            <a:r>
              <a:rPr lang="en-US" sz="800" spc="-60" noProof="1">
                <a:latin typeface="Courier New"/>
                <a:cs typeface="Courier New"/>
              </a:rPr>
              <a:t>s3.upload_file(RESULT_FILE_NAME_LOCAL,</a:t>
            </a:r>
            <a:r>
              <a:rPr lang="en-US" sz="800" spc="110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RESULTS_BUCKET_NAME,</a:t>
            </a:r>
            <a:r>
              <a:rPr lang="en-US" sz="800" spc="114" noProof="1"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RESULT_FILE_NAME_S3)</a:t>
            </a:r>
            <a:endParaRPr lang="en-US" sz="800" noProof="1">
              <a:latin typeface="Courier New"/>
              <a:cs typeface="Courier New"/>
            </a:endParaRPr>
          </a:p>
          <a:p>
            <a:pPr marL="215900">
              <a:lnSpc>
                <a:spcPct val="100000"/>
              </a:lnSpc>
              <a:spcBef>
                <a:spcPts val="75"/>
              </a:spcBef>
            </a:pPr>
            <a:r>
              <a:rPr lang="en-US" sz="800" spc="-55" noProof="1">
                <a:solidFill>
                  <a:srgbClr val="007F00"/>
                </a:solidFill>
                <a:latin typeface="Courier New"/>
                <a:cs typeface="Courier New"/>
              </a:rPr>
              <a:t>print</a:t>
            </a:r>
            <a:r>
              <a:rPr lang="en-US" sz="800" spc="-55" noProof="1">
                <a:latin typeface="Courier New"/>
                <a:cs typeface="Courier New"/>
              </a:rPr>
              <a:t>(</a:t>
            </a:r>
            <a:r>
              <a:rPr lang="en-US" sz="800" spc="-55" noProof="1">
                <a:solidFill>
                  <a:srgbClr val="BA6687"/>
                </a:solidFill>
                <a:latin typeface="Courier New"/>
                <a:cs typeface="Courier New"/>
              </a:rPr>
              <a:t>f"File</a:t>
            </a:r>
            <a:r>
              <a:rPr lang="en-US" sz="800" spc="-5" noProof="1">
                <a:solidFill>
                  <a:srgbClr val="BA6687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BA6687"/>
                </a:solidFill>
                <a:latin typeface="Courier New"/>
                <a:cs typeface="Courier New"/>
              </a:rPr>
              <a:t>'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{</a:t>
            </a:r>
            <a:r>
              <a:rPr lang="en-US" sz="800" spc="-60" noProof="1">
                <a:latin typeface="Courier New"/>
                <a:cs typeface="Courier New"/>
              </a:rPr>
              <a:t>RESULT_FILE_NAME_LOCAL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}</a:t>
            </a:r>
            <a:r>
              <a:rPr lang="en-US" sz="800" spc="-60" noProof="1">
                <a:solidFill>
                  <a:srgbClr val="BA6687"/>
                </a:solidFill>
                <a:latin typeface="Courier New"/>
                <a:cs typeface="Courier New"/>
              </a:rPr>
              <a:t>'</a:t>
            </a:r>
            <a:r>
              <a:rPr lang="en-US" sz="800" spc="5" noProof="1">
                <a:solidFill>
                  <a:srgbClr val="BA6687"/>
                </a:solidFill>
                <a:latin typeface="Courier New"/>
                <a:cs typeface="Courier New"/>
              </a:rPr>
              <a:t> </a:t>
            </a:r>
            <a:r>
              <a:rPr lang="en-US" sz="800" spc="-55" noProof="1">
                <a:solidFill>
                  <a:srgbClr val="BA6687"/>
                </a:solidFill>
                <a:latin typeface="Courier New"/>
                <a:cs typeface="Courier New"/>
              </a:rPr>
              <a:t>successfully</a:t>
            </a:r>
            <a:r>
              <a:rPr lang="en-US" sz="800" spc="5" noProof="1">
                <a:solidFill>
                  <a:srgbClr val="BA6687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BA6687"/>
                </a:solidFill>
                <a:latin typeface="Courier New"/>
                <a:cs typeface="Courier New"/>
              </a:rPr>
              <a:t>uploaded</a:t>
            </a:r>
            <a:r>
              <a:rPr lang="en-US" sz="800" spc="5" noProof="1">
                <a:solidFill>
                  <a:srgbClr val="BA6687"/>
                </a:solidFill>
                <a:latin typeface="Courier New"/>
                <a:cs typeface="Courier New"/>
              </a:rPr>
              <a:t> </a:t>
            </a:r>
            <a:r>
              <a:rPr lang="en-US" sz="800" spc="-50" noProof="1">
                <a:solidFill>
                  <a:srgbClr val="BA6687"/>
                </a:solidFill>
                <a:latin typeface="Courier New"/>
                <a:cs typeface="Courier New"/>
              </a:rPr>
              <a:t>to</a:t>
            </a:r>
            <a:r>
              <a:rPr lang="en-US" sz="800" spc="5" noProof="1">
                <a:solidFill>
                  <a:srgbClr val="BA6687"/>
                </a:solidFill>
                <a:latin typeface="Courier New"/>
                <a:cs typeface="Courier New"/>
              </a:rPr>
              <a:t> </a:t>
            </a:r>
            <a:r>
              <a:rPr lang="en-US" sz="800" spc="-55" noProof="1">
                <a:solidFill>
                  <a:srgbClr val="BA6687"/>
                </a:solidFill>
                <a:latin typeface="Courier New"/>
                <a:cs typeface="Courier New"/>
              </a:rPr>
              <a:t>'s3://</a:t>
            </a:r>
            <a:r>
              <a:rPr lang="en-US" sz="800" spc="-55" noProof="1">
                <a:solidFill>
                  <a:srgbClr val="3F70A0"/>
                </a:solidFill>
                <a:latin typeface="Courier New"/>
                <a:cs typeface="Courier New"/>
              </a:rPr>
              <a:t>{</a:t>
            </a:r>
            <a:r>
              <a:rPr lang="en-US" sz="800" spc="-55" noProof="1">
                <a:latin typeface="Courier New"/>
                <a:cs typeface="Courier New"/>
              </a:rPr>
              <a:t>RESULTS_BUCKET_NAME</a:t>
            </a:r>
            <a:r>
              <a:rPr lang="en-US" sz="800" spc="-55" noProof="1">
                <a:solidFill>
                  <a:srgbClr val="3F70A0"/>
                </a:solidFill>
                <a:latin typeface="Courier New"/>
                <a:cs typeface="Courier New"/>
              </a:rPr>
              <a:t>}</a:t>
            </a:r>
            <a:r>
              <a:rPr lang="en-US" sz="800" spc="-55" noProof="1">
                <a:solidFill>
                  <a:srgbClr val="BA6687"/>
                </a:solidFill>
                <a:latin typeface="Courier New"/>
                <a:cs typeface="Courier New"/>
              </a:rPr>
              <a:t>/</a:t>
            </a:r>
          </a:p>
          <a:p>
            <a:pPr marL="215900">
              <a:lnSpc>
                <a:spcPct val="100000"/>
              </a:lnSpc>
              <a:spcBef>
                <a:spcPts val="75"/>
              </a:spcBef>
            </a:pP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{</a:t>
            </a:r>
            <a:r>
              <a:rPr lang="en-US" sz="800" spc="-60" noProof="1">
                <a:latin typeface="Courier New"/>
                <a:cs typeface="Courier New"/>
              </a:rPr>
              <a:t>RESULT_FILE_NAME_S3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}</a:t>
            </a:r>
            <a:r>
              <a:rPr lang="en-US" sz="800" spc="-60" noProof="1">
                <a:solidFill>
                  <a:srgbClr val="BA6687"/>
                </a:solidFill>
                <a:latin typeface="Courier New"/>
                <a:cs typeface="Courier New"/>
              </a:rPr>
              <a:t> '</a:t>
            </a:r>
            <a:r>
              <a:rPr lang="en-US" sz="800" spc="-55" noProof="1">
                <a:solidFill>
                  <a:srgbClr val="BA6687"/>
                </a:solidFill>
                <a:latin typeface="Courier New"/>
                <a:cs typeface="Courier New"/>
              </a:rPr>
              <a:t> ")</a:t>
            </a: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4723765" cy="5080"/>
            </a:xfrm>
            <a:custGeom>
              <a:avLst/>
              <a:gdLst/>
              <a:ahLst/>
              <a:cxnLst/>
              <a:rect l="l" t="t" r="r" b="b"/>
              <a:pathLst>
                <a:path w="4723765" h="5080">
                  <a:moveTo>
                    <a:pt x="0" y="5060"/>
                  </a:moveTo>
                  <a:lnTo>
                    <a:pt x="0" y="0"/>
                  </a:lnTo>
                  <a:lnTo>
                    <a:pt x="4723302" y="0"/>
                  </a:lnTo>
                  <a:lnTo>
                    <a:pt x="472330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8526" y="59834"/>
            <a:ext cx="182308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Writing</a:t>
            </a:r>
            <a:r>
              <a:rPr lang="en-US" sz="1000" b="1" spc="2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noProof="1">
                <a:solidFill>
                  <a:srgbClr val="F9F9F9"/>
                </a:solidFill>
                <a:latin typeface="Arial"/>
                <a:cs typeface="Arial"/>
              </a:rPr>
              <a:t>files</a:t>
            </a:r>
            <a:r>
              <a:rPr lang="en-US" sz="1000" b="1" spc="2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to</a:t>
            </a:r>
            <a:r>
              <a:rPr lang="en-US" sz="1000" b="1" spc="3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S3</a:t>
            </a:r>
            <a:r>
              <a:rPr lang="en-US" sz="1000" b="1" spc="2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with</a:t>
            </a:r>
            <a:r>
              <a:rPr lang="en-US" sz="1000" b="1" spc="3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noProof="1">
                <a:solidFill>
                  <a:srgbClr val="F9F9F9"/>
                </a:solidFill>
                <a:latin typeface="Arial"/>
                <a:cs typeface="Arial"/>
              </a:rPr>
              <a:t>python</a:t>
            </a:r>
            <a:endParaRPr lang="en-US" sz="1000" noProof="1">
              <a:latin typeface="Arial"/>
              <a:cs typeface="Arial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347294" y="403740"/>
            <a:ext cx="256540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b="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20" noProof="1">
                <a:solidFill>
                  <a:srgbClr val="22373A"/>
                </a:solidFill>
                <a:latin typeface="Arial"/>
                <a:cs typeface="Arial"/>
              </a:rPr>
              <a:t>everything</a:t>
            </a:r>
            <a:r>
              <a:rPr lang="en-US" sz="900" b="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b="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10" noProof="1">
                <a:solidFill>
                  <a:srgbClr val="22373A"/>
                </a:solidFill>
                <a:latin typeface="Arial"/>
                <a:cs typeface="Arial"/>
              </a:rPr>
              <a:t>correct</a:t>
            </a:r>
            <a:r>
              <a:rPr lang="en-US" sz="900" b="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b="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25" noProof="1">
                <a:solidFill>
                  <a:srgbClr val="22373A"/>
                </a:solidFill>
                <a:latin typeface="Arial"/>
                <a:cs typeface="Arial"/>
              </a:rPr>
              <a:t>should</a:t>
            </a:r>
            <a:r>
              <a:rPr lang="en-US" sz="900" b="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95" noProof="1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b="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10" noProof="1">
                <a:solidFill>
                  <a:srgbClr val="22373A"/>
                </a:solidFill>
                <a:latin typeface="Arial"/>
                <a:cs typeface="Arial"/>
              </a:rPr>
              <a:t>following: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57" y="646073"/>
            <a:ext cx="5039908" cy="2320672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4838700" cy="5080"/>
            </a:xfrm>
            <a:custGeom>
              <a:avLst/>
              <a:gdLst/>
              <a:ahLst/>
              <a:cxnLst/>
              <a:rect l="l" t="t" r="r" b="b"/>
              <a:pathLst>
                <a:path w="4838700" h="5080">
                  <a:moveTo>
                    <a:pt x="0" y="5060"/>
                  </a:moveTo>
                  <a:lnTo>
                    <a:pt x="0" y="0"/>
                  </a:lnTo>
                  <a:lnTo>
                    <a:pt x="4838440" y="0"/>
                  </a:lnTo>
                  <a:lnTo>
                    <a:pt x="483844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noProof="1"/>
              <a:t>Inspecting</a:t>
            </a:r>
            <a:r>
              <a:rPr lang="en-US" spc="15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spc="-25" noProof="1"/>
              <a:t>bucket</a:t>
            </a:r>
            <a:r>
              <a:rPr lang="en-US" spc="15" noProof="1"/>
              <a:t> </a:t>
            </a:r>
            <a:r>
              <a:rPr lang="en-US" noProof="1"/>
              <a:t>from</a:t>
            </a:r>
            <a:r>
              <a:rPr lang="en-US" spc="20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noProof="1"/>
              <a:t>AWS</a:t>
            </a:r>
            <a:r>
              <a:rPr lang="en-US" spc="15" noProof="1"/>
              <a:t> </a:t>
            </a:r>
            <a:r>
              <a:rPr lang="en-US" spc="-40" noProof="1"/>
              <a:t>Console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299409" y="797557"/>
            <a:ext cx="1161415" cy="155575"/>
            <a:chOff x="3299409" y="797557"/>
            <a:chExt cx="1161415" cy="155575"/>
          </a:xfrm>
        </p:grpSpPr>
        <p:sp>
          <p:nvSpPr>
            <p:cNvPr id="4" name="object 4"/>
            <p:cNvSpPr/>
            <p:nvPr/>
          </p:nvSpPr>
          <p:spPr>
            <a:xfrm>
              <a:off x="3299409" y="797557"/>
              <a:ext cx="1161415" cy="155575"/>
            </a:xfrm>
            <a:custGeom>
              <a:avLst/>
              <a:gdLst/>
              <a:ahLst/>
              <a:cxnLst/>
              <a:rect l="l" t="t" r="r" b="b"/>
              <a:pathLst>
                <a:path w="1161414" h="155575">
                  <a:moveTo>
                    <a:pt x="112520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1125202" y="155489"/>
                  </a:lnTo>
                  <a:lnTo>
                    <a:pt x="1139215" y="152659"/>
                  </a:lnTo>
                  <a:lnTo>
                    <a:pt x="1150658" y="144944"/>
                  </a:lnTo>
                  <a:lnTo>
                    <a:pt x="1158373" y="133501"/>
                  </a:lnTo>
                  <a:lnTo>
                    <a:pt x="1161202" y="119488"/>
                  </a:lnTo>
                  <a:lnTo>
                    <a:pt x="1161202" y="36000"/>
                  </a:lnTo>
                  <a:lnTo>
                    <a:pt x="1158373" y="21987"/>
                  </a:lnTo>
                  <a:lnTo>
                    <a:pt x="1150658" y="10544"/>
                  </a:lnTo>
                  <a:lnTo>
                    <a:pt x="1139215" y="2829"/>
                  </a:lnTo>
                  <a:lnTo>
                    <a:pt x="1125202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299409" y="797557"/>
              <a:ext cx="1161415" cy="155575"/>
            </a:xfrm>
            <a:custGeom>
              <a:avLst/>
              <a:gdLst/>
              <a:ahLst/>
              <a:cxnLst/>
              <a:rect l="l" t="t" r="r" b="b"/>
              <a:pathLst>
                <a:path w="1161414" h="155575">
                  <a:moveTo>
                    <a:pt x="112520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1125202" y="155489"/>
                  </a:lnTo>
                  <a:lnTo>
                    <a:pt x="1139215" y="152659"/>
                  </a:lnTo>
                  <a:lnTo>
                    <a:pt x="1150658" y="144944"/>
                  </a:lnTo>
                  <a:lnTo>
                    <a:pt x="1158373" y="133501"/>
                  </a:lnTo>
                  <a:lnTo>
                    <a:pt x="1161202" y="119488"/>
                  </a:lnTo>
                  <a:lnTo>
                    <a:pt x="1161202" y="36000"/>
                  </a:lnTo>
                  <a:lnTo>
                    <a:pt x="1158373" y="21987"/>
                  </a:lnTo>
                  <a:lnTo>
                    <a:pt x="1150658" y="10544"/>
                  </a:lnTo>
                  <a:lnTo>
                    <a:pt x="1139215" y="2829"/>
                  </a:lnTo>
                  <a:lnTo>
                    <a:pt x="112520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1718" y="775329"/>
            <a:ext cx="452501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navigate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dashboard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results-{your-name}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7" name="object 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06" y="1045358"/>
            <a:ext cx="5039992" cy="1549797"/>
          </a:xfrm>
          <a:prstGeom prst="rect">
            <a:avLst/>
          </a:prstGeom>
        </p:spPr>
      </p:pic>
      <p:grpSp>
        <p:nvGrpSpPr>
          <p:cNvPr id="8" name="object 8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9" name="object 9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0" y="3234963"/>
              <a:ext cx="4954270" cy="5080"/>
            </a:xfrm>
            <a:custGeom>
              <a:avLst/>
              <a:gdLst/>
              <a:ahLst/>
              <a:cxnLst/>
              <a:rect l="l" t="t" r="r" b="b"/>
              <a:pathLst>
                <a:path w="4954270" h="5080">
                  <a:moveTo>
                    <a:pt x="0" y="5060"/>
                  </a:moveTo>
                  <a:lnTo>
                    <a:pt x="0" y="0"/>
                  </a:lnTo>
                  <a:lnTo>
                    <a:pt x="4953667" y="0"/>
                  </a:lnTo>
                  <a:lnTo>
                    <a:pt x="495366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noProof="1"/>
              <a:t>Inspecting</a:t>
            </a:r>
            <a:r>
              <a:rPr lang="en-US" spc="15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spc="-25" noProof="1"/>
              <a:t>bucket</a:t>
            </a:r>
            <a:r>
              <a:rPr lang="en-US" spc="15" noProof="1"/>
              <a:t> </a:t>
            </a:r>
            <a:r>
              <a:rPr lang="en-US" noProof="1"/>
              <a:t>from</a:t>
            </a:r>
            <a:r>
              <a:rPr lang="en-US" spc="20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noProof="1"/>
              <a:t>AWS</a:t>
            </a:r>
            <a:r>
              <a:rPr lang="en-US" spc="15" noProof="1"/>
              <a:t> </a:t>
            </a:r>
            <a:r>
              <a:rPr lang="en-US" spc="-40" noProof="1"/>
              <a:t>Console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514636"/>
            <a:ext cx="344106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Inside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should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95" noProof="1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folder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just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created,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it.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59994" y="892845"/>
            <a:ext cx="5040057" cy="1963002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069205" cy="5080"/>
            </a:xfrm>
            <a:custGeom>
              <a:avLst/>
              <a:gdLst/>
              <a:ahLst/>
              <a:cxnLst/>
              <a:rect l="l" t="t" r="r" b="b"/>
              <a:pathLst>
                <a:path w="5069205" h="5080">
                  <a:moveTo>
                    <a:pt x="0" y="5060"/>
                  </a:moveTo>
                  <a:lnTo>
                    <a:pt x="0" y="0"/>
                  </a:lnTo>
                  <a:lnTo>
                    <a:pt x="5068893" y="0"/>
                  </a:lnTo>
                  <a:lnTo>
                    <a:pt x="506889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265684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30" noProof="1">
                <a:solidFill>
                  <a:srgbClr val="F9F9F9"/>
                </a:solidFill>
                <a:latin typeface="Arial"/>
                <a:cs typeface="Arial"/>
              </a:rPr>
              <a:t>Inspecting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noProof="1">
                <a:solidFill>
                  <a:srgbClr val="F9F9F9"/>
                </a:solidFill>
                <a:latin typeface="Arial"/>
                <a:cs typeface="Arial"/>
              </a:rPr>
              <a:t>bucket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from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AWS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40" noProof="1">
                <a:solidFill>
                  <a:srgbClr val="F9F9F9"/>
                </a:solidFill>
                <a:latin typeface="Arial"/>
                <a:cs typeface="Arial"/>
              </a:rPr>
              <a:t>Console</a:t>
            </a:r>
            <a:endParaRPr lang="en-US" sz="10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43433" y="453207"/>
            <a:ext cx="243649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should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95" noProof="1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just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uploaded.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83" y="695442"/>
            <a:ext cx="5039853" cy="2221835"/>
          </a:xfrm>
          <a:prstGeom prst="rect">
            <a:avLst/>
          </a:prstGeom>
        </p:spPr>
      </p:pic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184140" cy="5080"/>
            </a:xfrm>
            <a:custGeom>
              <a:avLst/>
              <a:gdLst/>
              <a:ahLst/>
              <a:cxnLst/>
              <a:rect l="l" t="t" r="r" b="b"/>
              <a:pathLst>
                <a:path w="5184140" h="5080">
                  <a:moveTo>
                    <a:pt x="0" y="5060"/>
                  </a:moveTo>
                  <a:lnTo>
                    <a:pt x="0" y="0"/>
                  </a:lnTo>
                  <a:lnTo>
                    <a:pt x="5184031" y="0"/>
                  </a:lnTo>
                  <a:lnTo>
                    <a:pt x="518403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865"/>
            <a:ext cx="124206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4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Sync</a:t>
            </a:r>
            <a:r>
              <a:rPr lang="en-US" sz="1100" b="1" spc="1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with</a:t>
            </a:r>
            <a:r>
              <a:rPr lang="en-US" sz="1100" b="1" spc="1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a</a:t>
            </a:r>
            <a:r>
              <a:rPr lang="en-US" sz="1100" b="1" spc="2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3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bucket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755"/>
            <a:ext cx="2505710" cy="5080"/>
            <a:chOff x="1627403" y="1647755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755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755"/>
              <a:ext cx="2254885" cy="5080"/>
            </a:xfrm>
            <a:custGeom>
              <a:avLst/>
              <a:gdLst/>
              <a:ahLst/>
              <a:cxnLst/>
              <a:rect l="l" t="t" r="r" b="b"/>
              <a:pathLst>
                <a:path w="2254885" h="5080">
                  <a:moveTo>
                    <a:pt x="0" y="5060"/>
                  </a:moveTo>
                  <a:lnTo>
                    <a:pt x="0" y="0"/>
                  </a:lnTo>
                  <a:lnTo>
                    <a:pt x="2254698" y="0"/>
                  </a:lnTo>
                  <a:lnTo>
                    <a:pt x="225469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45" noProof="1"/>
              <a:t>Syncing</a:t>
            </a:r>
            <a:r>
              <a:rPr lang="en-US" spc="20" noProof="1"/>
              <a:t> </a:t>
            </a:r>
            <a:r>
              <a:rPr lang="en-US" noProof="1"/>
              <a:t>a</a:t>
            </a:r>
            <a:r>
              <a:rPr lang="en-US" spc="20" noProof="1"/>
              <a:t> </a:t>
            </a:r>
            <a:r>
              <a:rPr lang="en-US" spc="-10" noProof="1"/>
              <a:t>local</a:t>
            </a:r>
            <a:r>
              <a:rPr lang="en-US" spc="25" noProof="1"/>
              <a:t> </a:t>
            </a:r>
            <a:r>
              <a:rPr lang="en-US" spc="-25" noProof="1"/>
              <a:t>directory</a:t>
            </a:r>
            <a:r>
              <a:rPr lang="en-US" spc="20" noProof="1"/>
              <a:t> </a:t>
            </a:r>
            <a:r>
              <a:rPr lang="en-US" noProof="1"/>
              <a:t>to</a:t>
            </a:r>
            <a:r>
              <a:rPr lang="en-US" spc="20" noProof="1"/>
              <a:t> </a:t>
            </a:r>
            <a:r>
              <a:rPr lang="en-US" spc="-45" noProof="1"/>
              <a:t>download</a:t>
            </a:r>
            <a:r>
              <a:rPr lang="en-US" spc="25" noProof="1"/>
              <a:t> </a:t>
            </a:r>
            <a:r>
              <a:rPr lang="en-US" noProof="1"/>
              <a:t>from</a:t>
            </a:r>
            <a:r>
              <a:rPr lang="en-US" spc="20" noProof="1"/>
              <a:t> </a:t>
            </a:r>
            <a:r>
              <a:rPr lang="en-US" noProof="1"/>
              <a:t>a</a:t>
            </a:r>
            <a:r>
              <a:rPr lang="en-US" spc="25" noProof="1"/>
              <a:t> </a:t>
            </a:r>
            <a:r>
              <a:rPr lang="en-US" spc="-10" noProof="1"/>
              <a:t>bucket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820280" y="1066057"/>
            <a:ext cx="2799080" cy="464820"/>
            <a:chOff x="820280" y="1066057"/>
            <a:chExt cx="2799080" cy="464820"/>
          </a:xfrm>
        </p:grpSpPr>
        <p:sp>
          <p:nvSpPr>
            <p:cNvPr id="4" name="object 4"/>
            <p:cNvSpPr/>
            <p:nvPr/>
          </p:nvSpPr>
          <p:spPr>
            <a:xfrm>
              <a:off x="3032480" y="1066057"/>
              <a:ext cx="443865" cy="121285"/>
            </a:xfrm>
            <a:custGeom>
              <a:avLst/>
              <a:gdLst/>
              <a:ahLst/>
              <a:cxnLst/>
              <a:rect l="l" t="t" r="r" b="b"/>
              <a:pathLst>
                <a:path w="443864" h="121284">
                  <a:moveTo>
                    <a:pt x="407793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407793" y="120757"/>
                  </a:lnTo>
                  <a:lnTo>
                    <a:pt x="421806" y="117928"/>
                  </a:lnTo>
                  <a:lnTo>
                    <a:pt x="433249" y="110213"/>
                  </a:lnTo>
                  <a:lnTo>
                    <a:pt x="440964" y="98770"/>
                  </a:lnTo>
                  <a:lnTo>
                    <a:pt x="443793" y="84757"/>
                  </a:lnTo>
                  <a:lnTo>
                    <a:pt x="443793" y="36000"/>
                  </a:lnTo>
                  <a:lnTo>
                    <a:pt x="440964" y="21987"/>
                  </a:lnTo>
                  <a:lnTo>
                    <a:pt x="433249" y="10544"/>
                  </a:lnTo>
                  <a:lnTo>
                    <a:pt x="421806" y="2829"/>
                  </a:lnTo>
                  <a:lnTo>
                    <a:pt x="407793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032480" y="1066057"/>
              <a:ext cx="443865" cy="121285"/>
            </a:xfrm>
            <a:custGeom>
              <a:avLst/>
              <a:gdLst/>
              <a:ahLst/>
              <a:cxnLst/>
              <a:rect l="l" t="t" r="r" b="b"/>
              <a:pathLst>
                <a:path w="443864" h="121284">
                  <a:moveTo>
                    <a:pt x="407793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407793" y="120757"/>
                  </a:lnTo>
                  <a:lnTo>
                    <a:pt x="421806" y="117928"/>
                  </a:lnTo>
                  <a:lnTo>
                    <a:pt x="433249" y="110213"/>
                  </a:lnTo>
                  <a:lnTo>
                    <a:pt x="440964" y="98770"/>
                  </a:lnTo>
                  <a:lnTo>
                    <a:pt x="443793" y="84757"/>
                  </a:lnTo>
                  <a:lnTo>
                    <a:pt x="443793" y="36000"/>
                  </a:lnTo>
                  <a:lnTo>
                    <a:pt x="440964" y="21987"/>
                  </a:lnTo>
                  <a:lnTo>
                    <a:pt x="433249" y="10544"/>
                  </a:lnTo>
                  <a:lnTo>
                    <a:pt x="421806" y="2829"/>
                  </a:lnTo>
                  <a:lnTo>
                    <a:pt x="407793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2995968" y="1225382"/>
              <a:ext cx="623570" cy="146050"/>
            </a:xfrm>
            <a:custGeom>
              <a:avLst/>
              <a:gdLst/>
              <a:ahLst/>
              <a:cxnLst/>
              <a:rect l="l" t="t" r="r" b="b"/>
              <a:pathLst>
                <a:path w="623570" h="146050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9467"/>
                  </a:lnTo>
                  <a:lnTo>
                    <a:pt x="2829" y="123480"/>
                  </a:lnTo>
                  <a:lnTo>
                    <a:pt x="10544" y="134923"/>
                  </a:lnTo>
                  <a:lnTo>
                    <a:pt x="21987" y="142638"/>
                  </a:lnTo>
                  <a:lnTo>
                    <a:pt x="36000" y="145467"/>
                  </a:lnTo>
                  <a:lnTo>
                    <a:pt x="587145" y="145467"/>
                  </a:lnTo>
                  <a:lnTo>
                    <a:pt x="601158" y="142638"/>
                  </a:lnTo>
                  <a:lnTo>
                    <a:pt x="612602" y="134923"/>
                  </a:lnTo>
                  <a:lnTo>
                    <a:pt x="620317" y="123480"/>
                  </a:lnTo>
                  <a:lnTo>
                    <a:pt x="623146" y="109467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2995968" y="1225382"/>
              <a:ext cx="623570" cy="146050"/>
            </a:xfrm>
            <a:custGeom>
              <a:avLst/>
              <a:gdLst/>
              <a:ahLst/>
              <a:cxnLst/>
              <a:rect l="l" t="t" r="r" b="b"/>
              <a:pathLst>
                <a:path w="623570" h="146050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9467"/>
                  </a:lnTo>
                  <a:lnTo>
                    <a:pt x="2829" y="123480"/>
                  </a:lnTo>
                  <a:lnTo>
                    <a:pt x="10544" y="134923"/>
                  </a:lnTo>
                  <a:lnTo>
                    <a:pt x="21987" y="142638"/>
                  </a:lnTo>
                  <a:lnTo>
                    <a:pt x="36000" y="145467"/>
                  </a:lnTo>
                  <a:lnTo>
                    <a:pt x="587145" y="145467"/>
                  </a:lnTo>
                  <a:lnTo>
                    <a:pt x="601158" y="142638"/>
                  </a:lnTo>
                  <a:lnTo>
                    <a:pt x="612602" y="134923"/>
                  </a:lnTo>
                  <a:lnTo>
                    <a:pt x="620317" y="123480"/>
                  </a:lnTo>
                  <a:lnTo>
                    <a:pt x="623146" y="109467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820280" y="1375254"/>
              <a:ext cx="2656205" cy="155575"/>
            </a:xfrm>
            <a:custGeom>
              <a:avLst/>
              <a:gdLst/>
              <a:ahLst/>
              <a:cxnLst/>
              <a:rect l="l" t="t" r="r" b="b"/>
              <a:pathLst>
                <a:path w="2656204" h="155575">
                  <a:moveTo>
                    <a:pt x="261980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2619805" y="155489"/>
                  </a:lnTo>
                  <a:lnTo>
                    <a:pt x="2633818" y="152659"/>
                  </a:lnTo>
                  <a:lnTo>
                    <a:pt x="2645261" y="144944"/>
                  </a:lnTo>
                  <a:lnTo>
                    <a:pt x="2652976" y="133501"/>
                  </a:lnTo>
                  <a:lnTo>
                    <a:pt x="2655805" y="119488"/>
                  </a:lnTo>
                  <a:lnTo>
                    <a:pt x="2655805" y="36000"/>
                  </a:lnTo>
                  <a:lnTo>
                    <a:pt x="2652976" y="21987"/>
                  </a:lnTo>
                  <a:lnTo>
                    <a:pt x="2645261" y="10544"/>
                  </a:lnTo>
                  <a:lnTo>
                    <a:pt x="2633818" y="2829"/>
                  </a:lnTo>
                  <a:lnTo>
                    <a:pt x="2619805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820280" y="1375254"/>
              <a:ext cx="2656205" cy="155575"/>
            </a:xfrm>
            <a:custGeom>
              <a:avLst/>
              <a:gdLst/>
              <a:ahLst/>
              <a:cxnLst/>
              <a:rect l="l" t="t" r="r" b="b"/>
              <a:pathLst>
                <a:path w="2656204" h="155575">
                  <a:moveTo>
                    <a:pt x="261980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2619805" y="155489"/>
                  </a:lnTo>
                  <a:lnTo>
                    <a:pt x="2633818" y="152659"/>
                  </a:lnTo>
                  <a:lnTo>
                    <a:pt x="2645261" y="144944"/>
                  </a:lnTo>
                  <a:lnTo>
                    <a:pt x="2652976" y="133501"/>
                  </a:lnTo>
                  <a:lnTo>
                    <a:pt x="2655805" y="119488"/>
                  </a:lnTo>
                  <a:lnTo>
                    <a:pt x="2655805" y="36000"/>
                  </a:lnTo>
                  <a:lnTo>
                    <a:pt x="2652976" y="21987"/>
                  </a:lnTo>
                  <a:lnTo>
                    <a:pt x="2645261" y="10544"/>
                  </a:lnTo>
                  <a:lnTo>
                    <a:pt x="2633818" y="2829"/>
                  </a:lnTo>
                  <a:lnTo>
                    <a:pt x="2619805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10" name="object 10"/>
          <p:cNvGrpSpPr/>
          <p:nvPr/>
        </p:nvGrpSpPr>
        <p:grpSpPr>
          <a:xfrm>
            <a:off x="372646" y="1756322"/>
            <a:ext cx="5015230" cy="581660"/>
            <a:chOff x="372646" y="1756322"/>
            <a:chExt cx="5015230" cy="581660"/>
          </a:xfrm>
        </p:grpSpPr>
        <p:sp>
          <p:nvSpPr>
            <p:cNvPr id="11" name="object 11"/>
            <p:cNvSpPr/>
            <p:nvPr/>
          </p:nvSpPr>
          <p:spPr>
            <a:xfrm>
              <a:off x="377994" y="1761669"/>
              <a:ext cx="5004435" cy="570865"/>
            </a:xfrm>
            <a:custGeom>
              <a:avLst/>
              <a:gdLst/>
              <a:ahLst/>
              <a:cxnLst/>
              <a:rect l="l" t="t" r="r" b="b"/>
              <a:pathLst>
                <a:path w="5004435" h="570864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534630"/>
                  </a:lnTo>
                  <a:lnTo>
                    <a:pt x="2829" y="548643"/>
                  </a:lnTo>
                  <a:lnTo>
                    <a:pt x="10544" y="560086"/>
                  </a:lnTo>
                  <a:lnTo>
                    <a:pt x="21987" y="567801"/>
                  </a:lnTo>
                  <a:lnTo>
                    <a:pt x="36000" y="570630"/>
                  </a:lnTo>
                  <a:lnTo>
                    <a:pt x="4968064" y="570630"/>
                  </a:lnTo>
                  <a:lnTo>
                    <a:pt x="4982077" y="567801"/>
                  </a:lnTo>
                  <a:lnTo>
                    <a:pt x="4993521" y="560086"/>
                  </a:lnTo>
                  <a:lnTo>
                    <a:pt x="5001236" y="548643"/>
                  </a:lnTo>
                  <a:lnTo>
                    <a:pt x="5004065" y="534630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378973" y="1762648"/>
              <a:ext cx="5002530" cy="568960"/>
            </a:xfrm>
            <a:custGeom>
              <a:avLst/>
              <a:gdLst/>
              <a:ahLst/>
              <a:cxnLst/>
              <a:rect l="l" t="t" r="r" b="b"/>
              <a:pathLst>
                <a:path w="5002530" h="568960">
                  <a:moveTo>
                    <a:pt x="0" y="533651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533651"/>
                  </a:lnTo>
                  <a:lnTo>
                    <a:pt x="4999354" y="547283"/>
                  </a:lnTo>
                  <a:lnTo>
                    <a:pt x="4991849" y="558415"/>
                  </a:lnTo>
                  <a:lnTo>
                    <a:pt x="4980717" y="565920"/>
                  </a:lnTo>
                  <a:lnTo>
                    <a:pt x="4967085" y="568672"/>
                  </a:lnTo>
                  <a:lnTo>
                    <a:pt x="35021" y="568672"/>
                  </a:lnTo>
                  <a:lnTo>
                    <a:pt x="21389" y="565920"/>
                  </a:lnTo>
                  <a:lnTo>
                    <a:pt x="10257" y="558415"/>
                  </a:lnTo>
                  <a:lnTo>
                    <a:pt x="2752" y="547283"/>
                  </a:lnTo>
                  <a:lnTo>
                    <a:pt x="0" y="533651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3" name="object 13"/>
          <p:cNvSpPr txBox="1"/>
          <p:nvPr/>
        </p:nvSpPr>
        <p:spPr>
          <a:xfrm>
            <a:off x="424180" y="659330"/>
            <a:ext cx="4973320" cy="1587422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2700">
              <a:spcBef>
                <a:spcPts val="275"/>
              </a:spcBef>
              <a:tabLst>
                <a:tab pos="160020" algn="l"/>
              </a:tabLst>
            </a:pPr>
            <a:r>
              <a:rPr lang="en-US" sz="900" b="1" noProof="1">
                <a:solidFill>
                  <a:srgbClr val="0070C0"/>
                </a:solidFill>
                <a:latin typeface="Arial"/>
                <a:cs typeface="Arial"/>
              </a:rPr>
              <a:t>From the AWS CLI</a:t>
            </a:r>
          </a:p>
          <a:p>
            <a:pPr marL="160020" indent="-147320">
              <a:lnSpc>
                <a:spcPct val="100000"/>
              </a:lnSpc>
              <a:spcBef>
                <a:spcPts val="275"/>
              </a:spcBef>
              <a:buAutoNum type="arabicPeriod"/>
              <a:tabLst>
                <a:tab pos="160020" algn="l"/>
              </a:tabLst>
            </a:pPr>
            <a:endParaRPr lang="en-US" sz="900" spc="-25" noProof="1">
              <a:solidFill>
                <a:srgbClr val="22373A"/>
              </a:solidFill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275"/>
              </a:spcBef>
              <a:buAutoNum type="arabicPeriod"/>
              <a:tabLst>
                <a:tab pos="160020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new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folder on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desktop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it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latin typeface="Courier New"/>
                <a:cs typeface="Courier New"/>
              </a:rPr>
              <a:t>results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160020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Open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terminal 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navigate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folder.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cd</a:t>
            </a:r>
            <a:r>
              <a:rPr lang="en-US" sz="900" spc="-70" noProof="1">
                <a:latin typeface="Courier New"/>
                <a:cs typeface="Courier New"/>
              </a:rPr>
              <a:t> </a:t>
            </a:r>
            <a:r>
              <a:rPr lang="en-US" sz="900" spc="-10" noProof="1">
                <a:latin typeface="Courier New"/>
                <a:cs typeface="Courier New"/>
              </a:rPr>
              <a:t>Desktop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159385" marR="5080" indent="-147320">
              <a:lnSpc>
                <a:spcPct val="116199"/>
              </a:lnSpc>
              <a:buAutoNum type="arabicPeriod"/>
              <a:tabLst>
                <a:tab pos="16065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Run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aws s3</a:t>
            </a:r>
            <a:r>
              <a:rPr lang="en-US" sz="900" spc="-70" noProof="1">
                <a:latin typeface="Courier New"/>
                <a:cs typeface="Courier New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sync</a:t>
            </a:r>
            <a:r>
              <a:rPr lang="en-US" sz="900" spc="-70" noProof="1">
                <a:latin typeface="Courier New"/>
                <a:cs typeface="Courier New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s3://results-{your-name}</a:t>
            </a:r>
            <a:r>
              <a:rPr lang="en-US" sz="900" spc="-70" noProof="1">
                <a:latin typeface="Courier New"/>
                <a:cs typeface="Courier New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results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download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bucket. 	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case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result: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0"/>
              </a:spcBef>
            </a:pPr>
            <a:endParaRPr lang="en-US" sz="900" noProof="1">
              <a:latin typeface="Arial"/>
              <a:cs typeface="Arial"/>
            </a:endParaRPr>
          </a:p>
          <a:p>
            <a:pPr marL="130810">
              <a:lnSpc>
                <a:spcPct val="100000"/>
              </a:lnSpc>
              <a:spcBef>
                <a:spcPts val="5"/>
              </a:spcBef>
            </a:pPr>
            <a:r>
              <a:rPr lang="en-US" sz="800" spc="-50" noProof="1">
                <a:latin typeface="Courier New"/>
                <a:cs typeface="Courier New"/>
              </a:rPr>
              <a:t>PS</a:t>
            </a:r>
            <a:r>
              <a:rPr lang="en-US" sz="800" spc="-2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C:</a:t>
            </a:r>
            <a:r>
              <a:rPr lang="en-US" sz="800" spc="-55" noProof="1">
                <a:solidFill>
                  <a:srgbClr val="8E2100"/>
                </a:solidFill>
                <a:latin typeface="Courier New"/>
                <a:cs typeface="Courier New"/>
              </a:rPr>
              <a:t>\U</a:t>
            </a:r>
            <a:r>
              <a:rPr lang="en-US" sz="800" spc="-55" noProof="1">
                <a:latin typeface="Courier New"/>
                <a:cs typeface="Courier New"/>
              </a:rPr>
              <a:t>sers</a:t>
            </a:r>
            <a:r>
              <a:rPr lang="en-US" sz="800" spc="-55" noProof="1">
                <a:solidFill>
                  <a:srgbClr val="8E2100"/>
                </a:solidFill>
                <a:latin typeface="Courier New"/>
                <a:cs typeface="Courier New"/>
              </a:rPr>
              <a:t>\f</a:t>
            </a:r>
            <a:r>
              <a:rPr lang="en-US" sz="800" spc="-55" noProof="1">
                <a:latin typeface="Courier New"/>
                <a:cs typeface="Courier New"/>
              </a:rPr>
              <a:t>nao</a:t>
            </a:r>
            <a:r>
              <a:rPr lang="en-US" sz="800" spc="-55" noProof="1">
                <a:solidFill>
                  <a:srgbClr val="8E2100"/>
                </a:solidFill>
                <a:latin typeface="Courier New"/>
                <a:cs typeface="Courier New"/>
              </a:rPr>
              <a:t>\D</a:t>
            </a:r>
            <a:r>
              <a:rPr lang="en-US" sz="800" spc="-55" noProof="1">
                <a:latin typeface="Courier New"/>
                <a:cs typeface="Courier New"/>
              </a:rPr>
              <a:t>esktop</a:t>
            </a:r>
            <a:r>
              <a:rPr lang="en-US" sz="800" spc="-55" noProof="1">
                <a:solidFill>
                  <a:srgbClr val="666666"/>
                </a:solidFill>
                <a:latin typeface="Courier New"/>
                <a:cs typeface="Courier New"/>
              </a:rPr>
              <a:t>&gt;</a:t>
            </a:r>
            <a:r>
              <a:rPr lang="en-US" sz="800" spc="-25" noProof="1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aws</a:t>
            </a:r>
            <a:r>
              <a:rPr lang="en-US" sz="800" spc="-20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s3</a:t>
            </a:r>
            <a:r>
              <a:rPr lang="en-US" sz="800" spc="-2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sync</a:t>
            </a:r>
            <a:r>
              <a:rPr lang="en-US" sz="800" spc="-2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s3://results-ferran-</a:t>
            </a:r>
            <a:r>
              <a:rPr lang="en-US" sz="800" spc="-55" noProof="1">
                <a:latin typeface="Courier New"/>
                <a:cs typeface="Courier New"/>
              </a:rPr>
              <a:t>aran</a:t>
            </a:r>
            <a:r>
              <a:rPr lang="en-US" sz="800" spc="-20" noProof="1"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results</a:t>
            </a:r>
            <a:endParaRPr lang="en-US" sz="800" noProof="1">
              <a:latin typeface="Courier New"/>
              <a:cs typeface="Courier New"/>
            </a:endParaRPr>
          </a:p>
          <a:p>
            <a:pPr marL="130810" marR="50800">
              <a:lnSpc>
                <a:spcPct val="107400"/>
              </a:lnSpc>
            </a:pPr>
            <a:r>
              <a:rPr lang="en-US" sz="800" spc="-55" noProof="1">
                <a:latin typeface="Courier New"/>
                <a:cs typeface="Courier New"/>
              </a:rPr>
              <a:t>download:</a:t>
            </a:r>
            <a:r>
              <a:rPr lang="en-US" sz="800" spc="114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s3://results-ferran-aran/project1/new-file.txt</a:t>
            </a:r>
            <a:r>
              <a:rPr lang="en-US" sz="800" spc="120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to</a:t>
            </a:r>
            <a:r>
              <a:rPr lang="en-US" sz="800" spc="12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results</a:t>
            </a:r>
            <a:r>
              <a:rPr lang="en-US" sz="800" spc="-60" noProof="1">
                <a:solidFill>
                  <a:srgbClr val="8E2100"/>
                </a:solidFill>
                <a:latin typeface="Courier New"/>
                <a:cs typeface="Courier New"/>
              </a:rPr>
              <a:t>\p</a:t>
            </a:r>
            <a:r>
              <a:rPr lang="en-US" sz="800" spc="-60" noProof="1">
                <a:latin typeface="Courier New"/>
                <a:cs typeface="Courier New"/>
              </a:rPr>
              <a:t>roject1</a:t>
            </a:r>
            <a:r>
              <a:rPr lang="en-US" sz="800" spc="-60" noProof="1">
                <a:solidFill>
                  <a:srgbClr val="8E2100"/>
                </a:solidFill>
                <a:latin typeface="Courier New"/>
                <a:cs typeface="Courier New"/>
              </a:rPr>
              <a:t>\n</a:t>
            </a:r>
            <a:r>
              <a:rPr lang="en-US" sz="800" spc="-60" noProof="1">
                <a:latin typeface="Courier New"/>
                <a:cs typeface="Courier New"/>
              </a:rPr>
              <a:t>ew-</a:t>
            </a:r>
            <a:r>
              <a:rPr lang="en-US" sz="800" spc="-55" noProof="1">
                <a:latin typeface="Courier New"/>
                <a:cs typeface="Courier New"/>
              </a:rPr>
              <a:t>file.txt </a:t>
            </a:r>
            <a:r>
              <a:rPr lang="en-US" sz="800" spc="-50" noProof="1">
                <a:latin typeface="Courier New"/>
                <a:cs typeface="Courier New"/>
              </a:rPr>
              <a:t>PS</a:t>
            </a:r>
            <a:r>
              <a:rPr lang="en-US" sz="800" spc="-65" noProof="1">
                <a:latin typeface="Courier New"/>
                <a:cs typeface="Courier New"/>
              </a:rPr>
              <a:t> </a:t>
            </a:r>
            <a:r>
              <a:rPr lang="en-US" sz="800" spc="-20" noProof="1">
                <a:latin typeface="Courier New"/>
                <a:cs typeface="Courier New"/>
              </a:rPr>
              <a:t>C:</a:t>
            </a:r>
            <a:r>
              <a:rPr lang="en-US" sz="800" spc="-20" noProof="1">
                <a:solidFill>
                  <a:srgbClr val="8E2100"/>
                </a:solidFill>
                <a:latin typeface="Courier New"/>
                <a:cs typeface="Courier New"/>
              </a:rPr>
              <a:t>\U</a:t>
            </a:r>
            <a:r>
              <a:rPr lang="en-US" sz="800" spc="-20" noProof="1">
                <a:latin typeface="Courier New"/>
                <a:cs typeface="Courier New"/>
              </a:rPr>
              <a:t>sers</a:t>
            </a:r>
            <a:r>
              <a:rPr lang="en-US" sz="800" spc="-20" noProof="1">
                <a:solidFill>
                  <a:srgbClr val="8E2100"/>
                </a:solidFill>
                <a:latin typeface="Courier New"/>
                <a:cs typeface="Courier New"/>
              </a:rPr>
              <a:t>\f</a:t>
            </a:r>
            <a:r>
              <a:rPr lang="en-US" sz="800" spc="-20" noProof="1">
                <a:latin typeface="Courier New"/>
                <a:cs typeface="Courier New"/>
              </a:rPr>
              <a:t>nao</a:t>
            </a:r>
            <a:r>
              <a:rPr lang="en-US" sz="800" spc="-20" noProof="1">
                <a:solidFill>
                  <a:srgbClr val="8E2100"/>
                </a:solidFill>
                <a:latin typeface="Courier New"/>
                <a:cs typeface="Courier New"/>
              </a:rPr>
              <a:t>\D</a:t>
            </a:r>
            <a:r>
              <a:rPr lang="en-US" sz="800" spc="-20" noProof="1">
                <a:latin typeface="Courier New"/>
                <a:cs typeface="Courier New"/>
              </a:rPr>
              <a:t>esktop</a:t>
            </a:r>
            <a:r>
              <a:rPr lang="en-US" sz="800" spc="-20" noProof="1">
                <a:solidFill>
                  <a:srgbClr val="666666"/>
                </a:solidFill>
                <a:latin typeface="Courier New"/>
                <a:cs typeface="Courier New"/>
              </a:rPr>
              <a:t>&gt;</a:t>
            </a:r>
            <a:endParaRPr lang="en-US" sz="800" noProof="1">
              <a:latin typeface="Courier New"/>
              <a:cs typeface="Courier New"/>
            </a:endParaRPr>
          </a:p>
        </p:txBody>
      </p:sp>
      <p:grpSp>
        <p:nvGrpSpPr>
          <p:cNvPr id="14" name="object 1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5" name="object 1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6" name="object 1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7" name="object 17"/>
            <p:cNvSpPr/>
            <p:nvPr/>
          </p:nvSpPr>
          <p:spPr>
            <a:xfrm>
              <a:off x="0" y="3234963"/>
              <a:ext cx="5299710" cy="5080"/>
            </a:xfrm>
            <a:custGeom>
              <a:avLst/>
              <a:gdLst/>
              <a:ahLst/>
              <a:cxnLst/>
              <a:rect l="l" t="t" r="r" b="b"/>
              <a:pathLst>
                <a:path w="5299710" h="5080">
                  <a:moveTo>
                    <a:pt x="0" y="5060"/>
                  </a:moveTo>
                  <a:lnTo>
                    <a:pt x="0" y="0"/>
                  </a:lnTo>
                  <a:lnTo>
                    <a:pt x="5299257" y="0"/>
                  </a:lnTo>
                  <a:lnTo>
                    <a:pt x="529925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45" noProof="1"/>
              <a:t>Syncing</a:t>
            </a:r>
            <a:r>
              <a:rPr lang="en-US" spc="20" noProof="1"/>
              <a:t> </a:t>
            </a:r>
            <a:r>
              <a:rPr lang="en-US" noProof="1"/>
              <a:t>a</a:t>
            </a:r>
            <a:r>
              <a:rPr lang="en-US" spc="20" noProof="1"/>
              <a:t> </a:t>
            </a:r>
            <a:r>
              <a:rPr lang="en-US" spc="-10" noProof="1"/>
              <a:t>local</a:t>
            </a:r>
            <a:r>
              <a:rPr lang="en-US" spc="25" noProof="1"/>
              <a:t> </a:t>
            </a:r>
            <a:r>
              <a:rPr lang="en-US" spc="-25" noProof="1"/>
              <a:t>directory</a:t>
            </a:r>
            <a:r>
              <a:rPr lang="en-US" spc="20" noProof="1"/>
              <a:t> </a:t>
            </a:r>
            <a:r>
              <a:rPr lang="en-US" noProof="1"/>
              <a:t>to</a:t>
            </a:r>
            <a:r>
              <a:rPr lang="en-US" spc="20" noProof="1"/>
              <a:t> </a:t>
            </a:r>
            <a:r>
              <a:rPr lang="en-US" spc="-45" noProof="1"/>
              <a:t>download</a:t>
            </a:r>
            <a:r>
              <a:rPr lang="en-US" spc="25" noProof="1"/>
              <a:t> </a:t>
            </a:r>
            <a:r>
              <a:rPr lang="en-US" noProof="1"/>
              <a:t>from</a:t>
            </a:r>
            <a:r>
              <a:rPr lang="en-US" spc="20" noProof="1"/>
              <a:t> </a:t>
            </a:r>
            <a:r>
              <a:rPr lang="en-US" noProof="1"/>
              <a:t>a</a:t>
            </a:r>
            <a:r>
              <a:rPr lang="en-US" spc="25" noProof="1"/>
              <a:t> </a:t>
            </a:r>
            <a:r>
              <a:rPr lang="en-US" spc="-10" noProof="1"/>
              <a:t>bucket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1718" y="371520"/>
            <a:ext cx="447865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Explorer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navigate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folder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95" noProof="1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just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downloaded.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09879" y="613854"/>
            <a:ext cx="4940243" cy="2399105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414645" cy="5080"/>
            </a:xfrm>
            <a:custGeom>
              <a:avLst/>
              <a:gdLst/>
              <a:ahLst/>
              <a:cxnLst/>
              <a:rect l="l" t="t" r="r" b="b"/>
              <a:pathLst>
                <a:path w="5414645" h="5080">
                  <a:moveTo>
                    <a:pt x="0" y="5060"/>
                  </a:moveTo>
                  <a:lnTo>
                    <a:pt x="0" y="0"/>
                  </a:lnTo>
                  <a:lnTo>
                    <a:pt x="5414483" y="0"/>
                  </a:lnTo>
                  <a:lnTo>
                    <a:pt x="541448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4341"/>
            <a:ext cx="412115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5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Recap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6231"/>
            <a:ext cx="2505710" cy="5080"/>
            <a:chOff x="1627403" y="1646231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6231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6231"/>
              <a:ext cx="2355215" cy="5080"/>
            </a:xfrm>
            <a:custGeom>
              <a:avLst/>
              <a:gdLst/>
              <a:ahLst/>
              <a:cxnLst/>
              <a:rect l="l" t="t" r="r" b="b"/>
              <a:pathLst>
                <a:path w="2355215" h="5080">
                  <a:moveTo>
                    <a:pt x="0" y="5060"/>
                  </a:moveTo>
                  <a:lnTo>
                    <a:pt x="0" y="0"/>
                  </a:lnTo>
                  <a:lnTo>
                    <a:pt x="2354929" y="0"/>
                  </a:lnTo>
                  <a:lnTo>
                    <a:pt x="235492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noProof="1"/>
              <a:t>Recap</a:t>
            </a:r>
            <a:r>
              <a:rPr lang="en-US" spc="35" noProof="1"/>
              <a:t> </a:t>
            </a:r>
            <a:r>
              <a:rPr lang="en-US" noProof="1"/>
              <a:t>-</a:t>
            </a:r>
            <a:r>
              <a:rPr lang="en-US" spc="35" noProof="1"/>
              <a:t> </a:t>
            </a:r>
            <a:r>
              <a:rPr lang="en-US" spc="-30" noProof="1"/>
              <a:t>Today’s</a:t>
            </a:r>
            <a:r>
              <a:rPr lang="en-US" spc="40" noProof="1"/>
              <a:t> </a:t>
            </a:r>
            <a:r>
              <a:rPr lang="en-US" spc="-30" noProof="1"/>
              <a:t>contents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1012807"/>
            <a:ext cx="3034030" cy="135763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Today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learned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how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to: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43204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Install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CLI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43204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Configure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credentials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43204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43204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Sync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directory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download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43204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Sync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directory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upload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43204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Load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notebook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python</a:t>
            </a:r>
            <a:endParaRPr lang="en-US" sz="900" noProof="1">
              <a:latin typeface="Arial"/>
              <a:cs typeface="Arial"/>
            </a:endParaRPr>
          </a:p>
          <a:p>
            <a:pPr marL="237490" indent="-141605">
              <a:lnSpc>
                <a:spcPct val="100000"/>
              </a:lnSpc>
              <a:spcBef>
                <a:spcPts val="175"/>
              </a:spcBef>
              <a:buChar char="•"/>
              <a:tabLst>
                <a:tab pos="23749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Write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notebook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python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530215" cy="5080"/>
            </a:xfrm>
            <a:custGeom>
              <a:avLst/>
              <a:gdLst/>
              <a:ahLst/>
              <a:cxnLst/>
              <a:rect l="l" t="t" r="r" b="b"/>
              <a:pathLst>
                <a:path w="5530215" h="5080">
                  <a:moveTo>
                    <a:pt x="0" y="5060"/>
                  </a:moveTo>
                  <a:lnTo>
                    <a:pt x="0" y="0"/>
                  </a:lnTo>
                  <a:lnTo>
                    <a:pt x="5529709" y="0"/>
                  </a:lnTo>
                  <a:lnTo>
                    <a:pt x="552970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107886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noProof="1"/>
              <a:t>Recap</a:t>
            </a:r>
            <a:r>
              <a:rPr lang="en-US" spc="25" noProof="1"/>
              <a:t> </a:t>
            </a:r>
            <a:r>
              <a:rPr lang="en-US" noProof="1"/>
              <a:t>-</a:t>
            </a:r>
            <a:r>
              <a:rPr lang="en-US" spc="25" noProof="1"/>
              <a:t> </a:t>
            </a:r>
            <a:r>
              <a:rPr lang="en-US" spc="-10" noProof="1"/>
              <a:t>Use</a:t>
            </a:r>
            <a:r>
              <a:rPr lang="en-US" spc="30" noProof="1"/>
              <a:t> </a:t>
            </a:r>
            <a:r>
              <a:rPr lang="en-US" spc="-70" noProof="1"/>
              <a:t>cases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1109615"/>
            <a:ext cx="4977765" cy="11410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53670" marR="5080" indent="-141605">
              <a:lnSpc>
                <a:spcPct val="116199"/>
              </a:lnSpc>
              <a:spcBef>
                <a:spcPts val="100"/>
              </a:spcBef>
              <a:buChar char="•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 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setup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done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today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ended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up with a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on which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upload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datasets 	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work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155575" marR="202565" indent="-143510">
              <a:lnSpc>
                <a:spcPct val="116199"/>
              </a:lnSpc>
              <a:spcBef>
                <a:spcPts val="625"/>
              </a:spcBef>
              <a:buChar char="•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datasets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 </a:t>
            </a:r>
            <a:r>
              <a:rPr lang="en-US" sz="900" b="1" spc="-60" noProof="1">
                <a:solidFill>
                  <a:srgbClr val="22373A"/>
                </a:solidFill>
                <a:latin typeface="Arial"/>
                <a:cs typeface="Arial"/>
              </a:rPr>
              <a:t>accessed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any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machine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 internet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connection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necessary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	permissions.</a:t>
            </a:r>
            <a:endParaRPr lang="en-US" sz="900" noProof="1">
              <a:latin typeface="Arial"/>
              <a:cs typeface="Arial"/>
            </a:endParaRPr>
          </a:p>
          <a:p>
            <a:pPr marL="153670" marR="148590" indent="-141605">
              <a:lnSpc>
                <a:spcPct val="116199"/>
              </a:lnSpc>
              <a:spcBef>
                <a:spcPts val="625"/>
              </a:spcBef>
              <a:buChar char="•"/>
              <a:tabLst>
                <a:tab pos="160020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also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resulsts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bucket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sync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machine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so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we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results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of 	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projects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available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locally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645150" cy="5080"/>
            </a:xfrm>
            <a:custGeom>
              <a:avLst/>
              <a:gdLst/>
              <a:ahLst/>
              <a:cxnLst/>
              <a:rect l="l" t="t" r="r" b="b"/>
              <a:pathLst>
                <a:path w="5645150" h="5080">
                  <a:moveTo>
                    <a:pt x="0" y="5060"/>
                  </a:moveTo>
                  <a:lnTo>
                    <a:pt x="0" y="0"/>
                  </a:lnTo>
                  <a:lnTo>
                    <a:pt x="5644847" y="0"/>
                  </a:lnTo>
                  <a:lnTo>
                    <a:pt x="564484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noProof="1"/>
              <a:t>Recap</a:t>
            </a:r>
            <a:r>
              <a:rPr lang="en-US" spc="50" noProof="1"/>
              <a:t> </a:t>
            </a:r>
            <a:r>
              <a:rPr lang="en-US" noProof="1"/>
              <a:t>-</a:t>
            </a:r>
            <a:r>
              <a:rPr lang="en-US" spc="55" noProof="1"/>
              <a:t> </a:t>
            </a:r>
            <a:r>
              <a:rPr lang="en-US" spc="-30" noProof="1"/>
              <a:t>Subject’s</a:t>
            </a:r>
            <a:r>
              <a:rPr lang="en-US" spc="50" noProof="1"/>
              <a:t> </a:t>
            </a:r>
            <a:r>
              <a:rPr lang="en-US" spc="-35" noProof="1"/>
              <a:t>website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1428232"/>
            <a:ext cx="4971415" cy="503555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60020" indent="-147320">
              <a:lnSpc>
                <a:spcPct val="100000"/>
              </a:lnSpc>
              <a:spcBef>
                <a:spcPts val="275"/>
              </a:spcBef>
              <a:buChar char="•"/>
              <a:tabLst>
                <a:tab pos="160020" algn="l"/>
              </a:tabLst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Remember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there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website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useful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information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related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subject.</a:t>
            </a:r>
            <a:endParaRPr lang="en-US" sz="9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has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recently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been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updated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information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about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past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sessions.</a:t>
            </a:r>
            <a:endParaRPr lang="en-US" sz="900" noProof="1">
              <a:latin typeface="Arial"/>
              <a:cs typeface="Arial"/>
            </a:endParaRPr>
          </a:p>
          <a:p>
            <a:pPr marL="156210" indent="-143510">
              <a:lnSpc>
                <a:spcPct val="100000"/>
              </a:lnSpc>
              <a:spcBef>
                <a:spcPts val="175"/>
              </a:spcBef>
              <a:buChar char="•"/>
              <a:tabLst>
                <a:tab pos="15621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Two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new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guides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been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added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Get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started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with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AWS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Set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up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 your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Lab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for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every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session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22373A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3960</TotalTime>
  <Words>2961</Words>
  <Application>Microsoft Macintosh PowerPoint</Application>
  <PresentationFormat>Personalizado</PresentationFormat>
  <Paragraphs>268</Paragraphs>
  <Slides>57</Slides>
  <Notes>4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57</vt:i4>
      </vt:variant>
    </vt:vector>
  </HeadingPairs>
  <TitlesOfParts>
    <vt:vector size="61" baseType="lpstr">
      <vt:lpstr>Aptos</vt:lpstr>
      <vt:lpstr>Arial</vt:lpstr>
      <vt:lpstr>Courier New</vt:lpstr>
      <vt:lpstr>Office Theme</vt:lpstr>
      <vt:lpstr>Presentación de PowerPoint</vt:lpstr>
      <vt:lpstr>Today’s lecture</vt:lpstr>
      <vt:lpstr>Presentación de PowerPoint</vt:lpstr>
      <vt:lpstr>What is S3?</vt:lpstr>
      <vt:lpstr>S3 - Buckets and Objects</vt:lpstr>
      <vt:lpstr>S3 Pricing</vt:lpstr>
      <vt:lpstr>Presentación de PowerPoint</vt:lpstr>
      <vt:lpstr>What is the AWS CLI?</vt:lpstr>
      <vt:lpstr>Installing the AWS CLI</vt:lpstr>
      <vt:lpstr>Installing the AWS CLI</vt:lpstr>
      <vt:lpstr>Installing the AWS CLI</vt:lpstr>
      <vt:lpstr>Configuring the AWS Credentials</vt:lpstr>
      <vt:lpstr>Configuring the AWS Credentials</vt:lpstr>
      <vt:lpstr>Presentación de PowerPoint</vt:lpstr>
      <vt:lpstr>Configuring the AWS Credentials</vt:lpstr>
      <vt:lpstr>Configuring the AWS Credentials</vt:lpstr>
      <vt:lpstr>Configuring the AWS Credentials</vt:lpstr>
      <vt:lpstr>Configuring the AWS Credentials</vt:lpstr>
      <vt:lpstr>Configuring the AWS Credentials</vt:lpstr>
      <vt:lpstr>Presentación de PowerPoint</vt:lpstr>
      <vt:lpstr>Presentación de PowerPoint</vt:lpstr>
      <vt:lpstr>Presentación de PowerPoint</vt:lpstr>
      <vt:lpstr>Creating a S3 bucket</vt:lpstr>
      <vt:lpstr>Creating a S3 bucket</vt:lpstr>
      <vt:lpstr>Creating a S3 bucket</vt:lpstr>
      <vt:lpstr>Uploading a file to the bucket</vt:lpstr>
      <vt:lpstr>Presentación de PowerPoint</vt:lpstr>
      <vt:lpstr>Syncing a local directory to upload to a bucket</vt:lpstr>
      <vt:lpstr>Inspecting the bucket from the AWS Console</vt:lpstr>
      <vt:lpstr>Inspecting the bucket from the AWS Console</vt:lpstr>
      <vt:lpstr>Presentación de PowerPoint</vt:lpstr>
      <vt:lpstr>Presentación de PowerPoint</vt:lpstr>
      <vt:lpstr>Configuring AWS credentials on an EC2 instance</vt:lpstr>
      <vt:lpstr>Configuring AWS credentials on an EC2 instance</vt:lpstr>
      <vt:lpstr>Presentación de PowerPoint</vt:lpstr>
      <vt:lpstr>Presentación de PowerPoint</vt:lpstr>
      <vt:lpstr>Presentación de PowerPoint</vt:lpstr>
      <vt:lpstr>Presentación de PowerPoint</vt:lpstr>
      <vt:lpstr>Configuring AWS credentials on an EC2 instance</vt:lpstr>
      <vt:lpstr>Reading files from S3 with python</vt:lpstr>
      <vt:lpstr>Reading files from S3 with python</vt:lpstr>
      <vt:lpstr>Reading files from S3 with python</vt:lpstr>
      <vt:lpstr>Reading files from S3 with python</vt:lpstr>
      <vt:lpstr>RECAP: Accessing the file from the notebook</vt:lpstr>
      <vt:lpstr>Writing files to S3 with python</vt:lpstr>
      <vt:lpstr>Writing files to S3 with python</vt:lpstr>
      <vt:lpstr>If everything is correct you should see the following:</vt:lpstr>
      <vt:lpstr>Inspecting the bucket from the AWS Console</vt:lpstr>
      <vt:lpstr>Inspecting the bucket from the AWS Console</vt:lpstr>
      <vt:lpstr>Presentación de PowerPoint</vt:lpstr>
      <vt:lpstr>Presentación de PowerPoint</vt:lpstr>
      <vt:lpstr>Syncing a local directory to download from a bucket</vt:lpstr>
      <vt:lpstr>Syncing a local directory to download from a bucket</vt:lpstr>
      <vt:lpstr>Presentación de PowerPoint</vt:lpstr>
      <vt:lpstr>Recap - Today’s contents</vt:lpstr>
      <vt:lpstr>Recap - Use cases</vt:lpstr>
      <vt:lpstr>Recap - Subject’s website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High Performance and Distributed Computing for Big Data - Unit 3: AWS - S3</dc:title>
  <dc:creator>Ferran Aran Domingo ` `%%%`#`&amp;12_`__~~~ౡ氀猀攀</dc:creator>
  <cp:keywords>Cloud Computing, AWS, Healtcare, Cloud Computing in Healthcare</cp:keywords>
  <cp:lastModifiedBy>Francesc Xavier Solsona Tehas</cp:lastModifiedBy>
  <cp:revision>32</cp:revision>
  <dcterms:created xsi:type="dcterms:W3CDTF">2025-05-19T16:09:36Z</dcterms:created>
  <dcterms:modified xsi:type="dcterms:W3CDTF">2026-04-29T09:44:41Z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2025-03-04T00:00:00Z</vt:filetime>
  </property>
  <property fmtid="{D5CDD505-2E9C-101B-9397-08002B2CF9AE}" pid="3" name="Creator">
    <vt:lpwstr>LaTeX via pandoc</vt:lpwstr>
  </property>
  <property fmtid="{D5CDD505-2E9C-101B-9397-08002B2CF9AE}" pid="4" name="Producer">
    <vt:lpwstr>xdvipdfmx (20240210)</vt:lpwstr>
  </property>
  <property fmtid="{D5CDD505-2E9C-101B-9397-08002B2CF9AE}" pid="5" name="LastSaved">
    <vt:filetime>2025-03-04T00:00:00Z</vt:filetime>
  </property>
</Properties>
</file>