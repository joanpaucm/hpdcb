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7" r:id="rId34"/>
    <p:sldId id="301" r:id="rId35"/>
    <p:sldId id="302" r:id="rId36"/>
    <p:sldId id="303" r:id="rId37"/>
    <p:sldId id="304" r:id="rId38"/>
    <p:sldId id="305" r:id="rId39"/>
    <p:sldId id="308" r:id="rId40"/>
    <p:sldId id="309" r:id="rId41"/>
    <p:sldId id="310" r:id="rId42"/>
    <p:sldId id="311" r:id="rId43"/>
    <p:sldId id="312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329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94755"/>
  </p:normalViewPr>
  <p:slideViewPr>
    <p:cSldViewPr>
      <p:cViewPr varScale="1">
        <p:scale>
          <a:sx n="203" d="100"/>
          <a:sy n="203" d="100"/>
        </p:scale>
        <p:origin x="280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2/4/26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4.html" TargetMode="External"/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francescsolsonatehas.github.io/HPDCB/session3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hdbc-17705110-mdbs.github.io/HandsOnLab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6318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936625"/>
            <a:ext cx="97091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3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10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7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10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2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E6AB77B9-FC09-0838-8567-E0878694CB7A}"/>
              </a:ext>
            </a:extLst>
          </p:cNvPr>
          <p:cNvSpPr txBox="1"/>
          <p:nvPr/>
        </p:nvSpPr>
        <p:spPr>
          <a:xfrm>
            <a:off x="347294" y="1224034"/>
            <a:ext cx="1240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u="sng" dirty="0">
                <a:hlinkClick r:id="rId3"/>
              </a:rPr>
              <a:t>Session 4 - AWS S3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Today’s</a:t>
            </a:r>
            <a:r>
              <a:rPr lang="en-US" spc="-5" noProof="1"/>
              <a:t> </a:t>
            </a:r>
            <a:r>
              <a:rPr lang="en-US" spc="-20" noProof="1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noProof="1"/>
              <a:t>AWS</a:t>
            </a:r>
            <a:r>
              <a:rPr lang="en-US" spc="-5" noProof="1"/>
              <a:t> </a:t>
            </a:r>
            <a:r>
              <a:rPr lang="en-US" noProof="1"/>
              <a:t>S3:</a:t>
            </a:r>
            <a:r>
              <a:rPr lang="en-US" spc="75" noProof="1"/>
              <a:t> </a:t>
            </a:r>
            <a:r>
              <a:rPr lang="en-US" spc="-10" noProof="1"/>
              <a:t>Storing</a:t>
            </a:r>
            <a:r>
              <a:rPr lang="en-US" spc="-5" noProof="1"/>
              <a:t> </a:t>
            </a:r>
            <a:r>
              <a:rPr lang="en-US" spc="-10" noProof="1"/>
              <a:t>files</a:t>
            </a:r>
            <a:r>
              <a:rPr lang="en-US" spc="-5" noProof="1"/>
              <a:t> </a:t>
            </a: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spc="-20" noProof="1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spc="-30" noProof="1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30" noProof="1"/>
              <a:t> </a:t>
            </a:r>
            <a:r>
              <a:rPr lang="en-US" spc="-30" noProof="1"/>
              <a:t>Buckets</a:t>
            </a:r>
            <a:r>
              <a:rPr lang="en-US" spc="25" noProof="1"/>
              <a:t> </a:t>
            </a:r>
            <a:r>
              <a:rPr lang="en-US" spc="-10" noProof="1"/>
              <a:t>and</a:t>
            </a:r>
            <a:r>
              <a:rPr lang="en-US" spc="30" noProof="1"/>
              <a:t> </a:t>
            </a:r>
            <a:r>
              <a:rPr lang="en-US" spc="-20" noProof="1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noProof="1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noProof="1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noProof="1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hdcb-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noProof="1">
                <a:latin typeface="Courier New"/>
                <a:cs typeface="Courier New"/>
              </a:rPr>
              <a:t>data-{your-</a:t>
            </a:r>
            <a:r>
              <a:rPr lang="en-US" sz="800" spc="-10" noProof="1">
                <a:latin typeface="Courier New"/>
                <a:cs typeface="Courier New"/>
              </a:rPr>
              <a:t>name}/ </a:t>
            </a:r>
            <a:r>
              <a:rPr lang="en-US" sz="800" spc="-60" noProof="1">
                <a:latin typeface="Courier New"/>
                <a:cs typeface="Courier New"/>
              </a:rPr>
              <a:t>project1/data.csv project2/data.csv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0" noProof="1"/>
              <a:t> </a:t>
            </a:r>
            <a:r>
              <a:rPr lang="en-US" spc="-25" noProof="1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noProof="1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 	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Zone-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IA,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noProof="1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noProof="1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35" noProof="1"/>
              <a:t> </a:t>
            </a:r>
            <a:r>
              <a:rPr lang="en-US" spc="-25" noProof="1"/>
              <a:t>is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noProof="1"/>
              <a:t>AWS</a:t>
            </a:r>
            <a:r>
              <a:rPr lang="en-US" spc="35" noProof="1"/>
              <a:t> </a:t>
            </a:r>
            <a:r>
              <a:rPr lang="en-US" spc="-20" noProof="1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~]$</a:t>
            </a:r>
            <a:r>
              <a:rPr lang="en-US" sz="800" spc="25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aws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usage: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[options]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...]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[parameters]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see</a:t>
            </a:r>
            <a:r>
              <a:rPr lang="en-US" sz="800" spc="-55" noProof="1">
                <a:latin typeface="Courier New"/>
                <a:cs typeface="Courier New"/>
              </a:rPr>
              <a:t> help </a:t>
            </a:r>
            <a:r>
              <a:rPr lang="en-US" sz="800" spc="-60" noProof="1">
                <a:latin typeface="Courier New"/>
                <a:cs typeface="Courier New"/>
              </a:rPr>
              <a:t>text,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you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can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run: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55" noProof="1">
                <a:latin typeface="Courier New"/>
                <a:cs typeface="Courier New"/>
              </a:rPr>
              <a:t> &lt;command&gt;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noProof="1">
                <a:latin typeface="Courier New"/>
                <a:cs typeface="Courier New"/>
              </a:rPr>
              <a:t>aws: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error: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the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following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arguments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are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required: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command </a:t>
            </a: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~]$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</a:t>
            </a:r>
            <a:r>
              <a:rPr lang="en-US" sz="900" spc="-75" noProof="1">
                <a:latin typeface="Courier New"/>
                <a:cs typeface="Courier New"/>
              </a:rPr>
              <a:t>Details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Show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noProof="1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17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notepad</a:t>
            </a:r>
            <a:r>
              <a:rPr lang="en-US" sz="800" spc="-10" noProof="1">
                <a:latin typeface="Courier New"/>
                <a:cs typeface="Courier New"/>
              </a:rPr>
              <a:t> 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open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cat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55" noProof="1">
                <a:latin typeface="Courier New"/>
                <a:cs typeface="Courier New"/>
              </a:rPr>
              <a:t> 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cat </a:t>
            </a:r>
            <a:r>
              <a:rPr lang="en-US" sz="800" spc="-60" noProof="1">
                <a:latin typeface="Courier New"/>
                <a:cs typeface="Courier New"/>
              </a:rPr>
              <a:t>.aws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redentials </a:t>
            </a:r>
            <a:r>
              <a:rPr lang="en-US" sz="800" spc="-10" noProof="1">
                <a:latin typeface="Courier New"/>
                <a:cs typeface="Courier New"/>
              </a:rPr>
              <a:t>[default] </a:t>
            </a: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ASIA2CKYVHJAOXR6P57M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lu/KjIjBylX60GTfsqHvRyAqcqhsEVHsdzWDPlrT </a:t>
            </a:r>
            <a:r>
              <a:rPr lang="en-US" sz="800" spc="-30" noProof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noProof="1">
                <a:latin typeface="Courier New"/>
                <a:cs typeface="Courier New"/>
              </a:rPr>
              <a:t>IQoJb3JpZ2...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sts </a:t>
            </a:r>
            <a:r>
              <a:rPr lang="en-US" sz="900" spc="-75" noProof="1">
                <a:latin typeface="Courier New"/>
                <a:cs typeface="Courier New"/>
              </a:rPr>
              <a:t>get-caller-identity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get-caller-</a:t>
            </a:r>
            <a:r>
              <a:rPr lang="en-US" sz="800" spc="-10" noProof="1">
                <a:latin typeface="Courier New"/>
                <a:cs typeface="Courier New"/>
              </a:rPr>
              <a:t>identity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40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latin typeface="Courier New"/>
                <a:cs typeface="Courier New"/>
              </a:rPr>
              <a:t>bucket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data-{your-</a:t>
            </a:r>
            <a:r>
              <a:rPr lang="en-US" sz="900" spc="-25" noProof="1">
                <a:latin typeface="Courier New"/>
                <a:cs typeface="Courier New"/>
              </a:rPr>
              <a:t>name}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data-ferran-</a:t>
            </a:r>
            <a:r>
              <a:rPr lang="en-US" sz="900" spc="-10" noProof="1">
                <a:latin typeface="Courier New"/>
                <a:cs typeface="Courier New"/>
              </a:rPr>
              <a:t>aran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bucket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Uploading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40" noProof="1"/>
              <a:t> </a:t>
            </a:r>
            <a:r>
              <a:rPr lang="en-US" noProof="1"/>
              <a:t>file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noProof="1"/>
              <a:t>aws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chemeClr val="tx1"/>
                </a:solidFill>
                <a:latin typeface="Arial"/>
                <a:cs typeface="Arial"/>
              </a:rPr>
              <a:t>Example (upload photo.jpg to a bucket named my-bucket):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noProof="1"/>
              <a:t>aws s3 cp photo.jpg s3://my-bucket/</a:t>
            </a: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spc="-10" noProof="1"/>
              <a:t>local</a:t>
            </a:r>
            <a:r>
              <a:rPr lang="en-US" spc="35" noProof="1"/>
              <a:t> </a:t>
            </a:r>
            <a:r>
              <a:rPr lang="en-US" spc="-25" noProof="1"/>
              <a:t>directory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spc="-35" noProof="1"/>
              <a:t>upload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data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my-dataset.txt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Desktop directory.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s3://data-{your-name}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data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</a:t>
            </a:r>
            <a:r>
              <a:rPr lang="en-US" sz="800" spc="-20" noProof="1">
                <a:latin typeface="Courier New"/>
                <a:cs typeface="Courier New"/>
              </a:rPr>
              <a:t>aran </a:t>
            </a:r>
            <a:r>
              <a:rPr lang="en-US" sz="800" spc="-60" noProof="1">
                <a:latin typeface="Courier New"/>
                <a:cs typeface="Courier New"/>
              </a:rPr>
              <a:t>upload: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noProof="1">
                <a:latin typeface="Courier New"/>
                <a:cs typeface="Courier New"/>
              </a:rPr>
              <a:t>y-</a:t>
            </a:r>
            <a:r>
              <a:rPr lang="en-US" sz="800" spc="-55" noProof="1">
                <a:latin typeface="Courier New"/>
                <a:cs typeface="Courier New"/>
              </a:rPr>
              <a:t>dataset.txt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5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s3://data-ferran-aran/my-dataset.txt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0" noProof="1">
                <a:latin typeface="Courier New"/>
                <a:cs typeface="Courier New"/>
              </a:rPr>
              <a:t>dataset.txt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5280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 (Session 3)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 </a:t>
            </a:r>
            <a:r>
              <a:rPr lang="en-US" sz="900" spc="-10" noProof="1">
                <a:latin typeface="Courier New"/>
                <a:cs typeface="Courier New"/>
              </a:rPr>
              <a:t>.aws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noProof="1">
                <a:latin typeface="Courier New"/>
                <a:cs typeface="Courier New"/>
              </a:rPr>
              <a:t>nano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.aws/credentials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noProof="1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Ctrl </a:t>
            </a:r>
            <a:r>
              <a:rPr lang="en-US" sz="900" spc="-70" noProof="1">
                <a:latin typeface="Courier New"/>
                <a:cs typeface="Courier New"/>
              </a:rPr>
              <a:t>+ </a:t>
            </a:r>
            <a:r>
              <a:rPr lang="en-US" sz="900" spc="-75" noProof="1">
                <a:latin typeface="Courier New"/>
                <a:cs typeface="Courier New"/>
              </a:rPr>
              <a:t>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latin typeface="Courier New"/>
                <a:cs typeface="Courier New"/>
              </a:rPr>
              <a:t>Enter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</a:t>
            </a:r>
            <a:r>
              <a:rPr lang="en-US" sz="900" spc="-70" noProof="1">
                <a:latin typeface="Courier New"/>
                <a:cs typeface="Courier New"/>
              </a:rPr>
              <a:t>sts </a:t>
            </a:r>
            <a:r>
              <a:rPr lang="en-US" sz="900" spc="-75" noProof="1">
                <a:latin typeface="Courier New"/>
                <a:cs typeface="Courier New"/>
              </a:rPr>
              <a:t>get-caller-</a:t>
            </a:r>
            <a:r>
              <a:rPr lang="en-US" sz="900" spc="-10" noProof="1">
                <a:latin typeface="Courier New"/>
                <a:cs typeface="Courier New"/>
              </a:rPr>
              <a:t>identity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393651" y="2194918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60827" y="1228038"/>
            <a:ext cx="5093970" cy="1454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jupyter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noProof="1">
                <a:latin typeface="Courier New"/>
                <a:cs typeface="Courier New"/>
              </a:rPr>
              <a:t>project1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noProof="1">
                <a:latin typeface="Courier New"/>
                <a:cs typeface="Courier New"/>
              </a:rPr>
              <a:t>boto3</a:t>
            </a:r>
            <a:r>
              <a:rPr lang="en-US" sz="900" spc="-420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.project1/bin/activate </a:t>
            </a:r>
            <a:r>
              <a:rPr lang="en-US" sz="800" spc="-50" noProof="1">
                <a:latin typeface="Courier New"/>
                <a:cs typeface="Courier New"/>
              </a:rPr>
              <a:t>pip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  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notebook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8888</a:t>
            </a:r>
            <a:r>
              <a:rPr lang="en-US" sz="800" spc="1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noProof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0.0.0.0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noProof="1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latin typeface="Courier New"/>
                <a:cs typeface="Courier New"/>
              </a:rPr>
              <a:t>DATA_BUCKET_NAME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DATA_FILE_NAME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noProof="1">
                <a:solidFill>
                  <a:srgbClr val="3F70A0"/>
                </a:solidFill>
                <a:latin typeface="Courier New"/>
                <a:cs typeface="Courier New"/>
              </a:rPr>
              <a:t>dataset.txt"</a:t>
            </a:r>
            <a:r>
              <a:rPr lang="en-US" sz="800" spc="30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boto3.client(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noProof="1">
                <a:latin typeface="Courier New"/>
                <a:cs typeface="Courier New"/>
              </a:rPr>
              <a:t>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response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s3.get_object(Bucket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DATA_BUCKET_NAME,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DATA_FILE_NAME)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response[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noProof="1">
                <a:latin typeface="Courier New"/>
                <a:cs typeface="Courier New"/>
              </a:rPr>
              <a:t>].read().decode(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noProof="1">
                <a:latin typeface="Courier New"/>
                <a:cs typeface="Courier New"/>
              </a:rPr>
              <a:t>)</a:t>
            </a:r>
            <a:r>
              <a:rPr lang="en-US" sz="800" spc="40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noProof="1">
                <a:latin typeface="Courier New"/>
                <a:cs typeface="Courier New"/>
              </a:rPr>
              <a:t>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data-your-name</a:t>
            </a:r>
            <a:r>
              <a:rPr lang="en-US" sz="900" spc="-150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5" noProof="1">
                <a:latin typeface="Courier New"/>
                <a:cs typeface="Courier New"/>
              </a:rPr>
              <a:t>dataset.txt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RECAP:</a:t>
            </a:r>
            <a:r>
              <a:rPr lang="en-US" spc="20" noProof="1"/>
              <a:t> </a:t>
            </a: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latin typeface="Arial"/>
                <a:cs typeface="Arial"/>
              </a:rPr>
              <a:t>To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5" noProof="1">
                <a:latin typeface="Arial"/>
                <a:cs typeface="Arial"/>
              </a:rPr>
              <a:t>access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file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from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notebook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used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our </a:t>
            </a:r>
            <a:r>
              <a:rPr lang="en-US" sz="900" spc="-55" noProof="1">
                <a:latin typeface="Arial"/>
                <a:cs typeface="Arial"/>
              </a:rPr>
              <a:t>aws-</a:t>
            </a:r>
            <a:r>
              <a:rPr lang="en-US" sz="900" spc="-25" noProof="1">
                <a:latin typeface="Arial"/>
                <a:cs typeface="Arial"/>
              </a:rPr>
              <a:t>credentials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 the current </a:t>
            </a:r>
            <a:r>
              <a:rPr lang="en-US" sz="900" spc="-35" noProof="1">
                <a:latin typeface="Arial"/>
                <a:cs typeface="Arial"/>
              </a:rPr>
              <a:t>user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(owner</a:t>
            </a:r>
            <a:r>
              <a:rPr lang="en-US" sz="900" noProof="1">
                <a:latin typeface="Arial"/>
                <a:cs typeface="Arial"/>
              </a:rPr>
              <a:t> of the </a:t>
            </a:r>
            <a:r>
              <a:rPr lang="en-US" sz="900" spc="-10" noProof="1">
                <a:latin typeface="Arial"/>
                <a:cs typeface="Arial"/>
              </a:rPr>
              <a:t>bucket).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</a:t>
            </a:r>
            <a:r>
              <a:rPr lang="en-US" sz="900" spc="-10" noProof="1">
                <a:latin typeface="Courier New"/>
                <a:cs typeface="Courier New"/>
              </a:rPr>
              <a:t>name}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bucket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RESULT_FILE_NAME_LOCAL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29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RESULT_FILE_NAME_S3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34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noProof="1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noProof="1">
                <a:latin typeface="Courier New"/>
                <a:cs typeface="Courier New"/>
              </a:rPr>
              <a:t>(RESULT_FILE_NAME_LOCAL,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noProof="1">
                <a:latin typeface="Courier New"/>
                <a:cs typeface="Courier New"/>
              </a:rPr>
              <a:t>)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noProof="1">
                <a:latin typeface="Courier New"/>
                <a:cs typeface="Courier New"/>
              </a:rPr>
              <a:t>: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noProof="1">
                <a:latin typeface="Courier New"/>
                <a:cs typeface="Courier New"/>
              </a:rPr>
              <a:t>.write(file_content)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s3.upload_file(RESULT_FILE_NAME_LOCAL,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RESULTS_BUCKET_NAME,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RESULT_FILE_NAME_S3)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RESULT_FILE_NAME_LOCAL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RESULT_FILE_NAME_S3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results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s3://results-{your-name}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</a:t>
            </a:r>
            <a:r>
              <a:rPr lang="en-US" sz="800" spc="-55" noProof="1">
                <a:latin typeface="Courier New"/>
                <a:cs typeface="Courier New"/>
              </a:rPr>
              <a:t>aran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results</a:t>
            </a:r>
            <a:endParaRPr lang="en-US" sz="800" noProof="1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download: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s3://results-ferran-aran/project1/new-file.txt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results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roject1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noProof="1">
                <a:latin typeface="Courier New"/>
                <a:cs typeface="Courier New"/>
              </a:rPr>
              <a:t>ew-</a:t>
            </a:r>
            <a:r>
              <a:rPr lang="en-US" sz="800" spc="-55" noProof="1">
                <a:latin typeface="Courier New"/>
                <a:cs typeface="Courier New"/>
              </a:rPr>
              <a:t>file.txt </a:t>
            </a: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C: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noProof="1">
                <a:latin typeface="Courier New"/>
                <a:cs typeface="Courier New"/>
              </a:rPr>
              <a:t>sers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20" noProof="1">
                <a:latin typeface="Courier New"/>
                <a:cs typeface="Courier New"/>
              </a:rPr>
              <a:t>nao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noProof="1">
                <a:latin typeface="Courier New"/>
                <a:cs typeface="Courier New"/>
              </a:rPr>
              <a:t>esktop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35" noProof="1"/>
              <a:t> </a:t>
            </a:r>
            <a:r>
              <a:rPr lang="en-US" noProof="1"/>
              <a:t>-</a:t>
            </a:r>
            <a:r>
              <a:rPr lang="en-US" spc="35" noProof="1"/>
              <a:t> </a:t>
            </a:r>
            <a:r>
              <a:rPr lang="en-US" spc="-30" noProof="1"/>
              <a:t>Today’s</a:t>
            </a:r>
            <a:r>
              <a:rPr lang="en-US" spc="40" noProof="1"/>
              <a:t> </a:t>
            </a:r>
            <a:r>
              <a:rPr lang="en-US" spc="-30" noProof="1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25" noProof="1"/>
              <a:t> </a:t>
            </a:r>
            <a:r>
              <a:rPr lang="en-US" spc="-10" noProof="1"/>
              <a:t>Use</a:t>
            </a:r>
            <a:r>
              <a:rPr lang="en-US" spc="30" noProof="1"/>
              <a:t> </a:t>
            </a:r>
            <a:r>
              <a:rPr lang="en-US" spc="-70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noProof="1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50" noProof="1"/>
              <a:t> </a:t>
            </a:r>
            <a:r>
              <a:rPr lang="en-US" noProof="1"/>
              <a:t>-</a:t>
            </a:r>
            <a:r>
              <a:rPr lang="en-US" spc="55" noProof="1"/>
              <a:t> </a:t>
            </a:r>
            <a:r>
              <a:rPr lang="en-US" spc="-30" noProof="1"/>
              <a:t>Subject’s</a:t>
            </a:r>
            <a:r>
              <a:rPr lang="en-US" spc="50" noProof="1"/>
              <a:t> </a:t>
            </a:r>
            <a:r>
              <a:rPr lang="en-US" spc="-35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1346</TotalTime>
  <Words>2933</Words>
  <Application>Microsoft Macintosh PowerPoint</Application>
  <PresentationFormat>Custom</PresentationFormat>
  <Paragraphs>267</Paragraphs>
  <Slides>57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Aptos</vt:lpstr>
      <vt:lpstr>Arial</vt:lpstr>
      <vt:lpstr>Courier New</vt:lpstr>
      <vt:lpstr>Office Theme</vt:lpstr>
      <vt:lpstr>PowerPoint Presentation</vt:lpstr>
      <vt:lpstr>Today’s lecture</vt:lpstr>
      <vt:lpstr>PowerPoint Presentation</vt:lpstr>
      <vt:lpstr>What is S3?</vt:lpstr>
      <vt:lpstr>S3 - Buckets and Objects</vt:lpstr>
      <vt:lpstr>S3 Pricing</vt:lpstr>
      <vt:lpstr>PowerPoint Presentation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PowerPoint Presentation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PowerPoint Presentation</vt:lpstr>
      <vt:lpstr>PowerPoint Presentation</vt:lpstr>
      <vt:lpstr>PowerPoint Presentation</vt:lpstr>
      <vt:lpstr>Creating a S3 bucket</vt:lpstr>
      <vt:lpstr>Creating a S3 bucket</vt:lpstr>
      <vt:lpstr>Creating a S3 bucket</vt:lpstr>
      <vt:lpstr>Uploading a file to the bucket</vt:lpstr>
      <vt:lpstr>PowerPoint Presentation</vt:lpstr>
      <vt:lpstr>Syncing a local directory to upload to a bucket</vt:lpstr>
      <vt:lpstr>Inspecting the bucket from the AWS Console</vt:lpstr>
      <vt:lpstr>Inspecting the bucket from the AWS Console</vt:lpstr>
      <vt:lpstr>PowerPoint Presentation</vt:lpstr>
      <vt:lpstr>PowerPoint Presentation</vt:lpstr>
      <vt:lpstr>Configuring AWS credentials on an EC2 instance</vt:lpstr>
      <vt:lpstr>Configuring AWS credentials on an EC2 instance</vt:lpstr>
      <vt:lpstr>PowerPoint Presentation</vt:lpstr>
      <vt:lpstr>PowerPoint Presentation</vt:lpstr>
      <vt:lpstr>PowerPoint Presentation</vt:lpstr>
      <vt:lpstr>PowerPoint Presentation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PowerPoint Presentation</vt:lpstr>
      <vt:lpstr>PowerPoint Presentation</vt:lpstr>
      <vt:lpstr>Syncing a local directory to download from a bucket</vt:lpstr>
      <vt:lpstr>Syncing a local directory to download from a bucket</vt:lpstr>
      <vt:lpstr>PowerPoint Presentation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19</cp:revision>
  <dcterms:created xsi:type="dcterms:W3CDTF">2025-05-19T16:09:36Z</dcterms:created>
  <dcterms:modified xsi:type="dcterms:W3CDTF">2026-04-02T08:41:50Z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