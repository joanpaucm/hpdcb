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github.com/francescsolsonatehas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ancescsolsonatehas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1242941"/>
            <a:ext cx="9709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10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3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dirty="0"/>
              <a:t>AWS</a:t>
            </a:r>
            <a:r>
              <a:rPr lang="en-US" spc="-5" dirty="0"/>
              <a:t> </a:t>
            </a:r>
            <a:r>
              <a:rPr lang="en-US" dirty="0"/>
              <a:t>S3:</a:t>
            </a:r>
            <a:r>
              <a:rPr lang="en-US" spc="75" dirty="0"/>
              <a:t> </a:t>
            </a:r>
            <a:r>
              <a:rPr lang="en-US" spc="-10" dirty="0"/>
              <a:t>Storing</a:t>
            </a:r>
            <a:r>
              <a:rPr lang="en-US" spc="-5" dirty="0"/>
              <a:t> </a:t>
            </a:r>
            <a:r>
              <a:rPr lang="en-US" spc="-10" dirty="0"/>
              <a:t>files</a:t>
            </a:r>
            <a:r>
              <a:rPr lang="en-US" spc="-5" dirty="0"/>
              <a:t> </a:t>
            </a:r>
            <a:r>
              <a:rPr lang="en-US" dirty="0"/>
              <a:t>in</a:t>
            </a:r>
            <a:r>
              <a:rPr lang="en-US" spc="-5" dirty="0"/>
              <a:t> </a:t>
            </a:r>
            <a:r>
              <a:rPr lang="en-US" dirty="0"/>
              <a:t>the</a:t>
            </a:r>
            <a:r>
              <a:rPr lang="en-US" spc="-5" dirty="0"/>
              <a:t> </a:t>
            </a:r>
            <a:r>
              <a:rPr lang="en-US" spc="-20" dirty="0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55" dirty="0"/>
              <a:t> </a:t>
            </a:r>
            <a:r>
              <a:rPr lang="en-US" spc="-25" dirty="0"/>
              <a:t>is</a:t>
            </a:r>
            <a:r>
              <a:rPr lang="en-US" spc="55" dirty="0"/>
              <a:t> </a:t>
            </a:r>
            <a:r>
              <a:rPr lang="en-US" spc="-30" dirty="0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-</a:t>
            </a:r>
            <a:r>
              <a:rPr lang="en-US" spc="30" dirty="0"/>
              <a:t> </a:t>
            </a:r>
            <a:r>
              <a:rPr lang="en-US" spc="-30" dirty="0"/>
              <a:t>Buckets</a:t>
            </a:r>
            <a:r>
              <a:rPr lang="en-US" spc="25" dirty="0"/>
              <a:t> </a:t>
            </a:r>
            <a:r>
              <a:rPr lang="en-US" spc="-10" dirty="0"/>
              <a:t>and</a:t>
            </a:r>
            <a:r>
              <a:rPr lang="en-US" spc="30" dirty="0"/>
              <a:t> </a:t>
            </a:r>
            <a:r>
              <a:rPr lang="en-US" spc="-20" dirty="0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dirty="0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dirty="0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dirty="0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dirty="0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dirty="0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hdcb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latin typeface="Courier New"/>
                <a:cs typeface="Courier New"/>
              </a:rPr>
              <a:t>data-{your-</a:t>
            </a:r>
            <a:r>
              <a:rPr lang="en-US" sz="800" spc="-10" dirty="0">
                <a:latin typeface="Courier New"/>
                <a:cs typeface="Courier New"/>
              </a:rPr>
              <a:t>name}/ </a:t>
            </a:r>
            <a:r>
              <a:rPr lang="en-US" sz="800" spc="-60" dirty="0">
                <a:latin typeface="Courier New"/>
                <a:cs typeface="Courier New"/>
              </a:rPr>
              <a:t>project1/</a:t>
            </a:r>
            <a:r>
              <a:rPr lang="en-US" sz="800" spc="-60" dirty="0" err="1">
                <a:latin typeface="Courier New"/>
                <a:cs typeface="Courier New"/>
              </a:rPr>
              <a:t>data.csv</a:t>
            </a:r>
            <a:r>
              <a:rPr lang="en-US" sz="800" spc="-60" dirty="0">
                <a:latin typeface="Courier New"/>
                <a:cs typeface="Courier New"/>
              </a:rPr>
              <a:t> project2/</a:t>
            </a:r>
            <a:r>
              <a:rPr lang="en-US" sz="800" spc="-60" dirty="0" err="1">
                <a:latin typeface="Courier New"/>
                <a:cs typeface="Courier New"/>
              </a:rPr>
              <a:t>data.csv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S3</a:t>
            </a:r>
            <a:r>
              <a:rPr lang="en-US" spc="20" dirty="0"/>
              <a:t> </a:t>
            </a:r>
            <a:r>
              <a:rPr lang="en-US" spc="-25" dirty="0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dirty="0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dirty="0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dirty="0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dirty="0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35" dirty="0"/>
              <a:t> </a:t>
            </a:r>
            <a:r>
              <a:rPr lang="en-US" spc="-25" dirty="0"/>
              <a:t>is</a:t>
            </a:r>
            <a:r>
              <a:rPr lang="en-US" spc="35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dirty="0"/>
              <a:t>AWS</a:t>
            </a:r>
            <a:r>
              <a:rPr lang="en-US" spc="35" dirty="0"/>
              <a:t> </a:t>
            </a:r>
            <a:r>
              <a:rPr lang="en-US" spc="-20" dirty="0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[ec2-user@ip-172-31-86-</a:t>
            </a:r>
            <a:r>
              <a:rPr lang="en-US" sz="800" spc="-50" dirty="0">
                <a:latin typeface="Courier New"/>
                <a:cs typeface="Courier New"/>
              </a:rPr>
              <a:t>82</a:t>
            </a:r>
            <a:r>
              <a:rPr lang="en-US" sz="800" spc="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~]$</a:t>
            </a:r>
            <a:r>
              <a:rPr lang="en-US" sz="800" spc="25" dirty="0"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aws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dirty="0">
                <a:latin typeface="Courier New"/>
                <a:cs typeface="Courier New"/>
              </a:rPr>
              <a:t>usage: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[options]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&lt;command&gt;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&lt;subcommand&gt;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[&lt;subcommand&gt;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...]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[parameters]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see</a:t>
            </a:r>
            <a:r>
              <a:rPr lang="en-US" sz="800" spc="-55" dirty="0">
                <a:latin typeface="Courier New"/>
                <a:cs typeface="Courier New"/>
              </a:rPr>
              <a:t> help </a:t>
            </a:r>
            <a:r>
              <a:rPr lang="en-US" sz="800" spc="-60" dirty="0">
                <a:latin typeface="Courier New"/>
                <a:cs typeface="Courier New"/>
              </a:rPr>
              <a:t>text,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can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run: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55" dirty="0">
                <a:latin typeface="Courier New"/>
                <a:cs typeface="Courier New"/>
              </a:rPr>
              <a:t> &lt;command&gt;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&lt;command&gt;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&lt;subcommand&gt;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aws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error: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the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following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arguments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required: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command </a:t>
            </a:r>
            <a:r>
              <a:rPr lang="en-US" sz="800" spc="-60" dirty="0">
                <a:latin typeface="Courier New"/>
                <a:cs typeface="Courier New"/>
              </a:rPr>
              <a:t>[ec2-user@ip-172-31-86-</a:t>
            </a:r>
            <a:r>
              <a:rPr lang="en-US" sz="800" spc="-50" dirty="0">
                <a:latin typeface="Courier New"/>
                <a:cs typeface="Courier New"/>
              </a:rPr>
              <a:t>82</a:t>
            </a:r>
            <a:r>
              <a:rPr lang="en-US" sz="800" spc="110" dirty="0"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~]$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AWS </a:t>
            </a:r>
            <a:r>
              <a:rPr lang="en-US" sz="900" spc="-75" dirty="0">
                <a:latin typeface="Courier New"/>
                <a:cs typeface="Courier New"/>
              </a:rPr>
              <a:t>Details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Show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dirty="0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notepad</a:t>
            </a:r>
            <a:r>
              <a:rPr lang="en-US" sz="800" spc="-10" dirty="0">
                <a:latin typeface="Courier New"/>
                <a:cs typeface="Courier New"/>
              </a:rPr>
              <a:t> .</a:t>
            </a:r>
            <a:r>
              <a:rPr lang="en-US" sz="800" spc="-10" dirty="0" err="1">
                <a:latin typeface="Courier New"/>
                <a:cs typeface="Courier New"/>
              </a:rPr>
              <a:t>aws</a:t>
            </a:r>
            <a:r>
              <a:rPr lang="en-US" sz="800" spc="-10" dirty="0">
                <a:latin typeface="Courier New"/>
                <a:cs typeface="Courier New"/>
              </a:rPr>
              <a:t>/credentials.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open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.</a:t>
            </a:r>
            <a:r>
              <a:rPr lang="en-US" sz="800" spc="-10" dirty="0" err="1">
                <a:latin typeface="Courier New"/>
                <a:cs typeface="Courier New"/>
              </a:rPr>
              <a:t>aws</a:t>
            </a:r>
            <a:r>
              <a:rPr lang="en-US" sz="800" spc="-10" dirty="0">
                <a:latin typeface="Courier New"/>
                <a:cs typeface="Courier New"/>
              </a:rPr>
              <a:t>/credentials.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latin typeface="Courier New"/>
                <a:cs typeface="Courier New"/>
              </a:rPr>
              <a:t>cat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55" dirty="0">
                <a:latin typeface="Courier New"/>
                <a:cs typeface="Courier New"/>
              </a:rPr>
              <a:t> 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cat </a:t>
            </a:r>
            <a:r>
              <a:rPr lang="en-US" sz="800" spc="-60" dirty="0">
                <a:latin typeface="Courier New"/>
                <a:cs typeface="Courier New"/>
              </a:rPr>
              <a:t>.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dirty="0">
                <a:latin typeface="Courier New"/>
                <a:cs typeface="Courier New"/>
              </a:rPr>
              <a:t>redentials </a:t>
            </a:r>
            <a:r>
              <a:rPr lang="en-US" sz="800" spc="-10" dirty="0">
                <a:latin typeface="Courier New"/>
                <a:cs typeface="Courier New"/>
              </a:rPr>
              <a:t>[default] </a:t>
            </a:r>
            <a:r>
              <a:rPr lang="en-US" sz="800" spc="-60" dirty="0" err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>
                <a:latin typeface="Courier New"/>
                <a:cs typeface="Courier New"/>
              </a:rPr>
              <a:t>ASIA2CKYVHJAOXR6P57M</a:t>
            </a:r>
            <a:endParaRPr lang="en-US" sz="800" dirty="0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dirty="0" err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 err="1">
                <a:latin typeface="Courier New"/>
                <a:cs typeface="Courier New"/>
              </a:rPr>
              <a:t>lu</a:t>
            </a:r>
            <a:r>
              <a:rPr lang="en-US" sz="800" spc="-60" dirty="0">
                <a:latin typeface="Courier New"/>
                <a:cs typeface="Courier New"/>
              </a:rPr>
              <a:t>/KjIjBylX60GTfsqHvRyAqcqhsEVHsdzWDPlrT </a:t>
            </a:r>
            <a:r>
              <a:rPr lang="en-US" sz="800" spc="-30" dirty="0" err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dirty="0">
                <a:latin typeface="Courier New"/>
                <a:cs typeface="Courier New"/>
              </a:rPr>
              <a:t>IQoJb3JpZ2...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C: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dirty="0">
                <a:latin typeface="Courier New"/>
                <a:cs typeface="Courier New"/>
              </a:rPr>
              <a:t>sers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1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10" dirty="0" err="1">
                <a:latin typeface="Courier New"/>
                <a:cs typeface="Courier New"/>
              </a:rPr>
              <a:t>nao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aws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get-caller-identity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sts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get-caller-</a:t>
            </a:r>
            <a:r>
              <a:rPr lang="en-US" sz="800" spc="-10" dirty="0">
                <a:latin typeface="Courier New"/>
                <a:cs typeface="Courier New"/>
              </a:rPr>
              <a:t>identity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dirty="0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UserId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>
                <a:latin typeface="Courier New"/>
                <a:cs typeface="Courier New"/>
              </a:rPr>
              <a:t>,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dirty="0">
                <a:latin typeface="Courier New"/>
                <a:cs typeface="Courier New"/>
              </a:rPr>
              <a:t>,</a:t>
            </a:r>
            <a:endParaRPr lang="en-US" sz="800" dirty="0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dirty="0">
                <a:latin typeface="Courier New"/>
                <a:cs typeface="Courier New"/>
              </a:rPr>
              <a:t>:</a:t>
            </a:r>
            <a:r>
              <a:rPr lang="en-US" sz="800" spc="25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arn:aws:sts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::692212546112:assumed-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role/</a:t>
            </a:r>
            <a:r>
              <a:rPr lang="en-US" sz="800" spc="-40" dirty="0" err="1">
                <a:solidFill>
                  <a:srgbClr val="3F70A0"/>
                </a:solidFill>
                <a:latin typeface="Courier New"/>
                <a:cs typeface="Courier New"/>
              </a:rPr>
              <a:t>voclabs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/user3869188=</a:t>
            </a:r>
            <a:r>
              <a:rPr lang="en-US" sz="800" spc="-4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C: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dirty="0">
                <a:latin typeface="Courier New"/>
                <a:cs typeface="Courier New"/>
              </a:rPr>
              <a:t>sers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1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10" dirty="0" err="1">
                <a:latin typeface="Courier New"/>
                <a:cs typeface="Courier New"/>
              </a:rPr>
              <a:t>nao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 err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35" dirty="0">
                <a:latin typeface="Courier New"/>
                <a:cs typeface="Courier New"/>
              </a:rPr>
              <a:t>bucket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data-{your-</a:t>
            </a:r>
            <a:r>
              <a:rPr lang="en-US" sz="900" spc="-25" dirty="0">
                <a:latin typeface="Courier New"/>
                <a:cs typeface="Courier New"/>
              </a:rPr>
              <a:t>name}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</a:t>
            </a:r>
            <a:r>
              <a:rPr lang="en-US" sz="900" spc="-75" dirty="0" err="1">
                <a:latin typeface="Courier New"/>
                <a:cs typeface="Courier New"/>
              </a:rPr>
              <a:t>ferran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 err="1">
                <a:latin typeface="Courier New"/>
                <a:cs typeface="Courier New"/>
              </a:rPr>
              <a:t>aran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20" dirty="0">
                <a:latin typeface="Courier New"/>
                <a:cs typeface="Courier New"/>
              </a:rPr>
              <a:t>bucket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Uploading</a:t>
            </a:r>
            <a:r>
              <a:rPr lang="en-US" spc="35" dirty="0"/>
              <a:t> </a:t>
            </a:r>
            <a:r>
              <a:rPr lang="en-US" dirty="0"/>
              <a:t>a</a:t>
            </a:r>
            <a:r>
              <a:rPr lang="en-US" spc="40" dirty="0"/>
              <a:t> </a:t>
            </a:r>
            <a:r>
              <a:rPr lang="en-US" dirty="0"/>
              <a:t>file</a:t>
            </a:r>
            <a:r>
              <a:rPr lang="en-US" spc="40" dirty="0"/>
              <a:t> </a:t>
            </a:r>
            <a:r>
              <a:rPr lang="en-US" dirty="0"/>
              <a:t>to</a:t>
            </a:r>
            <a:r>
              <a:rPr lang="en-US" spc="4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dirty="0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dirty="0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dirty="0" err="1"/>
              <a:t>aws</a:t>
            </a:r>
            <a:r>
              <a:rPr lang="en-US" sz="900" dirty="0"/>
              <a:t>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chemeClr val="tx1"/>
                </a:solidFill>
                <a:latin typeface="Arial"/>
                <a:cs typeface="Arial"/>
              </a:rPr>
              <a:t>Example (upload </a:t>
            </a:r>
            <a:r>
              <a:rPr lang="en-US" sz="900" b="1" dirty="0" err="1">
                <a:solidFill>
                  <a:schemeClr val="tx1"/>
                </a:solidFill>
                <a:latin typeface="Arial"/>
                <a:cs typeface="Arial"/>
              </a:rPr>
              <a:t>photo.jpg</a:t>
            </a:r>
            <a:r>
              <a:rPr lang="en-US" sz="900" b="1" dirty="0">
                <a:solidFill>
                  <a:schemeClr val="tx1"/>
                </a:solidFill>
                <a:latin typeface="Arial"/>
                <a:cs typeface="Arial"/>
              </a:rPr>
              <a:t>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dirty="0" err="1"/>
              <a:t>aws</a:t>
            </a:r>
            <a:r>
              <a:rPr lang="en-US" sz="900" dirty="0"/>
              <a:t> s3 cp </a:t>
            </a:r>
            <a:r>
              <a:rPr lang="en-US" sz="900" dirty="0" err="1"/>
              <a:t>photo.jpg</a:t>
            </a:r>
            <a:r>
              <a:rPr lang="en-US" sz="900" dirty="0"/>
              <a:t> s3://my-bucket/</a:t>
            </a:r>
            <a:endParaRPr lang="en-US" sz="900" b="1" dirty="0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30" dirty="0"/>
              <a:t> </a:t>
            </a:r>
            <a:r>
              <a:rPr lang="en-US" dirty="0"/>
              <a:t>a</a:t>
            </a:r>
            <a:r>
              <a:rPr lang="en-US" spc="35" dirty="0"/>
              <a:t> </a:t>
            </a:r>
            <a:r>
              <a:rPr lang="en-US" spc="-10" dirty="0"/>
              <a:t>local</a:t>
            </a:r>
            <a:r>
              <a:rPr lang="en-US" spc="35" dirty="0"/>
              <a:t> </a:t>
            </a:r>
            <a:r>
              <a:rPr lang="en-US" spc="-25" dirty="0"/>
              <a:t>directory</a:t>
            </a:r>
            <a:r>
              <a:rPr lang="en-US" spc="30" dirty="0"/>
              <a:t> </a:t>
            </a:r>
            <a:r>
              <a:rPr lang="en-US" dirty="0"/>
              <a:t>to</a:t>
            </a:r>
            <a:r>
              <a:rPr lang="en-US" spc="35" dirty="0"/>
              <a:t> </a:t>
            </a:r>
            <a:r>
              <a:rPr lang="en-US" spc="-35" dirty="0"/>
              <a:t>upload</a:t>
            </a:r>
            <a:r>
              <a:rPr lang="en-US" spc="35" dirty="0"/>
              <a:t> </a:t>
            </a:r>
            <a:r>
              <a:rPr lang="en-US" dirty="0"/>
              <a:t>to</a:t>
            </a:r>
            <a:r>
              <a:rPr lang="en-US" spc="35" dirty="0"/>
              <a:t> </a:t>
            </a:r>
            <a:r>
              <a:rPr lang="en-US" dirty="0"/>
              <a:t>a</a:t>
            </a:r>
            <a:r>
              <a:rPr lang="en-US" spc="30" dirty="0"/>
              <a:t> </a:t>
            </a:r>
            <a:r>
              <a:rPr lang="en-US" spc="-10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data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75" dirty="0" err="1">
                <a:latin typeface="Courier New"/>
                <a:cs typeface="Courier New"/>
              </a:rPr>
              <a:t>dataset.txt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Desktop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s3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sync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s3://data-{your-name}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dirty="0">
                <a:latin typeface="Courier New"/>
                <a:cs typeface="Courier New"/>
              </a:rPr>
              <a:t>esktop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sync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data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s3://data-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20" dirty="0" err="1">
                <a:latin typeface="Courier New"/>
                <a:cs typeface="Courier New"/>
              </a:rPr>
              <a:t>aran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upload: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data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dirty="0">
                <a:latin typeface="Courier New"/>
                <a:cs typeface="Courier New"/>
              </a:rPr>
              <a:t>y-</a:t>
            </a:r>
            <a:r>
              <a:rPr lang="en-US" sz="800" spc="-55" dirty="0" err="1">
                <a:latin typeface="Courier New"/>
                <a:cs typeface="Courier New"/>
              </a:rPr>
              <a:t>dataset.txt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5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s3://data-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60" dirty="0" err="1">
                <a:latin typeface="Courier New"/>
                <a:cs typeface="Courier New"/>
              </a:rPr>
              <a:t>aran</a:t>
            </a:r>
            <a:r>
              <a:rPr lang="en-US" sz="800" spc="-60" dirty="0">
                <a:latin typeface="Courier New"/>
                <a:cs typeface="Courier New"/>
              </a:rPr>
              <a:t>/my-</a:t>
            </a:r>
            <a:r>
              <a:rPr lang="en-US" sz="800" spc="-60" dirty="0" err="1">
                <a:latin typeface="Courier New"/>
                <a:cs typeface="Courier New"/>
              </a:rPr>
              <a:t>dataset.txt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40" dirty="0" err="1">
                <a:latin typeface="Courier New"/>
                <a:cs typeface="Courier New"/>
              </a:rPr>
              <a:t>dataset.txt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confiusing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dirty="0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nano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latin typeface="Courier New"/>
                <a:cs typeface="Courier New"/>
              </a:rPr>
              <a:t>/credentials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dirty="0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Ctrl </a:t>
            </a:r>
            <a:r>
              <a:rPr lang="en-US" sz="900" spc="-70" dirty="0">
                <a:latin typeface="Courier New"/>
                <a:cs typeface="Courier New"/>
              </a:rPr>
              <a:t>+ </a:t>
            </a:r>
            <a:r>
              <a:rPr lang="en-US" sz="900" spc="-75" dirty="0">
                <a:latin typeface="Courier New"/>
                <a:cs typeface="Courier New"/>
              </a:rPr>
              <a:t>X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Y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latin typeface="Courier New"/>
                <a:cs typeface="Courier New"/>
              </a:rPr>
              <a:t>Enter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</a:t>
            </a:r>
            <a:r>
              <a:rPr lang="en-US" sz="900" spc="-10" dirty="0">
                <a:latin typeface="Courier New"/>
                <a:cs typeface="Courier New"/>
              </a:rPr>
              <a:t>identity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dirty="0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UserId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>
                <a:latin typeface="Courier New"/>
                <a:cs typeface="Courier New"/>
              </a:rPr>
              <a:t>,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dirty="0">
                <a:latin typeface="Courier New"/>
                <a:cs typeface="Courier New"/>
              </a:rPr>
              <a:t>,</a:t>
            </a:r>
            <a:endParaRPr lang="en-US" sz="800" dirty="0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dirty="0">
                <a:latin typeface="Courier New"/>
                <a:cs typeface="Courier New"/>
              </a:rPr>
              <a:t>:</a:t>
            </a:r>
            <a:r>
              <a:rPr lang="en-US" sz="800" spc="25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arn:aws:sts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::692212546112:assumed-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role/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voclabs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/user3869188=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dirty="0">
                <a:latin typeface="Courier New"/>
                <a:cs typeface="Courier New"/>
              </a:rPr>
              <a:t>project1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dirty="0">
                <a:latin typeface="Courier New"/>
                <a:cs typeface="Courier New"/>
              </a:rPr>
              <a:t>boto3</a:t>
            </a:r>
            <a:r>
              <a:rPr lang="en-US" sz="900" spc="-420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  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8888</a:t>
            </a:r>
            <a:r>
              <a:rPr lang="en-US" sz="800" spc="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0.0.0.0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dirty="0">
                <a:latin typeface="Courier New"/>
                <a:cs typeface="Courier New"/>
              </a:rPr>
              <a:t>DATA_BUCKET_NAME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dirty="0">
                <a:latin typeface="Courier New"/>
                <a:cs typeface="Courier New"/>
              </a:rPr>
              <a:t>DATA_FILE_NAME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dirty="0" err="1">
                <a:solidFill>
                  <a:srgbClr val="3F70A0"/>
                </a:solidFill>
                <a:latin typeface="Courier New"/>
                <a:cs typeface="Courier New"/>
              </a:rPr>
              <a:t>dataset.txt</a:t>
            </a:r>
            <a:r>
              <a:rPr lang="en-US" sz="800" spc="-3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30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boto3.client(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dirty="0">
                <a:latin typeface="Courier New"/>
                <a:cs typeface="Courier New"/>
              </a:rPr>
              <a:t>response</a:t>
            </a:r>
            <a:r>
              <a:rPr lang="en-US" sz="800" spc="4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s3.get_object(Bucket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>
                <a:latin typeface="Courier New"/>
                <a:cs typeface="Courier New"/>
              </a:rPr>
              <a:t>DATA_BUCKET_NAME,</a:t>
            </a:r>
            <a:r>
              <a:rPr lang="en-US" sz="800" spc="4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Key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DATA_FILE_NAME) </a:t>
            </a:r>
            <a:r>
              <a:rPr lang="en-US" sz="800" spc="-55" dirty="0" err="1">
                <a:latin typeface="Courier New"/>
                <a:cs typeface="Courier New"/>
              </a:rPr>
              <a:t>file_content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response[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dirty="0">
                <a:latin typeface="Courier New"/>
                <a:cs typeface="Courier New"/>
              </a:rPr>
              <a:t>].read().decode(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dirty="0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dirty="0">
                <a:latin typeface="Courier New"/>
                <a:cs typeface="Courier New"/>
              </a:rPr>
              <a:t>)</a:t>
            </a:r>
            <a:r>
              <a:rPr lang="en-US" sz="800" spc="405" dirty="0"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dirty="0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file_content</a:t>
            </a:r>
            <a:r>
              <a:rPr lang="en-US" sz="800" spc="-10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data-your-name</a:t>
            </a:r>
            <a:r>
              <a:rPr lang="en-US" sz="900" spc="-150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45" dirty="0" err="1">
                <a:latin typeface="Courier New"/>
                <a:cs typeface="Courier New"/>
              </a:rPr>
              <a:t>dataset.txt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65" dirty="0"/>
              <a:t>Accessing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file</a:t>
            </a:r>
            <a:r>
              <a:rPr lang="en-US" spc="20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2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latin typeface="Arial"/>
                <a:cs typeface="Arial"/>
              </a:rPr>
              <a:t>To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75" dirty="0">
                <a:latin typeface="Arial"/>
                <a:cs typeface="Arial"/>
              </a:rPr>
              <a:t>access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file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from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notebook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50" dirty="0">
                <a:latin typeface="Arial"/>
                <a:cs typeface="Arial"/>
              </a:rPr>
              <a:t>we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45" dirty="0">
                <a:latin typeface="Arial"/>
                <a:cs typeface="Arial"/>
              </a:rPr>
              <a:t>have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55" dirty="0">
                <a:latin typeface="Arial"/>
                <a:cs typeface="Arial"/>
              </a:rPr>
              <a:t>used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25" dirty="0">
                <a:latin typeface="Arial"/>
                <a:cs typeface="Arial"/>
              </a:rPr>
              <a:t>our </a:t>
            </a:r>
            <a:r>
              <a:rPr lang="en-US" sz="900" spc="-55" dirty="0" err="1">
                <a:latin typeface="Arial"/>
                <a:cs typeface="Arial"/>
              </a:rPr>
              <a:t>aws</a:t>
            </a:r>
            <a:r>
              <a:rPr lang="en-US" sz="900" spc="-55" dirty="0">
                <a:latin typeface="Arial"/>
                <a:cs typeface="Arial"/>
              </a:rPr>
              <a:t>-</a:t>
            </a:r>
            <a:r>
              <a:rPr lang="en-US" sz="900" spc="-25" dirty="0">
                <a:latin typeface="Arial"/>
                <a:cs typeface="Arial"/>
              </a:rPr>
              <a:t>credentials</a:t>
            </a:r>
            <a:r>
              <a:rPr lang="en-US" sz="900" spc="-15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for the current </a:t>
            </a:r>
            <a:r>
              <a:rPr lang="en-US" sz="900" spc="-35" dirty="0">
                <a:latin typeface="Arial"/>
                <a:cs typeface="Arial"/>
              </a:rPr>
              <a:t>user</a:t>
            </a:r>
            <a:r>
              <a:rPr lang="en-US" sz="90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(owner</a:t>
            </a:r>
            <a:r>
              <a:rPr lang="en-US" sz="900" dirty="0">
                <a:latin typeface="Arial"/>
                <a:cs typeface="Arial"/>
              </a:rPr>
              <a:t> of the </a:t>
            </a:r>
            <a:r>
              <a:rPr lang="en-US" sz="900" spc="-10" dirty="0">
                <a:latin typeface="Arial"/>
                <a:cs typeface="Arial"/>
              </a:rPr>
              <a:t>bucket).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Writing</a:t>
            </a:r>
            <a:r>
              <a:rPr lang="en-US" spc="25" dirty="0"/>
              <a:t> </a:t>
            </a:r>
            <a:r>
              <a:rPr lang="en-US" spc="-30" dirty="0"/>
              <a:t>files</a:t>
            </a:r>
            <a:r>
              <a:rPr lang="en-US" spc="25" dirty="0"/>
              <a:t> </a:t>
            </a:r>
            <a:r>
              <a:rPr lang="en-US" dirty="0"/>
              <a:t>to</a:t>
            </a:r>
            <a:r>
              <a:rPr lang="en-US" spc="30" dirty="0"/>
              <a:t> </a:t>
            </a: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spc="-25" dirty="0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results-{your-</a:t>
            </a:r>
            <a:r>
              <a:rPr lang="en-US" sz="900" spc="-10" dirty="0">
                <a:latin typeface="Courier New"/>
                <a:cs typeface="Courier New"/>
              </a:rPr>
              <a:t>name}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bucket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Writing</a:t>
            </a:r>
            <a:r>
              <a:rPr lang="en-US" spc="25" dirty="0"/>
              <a:t> </a:t>
            </a:r>
            <a:r>
              <a:rPr lang="en-US" spc="-30" dirty="0"/>
              <a:t>files</a:t>
            </a:r>
            <a:r>
              <a:rPr lang="en-US" spc="25" dirty="0"/>
              <a:t> </a:t>
            </a:r>
            <a:r>
              <a:rPr lang="en-US" dirty="0"/>
              <a:t>to</a:t>
            </a:r>
            <a:r>
              <a:rPr lang="en-US" spc="30" dirty="0"/>
              <a:t> </a:t>
            </a: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spc="-25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RESULTS_BUCKET_NAME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dirty="0">
                <a:latin typeface="Courier New"/>
                <a:cs typeface="Courier New"/>
              </a:rPr>
              <a:t>RESULT_FILE_NAME_LOCAL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dirty="0" err="1">
                <a:solidFill>
                  <a:srgbClr val="3F70A0"/>
                </a:solidFill>
                <a:latin typeface="Courier New"/>
                <a:cs typeface="Courier New"/>
              </a:rPr>
              <a:t>file.txt</a:t>
            </a:r>
            <a:r>
              <a:rPr lang="en-US" sz="800" spc="-2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29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latin typeface="Courier New"/>
                <a:cs typeface="Courier New"/>
              </a:rPr>
              <a:t>RESULT_FILE_NAME_S3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dirty="0" err="1">
                <a:solidFill>
                  <a:srgbClr val="3F70A0"/>
                </a:solidFill>
                <a:latin typeface="Courier New"/>
                <a:cs typeface="Courier New"/>
              </a:rPr>
              <a:t>file.txt</a:t>
            </a:r>
            <a:r>
              <a:rPr lang="en-US" sz="800" spc="-2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34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dirty="0" err="1">
                <a:latin typeface="Courier New"/>
                <a:cs typeface="Courier New"/>
              </a:rPr>
              <a:t>file_content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dirty="0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dirty="0">
                <a:latin typeface="Courier New"/>
                <a:cs typeface="Courier New"/>
              </a:rPr>
              <a:t>(RESULT_FILE_NAME_LOCAL,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dirty="0">
                <a:latin typeface="Courier New"/>
                <a:cs typeface="Courier New"/>
              </a:rPr>
              <a:t>)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dirty="0">
                <a:latin typeface="Courier New"/>
                <a:cs typeface="Courier New"/>
              </a:rPr>
              <a:t>:</a:t>
            </a:r>
            <a:endParaRPr lang="en-US" sz="800" dirty="0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dirty="0" err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dirty="0" err="1">
                <a:latin typeface="Courier New"/>
                <a:cs typeface="Courier New"/>
              </a:rPr>
              <a:t>.write</a:t>
            </a:r>
            <a:r>
              <a:rPr lang="en-US" sz="800" spc="-25" dirty="0">
                <a:latin typeface="Courier New"/>
                <a:cs typeface="Courier New"/>
              </a:rPr>
              <a:t>(</a:t>
            </a:r>
            <a:r>
              <a:rPr lang="en-US" sz="800" spc="-25" dirty="0" err="1">
                <a:latin typeface="Courier New"/>
                <a:cs typeface="Courier New"/>
              </a:rPr>
              <a:t>file_content</a:t>
            </a:r>
            <a:r>
              <a:rPr lang="en-US" sz="800" spc="-25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s3.upload_file(RESULT_FILE_NAME_LOCAL,</a:t>
            </a:r>
            <a:r>
              <a:rPr lang="en-US" sz="800" spc="11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RESULTS_BUCKET_NAME,</a:t>
            </a:r>
            <a:r>
              <a:rPr lang="en-US" sz="800" spc="114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RESULT_FILE_NAME_S3)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 err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dirty="0">
                <a:latin typeface="Courier New"/>
                <a:cs typeface="Courier New"/>
              </a:rPr>
              <a:t>RESULT_FILE_NAME_LOCAL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dirty="0">
                <a:latin typeface="Courier New"/>
                <a:cs typeface="Courier New"/>
              </a:rPr>
              <a:t>RESULTS_BUCKET_NAME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dirty="0">
                <a:latin typeface="Courier New"/>
                <a:cs typeface="Courier New"/>
              </a:rPr>
              <a:t>RESULT_FILE_NAME_S3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results-{your-name}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local</a:t>
            </a:r>
            <a:r>
              <a:rPr lang="en-US" spc="25" dirty="0"/>
              <a:t> </a:t>
            </a:r>
            <a:r>
              <a:rPr lang="en-US" spc="-25" dirty="0"/>
              <a:t>directory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0" dirty="0"/>
              <a:t> </a:t>
            </a:r>
            <a:r>
              <a:rPr lang="en-US" spc="-45" dirty="0"/>
              <a:t>download</a:t>
            </a:r>
            <a:r>
              <a:rPr lang="en-US" spc="2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results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Desktop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s3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sync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s3://results-{your-name}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dirty="0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dirty="0">
                <a:latin typeface="Courier New"/>
                <a:cs typeface="Courier New"/>
              </a:rPr>
              <a:t>esktop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sync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s3://results-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55" dirty="0" err="1">
                <a:latin typeface="Courier New"/>
                <a:cs typeface="Courier New"/>
              </a:rPr>
              <a:t>aran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results</a:t>
            </a:r>
            <a:endParaRPr lang="en-US" sz="800" dirty="0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dirty="0">
                <a:latin typeface="Courier New"/>
                <a:cs typeface="Courier New"/>
              </a:rPr>
              <a:t>download:</a:t>
            </a:r>
            <a:r>
              <a:rPr lang="en-US" sz="800" spc="11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s3://results-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60" dirty="0" err="1">
                <a:latin typeface="Courier New"/>
                <a:cs typeface="Courier New"/>
              </a:rPr>
              <a:t>aran</a:t>
            </a:r>
            <a:r>
              <a:rPr lang="en-US" sz="800" spc="-60" dirty="0">
                <a:latin typeface="Courier New"/>
                <a:cs typeface="Courier New"/>
              </a:rPr>
              <a:t>/project1/new-</a:t>
            </a:r>
            <a:r>
              <a:rPr lang="en-US" sz="800" spc="-60" dirty="0" err="1">
                <a:latin typeface="Courier New"/>
                <a:cs typeface="Courier New"/>
              </a:rPr>
              <a:t>file.txt</a:t>
            </a:r>
            <a:r>
              <a:rPr lang="en-US" sz="800" spc="1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12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results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dirty="0">
                <a:latin typeface="Courier New"/>
                <a:cs typeface="Courier New"/>
              </a:rPr>
              <a:t>roject1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dirty="0">
                <a:latin typeface="Courier New"/>
                <a:cs typeface="Courier New"/>
              </a:rPr>
              <a:t>ew-</a:t>
            </a:r>
            <a:r>
              <a:rPr lang="en-US" sz="800" spc="-55" dirty="0" err="1">
                <a:latin typeface="Courier New"/>
                <a:cs typeface="Courier New"/>
              </a:rPr>
              <a:t>file.txt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C: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dirty="0">
                <a:latin typeface="Courier New"/>
                <a:cs typeface="Courier New"/>
              </a:rPr>
              <a:t>sers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2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20" dirty="0" err="1">
                <a:latin typeface="Courier New"/>
                <a:cs typeface="Courier New"/>
              </a:rPr>
              <a:t>nao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dirty="0">
                <a:latin typeface="Courier New"/>
                <a:cs typeface="Courier New"/>
              </a:rPr>
              <a:t>esktop</a:t>
            </a:r>
            <a:r>
              <a:rPr lang="en-US" sz="800" spc="-2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local</a:t>
            </a:r>
            <a:r>
              <a:rPr lang="en-US" spc="25" dirty="0"/>
              <a:t> </a:t>
            </a:r>
            <a:r>
              <a:rPr lang="en-US" spc="-25" dirty="0"/>
              <a:t>directory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0" dirty="0"/>
              <a:t> </a:t>
            </a:r>
            <a:r>
              <a:rPr lang="en-US" spc="-45" dirty="0"/>
              <a:t>download</a:t>
            </a:r>
            <a:r>
              <a:rPr lang="en-US" spc="2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35" dirty="0"/>
              <a:t> </a:t>
            </a:r>
            <a:r>
              <a:rPr lang="en-US" dirty="0"/>
              <a:t>-</a:t>
            </a:r>
            <a:r>
              <a:rPr lang="en-US" spc="35" dirty="0"/>
              <a:t> </a:t>
            </a:r>
            <a:r>
              <a:rPr lang="en-US" spc="-30" dirty="0"/>
              <a:t>Today’s</a:t>
            </a:r>
            <a:r>
              <a:rPr lang="en-US" spc="40" dirty="0"/>
              <a:t> </a:t>
            </a:r>
            <a:r>
              <a:rPr lang="en-US" spc="-30" dirty="0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dirty="0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25" dirty="0"/>
              <a:t> </a:t>
            </a:r>
            <a:r>
              <a:rPr lang="en-US" dirty="0"/>
              <a:t>-</a:t>
            </a:r>
            <a:r>
              <a:rPr lang="en-US" spc="25" dirty="0"/>
              <a:t> </a:t>
            </a:r>
            <a:r>
              <a:rPr lang="en-US" spc="-10" dirty="0"/>
              <a:t>Use</a:t>
            </a:r>
            <a:r>
              <a:rPr lang="en-US" spc="30" dirty="0"/>
              <a:t> </a:t>
            </a:r>
            <a:r>
              <a:rPr lang="en-US" spc="-70" dirty="0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dirty="0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 err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50" dirty="0"/>
              <a:t> </a:t>
            </a:r>
            <a:r>
              <a:rPr lang="en-US" dirty="0"/>
              <a:t>-</a:t>
            </a:r>
            <a:r>
              <a:rPr lang="en-US" spc="55" dirty="0"/>
              <a:t> </a:t>
            </a:r>
            <a:r>
              <a:rPr lang="en-US" spc="-30" dirty="0"/>
              <a:t>Subject’s</a:t>
            </a:r>
            <a:r>
              <a:rPr lang="en-US" spc="50" dirty="0"/>
              <a:t> </a:t>
            </a:r>
            <a:r>
              <a:rPr lang="en-US" spc="-35" dirty="0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dirty="0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1341</TotalTime>
  <Words>2924</Words>
  <Application>Microsoft Macintosh PowerPoint</Application>
  <PresentationFormat>Custom</PresentationFormat>
  <Paragraphs>266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10</cp:revision>
  <dcterms:created xsi:type="dcterms:W3CDTF">2025-05-19T16:09:36Z</dcterms:created>
  <dcterms:modified xsi:type="dcterms:W3CDTF">2026-03-17T10:27:31Z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